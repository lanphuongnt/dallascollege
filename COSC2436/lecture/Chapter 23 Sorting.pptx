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64" r:id="rId1"/>
  </p:sldMasterIdLst>
  <p:notesMasterIdLst>
    <p:notesMasterId r:id="rId50"/>
  </p:notesMasterIdLst>
  <p:handoutMasterIdLst>
    <p:handoutMasterId r:id="rId51"/>
  </p:handoutMasterIdLst>
  <p:sldIdLst>
    <p:sldId id="413" r:id="rId2"/>
    <p:sldId id="478" r:id="rId3"/>
    <p:sldId id="479" r:id="rId4"/>
    <p:sldId id="481" r:id="rId5"/>
    <p:sldId id="549" r:id="rId6"/>
    <p:sldId id="550" r:id="rId7"/>
    <p:sldId id="551" r:id="rId8"/>
    <p:sldId id="552" r:id="rId9"/>
    <p:sldId id="553" r:id="rId10"/>
    <p:sldId id="554" r:id="rId11"/>
    <p:sldId id="500" r:id="rId12"/>
    <p:sldId id="546" r:id="rId13"/>
    <p:sldId id="501" r:id="rId14"/>
    <p:sldId id="548" r:id="rId15"/>
    <p:sldId id="530" r:id="rId16"/>
    <p:sldId id="502" r:id="rId17"/>
    <p:sldId id="503" r:id="rId18"/>
    <p:sldId id="506" r:id="rId19"/>
    <p:sldId id="508" r:id="rId20"/>
    <p:sldId id="507" r:id="rId21"/>
    <p:sldId id="509" r:id="rId22"/>
    <p:sldId id="511" r:id="rId23"/>
    <p:sldId id="510" r:id="rId24"/>
    <p:sldId id="512" r:id="rId25"/>
    <p:sldId id="534" r:id="rId26"/>
    <p:sldId id="535" r:id="rId27"/>
    <p:sldId id="536" r:id="rId28"/>
    <p:sldId id="537" r:id="rId29"/>
    <p:sldId id="538" r:id="rId30"/>
    <p:sldId id="539" r:id="rId31"/>
    <p:sldId id="540" r:id="rId32"/>
    <p:sldId id="541" r:id="rId33"/>
    <p:sldId id="542" r:id="rId34"/>
    <p:sldId id="543" r:id="rId35"/>
    <p:sldId id="544" r:id="rId36"/>
    <p:sldId id="545" r:id="rId37"/>
    <p:sldId id="513" r:id="rId38"/>
    <p:sldId id="516" r:id="rId39"/>
    <p:sldId id="531" r:id="rId40"/>
    <p:sldId id="532" r:id="rId41"/>
    <p:sldId id="555" r:id="rId42"/>
    <p:sldId id="533" r:id="rId43"/>
    <p:sldId id="547" r:id="rId44"/>
    <p:sldId id="517" r:id="rId45"/>
    <p:sldId id="518" r:id="rId46"/>
    <p:sldId id="519" r:id="rId47"/>
    <p:sldId id="520" r:id="rId48"/>
    <p:sldId id="521" r:id="rId4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728">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0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610" autoAdjust="0"/>
    <p:restoredTop sz="94712" autoAdjust="0"/>
  </p:normalViewPr>
  <p:slideViewPr>
    <p:cSldViewPr>
      <p:cViewPr varScale="1">
        <p:scale>
          <a:sx n="65" d="100"/>
          <a:sy n="65" d="100"/>
        </p:scale>
        <p:origin x="60" y="183"/>
      </p:cViewPr>
      <p:guideLst>
        <p:guide orient="horz" pos="1728"/>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3" d="100"/>
          <a:sy n="43" d="100"/>
        </p:scale>
        <p:origin x="-1422" y="-84"/>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8DDEA4C-AB2E-4FA3-AB89-34F30539577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eaLnBrk="0" hangingPunct="0">
              <a:defRPr sz="1000" i="1">
                <a:cs typeface="+mn-cs"/>
              </a:defRPr>
            </a:lvl1pPr>
          </a:lstStyle>
          <a:p>
            <a:pPr>
              <a:defRPr/>
            </a:pPr>
            <a:endParaRPr lang="en-US"/>
          </a:p>
        </p:txBody>
      </p:sp>
      <p:sp>
        <p:nvSpPr>
          <p:cNvPr id="2051" name="Rectangle 3">
            <a:extLst>
              <a:ext uri="{FF2B5EF4-FFF2-40B4-BE49-F238E27FC236}">
                <a16:creationId xmlns:a16="http://schemas.microsoft.com/office/drawing/2014/main" id="{914811B4-A418-44E6-B8F7-15391F895BB4}"/>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eaLnBrk="0" hangingPunct="0">
              <a:defRPr sz="1000" i="1">
                <a:cs typeface="+mn-cs"/>
              </a:defRPr>
            </a:lvl1pPr>
          </a:lstStyle>
          <a:p>
            <a:pPr>
              <a:defRPr/>
            </a:pPr>
            <a:endParaRPr lang="en-US"/>
          </a:p>
        </p:txBody>
      </p:sp>
      <p:sp>
        <p:nvSpPr>
          <p:cNvPr id="3076" name="Rectangle 4">
            <a:extLst>
              <a:ext uri="{FF2B5EF4-FFF2-40B4-BE49-F238E27FC236}">
                <a16:creationId xmlns:a16="http://schemas.microsoft.com/office/drawing/2014/main" id="{5CDFBB70-8E92-4B1C-92D5-FB5BE6DEB0F9}"/>
              </a:ext>
            </a:extLst>
          </p:cNvPr>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2D8B44CD-2293-4CFF-B318-228BA128927F}"/>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E885F55D-770A-4B93-A105-55F19879E4C5}"/>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eaLnBrk="0" hangingPunct="0">
              <a:defRPr sz="1000" i="1">
                <a:cs typeface="+mn-cs"/>
              </a:defRPr>
            </a:lvl1pPr>
          </a:lstStyle>
          <a:p>
            <a:pPr>
              <a:defRPr/>
            </a:pPr>
            <a:endParaRPr lang="en-US"/>
          </a:p>
        </p:txBody>
      </p:sp>
      <p:sp>
        <p:nvSpPr>
          <p:cNvPr id="2055" name="Rectangle 7">
            <a:extLst>
              <a:ext uri="{FF2B5EF4-FFF2-40B4-BE49-F238E27FC236}">
                <a16:creationId xmlns:a16="http://schemas.microsoft.com/office/drawing/2014/main" id="{018A350F-CE4A-4F25-86F0-4C7175CD5A46}"/>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3ADD5A6B-A8F3-4D02-B6D5-D06F78F6198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a:extLst>
              <a:ext uri="{FF2B5EF4-FFF2-40B4-BE49-F238E27FC236}">
                <a16:creationId xmlns:a16="http://schemas.microsoft.com/office/drawing/2014/main" id="{61FC91DB-7ADF-4F5A-BE25-54B5E3D6A24C}"/>
              </a:ext>
            </a:extLst>
          </p:cNvPr>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71927960-2F8B-4333-9003-3DB92F56F481}"/>
                </a:ext>
              </a:extLst>
            </p:cNvPr>
            <p:cNvSpPr>
              <a:spLocks noChangeArrowheads="1"/>
            </p:cNvSpPr>
            <p:nvPr/>
          </p:nvSpPr>
          <p:spPr bwMode="hidden">
            <a:xfrm>
              <a:off x="0" y="2112"/>
              <a:ext cx="5759" cy="2207"/>
            </a:xfrm>
            <a:prstGeom prst="rect">
              <a:avLst/>
            </a:prstGeom>
            <a:solidFill>
              <a:schemeClr val="bg1"/>
            </a:soli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a:extLst>
                <a:ext uri="{FF2B5EF4-FFF2-40B4-BE49-F238E27FC236}">
                  <a16:creationId xmlns:a16="http://schemas.microsoft.com/office/drawing/2014/main" id="{40FC582F-6612-4C14-99AD-1BEEABB34391}"/>
                </a:ext>
              </a:extLst>
            </p:cNvPr>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A42B4868-8E85-4E67-9A7E-0EA85A096585}"/>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a:extLst>
                  <a:ext uri="{FF2B5EF4-FFF2-40B4-BE49-F238E27FC236}">
                    <a16:creationId xmlns:a16="http://schemas.microsoft.com/office/drawing/2014/main" id="{BDD480BE-E0B8-4DCC-9F8D-21628FAF588C}"/>
                  </a:ext>
                </a:extLst>
              </p:cNvPr>
              <p:cNvGrpSpPr>
                <a:grpSpLocks/>
              </p:cNvGrpSpPr>
              <p:nvPr/>
            </p:nvGrpSpPr>
            <p:grpSpPr bwMode="auto">
              <a:xfrm>
                <a:off x="2289" y="72"/>
                <a:ext cx="1440" cy="1984"/>
                <a:chOff x="2289" y="72"/>
                <a:chExt cx="1440" cy="1984"/>
              </a:xfrm>
            </p:grpSpPr>
            <p:sp>
              <p:nvSpPr>
                <p:cNvPr id="29" name="Freeform 4">
                  <a:extLst>
                    <a:ext uri="{FF2B5EF4-FFF2-40B4-BE49-F238E27FC236}">
                      <a16:creationId xmlns:a16="http://schemas.microsoft.com/office/drawing/2014/main" id="{168EE059-6BB5-42C5-96E3-66D90C9B9F3D}"/>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a:extLst>
                    <a:ext uri="{FF2B5EF4-FFF2-40B4-BE49-F238E27FC236}">
                      <a16:creationId xmlns:a16="http://schemas.microsoft.com/office/drawing/2014/main" id="{9E5D42EF-22AB-4645-BBFD-4F6971CB4700}"/>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a:extLst>
                    <a:ext uri="{FF2B5EF4-FFF2-40B4-BE49-F238E27FC236}">
                      <a16:creationId xmlns:a16="http://schemas.microsoft.com/office/drawing/2014/main" id="{897446EE-2740-42A8-9EEB-118C99368CAF}"/>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a:extLst>
                    <a:ext uri="{FF2B5EF4-FFF2-40B4-BE49-F238E27FC236}">
                      <a16:creationId xmlns:a16="http://schemas.microsoft.com/office/drawing/2014/main" id="{D28D7690-CB0B-4620-8A92-57BCA6DA968E}"/>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a:extLst>
                    <a:ext uri="{FF2B5EF4-FFF2-40B4-BE49-F238E27FC236}">
                      <a16:creationId xmlns:a16="http://schemas.microsoft.com/office/drawing/2014/main" id="{5765BC86-DECA-4DEA-B069-2914D53EAEF9}"/>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09888EB4-3B26-49B0-9054-3F442DFD260B}"/>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a:extLst>
                  <a:ext uri="{FF2B5EF4-FFF2-40B4-BE49-F238E27FC236}">
                    <a16:creationId xmlns:a16="http://schemas.microsoft.com/office/drawing/2014/main" id="{B9D4BEEF-5BB3-4E90-9095-AE08BE9896A9}"/>
                  </a:ext>
                </a:extLst>
              </p:cNvPr>
              <p:cNvGrpSpPr>
                <a:grpSpLocks/>
              </p:cNvGrpSpPr>
              <p:nvPr/>
            </p:nvGrpSpPr>
            <p:grpSpPr bwMode="auto">
              <a:xfrm>
                <a:off x="2071" y="406"/>
                <a:ext cx="1392" cy="1109"/>
                <a:chOff x="2071" y="406"/>
                <a:chExt cx="1392" cy="1109"/>
              </a:xfrm>
            </p:grpSpPr>
            <p:sp>
              <p:nvSpPr>
                <p:cNvPr id="11" name="Freeform 11">
                  <a:extLst>
                    <a:ext uri="{FF2B5EF4-FFF2-40B4-BE49-F238E27FC236}">
                      <a16:creationId xmlns:a16="http://schemas.microsoft.com/office/drawing/2014/main" id="{59EF1FB1-AEFF-4676-AD82-C39B502E736F}"/>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6C75F2F0-4B08-40AC-8E73-2B8D8891CD6F}"/>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a:extLst>
                    <a:ext uri="{FF2B5EF4-FFF2-40B4-BE49-F238E27FC236}">
                      <a16:creationId xmlns:a16="http://schemas.microsoft.com/office/drawing/2014/main" id="{A2D58DBB-835B-4D45-BE27-3DF11D0E8FA0}"/>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a:extLst>
                    <a:ext uri="{FF2B5EF4-FFF2-40B4-BE49-F238E27FC236}">
                      <a16:creationId xmlns:a16="http://schemas.microsoft.com/office/drawing/2014/main" id="{437C4EB7-F055-4001-A409-0D3789A09CCA}"/>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a:extLst>
                    <a:ext uri="{FF2B5EF4-FFF2-40B4-BE49-F238E27FC236}">
                      <a16:creationId xmlns:a16="http://schemas.microsoft.com/office/drawing/2014/main" id="{A3A9430C-E256-41E4-8B42-D8AEF67883F2}"/>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49630AAD-236C-42D4-8D0B-AFA88CAC1DAA}"/>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a:extLst>
                    <a:ext uri="{FF2B5EF4-FFF2-40B4-BE49-F238E27FC236}">
                      <a16:creationId xmlns:a16="http://schemas.microsoft.com/office/drawing/2014/main" id="{41CB7C81-78CF-4FC3-BB43-86D7CBD86D0B}"/>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a:extLst>
                    <a:ext uri="{FF2B5EF4-FFF2-40B4-BE49-F238E27FC236}">
                      <a16:creationId xmlns:a16="http://schemas.microsoft.com/office/drawing/2014/main" id="{4887CB1A-7B48-42EC-8EF9-958FA9F7EDAD}"/>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a:extLst>
                    <a:ext uri="{FF2B5EF4-FFF2-40B4-BE49-F238E27FC236}">
                      <a16:creationId xmlns:a16="http://schemas.microsoft.com/office/drawing/2014/main" id="{3D576805-FD94-4E3A-A504-AA3284929A8B}"/>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a:extLst>
                    <a:ext uri="{FF2B5EF4-FFF2-40B4-BE49-F238E27FC236}">
                      <a16:creationId xmlns:a16="http://schemas.microsoft.com/office/drawing/2014/main" id="{9A7D591C-25D2-47D8-9E77-26523B70EB70}"/>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a:extLst>
                    <a:ext uri="{FF2B5EF4-FFF2-40B4-BE49-F238E27FC236}">
                      <a16:creationId xmlns:a16="http://schemas.microsoft.com/office/drawing/2014/main" id="{444B6402-191B-411F-B107-16522A1671BE}"/>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a:extLst>
                    <a:ext uri="{FF2B5EF4-FFF2-40B4-BE49-F238E27FC236}">
                      <a16:creationId xmlns:a16="http://schemas.microsoft.com/office/drawing/2014/main" id="{35E915C1-8462-4C34-8587-DF5E6C68EB62}"/>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a:extLst>
                    <a:ext uri="{FF2B5EF4-FFF2-40B4-BE49-F238E27FC236}">
                      <a16:creationId xmlns:a16="http://schemas.microsoft.com/office/drawing/2014/main" id="{980DC663-7CCB-4F15-BA5D-6DE0D251F967}"/>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a:extLst>
                    <a:ext uri="{FF2B5EF4-FFF2-40B4-BE49-F238E27FC236}">
                      <a16:creationId xmlns:a16="http://schemas.microsoft.com/office/drawing/2014/main" id="{9E29EFC0-9E25-4A72-A0E4-77E4F9ABFEA7}"/>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a:extLst>
                    <a:ext uri="{FF2B5EF4-FFF2-40B4-BE49-F238E27FC236}">
                      <a16:creationId xmlns:a16="http://schemas.microsoft.com/office/drawing/2014/main" id="{F753A5FB-8918-4B2A-8F58-FD5C09DFC447}"/>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a:extLst>
                    <a:ext uri="{FF2B5EF4-FFF2-40B4-BE49-F238E27FC236}">
                      <a16:creationId xmlns:a16="http://schemas.microsoft.com/office/drawing/2014/main" id="{FE3649D4-B83D-4B05-91BE-D908C3764247}"/>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a:extLst>
                    <a:ext uri="{FF2B5EF4-FFF2-40B4-BE49-F238E27FC236}">
                      <a16:creationId xmlns:a16="http://schemas.microsoft.com/office/drawing/2014/main" id="{8ECC7FBC-6EC0-4D53-9EBE-5ED45CBDD82E}"/>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a:extLst>
                    <a:ext uri="{FF2B5EF4-FFF2-40B4-BE49-F238E27FC236}">
                      <a16:creationId xmlns:a16="http://schemas.microsoft.com/office/drawing/2014/main" id="{359AF7C1-C766-45D7-A86F-28F8AB04C41D}"/>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8F400BA4-6A40-46F1-B7AC-59CB57C74BDC}"/>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5">
            <a:extLst>
              <a:ext uri="{FF2B5EF4-FFF2-40B4-BE49-F238E27FC236}">
                <a16:creationId xmlns:a16="http://schemas.microsoft.com/office/drawing/2014/main" id="{530FE8AD-9622-4D9C-87BB-64811E0DEC1F}"/>
              </a:ext>
            </a:extLst>
          </p:cNvPr>
          <p:cNvSpPr>
            <a:spLocks noGrp="1" noChangeArrowheads="1"/>
          </p:cNvSpPr>
          <p:nvPr>
            <p:ph type="ftr" sz="quarter" idx="11"/>
          </p:nvPr>
        </p:nvSpPr>
        <p:spPr bwMode="auto">
          <a:xfrm>
            <a:off x="3124200" y="6400800"/>
            <a:ext cx="2895600" cy="457200"/>
          </a:xfrm>
          <a:prstGeom prst="rect">
            <a:avLst/>
          </a:prstGeom>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and Data Structures, Twelfth Edition, (c) 2020  Pearson Education, Inc. All rights reserved. </a:t>
            </a:r>
          </a:p>
        </p:txBody>
      </p:sp>
      <p:sp>
        <p:nvSpPr>
          <p:cNvPr id="36" name="Rectangle 36">
            <a:extLst>
              <a:ext uri="{FF2B5EF4-FFF2-40B4-BE49-F238E27FC236}">
                <a16:creationId xmlns:a16="http://schemas.microsoft.com/office/drawing/2014/main" id="{FD20E48A-B6FB-4B76-95F8-3BCC5E596D21}"/>
              </a:ext>
            </a:extLst>
          </p:cNvPr>
          <p:cNvSpPr>
            <a:spLocks noGrp="1" noChangeArrowheads="1"/>
          </p:cNvSpPr>
          <p:nvPr>
            <p:ph type="sldNum" sz="quarter" idx="12"/>
          </p:nvPr>
        </p:nvSpPr>
        <p:spPr>
          <a:xfrm>
            <a:off x="6553200" y="6400800"/>
            <a:ext cx="1905000" cy="457200"/>
          </a:xfrm>
        </p:spPr>
        <p:txBody>
          <a:bodyPr/>
          <a:lstStyle>
            <a:lvl1pPr>
              <a:defRPr/>
            </a:lvl1pPr>
          </a:lstStyle>
          <a:p>
            <a:fld id="{2D8272AA-D709-4FE9-A82B-EAA32DD6A2CD}" type="slidenum">
              <a:rPr lang="en-US" altLang="en-US" smtClean="0"/>
              <a:pPr/>
              <a:t>‹#›</a:t>
            </a:fld>
            <a:endParaRPr lang="en-US" altLang="en-US"/>
          </a:p>
        </p:txBody>
      </p:sp>
    </p:spTree>
    <p:extLst>
      <p:ext uri="{BB962C8B-B14F-4D97-AF65-F5344CB8AC3E}">
        <p14:creationId xmlns:p14="http://schemas.microsoft.com/office/powerpoint/2010/main" val="216416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7A1450D0-5C6B-4A7D-9DD3-12ABC6CE74D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77C3EC62-E8ED-4B3A-A7A4-D2AC4B0772FA}"/>
              </a:ext>
            </a:extLst>
          </p:cNvPr>
          <p:cNvSpPr>
            <a:spLocks noGrp="1" noChangeArrowheads="1"/>
          </p:cNvSpPr>
          <p:nvPr>
            <p:ph type="sldNum" sz="quarter" idx="11"/>
          </p:nvPr>
        </p:nvSpPr>
        <p:spPr>
          <a:ln/>
        </p:spPr>
        <p:txBody>
          <a:bodyPr/>
          <a:lstStyle>
            <a:lvl1pPr>
              <a:defRPr/>
            </a:lvl1pPr>
          </a:lstStyle>
          <a:p>
            <a:fld id="{A2DDEFA3-A04B-4338-ADB4-3AB100EA7DC5}" type="slidenum">
              <a:rPr lang="en-US" altLang="en-US" smtClean="0"/>
              <a:pPr/>
              <a:t>‹#›</a:t>
            </a:fld>
            <a:endParaRPr lang="en-US" altLang="en-US"/>
          </a:p>
        </p:txBody>
      </p:sp>
    </p:spTree>
    <p:extLst>
      <p:ext uri="{BB962C8B-B14F-4D97-AF65-F5344CB8AC3E}">
        <p14:creationId xmlns:p14="http://schemas.microsoft.com/office/powerpoint/2010/main" val="3546554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74D14C60-F19C-4EB2-AD48-30730C45662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A7531466-45D1-4A3D-AD82-112BB8F64248}"/>
              </a:ext>
            </a:extLst>
          </p:cNvPr>
          <p:cNvSpPr>
            <a:spLocks noGrp="1" noChangeArrowheads="1"/>
          </p:cNvSpPr>
          <p:nvPr>
            <p:ph type="sldNum" sz="quarter" idx="11"/>
          </p:nvPr>
        </p:nvSpPr>
        <p:spPr>
          <a:ln/>
        </p:spPr>
        <p:txBody>
          <a:bodyPr/>
          <a:lstStyle>
            <a:lvl1pPr>
              <a:defRPr/>
            </a:lvl1pPr>
          </a:lstStyle>
          <a:p>
            <a:fld id="{2CFDD283-5A5A-4356-B572-2EAD2FB24630}" type="slidenum">
              <a:rPr lang="en-US" altLang="en-US" smtClean="0"/>
              <a:pPr/>
              <a:t>‹#›</a:t>
            </a:fld>
            <a:endParaRPr lang="en-US" altLang="en-US"/>
          </a:p>
        </p:txBody>
      </p:sp>
    </p:spTree>
    <p:extLst>
      <p:ext uri="{BB962C8B-B14F-4D97-AF65-F5344CB8AC3E}">
        <p14:creationId xmlns:p14="http://schemas.microsoft.com/office/powerpoint/2010/main" val="413004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068F10D1-1835-4088-AD0B-6C7BADD595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9AAEAB9-5939-47B3-869D-BB65143F9100}"/>
              </a:ext>
            </a:extLst>
          </p:cNvPr>
          <p:cNvSpPr>
            <a:spLocks noGrp="1" noChangeArrowheads="1"/>
          </p:cNvSpPr>
          <p:nvPr>
            <p:ph type="sldNum" sz="quarter" idx="11"/>
          </p:nvPr>
        </p:nvSpPr>
        <p:spPr>
          <a:ln/>
        </p:spPr>
        <p:txBody>
          <a:bodyPr/>
          <a:lstStyle>
            <a:lvl1pPr>
              <a:defRPr/>
            </a:lvl1pPr>
          </a:lstStyle>
          <a:p>
            <a:fld id="{615E13F6-45C1-41ED-A5CD-6AFB570FF466}" type="slidenum">
              <a:rPr lang="en-US" altLang="en-US" smtClean="0"/>
              <a:pPr/>
              <a:t>‹#›</a:t>
            </a:fld>
            <a:endParaRPr lang="en-US" altLang="en-US"/>
          </a:p>
        </p:txBody>
      </p:sp>
    </p:spTree>
    <p:extLst>
      <p:ext uri="{BB962C8B-B14F-4D97-AF65-F5344CB8AC3E}">
        <p14:creationId xmlns:p14="http://schemas.microsoft.com/office/powerpoint/2010/main" val="2477858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C09A7E37-3E64-47AD-9ADC-4BD16748DDF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2694643A-125A-4E28-A1E6-1B4FDDA66662}"/>
              </a:ext>
            </a:extLst>
          </p:cNvPr>
          <p:cNvSpPr>
            <a:spLocks noGrp="1" noChangeArrowheads="1"/>
          </p:cNvSpPr>
          <p:nvPr>
            <p:ph type="sldNum" sz="quarter" idx="11"/>
          </p:nvPr>
        </p:nvSpPr>
        <p:spPr>
          <a:ln/>
        </p:spPr>
        <p:txBody>
          <a:bodyPr/>
          <a:lstStyle>
            <a:lvl1pPr>
              <a:defRPr/>
            </a:lvl1pPr>
          </a:lstStyle>
          <a:p>
            <a:fld id="{678076D0-B28A-49B3-8E9A-B91978C59E42}" type="slidenum">
              <a:rPr lang="en-US" altLang="en-US" smtClean="0"/>
              <a:pPr/>
              <a:t>‹#›</a:t>
            </a:fld>
            <a:endParaRPr lang="en-US" altLang="en-US"/>
          </a:p>
        </p:txBody>
      </p:sp>
    </p:spTree>
    <p:extLst>
      <p:ext uri="{BB962C8B-B14F-4D97-AF65-F5344CB8AC3E}">
        <p14:creationId xmlns:p14="http://schemas.microsoft.com/office/powerpoint/2010/main" val="2722584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391C5B43-3D44-4A5D-BB40-26F113E38ED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2094C956-0F22-4D91-B62A-26663564D2FB}"/>
              </a:ext>
            </a:extLst>
          </p:cNvPr>
          <p:cNvSpPr>
            <a:spLocks noGrp="1" noChangeArrowheads="1"/>
          </p:cNvSpPr>
          <p:nvPr>
            <p:ph type="sldNum" sz="quarter" idx="11"/>
          </p:nvPr>
        </p:nvSpPr>
        <p:spPr>
          <a:ln/>
        </p:spPr>
        <p:txBody>
          <a:bodyPr/>
          <a:lstStyle>
            <a:lvl1pPr>
              <a:defRPr/>
            </a:lvl1pPr>
          </a:lstStyle>
          <a:p>
            <a:fld id="{BAACAC70-25CC-4420-902F-DD0F7EB73AE2}" type="slidenum">
              <a:rPr lang="en-US" altLang="en-US" smtClean="0"/>
              <a:pPr/>
              <a:t>‹#›</a:t>
            </a:fld>
            <a:endParaRPr lang="en-US" altLang="en-US"/>
          </a:p>
        </p:txBody>
      </p:sp>
    </p:spTree>
    <p:extLst>
      <p:ext uri="{BB962C8B-B14F-4D97-AF65-F5344CB8AC3E}">
        <p14:creationId xmlns:p14="http://schemas.microsoft.com/office/powerpoint/2010/main" val="1443830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BC947A72-855F-404F-9E57-C8FFAA973EB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F121E76E-222C-4DD0-B702-E2DEE761CE89}"/>
              </a:ext>
            </a:extLst>
          </p:cNvPr>
          <p:cNvSpPr>
            <a:spLocks noGrp="1" noChangeArrowheads="1"/>
          </p:cNvSpPr>
          <p:nvPr>
            <p:ph type="sldNum" sz="quarter" idx="11"/>
          </p:nvPr>
        </p:nvSpPr>
        <p:spPr>
          <a:ln/>
        </p:spPr>
        <p:txBody>
          <a:bodyPr/>
          <a:lstStyle>
            <a:lvl1pPr>
              <a:defRPr/>
            </a:lvl1pPr>
          </a:lstStyle>
          <a:p>
            <a:fld id="{DBCA8090-8247-42DD-9487-6F0892F91A08}" type="slidenum">
              <a:rPr lang="en-US" altLang="en-US" smtClean="0"/>
              <a:pPr/>
              <a:t>‹#›</a:t>
            </a:fld>
            <a:endParaRPr lang="en-US" altLang="en-US"/>
          </a:p>
        </p:txBody>
      </p:sp>
    </p:spTree>
    <p:extLst>
      <p:ext uri="{BB962C8B-B14F-4D97-AF65-F5344CB8AC3E}">
        <p14:creationId xmlns:p14="http://schemas.microsoft.com/office/powerpoint/2010/main" val="3664675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B25BBF2-0F2C-4F7A-A9C7-E1BA50459B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0CB4D2C-1260-4158-8D07-953D305F2001}"/>
              </a:ext>
            </a:extLst>
          </p:cNvPr>
          <p:cNvSpPr>
            <a:spLocks noGrp="1" noChangeArrowheads="1"/>
          </p:cNvSpPr>
          <p:nvPr>
            <p:ph type="sldNum" sz="quarter" idx="11"/>
          </p:nvPr>
        </p:nvSpPr>
        <p:spPr>
          <a:ln/>
        </p:spPr>
        <p:txBody>
          <a:bodyPr/>
          <a:lstStyle>
            <a:lvl1pPr>
              <a:defRPr/>
            </a:lvl1pPr>
          </a:lstStyle>
          <a:p>
            <a:fld id="{F1A28186-3052-47ED-97F0-BB244CC73367}" type="slidenum">
              <a:rPr lang="en-US" altLang="en-US" smtClean="0"/>
              <a:pPr/>
              <a:t>‹#›</a:t>
            </a:fld>
            <a:endParaRPr lang="en-US" altLang="en-US"/>
          </a:p>
        </p:txBody>
      </p:sp>
    </p:spTree>
    <p:extLst>
      <p:ext uri="{BB962C8B-B14F-4D97-AF65-F5344CB8AC3E}">
        <p14:creationId xmlns:p14="http://schemas.microsoft.com/office/powerpoint/2010/main" val="3471475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B6E36BF-FAC7-4094-AC32-501A1DB4DD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EB0E6CA6-653C-48AC-AC21-4339465C6A72}"/>
              </a:ext>
            </a:extLst>
          </p:cNvPr>
          <p:cNvSpPr>
            <a:spLocks noGrp="1" noChangeArrowheads="1"/>
          </p:cNvSpPr>
          <p:nvPr>
            <p:ph type="sldNum" sz="quarter" idx="11"/>
          </p:nvPr>
        </p:nvSpPr>
        <p:spPr>
          <a:ln/>
        </p:spPr>
        <p:txBody>
          <a:bodyPr/>
          <a:lstStyle>
            <a:lvl1pPr>
              <a:defRPr/>
            </a:lvl1pPr>
          </a:lstStyle>
          <a:p>
            <a:fld id="{E7BFA55C-D361-40AD-A667-4E0357AE8689}" type="slidenum">
              <a:rPr lang="en-US" altLang="en-US" smtClean="0"/>
              <a:pPr/>
              <a:t>‹#›</a:t>
            </a:fld>
            <a:endParaRPr lang="en-US" altLang="en-US"/>
          </a:p>
        </p:txBody>
      </p:sp>
    </p:spTree>
    <p:extLst>
      <p:ext uri="{BB962C8B-B14F-4D97-AF65-F5344CB8AC3E}">
        <p14:creationId xmlns:p14="http://schemas.microsoft.com/office/powerpoint/2010/main" val="3796548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6254852-8B45-4626-BCE8-A641E68898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BE0E510-CD38-4382-89DE-C76584A1A7F4}"/>
              </a:ext>
            </a:extLst>
          </p:cNvPr>
          <p:cNvSpPr>
            <a:spLocks noGrp="1" noChangeArrowheads="1"/>
          </p:cNvSpPr>
          <p:nvPr>
            <p:ph type="sldNum" sz="quarter" idx="11"/>
          </p:nvPr>
        </p:nvSpPr>
        <p:spPr>
          <a:ln/>
        </p:spPr>
        <p:txBody>
          <a:bodyPr/>
          <a:lstStyle>
            <a:lvl1pPr>
              <a:defRPr/>
            </a:lvl1pPr>
          </a:lstStyle>
          <a:p>
            <a:fld id="{0B8A52A1-C390-4CDA-8797-62A71B340066}" type="slidenum">
              <a:rPr lang="en-US" altLang="en-US" smtClean="0"/>
              <a:pPr/>
              <a:t>‹#›</a:t>
            </a:fld>
            <a:endParaRPr lang="en-US" altLang="en-US"/>
          </a:p>
        </p:txBody>
      </p:sp>
    </p:spTree>
    <p:extLst>
      <p:ext uri="{BB962C8B-B14F-4D97-AF65-F5344CB8AC3E}">
        <p14:creationId xmlns:p14="http://schemas.microsoft.com/office/powerpoint/2010/main" val="2676574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D7007F0-B9D5-4051-892C-827B841066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3B930A4-2CF8-45C1-83CE-984693168F27}"/>
              </a:ext>
            </a:extLst>
          </p:cNvPr>
          <p:cNvSpPr>
            <a:spLocks noGrp="1" noChangeArrowheads="1"/>
          </p:cNvSpPr>
          <p:nvPr>
            <p:ph type="sldNum" sz="quarter" idx="11"/>
          </p:nvPr>
        </p:nvSpPr>
        <p:spPr>
          <a:ln/>
        </p:spPr>
        <p:txBody>
          <a:bodyPr/>
          <a:lstStyle>
            <a:lvl1pPr>
              <a:defRPr/>
            </a:lvl1pPr>
          </a:lstStyle>
          <a:p>
            <a:fld id="{90E793E0-9C4F-4A2C-842F-9EC689D49F58}" type="slidenum">
              <a:rPr lang="en-US" altLang="en-US" smtClean="0"/>
              <a:pPr/>
              <a:t>‹#›</a:t>
            </a:fld>
            <a:endParaRPr lang="en-US" altLang="en-US"/>
          </a:p>
        </p:txBody>
      </p:sp>
    </p:spTree>
    <p:extLst>
      <p:ext uri="{BB962C8B-B14F-4D97-AF65-F5344CB8AC3E}">
        <p14:creationId xmlns:p14="http://schemas.microsoft.com/office/powerpoint/2010/main" val="1359595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712761A-9C89-4D5B-9404-D6576D290AD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588E4D5C-8884-4A84-A016-83EEE4093CD3}"/>
              </a:ext>
            </a:extLst>
          </p:cNvPr>
          <p:cNvSpPr>
            <a:spLocks noGrp="1" noChangeArrowheads="1"/>
          </p:cNvSpPr>
          <p:nvPr>
            <p:ph type="sldNum" sz="quarter" idx="11"/>
          </p:nvPr>
        </p:nvSpPr>
        <p:spPr>
          <a:ln/>
        </p:spPr>
        <p:txBody>
          <a:bodyPr/>
          <a:lstStyle>
            <a:lvl1pPr>
              <a:defRPr/>
            </a:lvl1pPr>
          </a:lstStyle>
          <a:p>
            <a:fld id="{44BD0873-B57E-4252-8BFE-48B797BC903A}" type="slidenum">
              <a:rPr lang="en-US" altLang="en-US" smtClean="0"/>
              <a:pPr/>
              <a:t>‹#›</a:t>
            </a:fld>
            <a:endParaRPr lang="en-US" altLang="en-US"/>
          </a:p>
        </p:txBody>
      </p:sp>
    </p:spTree>
    <p:extLst>
      <p:ext uri="{BB962C8B-B14F-4D97-AF65-F5344CB8AC3E}">
        <p14:creationId xmlns:p14="http://schemas.microsoft.com/office/powerpoint/2010/main" val="2181921418"/>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C3EC5D4F-7241-4D48-A4A7-0981C8FB188A}"/>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EBFA5783-58D9-4D35-9CD0-554773E52F0B}"/>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4" name="Group 28">
              <a:extLst>
                <a:ext uri="{FF2B5EF4-FFF2-40B4-BE49-F238E27FC236}">
                  <a16:creationId xmlns:a16="http://schemas.microsoft.com/office/drawing/2014/main" id="{1739EB3B-E772-4FC7-BDBA-76ED5FAF222B}"/>
                </a:ext>
              </a:extLst>
            </p:cNvPr>
            <p:cNvGrpSpPr>
              <a:grpSpLocks/>
            </p:cNvGrpSpPr>
            <p:nvPr/>
          </p:nvGrpSpPr>
          <p:grpSpPr bwMode="auto">
            <a:xfrm>
              <a:off x="4458" y="2751"/>
              <a:ext cx="1190" cy="1426"/>
              <a:chOff x="4458" y="2751"/>
              <a:chExt cx="1190" cy="1426"/>
            </a:xfrm>
          </p:grpSpPr>
          <p:sp>
            <p:nvSpPr>
              <p:cNvPr id="1035" name="Freeform 3">
                <a:extLst>
                  <a:ext uri="{FF2B5EF4-FFF2-40B4-BE49-F238E27FC236}">
                    <a16:creationId xmlns:a16="http://schemas.microsoft.com/office/drawing/2014/main" id="{E390AD0B-045C-45AF-B2EA-4FD6A8679676}"/>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6" name="Line 4">
                <a:extLst>
                  <a:ext uri="{FF2B5EF4-FFF2-40B4-BE49-F238E27FC236}">
                    <a16:creationId xmlns:a16="http://schemas.microsoft.com/office/drawing/2014/main" id="{29DDE5CF-6ED8-4BEC-A2AB-A210289ACA45}"/>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5">
                <a:extLst>
                  <a:ext uri="{FF2B5EF4-FFF2-40B4-BE49-F238E27FC236}">
                    <a16:creationId xmlns:a16="http://schemas.microsoft.com/office/drawing/2014/main" id="{EA4D0DE6-A17E-4CD0-909A-7835D04A2F27}"/>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Line 6">
                <a:extLst>
                  <a:ext uri="{FF2B5EF4-FFF2-40B4-BE49-F238E27FC236}">
                    <a16:creationId xmlns:a16="http://schemas.microsoft.com/office/drawing/2014/main" id="{B0C4E214-2BC7-4E89-9C34-E60765C9C33E}"/>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Freeform 7">
                <a:extLst>
                  <a:ext uri="{FF2B5EF4-FFF2-40B4-BE49-F238E27FC236}">
                    <a16:creationId xmlns:a16="http://schemas.microsoft.com/office/drawing/2014/main" id="{4EBC01BC-C4AC-4FBE-A8D9-67FBD691B2C3}"/>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Oval 8">
                <a:extLst>
                  <a:ext uri="{FF2B5EF4-FFF2-40B4-BE49-F238E27FC236}">
                    <a16:creationId xmlns:a16="http://schemas.microsoft.com/office/drawing/2014/main" id="{B5EFB3FB-0C0E-4A82-A156-B8549CFB8D8E}"/>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1" name="Group 27">
                <a:extLst>
                  <a:ext uri="{FF2B5EF4-FFF2-40B4-BE49-F238E27FC236}">
                    <a16:creationId xmlns:a16="http://schemas.microsoft.com/office/drawing/2014/main" id="{7DAA45A8-E4FF-4B83-876D-31C506D7FA9D}"/>
                  </a:ext>
                </a:extLst>
              </p:cNvPr>
              <p:cNvGrpSpPr>
                <a:grpSpLocks/>
              </p:cNvGrpSpPr>
              <p:nvPr/>
            </p:nvGrpSpPr>
            <p:grpSpPr bwMode="auto">
              <a:xfrm>
                <a:off x="4458" y="2991"/>
                <a:ext cx="999" cy="797"/>
                <a:chOff x="4458" y="2991"/>
                <a:chExt cx="999" cy="797"/>
              </a:xfrm>
            </p:grpSpPr>
            <p:sp>
              <p:nvSpPr>
                <p:cNvPr id="1042" name="Freeform 9">
                  <a:extLst>
                    <a:ext uri="{FF2B5EF4-FFF2-40B4-BE49-F238E27FC236}">
                      <a16:creationId xmlns:a16="http://schemas.microsoft.com/office/drawing/2014/main" id="{10AF373A-5478-4732-8B93-C7FA2214DC06}"/>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0">
                  <a:extLst>
                    <a:ext uri="{FF2B5EF4-FFF2-40B4-BE49-F238E27FC236}">
                      <a16:creationId xmlns:a16="http://schemas.microsoft.com/office/drawing/2014/main" id="{18C3FF5F-1087-4A14-B05C-EF93FED535E3}"/>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1">
                  <a:extLst>
                    <a:ext uri="{FF2B5EF4-FFF2-40B4-BE49-F238E27FC236}">
                      <a16:creationId xmlns:a16="http://schemas.microsoft.com/office/drawing/2014/main" id="{768B6B30-DD10-4951-9D6F-0FE59F9AEC7A}"/>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2">
                  <a:extLst>
                    <a:ext uri="{FF2B5EF4-FFF2-40B4-BE49-F238E27FC236}">
                      <a16:creationId xmlns:a16="http://schemas.microsoft.com/office/drawing/2014/main" id="{F59CCDAA-0C06-4A12-A642-F7BE4F4AB7BA}"/>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3">
                  <a:extLst>
                    <a:ext uri="{FF2B5EF4-FFF2-40B4-BE49-F238E27FC236}">
                      <a16:creationId xmlns:a16="http://schemas.microsoft.com/office/drawing/2014/main" id="{088C8B6F-F05E-44F8-9265-BBB3EDA55A46}"/>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4">
                  <a:extLst>
                    <a:ext uri="{FF2B5EF4-FFF2-40B4-BE49-F238E27FC236}">
                      <a16:creationId xmlns:a16="http://schemas.microsoft.com/office/drawing/2014/main" id="{E48D41F2-F24F-45D4-842F-BD116865DBE1}"/>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5">
                  <a:extLst>
                    <a:ext uri="{FF2B5EF4-FFF2-40B4-BE49-F238E27FC236}">
                      <a16:creationId xmlns:a16="http://schemas.microsoft.com/office/drawing/2014/main" id="{6E3BF754-3A1F-40DB-A2B5-41FCE932A98D}"/>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6">
                  <a:extLst>
                    <a:ext uri="{FF2B5EF4-FFF2-40B4-BE49-F238E27FC236}">
                      <a16:creationId xmlns:a16="http://schemas.microsoft.com/office/drawing/2014/main" id="{318B4698-4323-4853-8C17-9F1F9E9F3D45}"/>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7">
                  <a:extLst>
                    <a:ext uri="{FF2B5EF4-FFF2-40B4-BE49-F238E27FC236}">
                      <a16:creationId xmlns:a16="http://schemas.microsoft.com/office/drawing/2014/main" id="{28585D53-7679-4221-AB50-808FA417F754}"/>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8">
                  <a:extLst>
                    <a:ext uri="{FF2B5EF4-FFF2-40B4-BE49-F238E27FC236}">
                      <a16:creationId xmlns:a16="http://schemas.microsoft.com/office/drawing/2014/main" id="{CAEDA6BB-ABDC-44FF-B8F1-57AF8920E62B}"/>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19">
                  <a:extLst>
                    <a:ext uri="{FF2B5EF4-FFF2-40B4-BE49-F238E27FC236}">
                      <a16:creationId xmlns:a16="http://schemas.microsoft.com/office/drawing/2014/main" id="{B52588C3-F7A7-4750-8958-9E46DC30128D}"/>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0">
                  <a:extLst>
                    <a:ext uri="{FF2B5EF4-FFF2-40B4-BE49-F238E27FC236}">
                      <a16:creationId xmlns:a16="http://schemas.microsoft.com/office/drawing/2014/main" id="{1B242CA3-251C-49A8-9F8B-3C36D19DAF99}"/>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1">
                  <a:extLst>
                    <a:ext uri="{FF2B5EF4-FFF2-40B4-BE49-F238E27FC236}">
                      <a16:creationId xmlns:a16="http://schemas.microsoft.com/office/drawing/2014/main" id="{934A00C5-C8F2-4AB7-9F6D-983AF931C1BD}"/>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2">
                  <a:extLst>
                    <a:ext uri="{FF2B5EF4-FFF2-40B4-BE49-F238E27FC236}">
                      <a16:creationId xmlns:a16="http://schemas.microsoft.com/office/drawing/2014/main" id="{56A807CD-D73B-4E85-BD9C-E48E63EFE8A6}"/>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3">
                  <a:extLst>
                    <a:ext uri="{FF2B5EF4-FFF2-40B4-BE49-F238E27FC236}">
                      <a16:creationId xmlns:a16="http://schemas.microsoft.com/office/drawing/2014/main" id="{E7FCF25E-43F2-47F9-84CA-88DA94BC6C90}"/>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4">
                  <a:extLst>
                    <a:ext uri="{FF2B5EF4-FFF2-40B4-BE49-F238E27FC236}">
                      <a16:creationId xmlns:a16="http://schemas.microsoft.com/office/drawing/2014/main" id="{941BF1B0-B0FC-4B26-87D2-8E92F0B923BB}"/>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Freeform 25">
                  <a:extLst>
                    <a:ext uri="{FF2B5EF4-FFF2-40B4-BE49-F238E27FC236}">
                      <a16:creationId xmlns:a16="http://schemas.microsoft.com/office/drawing/2014/main" id="{58386E5A-8831-41BF-A518-267851851837}"/>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9" name="Freeform 26">
                  <a:extLst>
                    <a:ext uri="{FF2B5EF4-FFF2-40B4-BE49-F238E27FC236}">
                      <a16:creationId xmlns:a16="http://schemas.microsoft.com/office/drawing/2014/main" id="{42A36C76-0897-4DBC-8C24-F1DE13438B11}"/>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0C33E6C5-337F-4255-A1DA-43C86CD19DD8}"/>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7299F587-A84B-44B9-8C48-AC1437FF5217}"/>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039852B9-9585-4786-86B9-2B6A70406C43}"/>
              </a:ext>
            </a:extLst>
          </p:cNvPr>
          <p:cNvSpPr>
            <a:spLocks noGrp="1" noChangeArrowheads="1"/>
          </p:cNvSpPr>
          <p:nvPr>
            <p:ph type="dt" sz="half" idx="2"/>
          </p:nvPr>
        </p:nvSpPr>
        <p:spPr bwMode="auto">
          <a:xfrm>
            <a:off x="685800" y="64008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21C8707-69C6-4ACD-BD95-09F063A7B008}"/>
              </a:ext>
            </a:extLst>
          </p:cNvPr>
          <p:cNvSpPr>
            <a:spLocks noGrp="1" noChangeArrowheads="1"/>
          </p:cNvSpPr>
          <p:nvPr>
            <p:ph type="sldNum" sz="quarter" idx="4"/>
          </p:nvPr>
        </p:nvSpPr>
        <p:spPr bwMode="auto">
          <a:xfrm>
            <a:off x="6553200" y="6399213"/>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a:lvl1pPr>
          </a:lstStyle>
          <a:p>
            <a:fld id="{44BD0873-B57E-4252-8BFE-48B797BC903A}" type="slidenum">
              <a:rPr lang="en-US" altLang="en-US" smtClean="0"/>
              <a:pPr/>
              <a:t>‹#›</a:t>
            </a:fld>
            <a:endParaRPr lang="en-US" altLang="en-US"/>
          </a:p>
        </p:txBody>
      </p:sp>
      <p:sp>
        <p:nvSpPr>
          <p:cNvPr id="1031" name="Rectangle 35">
            <a:extLst>
              <a:ext uri="{FF2B5EF4-FFF2-40B4-BE49-F238E27FC236}">
                <a16:creationId xmlns:a16="http://schemas.microsoft.com/office/drawing/2014/main" id="{C1639140-DF82-447C-8940-97C93664B7A5}"/>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5" name="Rectangle 35">
            <a:extLst>
              <a:ext uri="{FF2B5EF4-FFF2-40B4-BE49-F238E27FC236}">
                <a16:creationId xmlns:a16="http://schemas.microsoft.com/office/drawing/2014/main" id="{B16DA2B3-3106-4A65-A620-A5451B6A92B9}"/>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6" name="Rectangle 35">
            <a:extLst>
              <a:ext uri="{FF2B5EF4-FFF2-40B4-BE49-F238E27FC236}">
                <a16:creationId xmlns:a16="http://schemas.microsoft.com/office/drawing/2014/main" id="{65AC703D-15C9-428A-8C4D-DE5F49AD1368}"/>
              </a:ext>
            </a:extLst>
          </p:cNvPr>
          <p:cNvSpPr>
            <a:spLocks noChangeArrowheads="1"/>
          </p:cNvSpPr>
          <p:nvPr/>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sz="1000" dirty="0">
                <a:latin typeface="Arial" panose="020B0604020202020204" pitchFamily="34" charset="0"/>
              </a:rPr>
              <a:t>Liang, Introduction to Java Programming and Data Structures, Twelfth Edition, (c) 2020  Pearson Education, Inc. All rights reserved. </a:t>
            </a:r>
          </a:p>
        </p:txBody>
      </p:sp>
    </p:spTree>
    <p:extLst>
      <p:ext uri="{BB962C8B-B14F-4D97-AF65-F5344CB8AC3E}">
        <p14:creationId xmlns:p14="http://schemas.microsoft.com/office/powerpoint/2010/main" val="227502853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Lst>
  <p:hf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anose="02020603050405020304" pitchFamily="18" charset="0"/>
        </a:defRPr>
      </a:lvl2pPr>
      <a:lvl3pPr algn="ctr" rtl="0" eaLnBrk="1" fontAlgn="base" hangingPunct="1">
        <a:spcBef>
          <a:spcPct val="0"/>
        </a:spcBef>
        <a:spcAft>
          <a:spcPct val="0"/>
        </a:spcAft>
        <a:defRPr sz="4400">
          <a:solidFill>
            <a:schemeClr val="tx2"/>
          </a:solidFill>
          <a:latin typeface="Times New Roman" panose="02020603050405020304" pitchFamily="18" charset="0"/>
        </a:defRPr>
      </a:lvl3pPr>
      <a:lvl4pPr algn="ctr" rtl="0" eaLnBrk="1" fontAlgn="base" hangingPunct="1">
        <a:spcBef>
          <a:spcPct val="0"/>
        </a:spcBef>
        <a:spcAft>
          <a:spcPct val="0"/>
        </a:spcAft>
        <a:defRPr sz="4400">
          <a:solidFill>
            <a:schemeClr val="tx2"/>
          </a:solidFill>
          <a:latin typeface="Times New Roman" panose="02020603050405020304" pitchFamily="18" charset="0"/>
        </a:defRPr>
      </a:lvl4pPr>
      <a:lvl5pPr algn="ctr" rtl="0" eaLnBrk="1" fontAlgn="base" hangingPunct="1">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3" Type="http://schemas.openxmlformats.org/officeDocument/2006/relationships/hyperlink" Target="https://liveexample.pearsoncmg.com/dsanimation/InsertionSortNeweBook.html" TargetMode="External"/><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liveexample.pearsoncmg.com/html/InsertionSort.html" TargetMode="External"/><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hyperlink" Target="https://liveexample.pearsoncmg.com/html/BubbleSort.html" TargetMode="External"/><Relationship Id="rId5" Type="http://schemas.openxmlformats.org/officeDocument/2006/relationships/image" Target="../media/image4.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2" Type="http://schemas.openxmlformats.org/officeDocument/2006/relationships/hyperlink" Target="https://liveexample.pearsoncmg.com/dsanimation/BubbleSortNeweBook.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5.bin"/><Relationship Id="rId1" Type="http://schemas.openxmlformats.org/officeDocument/2006/relationships/slideLayout" Target="../slideLayouts/slideLayout2.xml"/><Relationship Id="rId4" Type="http://schemas.openxmlformats.org/officeDocument/2006/relationships/hyperlink" Target="https://liveexample.pearsoncmg.com/html/MergeSort.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6.bin"/><Relationship Id="rId1" Type="http://schemas.openxmlformats.org/officeDocument/2006/relationships/slideLayout" Target="../slideLayouts/slideLayout2.xml"/><Relationship Id="rId4" Type="http://schemas.openxmlformats.org/officeDocument/2006/relationships/hyperlink" Target="https://liveexample.pearsoncmg.com/dsanimation/MergeSortNew.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hyperlink" Target="https://liveexample.pearsoncmg.com/html/QuickSort.html" TargetMode="External"/><Relationship Id="rId4" Type="http://schemas.openxmlformats.org/officeDocument/2006/relationships/hyperlink" Target="https://liveexample.pearsoncmg.com/dsanimation/QuickSortNeweBook.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oleObject" Target="../embeddings/oleObject13.bin"/></Relationships>
</file>

<file path=ppt/slides/_rels/slide2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liveexample.pearsoncmg.com/dsanimation/HeapeBook.html"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liveexample.pearsoncmg.com/html/Heap.html"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liveexample.pearsoncmg.com/html/HeapSort.htm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oleObject" Target="../embeddings/oleObject29.bin"/><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11" Type="http://schemas.openxmlformats.org/officeDocument/2006/relationships/image" Target="../media/image30.wmf"/><Relationship Id="rId5" Type="http://schemas.openxmlformats.org/officeDocument/2006/relationships/image" Target="../media/image27.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29.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hyperlink" Target="https://liveexample.pearsoncmg.com/dsanimation/RadixSorteBook.html" TargetMode="External"/><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30.bin"/><Relationship Id="rId1" Type="http://schemas.openxmlformats.org/officeDocument/2006/relationships/slideLayout" Target="../slideLayouts/slideLayout2.xml"/><Relationship Id="rId5" Type="http://schemas.openxmlformats.org/officeDocument/2006/relationships/hyperlink" Target="https://liveexample.pearsoncmg.com/html/SortLargeFile.html" TargetMode="External"/><Relationship Id="rId4" Type="http://schemas.openxmlformats.org/officeDocument/2006/relationships/hyperlink" Target="https://liveexample.pearsoncmg.com/html/CreateLargeFile.html"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31.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32.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33.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9C18FF14-79C5-48DE-BE5E-1B7816F5E4A2}"/>
              </a:ext>
            </a:extLst>
          </p:cNvPr>
          <p:cNvSpPr>
            <a:spLocks noGrp="1" noChangeArrowheads="1"/>
          </p:cNvSpPr>
          <p:nvPr>
            <p:ph type="title"/>
          </p:nvPr>
        </p:nvSpPr>
        <p:spPr>
          <a:xfrm>
            <a:off x="685800" y="1143000"/>
            <a:ext cx="7772400" cy="1428750"/>
          </a:xfrm>
        </p:spPr>
        <p:txBody>
          <a:bodyPr/>
          <a:lstStyle/>
          <a:p>
            <a:r>
              <a:rPr lang="en-US" altLang="en-US"/>
              <a:t>Chapter 23 Sorting</a:t>
            </a:r>
          </a:p>
        </p:txBody>
      </p:sp>
      <p:sp>
        <p:nvSpPr>
          <p:cNvPr id="4098" name="Slide Number Placeholder 4">
            <a:extLst>
              <a:ext uri="{FF2B5EF4-FFF2-40B4-BE49-F238E27FC236}">
                <a16:creationId xmlns:a16="http://schemas.microsoft.com/office/drawing/2014/main" id="{D13723B8-5139-45C4-85F3-BDCCDB462C2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E62A3BA-FE3A-4E22-A978-AB7094DDC229}" type="slidenum">
              <a:rPr lang="en-US" altLang="en-US" sz="1400"/>
              <a:pPr>
                <a:spcBef>
                  <a:spcPct val="0"/>
                </a:spcBef>
                <a:buClrTx/>
                <a:buSzTx/>
                <a:buFontTx/>
                <a:buNone/>
              </a:pPr>
              <a:t>1</a:t>
            </a:fld>
            <a:endParaRPr lang="en-US" alt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C92E475F-2A9A-4F17-8C1A-6821706E62B9}"/>
              </a:ext>
            </a:extLst>
          </p:cNvPr>
          <p:cNvSpPr>
            <a:spLocks noGrp="1" noChangeArrowheads="1"/>
          </p:cNvSpPr>
          <p:nvPr>
            <p:ph type="title"/>
          </p:nvPr>
        </p:nvSpPr>
        <p:spPr>
          <a:xfrm>
            <a:off x="685800" y="152400"/>
            <a:ext cx="7772400" cy="457200"/>
          </a:xfrm>
        </p:spPr>
        <p:txBody>
          <a:bodyPr/>
          <a:lstStyle/>
          <a:p>
            <a:r>
              <a:rPr lang="en-US" altLang="en-US"/>
              <a:t>Objectives</a:t>
            </a:r>
          </a:p>
        </p:txBody>
      </p:sp>
      <p:sp>
        <p:nvSpPr>
          <p:cNvPr id="5124" name="Rectangle 3">
            <a:extLst>
              <a:ext uri="{FF2B5EF4-FFF2-40B4-BE49-F238E27FC236}">
                <a16:creationId xmlns:a16="http://schemas.microsoft.com/office/drawing/2014/main" id="{AEE206A6-9CE8-4028-B1AA-FECA0D7759C5}"/>
              </a:ext>
            </a:extLst>
          </p:cNvPr>
          <p:cNvSpPr>
            <a:spLocks noGrp="1" noChangeArrowheads="1"/>
          </p:cNvSpPr>
          <p:nvPr>
            <p:ph idx="1"/>
          </p:nvPr>
        </p:nvSpPr>
        <p:spPr>
          <a:xfrm>
            <a:off x="228600" y="914400"/>
            <a:ext cx="8686800" cy="5486400"/>
          </a:xfrm>
        </p:spPr>
        <p:txBody>
          <a:bodyPr/>
          <a:lstStyle/>
          <a:p>
            <a:r>
              <a:rPr lang="en-US" altLang="en-US" sz="2400"/>
              <a:t>To study and analyze time complexity of various sorting algorithms (§§23.2–23.7).</a:t>
            </a:r>
          </a:p>
          <a:p>
            <a:r>
              <a:rPr lang="en-US" altLang="en-US" sz="2400"/>
              <a:t>To design, implement, and analyze insertion sort (§23.2).</a:t>
            </a:r>
          </a:p>
          <a:p>
            <a:r>
              <a:rPr lang="en-US" altLang="en-US" sz="2400"/>
              <a:t>To design, implement, and analyze bubble sort (§23.3).</a:t>
            </a:r>
          </a:p>
          <a:p>
            <a:r>
              <a:rPr lang="en-US" altLang="en-US" sz="2400"/>
              <a:t>To design, implement, and analyze merge sort (§23.4).</a:t>
            </a:r>
          </a:p>
          <a:p>
            <a:r>
              <a:rPr lang="en-US" altLang="en-US" sz="2400"/>
              <a:t>To design, implement, and analyze quick sort (§23.5).</a:t>
            </a:r>
          </a:p>
          <a:p>
            <a:r>
              <a:rPr lang="en-US" altLang="en-US" sz="2400"/>
              <a:t>To design and implement a binary heap (§23.6).</a:t>
            </a:r>
          </a:p>
          <a:p>
            <a:r>
              <a:rPr lang="en-US" altLang="en-US" sz="2400"/>
              <a:t>To design, implement, and analyze heap sort (§23.7).</a:t>
            </a:r>
          </a:p>
          <a:p>
            <a:r>
              <a:rPr lang="en-US" altLang="en-US" sz="2400"/>
              <a:t>To design, implement, and analyze bucket sort and radix sort (§23.8).</a:t>
            </a:r>
          </a:p>
          <a:p>
            <a:r>
              <a:rPr lang="en-US" altLang="en-US" sz="2400"/>
              <a:t>To design, implement, and analyze external sort for files that have a large amount of data (§23.9).</a:t>
            </a:r>
            <a:endParaRPr lang="en-US" altLang="en-US" sz="2800"/>
          </a:p>
        </p:txBody>
      </p:sp>
      <p:sp>
        <p:nvSpPr>
          <p:cNvPr id="5122" name="Slide Number Placeholder 4">
            <a:extLst>
              <a:ext uri="{FF2B5EF4-FFF2-40B4-BE49-F238E27FC236}">
                <a16:creationId xmlns:a16="http://schemas.microsoft.com/office/drawing/2014/main" id="{9CD32B87-C7A1-46AA-BCAB-A1AAEE2D21D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9E2854A-C67D-43F9-987A-7CE3D365FDE9}" type="slidenum">
              <a:rPr lang="en-US" altLang="en-US" sz="1400"/>
              <a:pPr>
                <a:spcBef>
                  <a:spcPct val="0"/>
                </a:spcBef>
                <a:buClrTx/>
                <a:buSzTx/>
                <a:buFontTx/>
                <a:buNone/>
              </a:pPr>
              <a:t>2</a:t>
            </a:fld>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99CA827F-9ED4-4C01-9348-3A30B7E4EBFD}"/>
              </a:ext>
            </a:extLst>
          </p:cNvPr>
          <p:cNvSpPr>
            <a:spLocks noGrp="1" noChangeArrowheads="1"/>
          </p:cNvSpPr>
          <p:nvPr>
            <p:ph type="title"/>
          </p:nvPr>
        </p:nvSpPr>
        <p:spPr>
          <a:xfrm>
            <a:off x="685800" y="457200"/>
            <a:ext cx="7772400" cy="533400"/>
          </a:xfrm>
        </p:spPr>
        <p:txBody>
          <a:bodyPr/>
          <a:lstStyle/>
          <a:p>
            <a:r>
              <a:rPr lang="en-US" altLang="en-US" dirty="0"/>
              <a:t>Why Study Sorting? </a:t>
            </a:r>
          </a:p>
        </p:txBody>
      </p:sp>
      <p:sp>
        <p:nvSpPr>
          <p:cNvPr id="6148" name="Rectangle 3">
            <a:extLst>
              <a:ext uri="{FF2B5EF4-FFF2-40B4-BE49-F238E27FC236}">
                <a16:creationId xmlns:a16="http://schemas.microsoft.com/office/drawing/2014/main" id="{77BD793C-21E6-4F38-9D5E-95EAE93D94D1}"/>
              </a:ext>
            </a:extLst>
          </p:cNvPr>
          <p:cNvSpPr>
            <a:spLocks noGrp="1" noChangeArrowheads="1"/>
          </p:cNvSpPr>
          <p:nvPr>
            <p:ph idx="1"/>
          </p:nvPr>
        </p:nvSpPr>
        <p:spPr>
          <a:xfrm>
            <a:off x="228600" y="1219200"/>
            <a:ext cx="8686800" cy="4953000"/>
          </a:xfrm>
        </p:spPr>
        <p:txBody>
          <a:bodyPr/>
          <a:lstStyle/>
          <a:p>
            <a:pPr marL="0" indent="0">
              <a:lnSpc>
                <a:spcPct val="90000"/>
              </a:lnSpc>
              <a:spcBef>
                <a:spcPct val="0"/>
              </a:spcBef>
              <a:buFont typeface="Monotype Sorts"/>
              <a:buNone/>
            </a:pPr>
            <a:r>
              <a:rPr lang="en-US" altLang="en-US" sz="2600" dirty="0"/>
              <a:t>Sorting is a classic subject in computer science. There are three reasons for studying sorting algorithms. </a:t>
            </a:r>
          </a:p>
          <a:p>
            <a:pPr marL="0" indent="0">
              <a:lnSpc>
                <a:spcPct val="90000"/>
              </a:lnSpc>
              <a:spcBef>
                <a:spcPct val="0"/>
              </a:spcBef>
              <a:buFont typeface="Monotype Sorts"/>
              <a:buNone/>
            </a:pPr>
            <a:endParaRPr lang="en-US" altLang="en-US" sz="2600" dirty="0"/>
          </a:p>
          <a:p>
            <a:pPr lvl="1">
              <a:lnSpc>
                <a:spcPct val="90000"/>
              </a:lnSpc>
              <a:spcBef>
                <a:spcPct val="0"/>
              </a:spcBef>
            </a:pPr>
            <a:r>
              <a:rPr lang="en-US" altLang="en-US" sz="2600" dirty="0"/>
              <a:t>First, sorting algorithms illustrate many creative approaches to problem solving and these approaches can </a:t>
            </a:r>
            <a:r>
              <a:rPr lang="en-US" altLang="en-US" sz="2600" dirty="0">
                <a:highlight>
                  <a:srgbClr val="FFFF00"/>
                </a:highlight>
              </a:rPr>
              <a:t>be applied to solve other problems. </a:t>
            </a:r>
          </a:p>
          <a:p>
            <a:pPr lvl="1">
              <a:lnSpc>
                <a:spcPct val="90000"/>
              </a:lnSpc>
              <a:spcBef>
                <a:spcPct val="0"/>
              </a:spcBef>
            </a:pPr>
            <a:endParaRPr lang="en-US" altLang="en-US" sz="2600" dirty="0"/>
          </a:p>
          <a:p>
            <a:pPr lvl="1">
              <a:lnSpc>
                <a:spcPct val="90000"/>
              </a:lnSpc>
              <a:spcBef>
                <a:spcPct val="0"/>
              </a:spcBef>
            </a:pPr>
            <a:r>
              <a:rPr lang="en-US" altLang="en-US" sz="2600" dirty="0"/>
              <a:t>Second, sorting algorithms are good for practicing fundamental programming techniques using selection statements, loops, methods, and arrays. </a:t>
            </a:r>
          </a:p>
          <a:p>
            <a:pPr lvl="1">
              <a:lnSpc>
                <a:spcPct val="90000"/>
              </a:lnSpc>
              <a:spcBef>
                <a:spcPct val="0"/>
              </a:spcBef>
            </a:pPr>
            <a:endParaRPr lang="en-US" altLang="en-US" sz="2600" dirty="0"/>
          </a:p>
          <a:p>
            <a:pPr lvl="1">
              <a:lnSpc>
                <a:spcPct val="90000"/>
              </a:lnSpc>
              <a:spcBef>
                <a:spcPct val="0"/>
              </a:spcBef>
            </a:pPr>
            <a:r>
              <a:rPr lang="en-US" altLang="en-US" sz="2600" dirty="0"/>
              <a:t>Third, sorting algorithms are excellent examples to demonstrate algorithm performance. </a:t>
            </a:r>
          </a:p>
        </p:txBody>
      </p:sp>
      <p:sp>
        <p:nvSpPr>
          <p:cNvPr id="6146" name="Slide Number Placeholder 4">
            <a:extLst>
              <a:ext uri="{FF2B5EF4-FFF2-40B4-BE49-F238E27FC236}">
                <a16:creationId xmlns:a16="http://schemas.microsoft.com/office/drawing/2014/main" id="{DAA7DAF2-4C9C-4318-9644-F88188989DC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90DA1E4-7CF1-4414-A026-667C53DDE767}" type="slidenum">
              <a:rPr lang="en-US" altLang="en-US" sz="1400"/>
              <a:pPr>
                <a:spcBef>
                  <a:spcPct val="0"/>
                </a:spcBef>
                <a:buClrTx/>
                <a:buSzTx/>
                <a:buFontTx/>
                <a:buNone/>
              </a:pPr>
              <a:t>3</a:t>
            </a:fld>
            <a:endParaRPr lang="en-US" alt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4BA1FCA0-59B1-466B-B749-B758CEABE1B3}"/>
              </a:ext>
            </a:extLst>
          </p:cNvPr>
          <p:cNvSpPr>
            <a:spLocks noGrp="1" noChangeArrowheads="1"/>
          </p:cNvSpPr>
          <p:nvPr>
            <p:ph type="title"/>
          </p:nvPr>
        </p:nvSpPr>
        <p:spPr>
          <a:xfrm>
            <a:off x="685800" y="381000"/>
            <a:ext cx="7772400" cy="533400"/>
          </a:xfrm>
        </p:spPr>
        <p:txBody>
          <a:bodyPr/>
          <a:lstStyle/>
          <a:p>
            <a:r>
              <a:rPr lang="en-US" altLang="en-US" dirty="0"/>
              <a:t>What Data To Sort?</a:t>
            </a:r>
          </a:p>
        </p:txBody>
      </p:sp>
      <p:sp>
        <p:nvSpPr>
          <p:cNvPr id="7172" name="Rectangle 3">
            <a:extLst>
              <a:ext uri="{FF2B5EF4-FFF2-40B4-BE49-F238E27FC236}">
                <a16:creationId xmlns:a16="http://schemas.microsoft.com/office/drawing/2014/main" id="{D8EB437C-9E75-4F4D-AD2F-0DC5609381C7}"/>
              </a:ext>
            </a:extLst>
          </p:cNvPr>
          <p:cNvSpPr>
            <a:spLocks noGrp="1" noChangeArrowheads="1"/>
          </p:cNvSpPr>
          <p:nvPr>
            <p:ph idx="1"/>
          </p:nvPr>
        </p:nvSpPr>
        <p:spPr>
          <a:xfrm>
            <a:off x="228600" y="1219200"/>
            <a:ext cx="8686800" cy="3048000"/>
          </a:xfrm>
        </p:spPr>
        <p:txBody>
          <a:bodyPr/>
          <a:lstStyle/>
          <a:p>
            <a:pPr marL="442913" indent="0">
              <a:lnSpc>
                <a:spcPct val="90000"/>
              </a:lnSpc>
              <a:spcBef>
                <a:spcPct val="0"/>
              </a:spcBef>
              <a:buFont typeface="Monotype Sorts"/>
              <a:buNone/>
            </a:pPr>
            <a:r>
              <a:rPr lang="en-US" altLang="en-US" sz="2400" dirty="0"/>
              <a:t>The data to be sorted might be integers, doubles, characters, or objects. §7.8, “Sorting Arrays,” presented selection sort and insertion sort for numeric values. The selection sort algorithm was extended to sort an array of objects in §11.5.7, “Example: Sorting an Array of Objects.” The Java API contains several overloaded sort methods for sorting primitive type values and objects in the </a:t>
            </a:r>
            <a:r>
              <a:rPr lang="en-US" altLang="en-US" sz="2400" dirty="0" err="1"/>
              <a:t>java.util.Arrays</a:t>
            </a:r>
            <a:r>
              <a:rPr lang="en-US" altLang="en-US" sz="2400" dirty="0"/>
              <a:t> and </a:t>
            </a:r>
            <a:r>
              <a:rPr lang="en-US" altLang="en-US" sz="2400" dirty="0" err="1"/>
              <a:t>java.util.Collections</a:t>
            </a:r>
            <a:r>
              <a:rPr lang="en-US" altLang="en-US" sz="2400" dirty="0"/>
              <a:t> class. For simplicity, this section assumes: </a:t>
            </a:r>
          </a:p>
        </p:txBody>
      </p:sp>
      <p:sp>
        <p:nvSpPr>
          <p:cNvPr id="7170" name="Slide Number Placeholder 4">
            <a:extLst>
              <a:ext uri="{FF2B5EF4-FFF2-40B4-BE49-F238E27FC236}">
                <a16:creationId xmlns:a16="http://schemas.microsoft.com/office/drawing/2014/main" id="{C86F14FD-AAFB-4470-B84E-8235B10C343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F97219E-2C33-46A3-A75D-C728898A09B4}" type="slidenum">
              <a:rPr lang="en-US" altLang="en-US" sz="1400"/>
              <a:pPr>
                <a:spcBef>
                  <a:spcPct val="0"/>
                </a:spcBef>
                <a:buClrTx/>
                <a:buSzTx/>
                <a:buFontTx/>
                <a:buNone/>
              </a:pPr>
              <a:t>4</a:t>
            </a:fld>
            <a:endParaRPr lang="en-US" altLang="en-US" sz="1400"/>
          </a:p>
        </p:txBody>
      </p:sp>
      <p:sp>
        <p:nvSpPr>
          <p:cNvPr id="7173" name="Rectangle 4">
            <a:extLst>
              <a:ext uri="{FF2B5EF4-FFF2-40B4-BE49-F238E27FC236}">
                <a16:creationId xmlns:a16="http://schemas.microsoft.com/office/drawing/2014/main" id="{E9D3C9E5-4342-4E9F-B21E-EF34744D539F}"/>
              </a:ext>
            </a:extLst>
          </p:cNvPr>
          <p:cNvSpPr>
            <a:spLocks noChangeArrowheads="1"/>
          </p:cNvSpPr>
          <p:nvPr/>
        </p:nvSpPr>
        <p:spPr bwMode="auto">
          <a:xfrm>
            <a:off x="228600" y="4114800"/>
            <a:ext cx="86868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990600" indent="-547688">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2400" dirty="0"/>
              <a:t>data to be sorted are integers, </a:t>
            </a:r>
          </a:p>
          <a:p>
            <a:pPr>
              <a:lnSpc>
                <a:spcPct val="90000"/>
              </a:lnSpc>
              <a:spcBef>
                <a:spcPct val="0"/>
              </a:spcBef>
            </a:pPr>
            <a:r>
              <a:rPr lang="en-US" altLang="en-US" sz="2400" dirty="0"/>
              <a:t>data are sorted in ascending order, and </a:t>
            </a:r>
          </a:p>
          <a:p>
            <a:pPr>
              <a:lnSpc>
                <a:spcPct val="90000"/>
              </a:lnSpc>
              <a:spcBef>
                <a:spcPct val="0"/>
              </a:spcBef>
            </a:pPr>
            <a:r>
              <a:rPr lang="en-US" altLang="en-US" sz="2400" dirty="0"/>
              <a:t>data are stored in an array. </a:t>
            </a:r>
          </a:p>
          <a:p>
            <a:pPr marL="442912" indent="0">
              <a:lnSpc>
                <a:spcPct val="90000"/>
              </a:lnSpc>
              <a:spcBef>
                <a:spcPct val="0"/>
              </a:spcBef>
              <a:buNone/>
            </a:pPr>
            <a:r>
              <a:rPr lang="en-US" altLang="en-US" sz="2000" dirty="0"/>
              <a:t>(The programs can be easily modified to sort other types of data, to sort in descending order, or to sort data in an </a:t>
            </a:r>
            <a:r>
              <a:rPr lang="en-US" altLang="en-US" sz="2000" dirty="0" err="1"/>
              <a:t>ArrayList</a:t>
            </a:r>
            <a:r>
              <a:rPr lang="en-US" altLang="en-US" sz="2000" dirty="0"/>
              <a:t> or a LinkedList.)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2D0A2FD5-C39A-49BE-ADC4-0EFF3F2EDD3F}"/>
              </a:ext>
            </a:extLst>
          </p:cNvPr>
          <p:cNvSpPr>
            <a:spLocks noGrp="1" noChangeArrowheads="1"/>
          </p:cNvSpPr>
          <p:nvPr>
            <p:ph type="title"/>
          </p:nvPr>
        </p:nvSpPr>
        <p:spPr>
          <a:xfrm>
            <a:off x="615950" y="203200"/>
            <a:ext cx="7772400" cy="609600"/>
          </a:xfrm>
        </p:spPr>
        <p:txBody>
          <a:bodyPr/>
          <a:lstStyle/>
          <a:p>
            <a:r>
              <a:rPr lang="en-US" altLang="en-US"/>
              <a:t>Insertion Sort</a:t>
            </a:r>
            <a:endParaRPr lang="en-US" altLang="en-US">
              <a:solidFill>
                <a:schemeClr val="tx1"/>
              </a:solidFill>
              <a:latin typeface="Book Antiqua" panose="02040602050305030304" pitchFamily="18" charset="0"/>
              <a:hlinkClick r:id="rId2" action="ppaction://program"/>
            </a:endParaRPr>
          </a:p>
        </p:txBody>
      </p:sp>
      <p:sp>
        <p:nvSpPr>
          <p:cNvPr id="8196" name="Rectangle 3">
            <a:extLst>
              <a:ext uri="{FF2B5EF4-FFF2-40B4-BE49-F238E27FC236}">
                <a16:creationId xmlns:a16="http://schemas.microsoft.com/office/drawing/2014/main" id="{7280FF09-E6DF-466B-9E66-185C5474E3A4}"/>
              </a:ext>
            </a:extLst>
          </p:cNvPr>
          <p:cNvSpPr>
            <a:spLocks noGrp="1" noChangeArrowheads="1"/>
          </p:cNvSpPr>
          <p:nvPr>
            <p:ph idx="1"/>
          </p:nvPr>
        </p:nvSpPr>
        <p:spPr>
          <a:xfrm>
            <a:off x="3305175" y="893763"/>
            <a:ext cx="5410200" cy="457200"/>
          </a:xfrm>
        </p:spPr>
        <p:txBody>
          <a:bodyPr/>
          <a:lstStyle/>
          <a:p>
            <a:pPr marL="0" indent="0">
              <a:buFont typeface="Monotype Sorts"/>
              <a:buNone/>
            </a:pPr>
            <a:r>
              <a:rPr lang="en-US" altLang="en-US" sz="2200"/>
              <a:t>int[] myList = {2, 9, 5, 4, 8, 1, 6}; // Unsorted</a:t>
            </a:r>
          </a:p>
        </p:txBody>
      </p:sp>
      <p:sp>
        <p:nvSpPr>
          <p:cNvPr id="8194" name="Slide Number Placeholder 4">
            <a:extLst>
              <a:ext uri="{FF2B5EF4-FFF2-40B4-BE49-F238E27FC236}">
                <a16:creationId xmlns:a16="http://schemas.microsoft.com/office/drawing/2014/main" id="{5D256CDB-4E6C-46ED-B26C-A8183CD0C3E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55CC377-DE90-4ECA-BC14-8B11C1AD850C}" type="slidenum">
              <a:rPr lang="en-US" altLang="en-US" sz="1400"/>
              <a:pPr>
                <a:spcBef>
                  <a:spcPct val="0"/>
                </a:spcBef>
                <a:buClrTx/>
                <a:buSzTx/>
                <a:buFontTx/>
                <a:buNone/>
              </a:pPr>
              <a:t>5</a:t>
            </a:fld>
            <a:endParaRPr lang="en-US" altLang="en-US" sz="1400"/>
          </a:p>
        </p:txBody>
      </p:sp>
      <p:sp>
        <p:nvSpPr>
          <p:cNvPr id="8197" name="Rectangle 4">
            <a:extLst>
              <a:ext uri="{FF2B5EF4-FFF2-40B4-BE49-F238E27FC236}">
                <a16:creationId xmlns:a16="http://schemas.microsoft.com/office/drawing/2014/main" id="{89F94E3F-1B54-4E65-8044-AA58DE3C4362}"/>
              </a:ext>
            </a:extLst>
          </p:cNvPr>
          <p:cNvSpPr>
            <a:spLocks noChangeArrowheads="1"/>
          </p:cNvSpPr>
          <p:nvPr/>
        </p:nvSpPr>
        <p:spPr bwMode="auto">
          <a:xfrm>
            <a:off x="117475" y="1393825"/>
            <a:ext cx="2495550"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200">
                <a:cs typeface="Times New Roman" panose="02020603050405020304" pitchFamily="18" charset="0"/>
              </a:rPr>
              <a:t>The insertion sort algorithm sorts a list of values by repeatedly inserting an unsorted element into a sorted sublist until the whole list is sorted. </a:t>
            </a:r>
          </a:p>
        </p:txBody>
      </p:sp>
      <p:graphicFrame>
        <p:nvGraphicFramePr>
          <p:cNvPr id="8199" name="Object 9">
            <a:extLst>
              <a:ext uri="{FF2B5EF4-FFF2-40B4-BE49-F238E27FC236}">
                <a16:creationId xmlns:a16="http://schemas.microsoft.com/office/drawing/2014/main" id="{31F855E4-CB03-4334-A324-5300B349C35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57438492"/>
              </p:ext>
            </p:extLst>
          </p:nvPr>
        </p:nvGraphicFramePr>
        <p:xfrm>
          <a:off x="2728913" y="1508125"/>
          <a:ext cx="6183312" cy="4794250"/>
        </p:xfrm>
        <a:graphic>
          <a:graphicData uri="http://schemas.openxmlformats.org/presentationml/2006/ole">
            <mc:AlternateContent xmlns:mc="http://schemas.openxmlformats.org/markup-compatibility/2006">
              <mc:Choice xmlns:v="urn:schemas-microsoft-com:vml" Requires="v">
                <p:oleObj name="Picture" r:id="rId3" imgW="4025900" imgH="3124200" progId="Word.Picture.8">
                  <p:embed/>
                </p:oleObj>
              </mc:Choice>
              <mc:Fallback>
                <p:oleObj name="Picture" r:id="rId3" imgW="4025900" imgH="3124200" progId="Word.Picture.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8913" y="1508125"/>
                        <a:ext cx="6183312"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4">
            <a:extLst>
              <a:ext uri="{FF2B5EF4-FFF2-40B4-BE49-F238E27FC236}">
                <a16:creationId xmlns:a16="http://schemas.microsoft.com/office/drawing/2014/main" id="{65162FAD-238F-4C0D-91FC-FA6930312888}"/>
              </a:ext>
            </a:extLst>
          </p:cNvPr>
          <p:cNvSpPr>
            <a:spLocks noGrp="1" noChangeArrowheads="1"/>
          </p:cNvSpPr>
          <p:nvPr>
            <p:ph type="title"/>
          </p:nvPr>
        </p:nvSpPr>
        <p:spPr>
          <a:xfrm>
            <a:off x="228600" y="228600"/>
            <a:ext cx="8299450" cy="396875"/>
          </a:xfrm>
        </p:spPr>
        <p:txBody>
          <a:bodyPr/>
          <a:lstStyle/>
          <a:p>
            <a:r>
              <a:rPr lang="en-US" altLang="en-US" sz="3200"/>
              <a:t>Insertion Sort Animation</a:t>
            </a:r>
            <a:endParaRPr lang="en-US" altLang="en-US" sz="3200">
              <a:solidFill>
                <a:schemeClr val="tx1"/>
              </a:solidFill>
              <a:latin typeface="Book Antiqua" panose="02040602050305030304" pitchFamily="18" charset="0"/>
              <a:hlinkClick r:id="rId2" action="ppaction://program"/>
            </a:endParaRPr>
          </a:p>
        </p:txBody>
      </p:sp>
      <p:sp>
        <p:nvSpPr>
          <p:cNvPr id="9220" name="Rectangle 3">
            <a:extLst>
              <a:ext uri="{FF2B5EF4-FFF2-40B4-BE49-F238E27FC236}">
                <a16:creationId xmlns:a16="http://schemas.microsoft.com/office/drawing/2014/main" id="{ECACB088-06C2-4278-B390-E16DC1881F2A}"/>
              </a:ext>
            </a:extLst>
          </p:cNvPr>
          <p:cNvSpPr>
            <a:spLocks noGrp="1" noChangeArrowheads="1"/>
          </p:cNvSpPr>
          <p:nvPr>
            <p:ph idx="1"/>
          </p:nvPr>
        </p:nvSpPr>
        <p:spPr>
          <a:xfrm>
            <a:off x="231775" y="931863"/>
            <a:ext cx="8529638" cy="863600"/>
          </a:xfrm>
        </p:spPr>
        <p:txBody>
          <a:bodyPr/>
          <a:lstStyle/>
          <a:p>
            <a:pPr marL="0" indent="0">
              <a:lnSpc>
                <a:spcPct val="90000"/>
              </a:lnSpc>
              <a:buFont typeface="Monotype Sorts"/>
              <a:buNone/>
            </a:pPr>
            <a:r>
              <a:rPr lang="en-US" altLang="en-US" sz="2800" dirty="0"/>
              <a:t>https://liveexample.pearsoncmg.com/dsanimation/InsertionSortNeweBook.html</a:t>
            </a:r>
          </a:p>
        </p:txBody>
      </p:sp>
      <p:sp>
        <p:nvSpPr>
          <p:cNvPr id="9218" name="Slide Number Placeholder 4">
            <a:extLst>
              <a:ext uri="{FF2B5EF4-FFF2-40B4-BE49-F238E27FC236}">
                <a16:creationId xmlns:a16="http://schemas.microsoft.com/office/drawing/2014/main" id="{B76376F9-2286-42C2-A7E1-26B0A304594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B9E8418-A560-4A70-A7D2-149AD3DEEA79}" type="slidenum">
              <a:rPr lang="en-US" altLang="en-US" sz="1400"/>
              <a:pPr>
                <a:spcBef>
                  <a:spcPct val="0"/>
                </a:spcBef>
                <a:buClrTx/>
                <a:buSzTx/>
                <a:buFontTx/>
                <a:buNone/>
              </a:pPr>
              <a:t>6</a:t>
            </a:fld>
            <a:endParaRPr lang="en-US" altLang="en-US" sz="1400"/>
          </a:p>
        </p:txBody>
      </p:sp>
      <p:sp>
        <p:nvSpPr>
          <p:cNvPr id="9224" name="Rectangle 9">
            <a:extLst>
              <a:ext uri="{FF2B5EF4-FFF2-40B4-BE49-F238E27FC236}">
                <a16:creationId xmlns:a16="http://schemas.microsoft.com/office/drawing/2014/main" id="{ABE1815A-399C-402A-A969-598FA9B15369}"/>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dirty="0">
                <a:solidFill>
                  <a:srgbClr val="800000"/>
                </a:solidFill>
                <a:latin typeface="Forte" panose="03060902040502070203" pitchFamily="66" charset="0"/>
              </a:rPr>
              <a:t>animation</a:t>
            </a:r>
          </a:p>
        </p:txBody>
      </p:sp>
      <p:sp>
        <p:nvSpPr>
          <p:cNvPr id="9225" name="AutoShape 19">
            <a:hlinkClick r:id="rId3" highlightClick="1"/>
            <a:extLst>
              <a:ext uri="{FF2B5EF4-FFF2-40B4-BE49-F238E27FC236}">
                <a16:creationId xmlns:a16="http://schemas.microsoft.com/office/drawing/2014/main" id="{A9AA0C78-6CE5-4983-A1D5-96BEABC5009B}"/>
              </a:ext>
              <a:ext uri="{C183D7F6-B498-43B3-948B-1728B52AA6E4}">
                <adec:decorative xmlns:adec="http://schemas.microsoft.com/office/drawing/2017/decorative" val="1"/>
              </a:ext>
            </a:extLst>
          </p:cNvPr>
          <p:cNvSpPr>
            <a:spLocks noChangeArrowheads="1"/>
          </p:cNvSpPr>
          <p:nvPr/>
        </p:nvSpPr>
        <p:spPr bwMode="auto">
          <a:xfrm>
            <a:off x="2133600" y="2036763"/>
            <a:ext cx="468313"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DA66E5CF-8748-4135-97DB-97FA9DBBF653}"/>
              </a:ext>
            </a:extLst>
          </p:cNvPr>
          <p:cNvSpPr>
            <a:spLocks noGrp="1" noChangeArrowheads="1"/>
          </p:cNvSpPr>
          <p:nvPr>
            <p:ph type="title"/>
          </p:nvPr>
        </p:nvSpPr>
        <p:spPr/>
        <p:txBody>
          <a:bodyPr/>
          <a:lstStyle/>
          <a:p>
            <a:r>
              <a:rPr lang="en-US" altLang="en-US" dirty="0"/>
              <a:t>Insertion Sort</a:t>
            </a:r>
          </a:p>
        </p:txBody>
      </p:sp>
      <p:sp>
        <p:nvSpPr>
          <p:cNvPr id="10370" name="Rectangle 164">
            <a:extLst>
              <a:ext uri="{FF2B5EF4-FFF2-40B4-BE49-F238E27FC236}">
                <a16:creationId xmlns:a16="http://schemas.microsoft.com/office/drawing/2014/main" id="{EC18BA56-C742-4FCA-85B2-FA428F506C00}"/>
              </a:ext>
            </a:extLst>
          </p:cNvPr>
          <p:cNvSpPr>
            <a:spLocks noGrp="1" noChangeArrowheads="1"/>
          </p:cNvSpPr>
          <p:nvPr>
            <p:ph idx="1"/>
          </p:nvPr>
        </p:nvSpPr>
        <p:spPr>
          <a:xfrm>
            <a:off x="1230313" y="1470025"/>
            <a:ext cx="5410200" cy="457200"/>
          </a:xfrm>
        </p:spPr>
        <p:txBody>
          <a:bodyPr/>
          <a:lstStyle/>
          <a:p>
            <a:pPr marL="0" indent="0">
              <a:lnSpc>
                <a:spcPct val="80000"/>
              </a:lnSpc>
              <a:buFont typeface="Monotype Sorts"/>
              <a:buNone/>
            </a:pPr>
            <a:r>
              <a:rPr lang="en-US" altLang="en-US" sz="2000"/>
              <a:t>int[] myList = {2, 9, 5, 4, 8, 1, 6}; // Unsorted</a:t>
            </a:r>
          </a:p>
        </p:txBody>
      </p:sp>
      <p:sp>
        <p:nvSpPr>
          <p:cNvPr id="10242" name="Slide Number Placeholder 4">
            <a:extLst>
              <a:ext uri="{FF2B5EF4-FFF2-40B4-BE49-F238E27FC236}">
                <a16:creationId xmlns:a16="http://schemas.microsoft.com/office/drawing/2014/main" id="{4BB7A744-1893-4490-9011-AFEA9BD4B49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61BE5B4-351B-46C5-B258-B2F82EBB1E0C}" type="slidenum">
              <a:rPr lang="en-US" altLang="en-US" sz="1400"/>
              <a:pPr>
                <a:spcBef>
                  <a:spcPct val="0"/>
                </a:spcBef>
                <a:buClrTx/>
                <a:buSzTx/>
                <a:buFontTx/>
                <a:buNone/>
              </a:pPr>
              <a:t>7</a:t>
            </a:fld>
            <a:endParaRPr lang="en-US" altLang="en-US" sz="1400"/>
          </a:p>
        </p:txBody>
      </p:sp>
      <p:graphicFrame>
        <p:nvGraphicFramePr>
          <p:cNvPr id="390323" name="Group 179">
            <a:extLst>
              <a:ext uri="{FF2B5EF4-FFF2-40B4-BE49-F238E27FC236}">
                <a16:creationId xmlns:a16="http://schemas.microsoft.com/office/drawing/2014/main" id="{5A915D65-B9E0-48F1-ADE5-6AB25F6FE87B}"/>
              </a:ext>
            </a:extLst>
          </p:cNvPr>
          <p:cNvGraphicFramePr>
            <a:graphicFrameLocks noGrp="1"/>
          </p:cNvGraphicFramePr>
          <p:nvPr>
            <p:extLst>
              <p:ext uri="{D42A27DB-BD31-4B8C-83A1-F6EECF244321}">
                <p14:modId xmlns:p14="http://schemas.microsoft.com/office/powerpoint/2010/main" val="2019775908"/>
              </p:ext>
            </p:extLst>
          </p:nvPr>
        </p:nvGraphicFramePr>
        <p:xfrm>
          <a:off x="539750" y="2354263"/>
          <a:ext cx="3733800" cy="517540"/>
        </p:xfrm>
        <a:graphic>
          <a:graphicData uri="http://schemas.openxmlformats.org/drawingml/2006/table">
            <a:tbl>
              <a:tblPr firstRow="1"/>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tblGrid>
              <a:tr h="517525">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marT="45410" marB="454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5</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dirty="0">
                          <a:ln>
                            <a:noFill/>
                          </a:ln>
                          <a:solidFill>
                            <a:schemeClr val="tx1"/>
                          </a:solidFill>
                          <a:effectLst/>
                          <a:latin typeface="Times New Roman" panose="02020603050405020304" pitchFamily="18" charset="0"/>
                        </a:rPr>
                        <a:t>6</a:t>
                      </a:r>
                    </a:p>
                  </a:txBody>
                  <a:tcPr marT="45410" marB="454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90324" name="Group 180">
            <a:extLst>
              <a:ext uri="{FF2B5EF4-FFF2-40B4-BE49-F238E27FC236}">
                <a16:creationId xmlns:a16="http://schemas.microsoft.com/office/drawing/2014/main" id="{A91C3882-87E7-4302-A1DA-2A49E313FBDA}"/>
              </a:ext>
            </a:extLst>
          </p:cNvPr>
          <p:cNvGraphicFramePr>
            <a:graphicFrameLocks noGrp="1"/>
          </p:cNvGraphicFramePr>
          <p:nvPr>
            <p:extLst>
              <p:ext uri="{D42A27DB-BD31-4B8C-83A1-F6EECF244321}">
                <p14:modId xmlns:p14="http://schemas.microsoft.com/office/powerpoint/2010/main" val="3432669087"/>
              </p:ext>
            </p:extLst>
          </p:nvPr>
        </p:nvGraphicFramePr>
        <p:xfrm>
          <a:off x="4724400" y="2743200"/>
          <a:ext cx="3733800" cy="517540"/>
        </p:xfrm>
        <a:graphic>
          <a:graphicData uri="http://schemas.openxmlformats.org/drawingml/2006/table">
            <a:tbl>
              <a:tblPr firstRow="1"/>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tblGrid>
              <a:tr h="517525">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marT="45410" marB="454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5</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marT="45410" marB="454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dirty="0">
                          <a:ln>
                            <a:noFill/>
                          </a:ln>
                          <a:solidFill>
                            <a:schemeClr val="tx1"/>
                          </a:solidFill>
                          <a:effectLst/>
                          <a:latin typeface="Times New Roman" panose="02020603050405020304" pitchFamily="18" charset="0"/>
                        </a:rPr>
                        <a:t>6</a:t>
                      </a:r>
                    </a:p>
                  </a:txBody>
                  <a:tcPr marT="45410" marB="454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90325" name="Group 181">
            <a:extLst>
              <a:ext uri="{FF2B5EF4-FFF2-40B4-BE49-F238E27FC236}">
                <a16:creationId xmlns:a16="http://schemas.microsoft.com/office/drawing/2014/main" id="{2A57B124-10C3-4F41-9C29-272D7CD5154D}"/>
              </a:ext>
            </a:extLst>
          </p:cNvPr>
          <p:cNvGraphicFramePr>
            <a:graphicFrameLocks noGrp="1"/>
          </p:cNvGraphicFramePr>
          <p:nvPr>
            <p:extLst>
              <p:ext uri="{D42A27DB-BD31-4B8C-83A1-F6EECF244321}">
                <p14:modId xmlns:p14="http://schemas.microsoft.com/office/powerpoint/2010/main" val="330056478"/>
              </p:ext>
            </p:extLst>
          </p:nvPr>
        </p:nvGraphicFramePr>
        <p:xfrm>
          <a:off x="501650" y="3352800"/>
          <a:ext cx="3733800" cy="652463"/>
        </p:xfrm>
        <a:graphic>
          <a:graphicData uri="http://schemas.openxmlformats.org/drawingml/2006/table">
            <a:tbl>
              <a:tblPr firstRow="1"/>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tblGrid>
              <a:tr h="652463">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dirty="0">
                          <a:ln>
                            <a:noFill/>
                          </a:ln>
                          <a:solidFill>
                            <a:schemeClr val="tx1"/>
                          </a:solidFill>
                          <a:effectLst/>
                          <a:latin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90332" name="Group 188">
            <a:extLst>
              <a:ext uri="{FF2B5EF4-FFF2-40B4-BE49-F238E27FC236}">
                <a16:creationId xmlns:a16="http://schemas.microsoft.com/office/drawing/2014/main" id="{07367A56-0048-4257-BE37-7B597D72D361}"/>
              </a:ext>
            </a:extLst>
          </p:cNvPr>
          <p:cNvGraphicFramePr>
            <a:graphicFrameLocks noGrp="1"/>
          </p:cNvGraphicFramePr>
          <p:nvPr>
            <p:extLst>
              <p:ext uri="{D42A27DB-BD31-4B8C-83A1-F6EECF244321}">
                <p14:modId xmlns:p14="http://schemas.microsoft.com/office/powerpoint/2010/main" val="2856027195"/>
              </p:ext>
            </p:extLst>
          </p:nvPr>
        </p:nvGraphicFramePr>
        <p:xfrm>
          <a:off x="539750" y="4351338"/>
          <a:ext cx="3733800" cy="533400"/>
        </p:xfrm>
        <a:graphic>
          <a:graphicData uri="http://schemas.openxmlformats.org/drawingml/2006/table">
            <a:tbl>
              <a:tblPr firstRow="1"/>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dirty="0">
                          <a:ln>
                            <a:noFill/>
                          </a:ln>
                          <a:solidFill>
                            <a:schemeClr val="tx1"/>
                          </a:solidFill>
                          <a:effectLst/>
                          <a:latin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90331" name="Group 187">
            <a:extLst>
              <a:ext uri="{FF2B5EF4-FFF2-40B4-BE49-F238E27FC236}">
                <a16:creationId xmlns:a16="http://schemas.microsoft.com/office/drawing/2014/main" id="{F94AC4C8-F59D-4BA6-B134-55F556E66290}"/>
              </a:ext>
            </a:extLst>
          </p:cNvPr>
          <p:cNvGraphicFramePr>
            <a:graphicFrameLocks noGrp="1"/>
          </p:cNvGraphicFramePr>
          <p:nvPr>
            <p:extLst>
              <p:ext uri="{D42A27DB-BD31-4B8C-83A1-F6EECF244321}">
                <p14:modId xmlns:p14="http://schemas.microsoft.com/office/powerpoint/2010/main" val="2782461688"/>
              </p:ext>
            </p:extLst>
          </p:nvPr>
        </p:nvGraphicFramePr>
        <p:xfrm>
          <a:off x="4724400" y="4800600"/>
          <a:ext cx="3733800" cy="533400"/>
        </p:xfrm>
        <a:graphic>
          <a:graphicData uri="http://schemas.openxmlformats.org/drawingml/2006/table">
            <a:tbl>
              <a:tblPr firstRow="1"/>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dirty="0">
                          <a:ln>
                            <a:noFill/>
                          </a:ln>
                          <a:solidFill>
                            <a:schemeClr val="tx1"/>
                          </a:solidFill>
                          <a:effectLst/>
                          <a:latin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00"/>
                    </a:solidFill>
                  </a:tcPr>
                </a:tc>
                <a:extLst>
                  <a:ext uri="{0D108BD9-81ED-4DB2-BD59-A6C34878D82A}">
                    <a16:rowId xmlns:a16="http://schemas.microsoft.com/office/drawing/2014/main" val="10000"/>
                  </a:ext>
                </a:extLst>
              </a:tr>
            </a:tbl>
          </a:graphicData>
        </a:graphic>
      </p:graphicFrame>
      <p:graphicFrame>
        <p:nvGraphicFramePr>
          <p:cNvPr id="390327" name="Group 183">
            <a:extLst>
              <a:ext uri="{FF2B5EF4-FFF2-40B4-BE49-F238E27FC236}">
                <a16:creationId xmlns:a16="http://schemas.microsoft.com/office/drawing/2014/main" id="{F4AB07F4-05F6-4601-94E0-84082BA16085}"/>
              </a:ext>
            </a:extLst>
          </p:cNvPr>
          <p:cNvGraphicFramePr>
            <a:graphicFrameLocks noGrp="1"/>
          </p:cNvGraphicFramePr>
          <p:nvPr>
            <p:extLst>
              <p:ext uri="{D42A27DB-BD31-4B8C-83A1-F6EECF244321}">
                <p14:modId xmlns:p14="http://schemas.microsoft.com/office/powerpoint/2010/main" val="3939234251"/>
              </p:ext>
            </p:extLst>
          </p:nvPr>
        </p:nvGraphicFramePr>
        <p:xfrm>
          <a:off x="4724400" y="3810000"/>
          <a:ext cx="3733800" cy="533400"/>
        </p:xfrm>
        <a:graphic>
          <a:graphicData uri="http://schemas.openxmlformats.org/drawingml/2006/table">
            <a:tbl>
              <a:tblPr firstRow="1"/>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dirty="0">
                          <a:ln>
                            <a:noFill/>
                          </a:ln>
                          <a:solidFill>
                            <a:schemeClr val="tx1"/>
                          </a:solidFill>
                          <a:effectLst/>
                          <a:latin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90330" name="Group 186">
            <a:extLst>
              <a:ext uri="{FF2B5EF4-FFF2-40B4-BE49-F238E27FC236}">
                <a16:creationId xmlns:a16="http://schemas.microsoft.com/office/drawing/2014/main" id="{4CEAB036-EB4E-4ED1-BFBC-2C550C3E3ABD}"/>
              </a:ext>
            </a:extLst>
          </p:cNvPr>
          <p:cNvGraphicFramePr>
            <a:graphicFrameLocks noGrp="1"/>
          </p:cNvGraphicFramePr>
          <p:nvPr>
            <p:extLst>
              <p:ext uri="{D42A27DB-BD31-4B8C-83A1-F6EECF244321}">
                <p14:modId xmlns:p14="http://schemas.microsoft.com/office/powerpoint/2010/main" val="3393623146"/>
              </p:ext>
            </p:extLst>
          </p:nvPr>
        </p:nvGraphicFramePr>
        <p:xfrm>
          <a:off x="539750" y="5349875"/>
          <a:ext cx="3733800" cy="533400"/>
        </p:xfrm>
        <a:graphic>
          <a:graphicData uri="http://schemas.openxmlformats.org/drawingml/2006/table">
            <a:tbl>
              <a:tblPr firstRow="1"/>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dirty="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bl>
          </a:graphicData>
        </a:graphic>
      </p:graphicFrame>
      <p:sp>
        <p:nvSpPr>
          <p:cNvPr id="10371" name="Rectangle 189">
            <a:extLst>
              <a:ext uri="{FF2B5EF4-FFF2-40B4-BE49-F238E27FC236}">
                <a16:creationId xmlns:a16="http://schemas.microsoft.com/office/drawing/2014/main" id="{458CE048-3B8E-42A2-9AF4-D7A77CA48758}"/>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dirty="0">
                <a:solidFill>
                  <a:srgbClr val="800000"/>
                </a:solidFill>
                <a:latin typeface="Forte" panose="03060902040502070203" pitchFamily="66" charset="0"/>
              </a:rPr>
              <a:t>animation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03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03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9032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9032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9033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9033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903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3FB56C77-D197-40A2-8801-8BE889A65306}"/>
              </a:ext>
            </a:extLst>
          </p:cNvPr>
          <p:cNvSpPr>
            <a:spLocks noGrp="1" noChangeArrowheads="1"/>
          </p:cNvSpPr>
          <p:nvPr>
            <p:ph type="title"/>
          </p:nvPr>
        </p:nvSpPr>
        <p:spPr>
          <a:xfrm>
            <a:off x="609600" y="304800"/>
            <a:ext cx="7772400" cy="609600"/>
          </a:xfrm>
        </p:spPr>
        <p:txBody>
          <a:bodyPr/>
          <a:lstStyle/>
          <a:p>
            <a:r>
              <a:rPr lang="en-US" altLang="en-US"/>
              <a:t>How to Insert?</a:t>
            </a:r>
            <a:endParaRPr lang="en-US" altLang="en-US">
              <a:solidFill>
                <a:schemeClr val="tx1"/>
              </a:solidFill>
              <a:latin typeface="Book Antiqua" panose="02040602050305030304" pitchFamily="18" charset="0"/>
              <a:hlinkClick r:id="rId2" action="ppaction://program"/>
            </a:endParaRPr>
          </a:p>
        </p:txBody>
      </p:sp>
      <p:sp>
        <p:nvSpPr>
          <p:cNvPr id="11266" name="Slide Number Placeholder 4">
            <a:extLst>
              <a:ext uri="{FF2B5EF4-FFF2-40B4-BE49-F238E27FC236}">
                <a16:creationId xmlns:a16="http://schemas.microsoft.com/office/drawing/2014/main" id="{2F744196-F656-41DE-BD9B-2BEE1AD3AA0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C27A902-ABA9-48EC-B90B-BEBD79FE93D1}" type="slidenum">
              <a:rPr lang="en-US" altLang="en-US" sz="1400"/>
              <a:pPr>
                <a:spcBef>
                  <a:spcPct val="0"/>
                </a:spcBef>
                <a:buClrTx/>
                <a:buSzTx/>
                <a:buFontTx/>
                <a:buNone/>
              </a:pPr>
              <a:t>8</a:t>
            </a:fld>
            <a:endParaRPr lang="en-US" altLang="en-US" sz="1400"/>
          </a:p>
        </p:txBody>
      </p:sp>
      <p:sp>
        <p:nvSpPr>
          <p:cNvPr id="11268" name="Rectangle 4">
            <a:extLst>
              <a:ext uri="{FF2B5EF4-FFF2-40B4-BE49-F238E27FC236}">
                <a16:creationId xmlns:a16="http://schemas.microsoft.com/office/drawing/2014/main" id="{76199A08-C818-466A-B0A5-1B6C038D242D}"/>
              </a:ext>
            </a:extLst>
          </p:cNvPr>
          <p:cNvSpPr>
            <a:spLocks noChangeArrowheads="1"/>
          </p:cNvSpPr>
          <p:nvPr/>
        </p:nvSpPr>
        <p:spPr bwMode="auto">
          <a:xfrm>
            <a:off x="117475" y="1739900"/>
            <a:ext cx="2495550"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200">
                <a:cs typeface="Times New Roman" panose="02020603050405020304" pitchFamily="18" charset="0"/>
              </a:rPr>
              <a:t>The insertion sort algorithm sorts a list of values by repeatedly inserting an unsorted element into a sorted sublist until the whole list is sorted. </a:t>
            </a:r>
          </a:p>
        </p:txBody>
      </p:sp>
      <p:graphicFrame>
        <p:nvGraphicFramePr>
          <p:cNvPr id="11270" name="Object 7" descr="Insertion sort demonstration tables">
            <a:extLst>
              <a:ext uri="{FF2B5EF4-FFF2-40B4-BE49-F238E27FC236}">
                <a16:creationId xmlns:a16="http://schemas.microsoft.com/office/drawing/2014/main" id="{A4480916-5838-4CFF-8F18-54C25719A426}"/>
              </a:ext>
            </a:extLst>
          </p:cNvPr>
          <p:cNvGraphicFramePr>
            <a:graphicFrameLocks noChangeAspect="1"/>
          </p:cNvGraphicFramePr>
          <p:nvPr>
            <p:extLst>
              <p:ext uri="{D42A27DB-BD31-4B8C-83A1-F6EECF244321}">
                <p14:modId xmlns:p14="http://schemas.microsoft.com/office/powerpoint/2010/main" val="3515628485"/>
              </p:ext>
            </p:extLst>
          </p:nvPr>
        </p:nvGraphicFramePr>
        <p:xfrm>
          <a:off x="2767013" y="1816100"/>
          <a:ext cx="6221412" cy="2595563"/>
        </p:xfrm>
        <a:graphic>
          <a:graphicData uri="http://schemas.openxmlformats.org/presentationml/2006/ole">
            <mc:AlternateContent xmlns:mc="http://schemas.openxmlformats.org/markup-compatibility/2006">
              <mc:Choice xmlns:v="urn:schemas-microsoft-com:vml" Requires="v">
                <p:oleObj name="Picture" r:id="rId3" imgW="4700016" imgH="1952244" progId="Word.Picture.8">
                  <p:embed/>
                </p:oleObj>
              </mc:Choice>
              <mc:Fallback>
                <p:oleObj name="Picture" r:id="rId3" imgW="4700016" imgH="1952244"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7013" y="1816100"/>
                        <a:ext cx="6221412" cy="259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3E101A0F-7415-4D4B-B7A4-A980FE579E27}"/>
              </a:ext>
            </a:extLst>
          </p:cNvPr>
          <p:cNvSpPr>
            <a:spLocks noGrp="1" noChangeArrowheads="1"/>
          </p:cNvSpPr>
          <p:nvPr>
            <p:ph type="title"/>
          </p:nvPr>
        </p:nvSpPr>
        <p:spPr>
          <a:xfrm>
            <a:off x="609600" y="304800"/>
            <a:ext cx="7772400" cy="609600"/>
          </a:xfrm>
        </p:spPr>
        <p:txBody>
          <a:bodyPr/>
          <a:lstStyle/>
          <a:p>
            <a:r>
              <a:rPr lang="en-US" altLang="en-US"/>
              <a:t>From Idea to Solution</a:t>
            </a:r>
            <a:endParaRPr lang="en-US" altLang="en-US">
              <a:solidFill>
                <a:schemeClr val="tx1"/>
              </a:solidFill>
              <a:latin typeface="Book Antiqua" panose="02040602050305030304" pitchFamily="18" charset="0"/>
              <a:hlinkClick r:id="rId2" action="ppaction://program"/>
            </a:endParaRPr>
          </a:p>
        </p:txBody>
      </p:sp>
      <p:sp>
        <p:nvSpPr>
          <p:cNvPr id="12290" name="Slide Number Placeholder 4">
            <a:extLst>
              <a:ext uri="{FF2B5EF4-FFF2-40B4-BE49-F238E27FC236}">
                <a16:creationId xmlns:a16="http://schemas.microsoft.com/office/drawing/2014/main" id="{856A31C9-6450-4DF9-AEC7-2E2E827E044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63C6D0F-678C-470F-936F-8B88F34E8F81}" type="slidenum">
              <a:rPr lang="en-US" altLang="en-US" sz="1400"/>
              <a:pPr>
                <a:spcBef>
                  <a:spcPct val="0"/>
                </a:spcBef>
                <a:buClrTx/>
                <a:buSzTx/>
                <a:buFontTx/>
                <a:buNone/>
              </a:pPr>
              <a:t>9</a:t>
            </a:fld>
            <a:endParaRPr lang="en-US" altLang="en-US" sz="1400"/>
          </a:p>
        </p:txBody>
      </p:sp>
      <p:sp>
        <p:nvSpPr>
          <p:cNvPr id="116740" name="Rectangle 3">
            <a:extLst>
              <a:ext uri="{FF2B5EF4-FFF2-40B4-BE49-F238E27FC236}">
                <a16:creationId xmlns:a16="http://schemas.microsoft.com/office/drawing/2014/main" id="{BC7F1A70-7A4D-4020-979F-2BFDC7B817ED}"/>
              </a:ext>
            </a:extLst>
          </p:cNvPr>
          <p:cNvSpPr>
            <a:spLocks noChangeArrowheads="1"/>
          </p:cNvSpPr>
          <p:nvPr/>
        </p:nvSpPr>
        <p:spPr bwMode="auto">
          <a:xfrm>
            <a:off x="0" y="1047750"/>
            <a:ext cx="91440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nSpc>
                <a:spcPct val="90000"/>
              </a:lnSpc>
              <a:spcBef>
                <a:spcPct val="20000"/>
              </a:spcBef>
              <a:buClr>
                <a:schemeClr val="tx2"/>
              </a:buClr>
              <a:buSzPct val="75000"/>
              <a:buFont typeface="Monotype Sorts" pitchFamily="2" charset="2"/>
              <a:buNone/>
              <a:defRPr/>
            </a:pPr>
            <a:r>
              <a:rPr lang="en-US" sz="1700" b="1" dirty="0">
                <a:solidFill>
                  <a:srgbClr val="002060"/>
                </a:solidFill>
                <a:latin typeface="Courier New" pitchFamily="49" charset="0"/>
                <a:cs typeface="Courier New" pitchFamily="49" charset="0"/>
              </a:rPr>
              <a:t>for (</a:t>
            </a:r>
            <a:r>
              <a:rPr lang="en-US" sz="1700" b="1" dirty="0" err="1">
                <a:solidFill>
                  <a:srgbClr val="002060"/>
                </a:solidFill>
                <a:latin typeface="Courier New" pitchFamily="49" charset="0"/>
                <a:cs typeface="Courier New" pitchFamily="49" charset="0"/>
              </a:rPr>
              <a:t>int</a:t>
            </a:r>
            <a:r>
              <a:rPr lang="en-US" sz="1700" b="1" dirty="0">
                <a:solidFill>
                  <a:srgbClr val="002060"/>
                </a:solidFill>
                <a:latin typeface="Courier New" pitchFamily="49" charset="0"/>
                <a:cs typeface="Courier New" pitchFamily="49" charset="0"/>
              </a:rPr>
              <a:t> </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 = 1; </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 &lt; </a:t>
            </a:r>
            <a:r>
              <a:rPr lang="en-US" sz="1700" b="1" dirty="0" err="1">
                <a:solidFill>
                  <a:srgbClr val="002060"/>
                </a:solidFill>
                <a:latin typeface="Courier New" pitchFamily="49" charset="0"/>
                <a:cs typeface="Courier New" pitchFamily="49" charset="0"/>
              </a:rPr>
              <a:t>list.length</a:t>
            </a:r>
            <a:r>
              <a:rPr lang="en-US" sz="1700" b="1" dirty="0">
                <a:solidFill>
                  <a:srgbClr val="002060"/>
                </a:solidFill>
                <a:latin typeface="Courier New" pitchFamily="49" charset="0"/>
                <a:cs typeface="Courier New" pitchFamily="49" charset="0"/>
              </a:rPr>
              <a:t>; </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 {</a:t>
            </a:r>
            <a:endParaRPr lang="en-US" sz="1700" b="1" dirty="0">
              <a:solidFill>
                <a:srgbClr val="002060"/>
              </a:solidFill>
              <a:latin typeface="Courier New" pitchFamily="49" charset="0"/>
              <a:cs typeface="Times New Roman" pitchFamily="18" charset="0"/>
            </a:endParaRPr>
          </a:p>
          <a:p>
            <a:pPr>
              <a:lnSpc>
                <a:spcPct val="90000"/>
              </a:lnSpc>
              <a:spcBef>
                <a:spcPct val="20000"/>
              </a:spcBef>
              <a:buClr>
                <a:schemeClr val="tx2"/>
              </a:buClr>
              <a:buSzPct val="75000"/>
              <a:buFont typeface="Monotype Sorts" pitchFamily="2" charset="2"/>
              <a:buNone/>
              <a:defRPr/>
            </a:pPr>
            <a:r>
              <a:rPr lang="en-US" sz="1700" b="1" dirty="0">
                <a:solidFill>
                  <a:srgbClr val="002060"/>
                </a:solidFill>
                <a:latin typeface="Courier New" pitchFamily="49" charset="0"/>
                <a:cs typeface="Courier New" pitchFamily="49" charset="0"/>
              </a:rPr>
              <a:t>  insert list[</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 into a sorted </a:t>
            </a:r>
            <a:r>
              <a:rPr lang="en-US" sz="1700" b="1" dirty="0" err="1">
                <a:solidFill>
                  <a:srgbClr val="002060"/>
                </a:solidFill>
                <a:latin typeface="Courier New" pitchFamily="49" charset="0"/>
                <a:cs typeface="Courier New" pitchFamily="49" charset="0"/>
              </a:rPr>
              <a:t>sublist</a:t>
            </a:r>
            <a:r>
              <a:rPr lang="en-US" sz="1700" b="1" dirty="0">
                <a:solidFill>
                  <a:srgbClr val="002060"/>
                </a:solidFill>
                <a:latin typeface="Courier New" pitchFamily="49" charset="0"/>
                <a:cs typeface="Courier New" pitchFamily="49" charset="0"/>
              </a:rPr>
              <a:t> list[0..i-1] so that   </a:t>
            </a:r>
          </a:p>
          <a:p>
            <a:pPr>
              <a:lnSpc>
                <a:spcPct val="90000"/>
              </a:lnSpc>
              <a:spcBef>
                <a:spcPct val="20000"/>
              </a:spcBef>
              <a:buClr>
                <a:schemeClr val="tx2"/>
              </a:buClr>
              <a:buSzPct val="75000"/>
              <a:buFont typeface="Monotype Sorts" pitchFamily="2" charset="2"/>
              <a:buNone/>
              <a:defRPr/>
            </a:pPr>
            <a:r>
              <a:rPr lang="en-US" sz="1700" b="1" dirty="0">
                <a:solidFill>
                  <a:srgbClr val="002060"/>
                </a:solidFill>
                <a:latin typeface="Courier New" pitchFamily="49" charset="0"/>
                <a:cs typeface="Courier New" pitchFamily="49" charset="0"/>
              </a:rPr>
              <a:t>  list[0..i] is sorted</a:t>
            </a:r>
          </a:p>
          <a:p>
            <a:pPr>
              <a:lnSpc>
                <a:spcPct val="90000"/>
              </a:lnSpc>
              <a:spcBef>
                <a:spcPct val="20000"/>
              </a:spcBef>
              <a:buClr>
                <a:schemeClr val="tx2"/>
              </a:buClr>
              <a:buSzPct val="75000"/>
              <a:buFont typeface="Monotype Sorts" pitchFamily="2" charset="2"/>
              <a:buNone/>
              <a:defRPr/>
            </a:pPr>
            <a:r>
              <a:rPr lang="en-US" sz="1700" b="1" dirty="0">
                <a:solidFill>
                  <a:srgbClr val="002060"/>
                </a:solidFill>
                <a:latin typeface="Courier New" pitchFamily="49" charset="0"/>
                <a:cs typeface="Courier New" pitchFamily="49" charset="0"/>
              </a:rPr>
              <a:t>}</a:t>
            </a:r>
          </a:p>
        </p:txBody>
      </p:sp>
      <p:sp>
        <p:nvSpPr>
          <p:cNvPr id="12293" name="Rectangle 4">
            <a:extLst>
              <a:ext uri="{FF2B5EF4-FFF2-40B4-BE49-F238E27FC236}">
                <a16:creationId xmlns:a16="http://schemas.microsoft.com/office/drawing/2014/main" id="{223D37ED-8D3A-4A4C-A8CF-2FFFA1D507D4}"/>
              </a:ext>
            </a:extLst>
          </p:cNvPr>
          <p:cNvSpPr>
            <a:spLocks noChangeArrowheads="1"/>
          </p:cNvSpPr>
          <p:nvPr/>
        </p:nvSpPr>
        <p:spPr bwMode="auto">
          <a:xfrm>
            <a:off x="1076325" y="2584450"/>
            <a:ext cx="7797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dirty="0">
                <a:solidFill>
                  <a:srgbClr val="002060"/>
                </a:solidFill>
                <a:latin typeface="Courier New" panose="02070309020205020404" pitchFamily="49" charset="0"/>
                <a:cs typeface="Courier New" panose="02070309020205020404" pitchFamily="49" charset="0"/>
              </a:rPr>
              <a:t>list[0]</a:t>
            </a:r>
          </a:p>
        </p:txBody>
      </p:sp>
      <p:sp>
        <p:nvSpPr>
          <p:cNvPr id="12294" name="Rectangle 5">
            <a:extLst>
              <a:ext uri="{FF2B5EF4-FFF2-40B4-BE49-F238E27FC236}">
                <a16:creationId xmlns:a16="http://schemas.microsoft.com/office/drawing/2014/main" id="{1CDD40A8-0E0C-423F-BA2B-A1024D594497}"/>
              </a:ext>
            </a:extLst>
          </p:cNvPr>
          <p:cNvSpPr>
            <a:spLocks noChangeArrowheads="1"/>
          </p:cNvSpPr>
          <p:nvPr/>
        </p:nvSpPr>
        <p:spPr bwMode="auto">
          <a:xfrm>
            <a:off x="1076325" y="3276600"/>
            <a:ext cx="775811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dirty="0">
                <a:solidFill>
                  <a:srgbClr val="002060"/>
                </a:solidFill>
                <a:latin typeface="Courier New" panose="02070309020205020404" pitchFamily="49" charset="0"/>
                <a:cs typeface="Courier New" panose="02070309020205020404" pitchFamily="49" charset="0"/>
              </a:rPr>
              <a:t>list[0] list[1]</a:t>
            </a:r>
          </a:p>
        </p:txBody>
      </p:sp>
      <p:sp>
        <p:nvSpPr>
          <p:cNvPr id="12295" name="Rectangle 6">
            <a:extLst>
              <a:ext uri="{FF2B5EF4-FFF2-40B4-BE49-F238E27FC236}">
                <a16:creationId xmlns:a16="http://schemas.microsoft.com/office/drawing/2014/main" id="{4FA85EF0-1D07-47E7-AA0A-0B3D0C14D353}"/>
              </a:ext>
            </a:extLst>
          </p:cNvPr>
          <p:cNvSpPr>
            <a:spLocks noChangeArrowheads="1"/>
          </p:cNvSpPr>
          <p:nvPr/>
        </p:nvSpPr>
        <p:spPr bwMode="auto">
          <a:xfrm>
            <a:off x="1076325" y="3967163"/>
            <a:ext cx="733583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a:solidFill>
                  <a:srgbClr val="002060"/>
                </a:solidFill>
                <a:latin typeface="Courier New" panose="02070309020205020404" pitchFamily="49" charset="0"/>
                <a:cs typeface="Courier New" panose="02070309020205020404" pitchFamily="49" charset="0"/>
              </a:rPr>
              <a:t>list[0] list[1] list[2]</a:t>
            </a:r>
          </a:p>
        </p:txBody>
      </p:sp>
      <p:sp>
        <p:nvSpPr>
          <p:cNvPr id="12296" name="Rectangle 7">
            <a:extLst>
              <a:ext uri="{FF2B5EF4-FFF2-40B4-BE49-F238E27FC236}">
                <a16:creationId xmlns:a16="http://schemas.microsoft.com/office/drawing/2014/main" id="{E7102DA1-CB7A-4A82-8C45-9DE63EE787E6}"/>
              </a:ext>
            </a:extLst>
          </p:cNvPr>
          <p:cNvSpPr>
            <a:spLocks noChangeArrowheads="1"/>
          </p:cNvSpPr>
          <p:nvPr/>
        </p:nvSpPr>
        <p:spPr bwMode="auto">
          <a:xfrm>
            <a:off x="1076325" y="4657725"/>
            <a:ext cx="679926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a:solidFill>
                  <a:srgbClr val="002060"/>
                </a:solidFill>
                <a:latin typeface="Courier New" panose="02070309020205020404" pitchFamily="49" charset="0"/>
                <a:cs typeface="Courier New" panose="02070309020205020404" pitchFamily="49" charset="0"/>
              </a:rPr>
              <a:t>list[0] list[1] list[2] list[3]</a:t>
            </a:r>
            <a:endParaRPr lang="en-US" altLang="en-US" sz="1700" b="1">
              <a:solidFill>
                <a:srgbClr val="002060"/>
              </a:solidFill>
              <a:latin typeface="Courier New" panose="02070309020205020404" pitchFamily="49" charset="0"/>
              <a:cs typeface="Times New Roman" panose="02020603050405020304" pitchFamily="18" charset="0"/>
            </a:endParaRPr>
          </a:p>
          <a:p>
            <a:pPr>
              <a:lnSpc>
                <a:spcPct val="90000"/>
              </a:lnSpc>
              <a:buFont typeface="Monotype Sorts"/>
              <a:buNone/>
            </a:pPr>
            <a:endParaRPr lang="en-US" altLang="en-US" sz="1700">
              <a:solidFill>
                <a:srgbClr val="002060"/>
              </a:solidFill>
              <a:latin typeface="Courier New" panose="02070309020205020404" pitchFamily="49" charset="0"/>
              <a:cs typeface="Courier New" panose="02070309020205020404" pitchFamily="49" charset="0"/>
            </a:endParaRPr>
          </a:p>
        </p:txBody>
      </p:sp>
      <p:sp>
        <p:nvSpPr>
          <p:cNvPr id="12297" name="Rectangle 10">
            <a:extLst>
              <a:ext uri="{FF2B5EF4-FFF2-40B4-BE49-F238E27FC236}">
                <a16:creationId xmlns:a16="http://schemas.microsoft.com/office/drawing/2014/main" id="{E4820E06-EFF5-4DFD-8486-F673D3FE78F1}"/>
              </a:ext>
            </a:extLst>
          </p:cNvPr>
          <p:cNvSpPr>
            <a:spLocks noChangeArrowheads="1"/>
          </p:cNvSpPr>
          <p:nvPr/>
        </p:nvSpPr>
        <p:spPr bwMode="auto">
          <a:xfrm>
            <a:off x="1116013" y="5272088"/>
            <a:ext cx="6799262"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a:solidFill>
                  <a:srgbClr val="002060"/>
                </a:solidFill>
                <a:latin typeface="Courier New" panose="02070309020205020404" pitchFamily="49" charset="0"/>
                <a:cs typeface="Courier New" panose="02070309020205020404" pitchFamily="49" charset="0"/>
              </a:rPr>
              <a:t>list[0] list[1] list[2] list[3] ...</a:t>
            </a:r>
            <a:endParaRPr lang="en-US" altLang="en-US" sz="1700" b="1">
              <a:solidFill>
                <a:srgbClr val="002060"/>
              </a:solidFill>
              <a:latin typeface="Courier New" panose="02070309020205020404" pitchFamily="49" charset="0"/>
              <a:cs typeface="Times New Roman" panose="02020603050405020304" pitchFamily="18" charset="0"/>
            </a:endParaRPr>
          </a:p>
          <a:p>
            <a:pPr>
              <a:lnSpc>
                <a:spcPct val="90000"/>
              </a:lnSpc>
              <a:buFont typeface="Monotype Sorts"/>
              <a:buNone/>
            </a:pPr>
            <a:endParaRPr lang="en-US" altLang="en-US" sz="1700" b="1">
              <a:solidFill>
                <a:srgbClr val="002060"/>
              </a:solidFill>
              <a:latin typeface="Courier New" panose="02070309020205020404" pitchFamily="49" charset="0"/>
              <a:cs typeface="Courier New" panose="020703090202050204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F72469EF-231F-427A-B4E3-AAC87335DAB0}"/>
              </a:ext>
            </a:extLst>
          </p:cNvPr>
          <p:cNvSpPr>
            <a:spLocks noGrp="1" noChangeArrowheads="1"/>
          </p:cNvSpPr>
          <p:nvPr>
            <p:ph type="title"/>
          </p:nvPr>
        </p:nvSpPr>
        <p:spPr>
          <a:xfrm>
            <a:off x="609600" y="304800"/>
            <a:ext cx="7772400" cy="609600"/>
          </a:xfrm>
        </p:spPr>
        <p:txBody>
          <a:bodyPr/>
          <a:lstStyle/>
          <a:p>
            <a:r>
              <a:rPr lang="en-US" altLang="en-US"/>
              <a:t>From Idea to Solution</a:t>
            </a:r>
            <a:endParaRPr lang="en-US" altLang="en-US">
              <a:solidFill>
                <a:schemeClr val="tx1"/>
              </a:solidFill>
              <a:latin typeface="Book Antiqua" panose="02040602050305030304" pitchFamily="18" charset="0"/>
              <a:hlinkClick r:id="rId2" action="ppaction://program"/>
            </a:endParaRPr>
          </a:p>
        </p:txBody>
      </p:sp>
      <p:sp>
        <p:nvSpPr>
          <p:cNvPr id="13314" name="Slide Number Placeholder 4">
            <a:extLst>
              <a:ext uri="{FF2B5EF4-FFF2-40B4-BE49-F238E27FC236}">
                <a16:creationId xmlns:a16="http://schemas.microsoft.com/office/drawing/2014/main" id="{3747AF1F-570F-4C91-AF34-EA0FFA283B7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03634A2-4AAA-4C21-9F3C-4EEFF13C6C0F}" type="slidenum">
              <a:rPr lang="en-US" altLang="en-US" sz="1400"/>
              <a:pPr>
                <a:spcBef>
                  <a:spcPct val="0"/>
                </a:spcBef>
                <a:buClrTx/>
                <a:buSzTx/>
                <a:buFontTx/>
                <a:buNone/>
              </a:pPr>
              <a:t>10</a:t>
            </a:fld>
            <a:endParaRPr lang="en-US" altLang="en-US" sz="1400"/>
          </a:p>
        </p:txBody>
      </p:sp>
      <p:sp>
        <p:nvSpPr>
          <p:cNvPr id="117764" name="Rectangle 3">
            <a:extLst>
              <a:ext uri="{FF2B5EF4-FFF2-40B4-BE49-F238E27FC236}">
                <a16:creationId xmlns:a16="http://schemas.microsoft.com/office/drawing/2014/main" id="{D3C27711-2389-441E-9D45-A444E18E6317}"/>
              </a:ext>
            </a:extLst>
          </p:cNvPr>
          <p:cNvSpPr>
            <a:spLocks noChangeArrowheads="1"/>
          </p:cNvSpPr>
          <p:nvPr/>
        </p:nvSpPr>
        <p:spPr bwMode="auto">
          <a:xfrm>
            <a:off x="0" y="1047750"/>
            <a:ext cx="91440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nSpc>
                <a:spcPct val="90000"/>
              </a:lnSpc>
              <a:spcBef>
                <a:spcPct val="20000"/>
              </a:spcBef>
              <a:buClr>
                <a:schemeClr val="tx2"/>
              </a:buClr>
              <a:buSzPct val="75000"/>
              <a:buFont typeface="Monotype Sorts" pitchFamily="2" charset="2"/>
              <a:buNone/>
              <a:defRPr/>
            </a:pPr>
            <a:r>
              <a:rPr lang="en-US" sz="1700" b="1" dirty="0">
                <a:solidFill>
                  <a:srgbClr val="002060"/>
                </a:solidFill>
                <a:latin typeface="Courier New" pitchFamily="49" charset="0"/>
                <a:cs typeface="Courier New" pitchFamily="49" charset="0"/>
              </a:rPr>
              <a:t>for (</a:t>
            </a:r>
            <a:r>
              <a:rPr lang="en-US" sz="1700" b="1" dirty="0" err="1">
                <a:solidFill>
                  <a:srgbClr val="002060"/>
                </a:solidFill>
                <a:latin typeface="Courier New" pitchFamily="49" charset="0"/>
                <a:cs typeface="Courier New" pitchFamily="49" charset="0"/>
              </a:rPr>
              <a:t>int</a:t>
            </a:r>
            <a:r>
              <a:rPr lang="en-US" sz="1700" b="1" dirty="0">
                <a:solidFill>
                  <a:srgbClr val="002060"/>
                </a:solidFill>
                <a:latin typeface="Courier New" pitchFamily="49" charset="0"/>
                <a:cs typeface="Courier New" pitchFamily="49" charset="0"/>
              </a:rPr>
              <a:t> </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 = 1; </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 &lt; </a:t>
            </a:r>
            <a:r>
              <a:rPr lang="en-US" sz="1700" b="1" dirty="0" err="1">
                <a:solidFill>
                  <a:srgbClr val="002060"/>
                </a:solidFill>
                <a:latin typeface="Courier New" pitchFamily="49" charset="0"/>
                <a:cs typeface="Courier New" pitchFamily="49" charset="0"/>
              </a:rPr>
              <a:t>list.length</a:t>
            </a:r>
            <a:r>
              <a:rPr lang="en-US" sz="1700" b="1" dirty="0">
                <a:solidFill>
                  <a:srgbClr val="002060"/>
                </a:solidFill>
                <a:latin typeface="Courier New" pitchFamily="49" charset="0"/>
                <a:cs typeface="Courier New" pitchFamily="49" charset="0"/>
              </a:rPr>
              <a:t>; </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 {</a:t>
            </a:r>
            <a:endParaRPr lang="en-US" sz="1700" b="1" dirty="0">
              <a:solidFill>
                <a:srgbClr val="002060"/>
              </a:solidFill>
              <a:latin typeface="Courier New" pitchFamily="49" charset="0"/>
              <a:cs typeface="Times New Roman" pitchFamily="18" charset="0"/>
            </a:endParaRPr>
          </a:p>
          <a:p>
            <a:pPr>
              <a:lnSpc>
                <a:spcPct val="90000"/>
              </a:lnSpc>
              <a:spcBef>
                <a:spcPct val="20000"/>
              </a:spcBef>
              <a:buClr>
                <a:schemeClr val="tx2"/>
              </a:buClr>
              <a:buSzPct val="75000"/>
              <a:buFont typeface="Monotype Sorts" pitchFamily="2" charset="2"/>
              <a:buNone/>
              <a:defRPr/>
            </a:pPr>
            <a:r>
              <a:rPr lang="en-US" sz="1700" b="1" dirty="0">
                <a:solidFill>
                  <a:srgbClr val="002060"/>
                </a:solidFill>
                <a:latin typeface="Courier New" pitchFamily="49" charset="0"/>
                <a:cs typeface="Courier New" pitchFamily="49" charset="0"/>
              </a:rPr>
              <a:t>  insert list[</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 into a sorted </a:t>
            </a:r>
            <a:r>
              <a:rPr lang="en-US" sz="1700" b="1" dirty="0" err="1">
                <a:solidFill>
                  <a:srgbClr val="002060"/>
                </a:solidFill>
                <a:latin typeface="Courier New" pitchFamily="49" charset="0"/>
                <a:cs typeface="Courier New" pitchFamily="49" charset="0"/>
              </a:rPr>
              <a:t>sublist</a:t>
            </a:r>
            <a:r>
              <a:rPr lang="en-US" sz="1700" b="1" dirty="0">
                <a:solidFill>
                  <a:srgbClr val="002060"/>
                </a:solidFill>
                <a:latin typeface="Courier New" pitchFamily="49" charset="0"/>
                <a:cs typeface="Courier New" pitchFamily="49" charset="0"/>
              </a:rPr>
              <a:t> list[0..i-1] so that   </a:t>
            </a:r>
          </a:p>
          <a:p>
            <a:pPr>
              <a:lnSpc>
                <a:spcPct val="90000"/>
              </a:lnSpc>
              <a:spcBef>
                <a:spcPct val="20000"/>
              </a:spcBef>
              <a:buClr>
                <a:schemeClr val="tx2"/>
              </a:buClr>
              <a:buSzPct val="75000"/>
              <a:buFont typeface="Monotype Sorts" pitchFamily="2" charset="2"/>
              <a:buNone/>
              <a:defRPr/>
            </a:pPr>
            <a:r>
              <a:rPr lang="en-US" sz="1700" b="1" dirty="0">
                <a:solidFill>
                  <a:srgbClr val="002060"/>
                </a:solidFill>
                <a:latin typeface="Courier New" pitchFamily="49" charset="0"/>
                <a:cs typeface="Courier New" pitchFamily="49" charset="0"/>
              </a:rPr>
              <a:t>  list[0..i] is sorted</a:t>
            </a:r>
          </a:p>
          <a:p>
            <a:pPr>
              <a:lnSpc>
                <a:spcPct val="90000"/>
              </a:lnSpc>
              <a:spcBef>
                <a:spcPct val="20000"/>
              </a:spcBef>
              <a:buClr>
                <a:schemeClr val="tx2"/>
              </a:buClr>
              <a:buSzPct val="75000"/>
              <a:buFont typeface="Monotype Sorts" pitchFamily="2" charset="2"/>
              <a:buNone/>
              <a:defRPr/>
            </a:pPr>
            <a:r>
              <a:rPr lang="en-US" sz="1700" b="1" dirty="0">
                <a:solidFill>
                  <a:srgbClr val="002060"/>
                </a:solidFill>
                <a:latin typeface="Courier New" pitchFamily="49" charset="0"/>
                <a:cs typeface="Courier New" pitchFamily="49" charset="0"/>
              </a:rPr>
              <a:t>}</a:t>
            </a:r>
          </a:p>
        </p:txBody>
      </p:sp>
      <p:sp>
        <p:nvSpPr>
          <p:cNvPr id="460810" name="Rectangle 10">
            <a:extLst>
              <a:ext uri="{FF2B5EF4-FFF2-40B4-BE49-F238E27FC236}">
                <a16:creationId xmlns:a16="http://schemas.microsoft.com/office/drawing/2014/main" id="{393E161F-BA82-449C-9573-193A35567C40}"/>
              </a:ext>
            </a:extLst>
          </p:cNvPr>
          <p:cNvSpPr>
            <a:spLocks noChangeArrowheads="1"/>
          </p:cNvSpPr>
          <p:nvPr/>
        </p:nvSpPr>
        <p:spPr bwMode="auto">
          <a:xfrm>
            <a:off x="962025" y="2622550"/>
            <a:ext cx="221932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4400">
                <a:solidFill>
                  <a:schemeClr val="tx2"/>
                </a:solidFill>
              </a:rPr>
              <a:t>Expand</a:t>
            </a:r>
            <a:endParaRPr lang="en-US" altLang="en-US" sz="4400">
              <a:latin typeface="Book Antiqua" panose="02040602050305030304" pitchFamily="18" charset="0"/>
              <a:hlinkClick r:id="rId2" action="ppaction://program"/>
            </a:endParaRPr>
          </a:p>
        </p:txBody>
      </p:sp>
      <p:sp>
        <p:nvSpPr>
          <p:cNvPr id="460811" name="Rectangle 11">
            <a:extLst>
              <a:ext uri="{FF2B5EF4-FFF2-40B4-BE49-F238E27FC236}">
                <a16:creationId xmlns:a16="http://schemas.microsoft.com/office/drawing/2014/main" id="{6894C4AF-D4C0-4756-A08B-F18D1FACEDE1}"/>
              </a:ext>
            </a:extLst>
          </p:cNvPr>
          <p:cNvSpPr>
            <a:spLocks noChangeArrowheads="1"/>
          </p:cNvSpPr>
          <p:nvPr/>
        </p:nvSpPr>
        <p:spPr bwMode="auto">
          <a:xfrm>
            <a:off x="0" y="3160713"/>
            <a:ext cx="91440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defRPr/>
            </a:pPr>
            <a:r>
              <a:rPr lang="en-US" sz="1700" dirty="0">
                <a:solidFill>
                  <a:schemeClr val="bg2"/>
                </a:solidFill>
                <a:latin typeface="Courier New" pitchFamily="49" charset="0"/>
                <a:cs typeface="Courier New" pitchFamily="49" charset="0"/>
              </a:rPr>
              <a:t>    </a:t>
            </a:r>
          </a:p>
          <a:p>
            <a:pPr>
              <a:defRPr/>
            </a:pPr>
            <a:r>
              <a:rPr lang="en-US" sz="1700" dirty="0">
                <a:solidFill>
                  <a:schemeClr val="bg2"/>
                </a:solidFill>
                <a:latin typeface="Courier New" pitchFamily="49" charset="0"/>
                <a:cs typeface="Courier New" pitchFamily="49" charset="0"/>
              </a:rPr>
              <a:t> </a:t>
            </a:r>
            <a:r>
              <a:rPr lang="en-US" sz="1700" b="1" dirty="0">
                <a:solidFill>
                  <a:srgbClr val="002060"/>
                </a:solidFill>
                <a:latin typeface="Courier New" pitchFamily="49" charset="0"/>
                <a:cs typeface="Courier New" pitchFamily="49" charset="0"/>
              </a:rPr>
              <a:t>double </a:t>
            </a:r>
            <a:r>
              <a:rPr lang="en-US" sz="1700" b="1" dirty="0" err="1">
                <a:solidFill>
                  <a:srgbClr val="002060"/>
                </a:solidFill>
                <a:latin typeface="Courier New" pitchFamily="49" charset="0"/>
                <a:cs typeface="Courier New" pitchFamily="49" charset="0"/>
              </a:rPr>
              <a:t>currentElement</a:t>
            </a:r>
            <a:r>
              <a:rPr lang="en-US" sz="1700" b="1" dirty="0">
                <a:solidFill>
                  <a:srgbClr val="002060"/>
                </a:solidFill>
                <a:latin typeface="Courier New" pitchFamily="49" charset="0"/>
                <a:cs typeface="Courier New" pitchFamily="49" charset="0"/>
              </a:rPr>
              <a:t> = list[</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a:t>
            </a:r>
          </a:p>
          <a:p>
            <a:pPr>
              <a:defRPr/>
            </a:pPr>
            <a:r>
              <a:rPr lang="en-US" sz="1700" b="1" dirty="0">
                <a:solidFill>
                  <a:srgbClr val="002060"/>
                </a:solidFill>
                <a:latin typeface="Courier New" pitchFamily="49" charset="0"/>
                <a:cs typeface="Courier New" pitchFamily="49" charset="0"/>
              </a:rPr>
              <a:t> </a:t>
            </a:r>
            <a:r>
              <a:rPr lang="en-US" sz="1700" b="1" dirty="0" err="1">
                <a:solidFill>
                  <a:srgbClr val="002060"/>
                </a:solidFill>
                <a:latin typeface="Courier New" pitchFamily="49" charset="0"/>
                <a:cs typeface="Courier New" pitchFamily="49" charset="0"/>
              </a:rPr>
              <a:t>int</a:t>
            </a:r>
            <a:r>
              <a:rPr lang="en-US" sz="1700" b="1" dirty="0">
                <a:solidFill>
                  <a:srgbClr val="002060"/>
                </a:solidFill>
                <a:latin typeface="Courier New" pitchFamily="49" charset="0"/>
                <a:cs typeface="Courier New" pitchFamily="49" charset="0"/>
              </a:rPr>
              <a:t> k;</a:t>
            </a:r>
          </a:p>
          <a:p>
            <a:pPr>
              <a:defRPr/>
            </a:pPr>
            <a:r>
              <a:rPr lang="en-US" sz="1700" b="1" dirty="0">
                <a:solidFill>
                  <a:srgbClr val="002060"/>
                </a:solidFill>
                <a:latin typeface="Courier New" pitchFamily="49" charset="0"/>
                <a:cs typeface="Courier New" pitchFamily="49" charset="0"/>
              </a:rPr>
              <a:t> for (k = </a:t>
            </a:r>
            <a:r>
              <a:rPr lang="en-US" sz="1700" b="1" dirty="0" err="1">
                <a:solidFill>
                  <a:srgbClr val="002060"/>
                </a:solidFill>
                <a:latin typeface="Courier New" pitchFamily="49" charset="0"/>
                <a:cs typeface="Courier New" pitchFamily="49" charset="0"/>
              </a:rPr>
              <a:t>i</a:t>
            </a:r>
            <a:r>
              <a:rPr lang="en-US" sz="1700" b="1" dirty="0">
                <a:solidFill>
                  <a:srgbClr val="002060"/>
                </a:solidFill>
                <a:latin typeface="Courier New" pitchFamily="49" charset="0"/>
                <a:cs typeface="Courier New" pitchFamily="49" charset="0"/>
              </a:rPr>
              <a:t> - 1; k &gt;= 0 &amp;&amp; list[k] &gt; </a:t>
            </a:r>
            <a:r>
              <a:rPr lang="en-US" sz="1700" b="1" dirty="0" err="1">
                <a:solidFill>
                  <a:srgbClr val="002060"/>
                </a:solidFill>
                <a:latin typeface="Courier New" pitchFamily="49" charset="0"/>
                <a:cs typeface="Courier New" pitchFamily="49" charset="0"/>
              </a:rPr>
              <a:t>currentElement</a:t>
            </a:r>
            <a:r>
              <a:rPr lang="en-US" sz="1700" b="1" dirty="0">
                <a:solidFill>
                  <a:srgbClr val="002060"/>
                </a:solidFill>
                <a:latin typeface="Courier New" pitchFamily="49" charset="0"/>
                <a:cs typeface="Courier New" pitchFamily="49" charset="0"/>
              </a:rPr>
              <a:t>; k--) {</a:t>
            </a:r>
          </a:p>
          <a:p>
            <a:pPr>
              <a:defRPr/>
            </a:pPr>
            <a:r>
              <a:rPr lang="en-US" sz="1700" b="1" dirty="0">
                <a:solidFill>
                  <a:srgbClr val="002060"/>
                </a:solidFill>
                <a:latin typeface="Courier New" pitchFamily="49" charset="0"/>
                <a:cs typeface="Courier New" pitchFamily="49" charset="0"/>
              </a:rPr>
              <a:t>   list[k + 1] = list[k];</a:t>
            </a:r>
          </a:p>
          <a:p>
            <a:pPr>
              <a:defRPr/>
            </a:pPr>
            <a:r>
              <a:rPr lang="en-US" sz="1700" b="1" dirty="0">
                <a:solidFill>
                  <a:srgbClr val="002060"/>
                </a:solidFill>
                <a:latin typeface="Courier New" pitchFamily="49" charset="0"/>
                <a:cs typeface="Courier New" pitchFamily="49" charset="0"/>
              </a:rPr>
              <a:t> }</a:t>
            </a:r>
          </a:p>
          <a:p>
            <a:pPr>
              <a:defRPr/>
            </a:pPr>
            <a:r>
              <a:rPr lang="en-US" sz="1700" b="1" dirty="0">
                <a:solidFill>
                  <a:srgbClr val="002060"/>
                </a:solidFill>
                <a:latin typeface="Courier New" pitchFamily="49" charset="0"/>
                <a:cs typeface="Courier New" pitchFamily="49" charset="0"/>
              </a:rPr>
              <a:t> // Insert the current element into list[k + 1]</a:t>
            </a:r>
          </a:p>
          <a:p>
            <a:pPr>
              <a:defRPr/>
            </a:pPr>
            <a:r>
              <a:rPr lang="en-US" sz="1700" b="1" dirty="0">
                <a:solidFill>
                  <a:srgbClr val="002060"/>
                </a:solidFill>
                <a:latin typeface="Courier New" pitchFamily="49" charset="0"/>
                <a:cs typeface="Courier New" pitchFamily="49" charset="0"/>
              </a:rPr>
              <a:t> list[k + 1] = </a:t>
            </a:r>
            <a:r>
              <a:rPr lang="en-US" sz="1700" b="1" dirty="0" err="1">
                <a:solidFill>
                  <a:srgbClr val="002060"/>
                </a:solidFill>
                <a:latin typeface="Courier New" pitchFamily="49" charset="0"/>
                <a:cs typeface="Courier New" pitchFamily="49" charset="0"/>
              </a:rPr>
              <a:t>currentElement</a:t>
            </a:r>
            <a:r>
              <a:rPr lang="en-US" sz="1700" b="1" dirty="0">
                <a:solidFill>
                  <a:srgbClr val="002060"/>
                </a:solidFill>
                <a:latin typeface="Courier New" pitchFamily="49" charset="0"/>
                <a:cs typeface="Courier New" pitchFamily="49" charset="0"/>
              </a:rPr>
              <a:t>;</a:t>
            </a:r>
          </a:p>
        </p:txBody>
      </p:sp>
      <p:sp>
        <p:nvSpPr>
          <p:cNvPr id="460812" name="Line 12">
            <a:extLst>
              <a:ext uri="{FF2B5EF4-FFF2-40B4-BE49-F238E27FC236}">
                <a16:creationId xmlns:a16="http://schemas.microsoft.com/office/drawing/2014/main" id="{BBFD9833-758E-4906-BA03-71D59FA9706D}"/>
              </a:ext>
              <a:ext uri="{C183D7F6-B498-43B3-948B-1728B52AA6E4}">
                <adec:decorative xmlns:adec="http://schemas.microsoft.com/office/drawing/2017/decorative" val="1"/>
              </a:ext>
            </a:extLst>
          </p:cNvPr>
          <p:cNvSpPr>
            <a:spLocks noChangeShapeType="1"/>
          </p:cNvSpPr>
          <p:nvPr/>
        </p:nvSpPr>
        <p:spPr bwMode="auto">
          <a:xfrm>
            <a:off x="762000" y="2149475"/>
            <a:ext cx="9525" cy="992188"/>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20" name="Rectangle 10">
            <a:hlinkClick r:id="rId3"/>
            <a:extLst>
              <a:ext uri="{FF2B5EF4-FFF2-40B4-BE49-F238E27FC236}">
                <a16:creationId xmlns:a16="http://schemas.microsoft.com/office/drawing/2014/main" id="{0EBB78CF-F4C9-4561-81A7-3F343327A619}"/>
              </a:ext>
            </a:extLst>
          </p:cNvPr>
          <p:cNvSpPr>
            <a:spLocks noChangeArrowheads="1"/>
          </p:cNvSpPr>
          <p:nvPr/>
        </p:nvSpPr>
        <p:spPr bwMode="auto">
          <a:xfrm>
            <a:off x="5486400" y="5729288"/>
            <a:ext cx="15319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InsertionSort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460812"/>
                                        </p:tgtEl>
                                        <p:attrNameLst>
                                          <p:attrName>style.visibility</p:attrName>
                                        </p:attrNameLst>
                                      </p:cBhvr>
                                      <p:to>
                                        <p:strVal val="visible"/>
                                      </p:to>
                                    </p:set>
                                    <p:anim calcmode="lin" valueType="num">
                                      <p:cBhvr additive="base">
                                        <p:cTn id="7" dur="500" fill="hold"/>
                                        <p:tgtEl>
                                          <p:spTgt spid="460812"/>
                                        </p:tgtEl>
                                        <p:attrNameLst>
                                          <p:attrName>ppt_x</p:attrName>
                                        </p:attrNameLst>
                                      </p:cBhvr>
                                      <p:tavLst>
                                        <p:tav tm="0">
                                          <p:val>
                                            <p:strVal val="0-#ppt_w/2"/>
                                          </p:val>
                                        </p:tav>
                                        <p:tav tm="100000">
                                          <p:val>
                                            <p:strVal val="#ppt_x"/>
                                          </p:val>
                                        </p:tav>
                                      </p:tavLst>
                                    </p:anim>
                                    <p:anim calcmode="lin" valueType="num">
                                      <p:cBhvr additive="base">
                                        <p:cTn id="8" dur="500" fill="hold"/>
                                        <p:tgtEl>
                                          <p:spTgt spid="46081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60810"/>
                                        </p:tgtEl>
                                        <p:attrNameLst>
                                          <p:attrName>style.visibility</p:attrName>
                                        </p:attrNameLst>
                                      </p:cBhvr>
                                      <p:to>
                                        <p:strVal val="visible"/>
                                      </p:to>
                                    </p:set>
                                    <p:anim calcmode="lin" valueType="num">
                                      <p:cBhvr additive="base">
                                        <p:cTn id="11" dur="500" fill="hold"/>
                                        <p:tgtEl>
                                          <p:spTgt spid="460810"/>
                                        </p:tgtEl>
                                        <p:attrNameLst>
                                          <p:attrName>ppt_x</p:attrName>
                                        </p:attrNameLst>
                                      </p:cBhvr>
                                      <p:tavLst>
                                        <p:tav tm="0">
                                          <p:val>
                                            <p:strVal val="0-#ppt_w/2"/>
                                          </p:val>
                                        </p:tav>
                                        <p:tav tm="100000">
                                          <p:val>
                                            <p:strVal val="#ppt_x"/>
                                          </p:val>
                                        </p:tav>
                                      </p:tavLst>
                                    </p:anim>
                                    <p:anim calcmode="lin" valueType="num">
                                      <p:cBhvr additive="base">
                                        <p:cTn id="12" dur="500" fill="hold"/>
                                        <p:tgtEl>
                                          <p:spTgt spid="46081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60811"/>
                                        </p:tgtEl>
                                        <p:attrNameLst>
                                          <p:attrName>style.visibility</p:attrName>
                                        </p:attrNameLst>
                                      </p:cBhvr>
                                      <p:to>
                                        <p:strVal val="visible"/>
                                      </p:to>
                                    </p:set>
                                    <p:anim calcmode="lin" valueType="num">
                                      <p:cBhvr additive="base">
                                        <p:cTn id="15" dur="500" fill="hold"/>
                                        <p:tgtEl>
                                          <p:spTgt spid="460811"/>
                                        </p:tgtEl>
                                        <p:attrNameLst>
                                          <p:attrName>ppt_x</p:attrName>
                                        </p:attrNameLst>
                                      </p:cBhvr>
                                      <p:tavLst>
                                        <p:tav tm="0">
                                          <p:val>
                                            <p:strVal val="0-#ppt_w/2"/>
                                          </p:val>
                                        </p:tav>
                                        <p:tav tm="100000">
                                          <p:val>
                                            <p:strVal val="#ppt_x"/>
                                          </p:val>
                                        </p:tav>
                                      </p:tavLst>
                                    </p:anim>
                                    <p:anim calcmode="lin" valueType="num">
                                      <p:cBhvr additive="base">
                                        <p:cTn id="16" dur="500" fill="hold"/>
                                        <p:tgtEl>
                                          <p:spTgt spid="4608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10" grpId="0"/>
      <p:bldP spid="4608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8FEF4EE3-1CFE-4447-8F8D-18BAD8A9546C}"/>
              </a:ext>
            </a:extLst>
          </p:cNvPr>
          <p:cNvSpPr>
            <a:spLocks noGrp="1" noChangeArrowheads="1"/>
          </p:cNvSpPr>
          <p:nvPr>
            <p:ph type="title"/>
          </p:nvPr>
        </p:nvSpPr>
        <p:spPr>
          <a:xfrm>
            <a:off x="685800" y="228600"/>
            <a:ext cx="7772400" cy="685800"/>
          </a:xfrm>
        </p:spPr>
        <p:txBody>
          <a:bodyPr/>
          <a:lstStyle/>
          <a:p>
            <a:r>
              <a:rPr lang="en-US" altLang="en-US"/>
              <a:t>Bubble Sort</a:t>
            </a:r>
          </a:p>
        </p:txBody>
      </p:sp>
      <p:sp>
        <p:nvSpPr>
          <p:cNvPr id="14349" name="Rectangle 16">
            <a:extLst>
              <a:ext uri="{FF2B5EF4-FFF2-40B4-BE49-F238E27FC236}">
                <a16:creationId xmlns:a16="http://schemas.microsoft.com/office/drawing/2014/main" id="{04882F7C-6CB9-4BDF-A6B4-AA00551F040A}"/>
              </a:ext>
            </a:extLst>
          </p:cNvPr>
          <p:cNvSpPr>
            <a:spLocks noGrp="1" noChangeArrowheads="1"/>
          </p:cNvSpPr>
          <p:nvPr>
            <p:ph idx="1"/>
          </p:nvPr>
        </p:nvSpPr>
        <p:spPr>
          <a:xfrm>
            <a:off x="457200" y="4191000"/>
            <a:ext cx="4876800" cy="381000"/>
          </a:xfrm>
        </p:spPr>
        <p:txBody>
          <a:bodyPr/>
          <a:lstStyle/>
          <a:p>
            <a:pPr marL="0" indent="0">
              <a:spcBef>
                <a:spcPct val="0"/>
              </a:spcBef>
              <a:buFont typeface="Monotype Sorts"/>
              <a:buNone/>
            </a:pPr>
            <a:r>
              <a:rPr lang="en-US" altLang="en-US" sz="2800"/>
              <a:t>Bubble sort time: O(n</a:t>
            </a:r>
            <a:r>
              <a:rPr lang="en-US" altLang="en-US" sz="2800" baseline="30000"/>
              <a:t>2</a:t>
            </a:r>
            <a:r>
              <a:rPr lang="en-US" altLang="en-US" sz="2800"/>
              <a:t>)</a:t>
            </a:r>
          </a:p>
        </p:txBody>
      </p:sp>
      <p:sp>
        <p:nvSpPr>
          <p:cNvPr id="14338" name="Slide Number Placeholder 4">
            <a:extLst>
              <a:ext uri="{FF2B5EF4-FFF2-40B4-BE49-F238E27FC236}">
                <a16:creationId xmlns:a16="http://schemas.microsoft.com/office/drawing/2014/main" id="{C5049B6D-8916-448E-BF92-ECFD5C29A7C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9E33B26-367D-47C8-966D-942B65936C9C}" type="slidenum">
              <a:rPr lang="en-US" altLang="en-US" sz="1400"/>
              <a:pPr>
                <a:spcBef>
                  <a:spcPct val="0"/>
                </a:spcBef>
                <a:buClrTx/>
                <a:buSzTx/>
                <a:buFontTx/>
                <a:buNone/>
              </a:pPr>
              <a:t>11</a:t>
            </a:fld>
            <a:endParaRPr lang="en-US" altLang="en-US" sz="1400"/>
          </a:p>
        </p:txBody>
      </p:sp>
      <p:graphicFrame>
        <p:nvGraphicFramePr>
          <p:cNvPr id="14346" name="Object 12" descr="Bubble sort demonstration">
            <a:extLst>
              <a:ext uri="{FF2B5EF4-FFF2-40B4-BE49-F238E27FC236}">
                <a16:creationId xmlns:a16="http://schemas.microsoft.com/office/drawing/2014/main" id="{2E0E0A7D-139F-498E-BA80-2B9526093AFA}"/>
              </a:ext>
            </a:extLst>
          </p:cNvPr>
          <p:cNvGraphicFramePr>
            <a:graphicFrameLocks noChangeAspect="1"/>
          </p:cNvGraphicFramePr>
          <p:nvPr>
            <p:extLst>
              <p:ext uri="{D42A27DB-BD31-4B8C-83A1-F6EECF244321}">
                <p14:modId xmlns:p14="http://schemas.microsoft.com/office/powerpoint/2010/main" val="3539337011"/>
              </p:ext>
            </p:extLst>
          </p:nvPr>
        </p:nvGraphicFramePr>
        <p:xfrm>
          <a:off x="457200" y="914400"/>
          <a:ext cx="8153400" cy="2501900"/>
        </p:xfrm>
        <a:graphic>
          <a:graphicData uri="http://schemas.openxmlformats.org/presentationml/2006/ole">
            <mc:AlternateContent xmlns:mc="http://schemas.openxmlformats.org/markup-compatibility/2006">
              <mc:Choice xmlns:v="urn:schemas-microsoft-com:vml" Requires="v">
                <p:oleObj name="Picture" r:id="rId2" imgW="4599302" imgH="1407292" progId="Word.Picture.8">
                  <p:embed/>
                </p:oleObj>
              </mc:Choice>
              <mc:Fallback>
                <p:oleObj name="Picture" r:id="rId2" imgW="4599302" imgH="1407292" progId="Word.Picture.8">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14400"/>
                        <a:ext cx="8153400"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8" name="Object 14">
            <a:extLst>
              <a:ext uri="{FF2B5EF4-FFF2-40B4-BE49-F238E27FC236}">
                <a16:creationId xmlns:a16="http://schemas.microsoft.com/office/drawing/2014/main" id="{73E6167D-344A-49F9-BBA7-42307891FE9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9957594"/>
              </p:ext>
            </p:extLst>
          </p:nvPr>
        </p:nvGraphicFramePr>
        <p:xfrm>
          <a:off x="990600" y="4876800"/>
          <a:ext cx="3657600" cy="687388"/>
        </p:xfrm>
        <a:graphic>
          <a:graphicData uri="http://schemas.openxmlformats.org/presentationml/2006/ole">
            <mc:AlternateContent xmlns:mc="http://schemas.openxmlformats.org/markup-compatibility/2006">
              <mc:Choice xmlns:v="urn:schemas-microsoft-com:vml" Requires="v">
                <p:oleObj name="Equation" r:id="rId4" imgW="2235200" imgH="419100" progId="Equation.3">
                  <p:embed/>
                </p:oleObj>
              </mc:Choice>
              <mc:Fallback>
                <p:oleObj name="Equation" r:id="rId4" imgW="2235200" imgH="41910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876800"/>
                        <a:ext cx="36576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0" name="Rectangle 17">
            <a:hlinkClick r:id="rId6"/>
            <a:extLst>
              <a:ext uri="{FF2B5EF4-FFF2-40B4-BE49-F238E27FC236}">
                <a16:creationId xmlns:a16="http://schemas.microsoft.com/office/drawing/2014/main" id="{BE4DE8F6-6A7D-45CE-9BD9-E915D611FDD0}"/>
              </a:ext>
            </a:extLst>
          </p:cNvPr>
          <p:cNvSpPr>
            <a:spLocks noChangeArrowheads="1"/>
          </p:cNvSpPr>
          <p:nvPr/>
        </p:nvSpPr>
        <p:spPr bwMode="auto">
          <a:xfrm>
            <a:off x="5943600" y="5638800"/>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BubbleSort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5A5FE14F-BEAF-4D99-B11E-6995722AC95B}"/>
              </a:ext>
            </a:extLst>
          </p:cNvPr>
          <p:cNvSpPr>
            <a:spLocks noGrp="1" noChangeArrowheads="1"/>
          </p:cNvSpPr>
          <p:nvPr>
            <p:ph type="title"/>
          </p:nvPr>
        </p:nvSpPr>
        <p:spPr>
          <a:xfrm>
            <a:off x="0" y="152400"/>
            <a:ext cx="8839200" cy="533400"/>
          </a:xfrm>
        </p:spPr>
        <p:txBody>
          <a:bodyPr/>
          <a:lstStyle/>
          <a:p>
            <a:r>
              <a:rPr lang="en-US" altLang="en-US" sz="3600"/>
              <a:t>Bubble Sort Animation</a:t>
            </a:r>
          </a:p>
        </p:txBody>
      </p:sp>
      <p:sp>
        <p:nvSpPr>
          <p:cNvPr id="15362" name="Slide Number Placeholder 4">
            <a:extLst>
              <a:ext uri="{FF2B5EF4-FFF2-40B4-BE49-F238E27FC236}">
                <a16:creationId xmlns:a16="http://schemas.microsoft.com/office/drawing/2014/main" id="{DDCEA387-5063-4026-8EE3-BAC22A14759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2817E19-5336-43A8-8BC1-9E7F0B490EEA}" type="slidenum">
              <a:rPr lang="en-US" altLang="en-US" sz="1400"/>
              <a:pPr>
                <a:spcBef>
                  <a:spcPct val="0"/>
                </a:spcBef>
                <a:buClrTx/>
                <a:buSzTx/>
                <a:buFontTx/>
                <a:buNone/>
              </a:pPr>
              <a:t>12</a:t>
            </a:fld>
            <a:endParaRPr lang="en-US" altLang="en-US" sz="1400"/>
          </a:p>
        </p:txBody>
      </p:sp>
      <p:sp>
        <p:nvSpPr>
          <p:cNvPr id="15375" name="AutoShape 19">
            <a:hlinkClick r:id="rId2" highlightClick="1"/>
            <a:extLst>
              <a:ext uri="{FF2B5EF4-FFF2-40B4-BE49-F238E27FC236}">
                <a16:creationId xmlns:a16="http://schemas.microsoft.com/office/drawing/2014/main" id="{4FDDC2AB-9137-4E10-8846-43D6ADB2C71C}"/>
              </a:ext>
              <a:ext uri="{C183D7F6-B498-43B3-948B-1728B52AA6E4}">
                <adec:decorative xmlns:adec="http://schemas.microsoft.com/office/drawing/2017/decorative" val="1"/>
              </a:ext>
            </a:extLst>
          </p:cNvPr>
          <p:cNvSpPr>
            <a:spLocks noChangeArrowheads="1"/>
          </p:cNvSpPr>
          <p:nvPr/>
        </p:nvSpPr>
        <p:spPr bwMode="auto">
          <a:xfrm>
            <a:off x="1247775" y="2543175"/>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6" name="Rectangle 2">
            <a:extLst>
              <a:ext uri="{FF2B5EF4-FFF2-40B4-BE49-F238E27FC236}">
                <a16:creationId xmlns:a16="http://schemas.microsoft.com/office/drawing/2014/main" id="{ED755DA9-ACE0-4E46-B4D4-18B427C82F26}"/>
              </a:ext>
            </a:extLst>
          </p:cNvPr>
          <p:cNvSpPr txBox="1">
            <a:spLocks noChangeArrowheads="1"/>
          </p:cNvSpPr>
          <p:nvPr/>
        </p:nvSpPr>
        <p:spPr bwMode="auto">
          <a:xfrm>
            <a:off x="0" y="884238"/>
            <a:ext cx="8991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 typeface="Monotype Sorts"/>
              <a:buNone/>
            </a:pPr>
            <a:r>
              <a:rPr lang="en-US" altLang="en-US" sz="2400"/>
              <a:t>https://liveexample.pearsoncmg.com/dsanimation/</a:t>
            </a:r>
            <a:r>
              <a:rPr lang="en-US" altLang="en-US" sz="2400">
                <a:solidFill>
                  <a:schemeClr val="tx2"/>
                </a:solidFill>
              </a:rPr>
              <a:t>BubbleSortNeweBook.html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C05469D6-3341-4D26-9E22-E7622FBD9FDB}"/>
              </a:ext>
            </a:extLst>
          </p:cNvPr>
          <p:cNvSpPr>
            <a:spLocks noGrp="1" noChangeArrowheads="1"/>
          </p:cNvSpPr>
          <p:nvPr>
            <p:ph type="title"/>
          </p:nvPr>
        </p:nvSpPr>
        <p:spPr>
          <a:xfrm>
            <a:off x="685800" y="228600"/>
            <a:ext cx="7772400" cy="685800"/>
          </a:xfrm>
        </p:spPr>
        <p:txBody>
          <a:bodyPr/>
          <a:lstStyle/>
          <a:p>
            <a:r>
              <a:rPr lang="en-US" altLang="en-US"/>
              <a:t>Merge Sort</a:t>
            </a:r>
          </a:p>
        </p:txBody>
      </p:sp>
      <p:sp>
        <p:nvSpPr>
          <p:cNvPr id="16386" name="Slide Number Placeholder 4">
            <a:extLst>
              <a:ext uri="{FF2B5EF4-FFF2-40B4-BE49-F238E27FC236}">
                <a16:creationId xmlns:a16="http://schemas.microsoft.com/office/drawing/2014/main" id="{61D09988-8759-4305-8956-4B44B442710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13193F1-EAE7-41FD-A3E0-9CC0D9E41AC9}" type="slidenum">
              <a:rPr lang="en-US" altLang="en-US" sz="1400"/>
              <a:pPr>
                <a:spcBef>
                  <a:spcPct val="0"/>
                </a:spcBef>
                <a:buClrTx/>
                <a:buSzTx/>
                <a:buFontTx/>
                <a:buNone/>
              </a:pPr>
              <a:t>13</a:t>
            </a:fld>
            <a:endParaRPr lang="en-US" altLang="en-US" sz="1400"/>
          </a:p>
        </p:txBody>
      </p:sp>
      <p:graphicFrame>
        <p:nvGraphicFramePr>
          <p:cNvPr id="16396" name="Object 13">
            <a:extLst>
              <a:ext uri="{FF2B5EF4-FFF2-40B4-BE49-F238E27FC236}">
                <a16:creationId xmlns:a16="http://schemas.microsoft.com/office/drawing/2014/main" id="{D32C6517-BC15-4ADE-8CA6-49932FFB762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49772716"/>
              </p:ext>
            </p:extLst>
          </p:nvPr>
        </p:nvGraphicFramePr>
        <p:xfrm>
          <a:off x="77788" y="909638"/>
          <a:ext cx="7312025" cy="5245100"/>
        </p:xfrm>
        <a:graphic>
          <a:graphicData uri="http://schemas.openxmlformats.org/presentationml/2006/ole">
            <mc:AlternateContent xmlns:mc="http://schemas.openxmlformats.org/markup-compatibility/2006">
              <mc:Choice xmlns:v="urn:schemas-microsoft-com:vml" Requires="v">
                <p:oleObj name="Picture" r:id="rId2" imgW="3970020" imgH="2830068" progId="Word.Picture.8">
                  <p:embed/>
                </p:oleObj>
              </mc:Choice>
              <mc:Fallback>
                <p:oleObj name="Picture" r:id="rId2" imgW="3970020" imgH="2830068" progId="Word.Picture.8">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8" y="909638"/>
                        <a:ext cx="7312025" cy="524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7" name="Rectangle 16">
            <a:hlinkClick r:id="rId4"/>
            <a:extLst>
              <a:ext uri="{FF2B5EF4-FFF2-40B4-BE49-F238E27FC236}">
                <a16:creationId xmlns:a16="http://schemas.microsoft.com/office/drawing/2014/main" id="{1F6C5CF1-BC86-45E8-9A9B-F87924B06F77}"/>
              </a:ext>
            </a:extLst>
          </p:cNvPr>
          <p:cNvSpPr>
            <a:spLocks noChangeArrowheads="1"/>
          </p:cNvSpPr>
          <p:nvPr/>
        </p:nvSpPr>
        <p:spPr bwMode="auto">
          <a:xfrm>
            <a:off x="6465888" y="5997575"/>
            <a:ext cx="1649412"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MergeSort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12E73C86-9739-4EE0-BA0D-1EFD632FD5B0}"/>
              </a:ext>
            </a:extLst>
          </p:cNvPr>
          <p:cNvSpPr>
            <a:spLocks noGrp="1" noChangeArrowheads="1"/>
          </p:cNvSpPr>
          <p:nvPr>
            <p:ph type="title"/>
          </p:nvPr>
        </p:nvSpPr>
        <p:spPr>
          <a:xfrm>
            <a:off x="685800" y="228600"/>
            <a:ext cx="7772400" cy="685800"/>
          </a:xfrm>
        </p:spPr>
        <p:txBody>
          <a:bodyPr/>
          <a:lstStyle/>
          <a:p>
            <a:r>
              <a:rPr lang="en-US" altLang="en-US"/>
              <a:t>Merge Sort</a:t>
            </a:r>
          </a:p>
        </p:txBody>
      </p:sp>
      <p:sp>
        <p:nvSpPr>
          <p:cNvPr id="17420" name="Rectangle 14">
            <a:extLst>
              <a:ext uri="{FF2B5EF4-FFF2-40B4-BE49-F238E27FC236}">
                <a16:creationId xmlns:a16="http://schemas.microsoft.com/office/drawing/2014/main" id="{3BCF8070-6C3D-43FE-8FD6-B1D9EBA1E641}"/>
              </a:ext>
            </a:extLst>
          </p:cNvPr>
          <p:cNvSpPr>
            <a:spLocks noGrp="1" noChangeArrowheads="1"/>
          </p:cNvSpPr>
          <p:nvPr>
            <p:ph idx="1"/>
          </p:nvPr>
        </p:nvSpPr>
        <p:spPr>
          <a:xfrm>
            <a:off x="228600" y="1219200"/>
            <a:ext cx="8763000" cy="4953000"/>
          </a:xfrm>
        </p:spPr>
        <p:txBody>
          <a:bodyPr/>
          <a:lstStyle/>
          <a:p>
            <a:pPr marL="263525" indent="0">
              <a:spcBef>
                <a:spcPct val="0"/>
              </a:spcBef>
              <a:buFont typeface="Monotype Sorts"/>
              <a:buNone/>
            </a:pPr>
            <a:r>
              <a:rPr lang="en-US" altLang="en-US"/>
              <a:t>mergeSort(list):</a:t>
            </a:r>
          </a:p>
          <a:p>
            <a:pPr marL="263525" indent="0">
              <a:spcBef>
                <a:spcPct val="0"/>
              </a:spcBef>
              <a:buFont typeface="Monotype Sorts"/>
              <a:buNone/>
            </a:pPr>
            <a:r>
              <a:rPr lang="en-US" altLang="en-US"/>
              <a:t>    firstHalf = mergeSort(firstHalf);</a:t>
            </a:r>
          </a:p>
          <a:p>
            <a:pPr marL="263525" indent="0">
              <a:spcBef>
                <a:spcPct val="0"/>
              </a:spcBef>
              <a:buFont typeface="Monotype Sorts"/>
              <a:buNone/>
            </a:pPr>
            <a:r>
              <a:rPr lang="en-US" altLang="en-US"/>
              <a:t>    secondHalf = mergeSort(secondHalf);</a:t>
            </a:r>
          </a:p>
          <a:p>
            <a:pPr marL="263525" indent="0">
              <a:spcBef>
                <a:spcPct val="0"/>
              </a:spcBef>
              <a:buFont typeface="Monotype Sorts"/>
              <a:buNone/>
            </a:pPr>
            <a:r>
              <a:rPr lang="en-US" altLang="en-US"/>
              <a:t>    list = merge(firstHalf, secondHalf);</a:t>
            </a:r>
          </a:p>
          <a:p>
            <a:pPr marL="263525" indent="0">
              <a:spcBef>
                <a:spcPct val="0"/>
              </a:spcBef>
              <a:buFont typeface="Monotype Sorts"/>
              <a:buNone/>
            </a:pPr>
            <a:endParaRPr lang="en-US" altLang="en-US"/>
          </a:p>
        </p:txBody>
      </p:sp>
      <p:sp>
        <p:nvSpPr>
          <p:cNvPr id="17410" name="Slide Number Placeholder 4">
            <a:extLst>
              <a:ext uri="{FF2B5EF4-FFF2-40B4-BE49-F238E27FC236}">
                <a16:creationId xmlns:a16="http://schemas.microsoft.com/office/drawing/2014/main" id="{9EB2D88D-5C6C-4B3F-978D-9BDC5557FC4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B5C814A-49A6-4FAD-BFC6-9727555B30B8}" type="slidenum">
              <a:rPr lang="en-US" altLang="en-US" sz="1400"/>
              <a:pPr>
                <a:spcBef>
                  <a:spcPct val="0"/>
                </a:spcBef>
                <a:buClrTx/>
                <a:buSzTx/>
                <a:buFontTx/>
                <a:buNone/>
              </a:pPr>
              <a:t>14</a:t>
            </a:fld>
            <a:endParaRPr lang="en-US" altLang="en-US"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DA2EE4B3-CF94-4738-849A-AFEC3573D788}"/>
              </a:ext>
            </a:extLst>
          </p:cNvPr>
          <p:cNvSpPr>
            <a:spLocks noGrp="1" noChangeArrowheads="1"/>
          </p:cNvSpPr>
          <p:nvPr>
            <p:ph type="title"/>
          </p:nvPr>
        </p:nvSpPr>
        <p:spPr>
          <a:xfrm>
            <a:off x="685800" y="228600"/>
            <a:ext cx="7772400" cy="685800"/>
          </a:xfrm>
        </p:spPr>
        <p:txBody>
          <a:bodyPr/>
          <a:lstStyle/>
          <a:p>
            <a:r>
              <a:rPr lang="en-US" altLang="en-US"/>
              <a:t>Merge Two Sorted Lists</a:t>
            </a:r>
          </a:p>
        </p:txBody>
      </p:sp>
      <p:sp>
        <p:nvSpPr>
          <p:cNvPr id="18434" name="Slide Number Placeholder 4">
            <a:extLst>
              <a:ext uri="{FF2B5EF4-FFF2-40B4-BE49-F238E27FC236}">
                <a16:creationId xmlns:a16="http://schemas.microsoft.com/office/drawing/2014/main" id="{4D1097D4-BC04-4B6E-B054-EE23FC132C9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BBCB8DC-286F-44DD-979E-993D9345D81E}" type="slidenum">
              <a:rPr lang="en-US" altLang="en-US" sz="1400"/>
              <a:pPr>
                <a:spcBef>
                  <a:spcPct val="0"/>
                </a:spcBef>
                <a:buClrTx/>
                <a:buSzTx/>
                <a:buFontTx/>
                <a:buNone/>
              </a:pPr>
              <a:t>15</a:t>
            </a:fld>
            <a:endParaRPr lang="en-US" altLang="en-US" sz="1400"/>
          </a:p>
        </p:txBody>
      </p:sp>
      <p:graphicFrame>
        <p:nvGraphicFramePr>
          <p:cNvPr id="18445" name="Object 14">
            <a:extLst>
              <a:ext uri="{FF2B5EF4-FFF2-40B4-BE49-F238E27FC236}">
                <a16:creationId xmlns:a16="http://schemas.microsoft.com/office/drawing/2014/main" id="{CDE3F60A-C23D-4ED3-9103-069282FBCA7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88305946"/>
              </p:ext>
            </p:extLst>
          </p:nvPr>
        </p:nvGraphicFramePr>
        <p:xfrm>
          <a:off x="0" y="1600200"/>
          <a:ext cx="9144000" cy="3478213"/>
        </p:xfrm>
        <a:graphic>
          <a:graphicData uri="http://schemas.openxmlformats.org/presentationml/2006/ole">
            <mc:AlternateContent xmlns:mc="http://schemas.openxmlformats.org/markup-compatibility/2006">
              <mc:Choice xmlns:v="urn:schemas-microsoft-com:vml" Requires="v">
                <p:oleObj name="Picture" r:id="rId2" imgW="5514121" imgH="2092066" progId="Word.Picture.8">
                  <p:embed/>
                </p:oleObj>
              </mc:Choice>
              <mc:Fallback>
                <p:oleObj name="Picture" r:id="rId2" imgW="5514121" imgH="2092066" progId="Word.Picture.8">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00200"/>
                        <a:ext cx="91440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6" name="AutoShape 19">
            <a:hlinkClick r:id="rId4" highlightClick="1"/>
            <a:extLst>
              <a:ext uri="{FF2B5EF4-FFF2-40B4-BE49-F238E27FC236}">
                <a16:creationId xmlns:a16="http://schemas.microsoft.com/office/drawing/2014/main" id="{76B51BD0-5297-4F60-A52E-EFA23D0EB662}"/>
              </a:ext>
              <a:ext uri="{C183D7F6-B498-43B3-948B-1728B52AA6E4}">
                <adec:decorative xmlns:adec="http://schemas.microsoft.com/office/drawing/2017/decorative" val="1"/>
              </a:ext>
            </a:extLst>
          </p:cNvPr>
          <p:cNvSpPr>
            <a:spLocks noChangeArrowheads="1"/>
          </p:cNvSpPr>
          <p:nvPr/>
        </p:nvSpPr>
        <p:spPr bwMode="auto">
          <a:xfrm>
            <a:off x="2057400" y="5334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7" name="Rectangle 2">
            <a:extLst>
              <a:ext uri="{FF2B5EF4-FFF2-40B4-BE49-F238E27FC236}">
                <a16:creationId xmlns:a16="http://schemas.microsoft.com/office/drawing/2014/main" id="{8D4E94EA-EF62-4862-A9BA-C666A61D2FB6}"/>
              </a:ext>
            </a:extLst>
          </p:cNvPr>
          <p:cNvSpPr txBox="1">
            <a:spLocks noChangeArrowheads="1"/>
          </p:cNvSpPr>
          <p:nvPr/>
        </p:nvSpPr>
        <p:spPr bwMode="auto">
          <a:xfrm>
            <a:off x="2667000" y="5562600"/>
            <a:ext cx="6248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solidFill>
                  <a:schemeClr val="tx2"/>
                </a:solidFill>
              </a:rPr>
              <a:t>Animation for Merging Two Sorted Lists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FDB3D6F1-FAA2-404B-AA6E-B484CC93E79F}"/>
              </a:ext>
            </a:extLst>
          </p:cNvPr>
          <p:cNvSpPr>
            <a:spLocks noGrp="1" noChangeArrowheads="1"/>
          </p:cNvSpPr>
          <p:nvPr>
            <p:ph type="title"/>
          </p:nvPr>
        </p:nvSpPr>
        <p:spPr>
          <a:xfrm>
            <a:off x="685800" y="228600"/>
            <a:ext cx="7772400" cy="685800"/>
          </a:xfrm>
        </p:spPr>
        <p:txBody>
          <a:bodyPr/>
          <a:lstStyle/>
          <a:p>
            <a:r>
              <a:rPr lang="en-US" altLang="en-US"/>
              <a:t>Merge Sort Time</a:t>
            </a:r>
          </a:p>
        </p:txBody>
      </p:sp>
      <p:sp>
        <p:nvSpPr>
          <p:cNvPr id="19468" name="Rectangle 26">
            <a:extLst>
              <a:ext uri="{FF2B5EF4-FFF2-40B4-BE49-F238E27FC236}">
                <a16:creationId xmlns:a16="http://schemas.microsoft.com/office/drawing/2014/main" id="{8F54C899-5B8B-4348-ADE7-F1F3148424BA}"/>
              </a:ext>
            </a:extLst>
          </p:cNvPr>
          <p:cNvSpPr>
            <a:spLocks noGrp="1" noChangeArrowheads="1"/>
          </p:cNvSpPr>
          <p:nvPr>
            <p:ph idx="1"/>
          </p:nvPr>
        </p:nvSpPr>
        <p:spPr>
          <a:xfrm>
            <a:off x="228600" y="1219200"/>
            <a:ext cx="8763000" cy="4953000"/>
          </a:xfrm>
        </p:spPr>
        <p:txBody>
          <a:bodyPr/>
          <a:lstStyle/>
          <a:p>
            <a:pPr marL="263525" indent="0">
              <a:spcBef>
                <a:spcPct val="0"/>
              </a:spcBef>
              <a:buFont typeface="Monotype Sorts"/>
              <a:buNone/>
            </a:pPr>
            <a:r>
              <a:rPr lang="en-US" altLang="en-US"/>
              <a:t>Let </a:t>
            </a:r>
            <a:r>
              <a:rPr lang="en-US" altLang="en-US" i="1"/>
              <a:t>T(n)</a:t>
            </a:r>
            <a:r>
              <a:rPr lang="en-US" altLang="en-US"/>
              <a:t> denote the time required for sorting an array of  </a:t>
            </a:r>
            <a:r>
              <a:rPr lang="en-US" altLang="en-US" i="1"/>
              <a:t>n</a:t>
            </a:r>
            <a:r>
              <a:rPr lang="en-US" altLang="en-US"/>
              <a:t> elements using merge sort. Without loss of generality, assume </a:t>
            </a:r>
            <a:r>
              <a:rPr lang="en-US" altLang="en-US" i="1"/>
              <a:t>n</a:t>
            </a:r>
            <a:r>
              <a:rPr lang="en-US" altLang="en-US"/>
              <a:t> is a power of 2. The merge sort algorithm splits the array into two subarrays, sorts the subarrays using the same algorithm recursively, and then merges the subarrays. So, </a:t>
            </a:r>
          </a:p>
        </p:txBody>
      </p:sp>
      <p:sp>
        <p:nvSpPr>
          <p:cNvPr id="19458" name="Slide Number Placeholder 4">
            <a:extLst>
              <a:ext uri="{FF2B5EF4-FFF2-40B4-BE49-F238E27FC236}">
                <a16:creationId xmlns:a16="http://schemas.microsoft.com/office/drawing/2014/main" id="{7A19B678-5FF9-4977-AAE2-4C4E2032C9D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ABFA86F-C1E5-40D7-B715-D0640230D3A8}" type="slidenum">
              <a:rPr lang="en-US" altLang="en-US" sz="1400"/>
              <a:pPr>
                <a:spcBef>
                  <a:spcPct val="0"/>
                </a:spcBef>
                <a:buClrTx/>
                <a:buSzTx/>
                <a:buFontTx/>
                <a:buNone/>
              </a:pPr>
              <a:t>16</a:t>
            </a:fld>
            <a:endParaRPr lang="en-US" altLang="en-US" sz="1400"/>
          </a:p>
        </p:txBody>
      </p:sp>
      <p:graphicFrame>
        <p:nvGraphicFramePr>
          <p:cNvPr id="19470" name="Object 30">
            <a:extLst>
              <a:ext uri="{FF2B5EF4-FFF2-40B4-BE49-F238E27FC236}">
                <a16:creationId xmlns:a16="http://schemas.microsoft.com/office/drawing/2014/main" id="{3C9870FF-7655-44C3-BE7C-CA1D1FBDF15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99389426"/>
              </p:ext>
            </p:extLst>
          </p:nvPr>
        </p:nvGraphicFramePr>
        <p:xfrm>
          <a:off x="1524000" y="4611688"/>
          <a:ext cx="3886200" cy="646112"/>
        </p:xfrm>
        <a:graphic>
          <a:graphicData uri="http://schemas.openxmlformats.org/presentationml/2006/ole">
            <mc:AlternateContent xmlns:mc="http://schemas.openxmlformats.org/markup-compatibility/2006">
              <mc:Choice xmlns:v="urn:schemas-microsoft-com:vml" Requires="v">
                <p:oleObj name="Equation" r:id="rId2" imgW="2005729" imgH="393529" progId="Equation.3">
                  <p:embed/>
                </p:oleObj>
              </mc:Choice>
              <mc:Fallback>
                <p:oleObj name="Equation" r:id="rId2" imgW="2005729" imgH="393529" progId="Equation.3">
                  <p:embed/>
                  <p:pic>
                    <p:nvPicPr>
                      <p:cNvPr id="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611688"/>
                        <a:ext cx="3886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71" name="Object 32">
            <a:extLst>
              <a:ext uri="{FF2B5EF4-FFF2-40B4-BE49-F238E27FC236}">
                <a16:creationId xmlns:a16="http://schemas.microsoft.com/office/drawing/2014/main" id="{1DB8699C-2105-41F6-84C1-DB3DB9ACFE7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85946579"/>
              </p:ext>
            </p:extLst>
          </p:nvPr>
        </p:nvGraphicFramePr>
        <p:xfrm>
          <a:off x="3581400" y="5638800"/>
          <a:ext cx="3224213" cy="646113"/>
        </p:xfrm>
        <a:graphic>
          <a:graphicData uri="http://schemas.openxmlformats.org/presentationml/2006/ole">
            <mc:AlternateContent xmlns:mc="http://schemas.openxmlformats.org/markup-compatibility/2006">
              <mc:Choice xmlns:v="urn:schemas-microsoft-com:vml" Requires="v">
                <p:oleObj name="Equation" r:id="rId4" imgW="1663700" imgH="393700" progId="Equation.3">
                  <p:embed/>
                </p:oleObj>
              </mc:Choice>
              <mc:Fallback>
                <p:oleObj name="Equation" r:id="rId4" imgW="1663700" imgH="393700" progId="Equation.3">
                  <p:embed/>
                  <p:pic>
                    <p:nvPicPr>
                      <p:cNvPr id="0" name="Object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5638800"/>
                        <a:ext cx="32242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93E5BD24-6509-42B0-81A0-F3B5CD254494}"/>
              </a:ext>
            </a:extLst>
          </p:cNvPr>
          <p:cNvSpPr>
            <a:spLocks noGrp="1" noChangeArrowheads="1"/>
          </p:cNvSpPr>
          <p:nvPr>
            <p:ph type="title"/>
          </p:nvPr>
        </p:nvSpPr>
        <p:spPr>
          <a:xfrm>
            <a:off x="685800" y="228600"/>
            <a:ext cx="7772400" cy="685800"/>
          </a:xfrm>
        </p:spPr>
        <p:txBody>
          <a:bodyPr/>
          <a:lstStyle/>
          <a:p>
            <a:r>
              <a:rPr lang="en-US" altLang="en-US"/>
              <a:t>Merge Sort Time</a:t>
            </a:r>
          </a:p>
        </p:txBody>
      </p:sp>
      <p:sp>
        <p:nvSpPr>
          <p:cNvPr id="20492" name="Rectangle 11">
            <a:extLst>
              <a:ext uri="{FF2B5EF4-FFF2-40B4-BE49-F238E27FC236}">
                <a16:creationId xmlns:a16="http://schemas.microsoft.com/office/drawing/2014/main" id="{AE1AF68F-FDB6-4A80-BD6A-25A4D22A5BF6}"/>
              </a:ext>
            </a:extLst>
          </p:cNvPr>
          <p:cNvSpPr>
            <a:spLocks noGrp="1" noChangeArrowheads="1"/>
          </p:cNvSpPr>
          <p:nvPr>
            <p:ph idx="1"/>
          </p:nvPr>
        </p:nvSpPr>
        <p:spPr>
          <a:xfrm>
            <a:off x="228600" y="1066800"/>
            <a:ext cx="8610600" cy="3048000"/>
          </a:xfrm>
        </p:spPr>
        <p:txBody>
          <a:bodyPr/>
          <a:lstStyle/>
          <a:p>
            <a:pPr marL="263525" indent="0">
              <a:lnSpc>
                <a:spcPct val="80000"/>
              </a:lnSpc>
              <a:spcBef>
                <a:spcPct val="0"/>
              </a:spcBef>
              <a:buFont typeface="Monotype Sorts"/>
              <a:buNone/>
            </a:pPr>
            <a:r>
              <a:rPr lang="en-US" altLang="en-US"/>
              <a:t>The first </a:t>
            </a:r>
            <a:r>
              <a:rPr lang="en-US" altLang="en-US" i="1"/>
              <a:t>T(n/2)</a:t>
            </a:r>
            <a:r>
              <a:rPr lang="en-US" altLang="en-US"/>
              <a:t> is the time for sorting the first half of the array and the second </a:t>
            </a:r>
            <a:r>
              <a:rPr lang="en-US" altLang="en-US" i="1"/>
              <a:t>T(n/2)</a:t>
            </a:r>
            <a:r>
              <a:rPr lang="en-US" altLang="en-US"/>
              <a:t> is the time for sorting the second half. To merge two subarrays, it takes at most </a:t>
            </a:r>
            <a:r>
              <a:rPr lang="en-US" altLang="en-US" i="1"/>
              <a:t>n-1</a:t>
            </a:r>
            <a:r>
              <a:rPr lang="en-US" altLang="en-US"/>
              <a:t> comparisons to compare the elements from the two subarrays and </a:t>
            </a:r>
            <a:r>
              <a:rPr lang="en-US" altLang="en-US" i="1"/>
              <a:t>n</a:t>
            </a:r>
            <a:r>
              <a:rPr lang="en-US" altLang="en-US"/>
              <a:t> moves to move elements to the temporary array. So, the total time is </a:t>
            </a:r>
            <a:r>
              <a:rPr lang="en-US" altLang="en-US" i="1"/>
              <a:t>2n-1</a:t>
            </a:r>
            <a:r>
              <a:rPr lang="en-US" altLang="en-US"/>
              <a:t>. Therefore,</a:t>
            </a:r>
          </a:p>
        </p:txBody>
      </p:sp>
      <p:sp>
        <p:nvSpPr>
          <p:cNvPr id="20482" name="Slide Number Placeholder 4">
            <a:extLst>
              <a:ext uri="{FF2B5EF4-FFF2-40B4-BE49-F238E27FC236}">
                <a16:creationId xmlns:a16="http://schemas.microsoft.com/office/drawing/2014/main" id="{82348DAC-ABBA-4442-BD2C-93E7B0DAA33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0D466D4-B2FB-4D6D-BE27-D8BB8AA4E413}" type="slidenum">
              <a:rPr lang="en-US" altLang="en-US" sz="1400"/>
              <a:pPr>
                <a:spcBef>
                  <a:spcPct val="0"/>
                </a:spcBef>
                <a:buClrTx/>
                <a:buSzTx/>
                <a:buFontTx/>
                <a:buNone/>
              </a:pPr>
              <a:t>17</a:t>
            </a:fld>
            <a:endParaRPr lang="en-US" altLang="en-US" sz="1400"/>
          </a:p>
        </p:txBody>
      </p:sp>
      <p:graphicFrame>
        <p:nvGraphicFramePr>
          <p:cNvPr id="20495" name="Object 14">
            <a:extLst>
              <a:ext uri="{FF2B5EF4-FFF2-40B4-BE49-F238E27FC236}">
                <a16:creationId xmlns:a16="http://schemas.microsoft.com/office/drawing/2014/main" id="{6EDD0D43-DF2F-4A67-B076-76A247C3464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16388912"/>
              </p:ext>
            </p:extLst>
          </p:nvPr>
        </p:nvGraphicFramePr>
        <p:xfrm>
          <a:off x="1087438" y="4279900"/>
          <a:ext cx="6969125" cy="1990725"/>
        </p:xfrm>
        <a:graphic>
          <a:graphicData uri="http://schemas.openxmlformats.org/presentationml/2006/ole">
            <mc:AlternateContent xmlns:mc="http://schemas.openxmlformats.org/markup-compatibility/2006">
              <mc:Choice xmlns:v="urn:schemas-microsoft-com:vml" Requires="v">
                <p:oleObj name="Equation" r:id="rId2" imgW="4813300" imgH="1447800" progId="Equation.3">
                  <p:embed/>
                </p:oleObj>
              </mc:Choice>
              <mc:Fallback>
                <p:oleObj name="Equation" r:id="rId2" imgW="4813300" imgH="1447800"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438" y="4279900"/>
                        <a:ext cx="696912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F6AA6761-33AF-4113-9667-2E2DEB08F94D}"/>
              </a:ext>
            </a:extLst>
          </p:cNvPr>
          <p:cNvSpPr>
            <a:spLocks noGrp="1" noChangeArrowheads="1"/>
          </p:cNvSpPr>
          <p:nvPr>
            <p:ph type="title"/>
          </p:nvPr>
        </p:nvSpPr>
        <p:spPr>
          <a:xfrm>
            <a:off x="685800" y="228600"/>
            <a:ext cx="7772400" cy="685800"/>
          </a:xfrm>
        </p:spPr>
        <p:txBody>
          <a:bodyPr/>
          <a:lstStyle/>
          <a:p>
            <a:r>
              <a:rPr lang="en-US" altLang="en-US" dirty="0"/>
              <a:t>Quick Sort</a:t>
            </a:r>
          </a:p>
        </p:txBody>
      </p:sp>
      <p:sp>
        <p:nvSpPr>
          <p:cNvPr id="21508" name="Rectangle 3">
            <a:extLst>
              <a:ext uri="{FF2B5EF4-FFF2-40B4-BE49-F238E27FC236}">
                <a16:creationId xmlns:a16="http://schemas.microsoft.com/office/drawing/2014/main" id="{F72CAFE2-4195-4331-80A5-6DC98AB7BD14}"/>
              </a:ext>
            </a:extLst>
          </p:cNvPr>
          <p:cNvSpPr>
            <a:spLocks noGrp="1" noChangeArrowheads="1"/>
          </p:cNvSpPr>
          <p:nvPr>
            <p:ph idx="1"/>
          </p:nvPr>
        </p:nvSpPr>
        <p:spPr>
          <a:xfrm>
            <a:off x="228600" y="1143000"/>
            <a:ext cx="8763000" cy="5105400"/>
          </a:xfrm>
        </p:spPr>
        <p:txBody>
          <a:bodyPr/>
          <a:lstStyle/>
          <a:p>
            <a:pPr marL="0" indent="0">
              <a:spcBef>
                <a:spcPct val="0"/>
              </a:spcBef>
              <a:buFont typeface="Monotype Sorts"/>
              <a:buNone/>
            </a:pPr>
            <a:r>
              <a:rPr lang="en-US" altLang="en-US" dirty="0"/>
              <a:t>Quick sort, developed by C. A. R. Hoare (1962), works as follows: The algorithm selects an element, called the </a:t>
            </a:r>
            <a:r>
              <a:rPr lang="en-US" altLang="en-US" i="1" dirty="0"/>
              <a:t>pivot</a:t>
            </a:r>
            <a:r>
              <a:rPr lang="en-US" altLang="en-US" dirty="0"/>
              <a:t>, in the array. Divide the array into two parts such that all the elements in the first part are less than or equal to the pivot and all the elements in the second part are greater than the pivot. Recursively apply the quick sort algorithm to the first part and then the second part. </a:t>
            </a:r>
            <a:br>
              <a:rPr lang="en-US" altLang="en-US" dirty="0"/>
            </a:br>
            <a:endParaRPr lang="en-US" altLang="en-US" dirty="0"/>
          </a:p>
        </p:txBody>
      </p:sp>
      <p:sp>
        <p:nvSpPr>
          <p:cNvPr id="21506" name="Slide Number Placeholder 4">
            <a:extLst>
              <a:ext uri="{FF2B5EF4-FFF2-40B4-BE49-F238E27FC236}">
                <a16:creationId xmlns:a16="http://schemas.microsoft.com/office/drawing/2014/main" id="{17AE70E8-3ECF-44AC-876B-6D3F347230C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16BC7A0-2B02-46D4-B8F3-ACD95D9C50F2}" type="slidenum">
              <a:rPr lang="en-US" altLang="en-US" sz="1400"/>
              <a:pPr>
                <a:spcBef>
                  <a:spcPct val="0"/>
                </a:spcBef>
                <a:buClrTx/>
                <a:buSzTx/>
                <a:buFontTx/>
                <a:buNone/>
              </a:pPr>
              <a:t>18</a:t>
            </a:fld>
            <a:endParaRPr lang="en-US" alt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2D7D868C-0EB4-471E-AD1D-27E7F32C30F4}"/>
              </a:ext>
            </a:extLst>
          </p:cNvPr>
          <p:cNvSpPr>
            <a:spLocks noGrp="1" noChangeArrowheads="1"/>
          </p:cNvSpPr>
          <p:nvPr>
            <p:ph type="title"/>
          </p:nvPr>
        </p:nvSpPr>
        <p:spPr>
          <a:xfrm>
            <a:off x="685800" y="228600"/>
            <a:ext cx="7772400" cy="685800"/>
          </a:xfrm>
        </p:spPr>
        <p:txBody>
          <a:bodyPr/>
          <a:lstStyle/>
          <a:p>
            <a:r>
              <a:rPr lang="en-US" altLang="en-US"/>
              <a:t>Quick Sort</a:t>
            </a:r>
          </a:p>
        </p:txBody>
      </p:sp>
      <p:sp>
        <p:nvSpPr>
          <p:cNvPr id="22530" name="Slide Number Placeholder 4">
            <a:extLst>
              <a:ext uri="{FF2B5EF4-FFF2-40B4-BE49-F238E27FC236}">
                <a16:creationId xmlns:a16="http://schemas.microsoft.com/office/drawing/2014/main" id="{BD64D4BC-249A-4C0C-83B5-339DE711EF6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286A818-A5ED-43F7-B097-8DC4D3CE04D2}" type="slidenum">
              <a:rPr lang="en-US" altLang="en-US" sz="1400"/>
              <a:pPr>
                <a:spcBef>
                  <a:spcPct val="0"/>
                </a:spcBef>
                <a:buClrTx/>
                <a:buSzTx/>
                <a:buFontTx/>
                <a:buNone/>
              </a:pPr>
              <a:t>19</a:t>
            </a:fld>
            <a:endParaRPr lang="en-US" altLang="en-US" sz="1400"/>
          </a:p>
        </p:txBody>
      </p:sp>
      <p:graphicFrame>
        <p:nvGraphicFramePr>
          <p:cNvPr id="22537" name="Object 8">
            <a:extLst>
              <a:ext uri="{FF2B5EF4-FFF2-40B4-BE49-F238E27FC236}">
                <a16:creationId xmlns:a16="http://schemas.microsoft.com/office/drawing/2014/main" id="{C67A8F8E-E898-4723-8009-651A5E603EE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069858648"/>
              </p:ext>
            </p:extLst>
          </p:nvPr>
        </p:nvGraphicFramePr>
        <p:xfrm>
          <a:off x="990600" y="1066800"/>
          <a:ext cx="6858000" cy="5122863"/>
        </p:xfrm>
        <a:graphic>
          <a:graphicData uri="http://schemas.openxmlformats.org/presentationml/2006/ole">
            <mc:AlternateContent xmlns:mc="http://schemas.openxmlformats.org/markup-compatibility/2006">
              <mc:Choice xmlns:v="urn:schemas-microsoft-com:vml" Requires="v">
                <p:oleObj name="Picture" r:id="rId2" imgW="4967751" imgH="3702454" progId="Word.Picture.8">
                  <p:embed/>
                </p:oleObj>
              </mc:Choice>
              <mc:Fallback>
                <p:oleObj name="Picture" r:id="rId2" imgW="4967751" imgH="3702454" progId="Word.Picture.8">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066800"/>
                        <a:ext cx="6858000" cy="512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4B71B676-E6BD-4C81-A940-1687A0438618}"/>
              </a:ext>
            </a:extLst>
          </p:cNvPr>
          <p:cNvSpPr>
            <a:spLocks noGrp="1" noChangeArrowheads="1"/>
          </p:cNvSpPr>
          <p:nvPr>
            <p:ph type="title"/>
          </p:nvPr>
        </p:nvSpPr>
        <p:spPr>
          <a:xfrm>
            <a:off x="533400" y="228600"/>
            <a:ext cx="2362200" cy="685800"/>
          </a:xfrm>
        </p:spPr>
        <p:txBody>
          <a:bodyPr/>
          <a:lstStyle/>
          <a:p>
            <a:r>
              <a:rPr lang="en-US" altLang="en-US"/>
              <a:t>Partition</a:t>
            </a:r>
          </a:p>
        </p:txBody>
      </p:sp>
      <p:sp>
        <p:nvSpPr>
          <p:cNvPr id="23554" name="Slide Number Placeholder 4">
            <a:extLst>
              <a:ext uri="{FF2B5EF4-FFF2-40B4-BE49-F238E27FC236}">
                <a16:creationId xmlns:a16="http://schemas.microsoft.com/office/drawing/2014/main" id="{C37FC007-619F-4755-90C3-7508EC11CFE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1BE709C-A128-4175-A6B7-9E8D323EC163}" type="slidenum">
              <a:rPr lang="en-US" altLang="en-US" sz="1400"/>
              <a:pPr>
                <a:spcBef>
                  <a:spcPct val="0"/>
                </a:spcBef>
                <a:buClrTx/>
                <a:buSzTx/>
                <a:buFontTx/>
                <a:buNone/>
              </a:pPr>
              <a:t>20</a:t>
            </a:fld>
            <a:endParaRPr lang="en-US" altLang="en-US" sz="1400"/>
          </a:p>
        </p:txBody>
      </p:sp>
      <p:graphicFrame>
        <p:nvGraphicFramePr>
          <p:cNvPr id="23562" name="Object 11">
            <a:extLst>
              <a:ext uri="{FF2B5EF4-FFF2-40B4-BE49-F238E27FC236}">
                <a16:creationId xmlns:a16="http://schemas.microsoft.com/office/drawing/2014/main" id="{F66A9922-1D49-410B-B3CD-03F0C4268A8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90330359"/>
              </p:ext>
            </p:extLst>
          </p:nvPr>
        </p:nvGraphicFramePr>
        <p:xfrm>
          <a:off x="3200400" y="381000"/>
          <a:ext cx="5232400" cy="5943600"/>
        </p:xfrm>
        <a:graphic>
          <a:graphicData uri="http://schemas.openxmlformats.org/presentationml/2006/ole">
            <mc:AlternateContent xmlns:mc="http://schemas.openxmlformats.org/markup-compatibility/2006">
              <mc:Choice xmlns:v="urn:schemas-microsoft-com:vml" Requires="v">
                <p:oleObj name="Picture" r:id="rId2" imgW="4764258" imgH="5414001" progId="Word.Picture.8">
                  <p:embed/>
                </p:oleObj>
              </mc:Choice>
              <mc:Fallback>
                <p:oleObj name="Picture" r:id="rId2" imgW="4764258" imgH="5414001" progId="Word.Picture.8">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81000"/>
                        <a:ext cx="52324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3" name="AutoShape 15">
            <a:hlinkClick r:id="rId4" highlightClick="1"/>
            <a:extLst>
              <a:ext uri="{FF2B5EF4-FFF2-40B4-BE49-F238E27FC236}">
                <a16:creationId xmlns:a16="http://schemas.microsoft.com/office/drawing/2014/main" id="{D27517D1-AF1B-4809-8878-3A1C61FDBB07}"/>
              </a:ext>
              <a:ext uri="{C183D7F6-B498-43B3-948B-1728B52AA6E4}">
                <adec:decorative xmlns:adec="http://schemas.microsoft.com/office/drawing/2017/decorative" val="1"/>
              </a:ext>
            </a:extLst>
          </p:cNvPr>
          <p:cNvSpPr>
            <a:spLocks noChangeArrowheads="1"/>
          </p:cNvSpPr>
          <p:nvPr/>
        </p:nvSpPr>
        <p:spPr bwMode="auto">
          <a:xfrm>
            <a:off x="665163" y="1284288"/>
            <a:ext cx="468312" cy="577850"/>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4" name="Rectangle 2">
            <a:extLst>
              <a:ext uri="{FF2B5EF4-FFF2-40B4-BE49-F238E27FC236}">
                <a16:creationId xmlns:a16="http://schemas.microsoft.com/office/drawing/2014/main" id="{37D984C4-D0F3-4DD8-BA49-F4FFF08506CF}"/>
              </a:ext>
            </a:extLst>
          </p:cNvPr>
          <p:cNvSpPr txBox="1">
            <a:spLocks noChangeArrowheads="1"/>
          </p:cNvSpPr>
          <p:nvPr/>
        </p:nvSpPr>
        <p:spPr bwMode="auto">
          <a:xfrm>
            <a:off x="1371600" y="1284288"/>
            <a:ext cx="173513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solidFill>
                  <a:schemeClr val="tx2"/>
                </a:solidFill>
              </a:rPr>
              <a:t>Animation for partition</a:t>
            </a:r>
          </a:p>
        </p:txBody>
      </p:sp>
      <p:sp>
        <p:nvSpPr>
          <p:cNvPr id="23565" name="Rectangle 16">
            <a:hlinkClick r:id="rId5"/>
            <a:extLst>
              <a:ext uri="{FF2B5EF4-FFF2-40B4-BE49-F238E27FC236}">
                <a16:creationId xmlns:a16="http://schemas.microsoft.com/office/drawing/2014/main" id="{E4E41ED9-6F43-4AA5-9DB4-2B3A82F4A895}"/>
              </a:ext>
            </a:extLst>
          </p:cNvPr>
          <p:cNvSpPr>
            <a:spLocks noChangeArrowheads="1"/>
          </p:cNvSpPr>
          <p:nvPr/>
        </p:nvSpPr>
        <p:spPr bwMode="auto">
          <a:xfrm>
            <a:off x="307975" y="5792788"/>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QuickSort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863E2662-5719-4916-9C0E-FB4FFEFA71B8}"/>
              </a:ext>
            </a:extLst>
          </p:cNvPr>
          <p:cNvSpPr>
            <a:spLocks noGrp="1" noChangeArrowheads="1"/>
          </p:cNvSpPr>
          <p:nvPr>
            <p:ph type="title"/>
          </p:nvPr>
        </p:nvSpPr>
        <p:spPr>
          <a:xfrm>
            <a:off x="685800" y="228600"/>
            <a:ext cx="7772400" cy="685800"/>
          </a:xfrm>
        </p:spPr>
        <p:txBody>
          <a:bodyPr/>
          <a:lstStyle/>
          <a:p>
            <a:r>
              <a:rPr lang="en-US" altLang="en-US"/>
              <a:t>Quick Sort Time</a:t>
            </a:r>
          </a:p>
        </p:txBody>
      </p:sp>
      <p:sp>
        <p:nvSpPr>
          <p:cNvPr id="24588" name="Rectangle 11">
            <a:extLst>
              <a:ext uri="{FF2B5EF4-FFF2-40B4-BE49-F238E27FC236}">
                <a16:creationId xmlns:a16="http://schemas.microsoft.com/office/drawing/2014/main" id="{2C50D2C1-7278-4D0F-8734-C0CBEB325287}"/>
              </a:ext>
            </a:extLst>
          </p:cNvPr>
          <p:cNvSpPr>
            <a:spLocks noGrp="1" noChangeArrowheads="1"/>
          </p:cNvSpPr>
          <p:nvPr>
            <p:ph idx="1"/>
          </p:nvPr>
        </p:nvSpPr>
        <p:spPr>
          <a:xfrm>
            <a:off x="228600" y="1066800"/>
            <a:ext cx="8610600" cy="1600200"/>
          </a:xfrm>
        </p:spPr>
        <p:txBody>
          <a:bodyPr/>
          <a:lstStyle/>
          <a:p>
            <a:pPr marL="263525" indent="0">
              <a:spcBef>
                <a:spcPct val="0"/>
              </a:spcBef>
              <a:buFont typeface="Monotype Sorts"/>
              <a:buNone/>
            </a:pPr>
            <a:r>
              <a:rPr lang="en-US" altLang="en-US"/>
              <a:t>To partition an array of </a:t>
            </a:r>
            <a:r>
              <a:rPr lang="en-US" altLang="en-US" i="1"/>
              <a:t>n</a:t>
            </a:r>
            <a:r>
              <a:rPr lang="en-US" altLang="en-US"/>
              <a:t> elements, it takes </a:t>
            </a:r>
            <a:r>
              <a:rPr lang="en-US" altLang="en-US" i="1"/>
              <a:t>n-1</a:t>
            </a:r>
            <a:r>
              <a:rPr lang="en-US" altLang="en-US"/>
              <a:t> comparisons and </a:t>
            </a:r>
            <a:r>
              <a:rPr lang="en-US" altLang="en-US" i="1"/>
              <a:t>n</a:t>
            </a:r>
            <a:r>
              <a:rPr lang="en-US" altLang="en-US"/>
              <a:t> moves in the worst case. So, the time required for partition is </a:t>
            </a:r>
            <a:r>
              <a:rPr lang="en-US" altLang="en-US" i="1"/>
              <a:t>O(n)</a:t>
            </a:r>
            <a:r>
              <a:rPr lang="en-US" altLang="en-US"/>
              <a:t>.</a:t>
            </a:r>
          </a:p>
        </p:txBody>
      </p:sp>
      <p:sp>
        <p:nvSpPr>
          <p:cNvPr id="24578" name="Slide Number Placeholder 4">
            <a:extLst>
              <a:ext uri="{FF2B5EF4-FFF2-40B4-BE49-F238E27FC236}">
                <a16:creationId xmlns:a16="http://schemas.microsoft.com/office/drawing/2014/main" id="{39EAE12D-6589-4516-AD22-BD7F2444C93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FCAA5AE-B578-46C3-AB85-E12019B25514}" type="slidenum">
              <a:rPr lang="en-US" altLang="en-US" sz="1400"/>
              <a:pPr>
                <a:spcBef>
                  <a:spcPct val="0"/>
                </a:spcBef>
                <a:buClrTx/>
                <a:buSzTx/>
                <a:buFontTx/>
                <a:buNone/>
              </a:pPr>
              <a:t>21</a:t>
            </a:fld>
            <a:endParaRPr lang="en-US" alt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2E58FBA1-206B-4BDF-BFA4-5450A01479E3}"/>
              </a:ext>
            </a:extLst>
          </p:cNvPr>
          <p:cNvSpPr>
            <a:spLocks noGrp="1" noChangeArrowheads="1"/>
          </p:cNvSpPr>
          <p:nvPr>
            <p:ph type="title"/>
          </p:nvPr>
        </p:nvSpPr>
        <p:spPr/>
        <p:txBody>
          <a:bodyPr/>
          <a:lstStyle/>
          <a:p>
            <a:r>
              <a:rPr lang="en-US" altLang="en-US"/>
              <a:t>Worst-Case Time</a:t>
            </a:r>
          </a:p>
        </p:txBody>
      </p:sp>
      <p:graphicFrame>
        <p:nvGraphicFramePr>
          <p:cNvPr id="25617" name="Object 18">
            <a:extLst>
              <a:ext uri="{FF2B5EF4-FFF2-40B4-BE49-F238E27FC236}">
                <a16:creationId xmlns:a16="http://schemas.microsoft.com/office/drawing/2014/main" id="{4B3DE1A9-BCB4-4033-9670-29F601B6734A}"/>
              </a:ext>
              <a:ext uri="{C183D7F6-B498-43B3-948B-1728B52AA6E4}">
                <adec:decorative xmlns:adec="http://schemas.microsoft.com/office/drawing/2017/decorative" val="1"/>
              </a:ext>
            </a:extLst>
          </p:cNvPr>
          <p:cNvGraphicFramePr>
            <a:graphicFrameLocks noGrp="1" noChangeAspect="1"/>
          </p:cNvGraphicFramePr>
          <p:nvPr>
            <p:ph idx="1"/>
            <p:extLst>
              <p:ext uri="{D42A27DB-BD31-4B8C-83A1-F6EECF244321}">
                <p14:modId xmlns:p14="http://schemas.microsoft.com/office/powerpoint/2010/main" val="302361622"/>
              </p:ext>
            </p:extLst>
          </p:nvPr>
        </p:nvGraphicFramePr>
        <p:xfrm>
          <a:off x="7620000" y="3124200"/>
          <a:ext cx="406400" cy="228600"/>
        </p:xfrm>
        <a:graphic>
          <a:graphicData uri="http://schemas.openxmlformats.org/presentationml/2006/ole">
            <mc:AlternateContent xmlns:mc="http://schemas.openxmlformats.org/markup-compatibility/2006">
              <mc:Choice xmlns:v="urn:schemas-microsoft-com:vml" Requires="v">
                <p:oleObj name="Equation" r:id="rId2" imgW="406224" imgH="228501" progId="Equation.3">
                  <p:embed/>
                </p:oleObj>
              </mc:Choice>
              <mc:Fallback>
                <p:oleObj name="Equation" r:id="rId2" imgW="406224" imgH="228501" progId="Equation.3">
                  <p:embed/>
                  <p:pic>
                    <p:nvPicPr>
                      <p:cNvPr id="0" name="Object 1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3124200"/>
                        <a:ext cx="406400" cy="22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5602" name="Slide Number Placeholder 4">
            <a:extLst>
              <a:ext uri="{FF2B5EF4-FFF2-40B4-BE49-F238E27FC236}">
                <a16:creationId xmlns:a16="http://schemas.microsoft.com/office/drawing/2014/main" id="{DD67191A-6F7F-4DA1-B0FF-F743AECA560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4CAD15F-4D37-4876-8C97-82F80E9385BE}" type="slidenum">
              <a:rPr lang="en-US" altLang="en-US" sz="1400"/>
              <a:pPr>
                <a:spcBef>
                  <a:spcPct val="0"/>
                </a:spcBef>
                <a:buClrTx/>
                <a:buSzTx/>
                <a:buFontTx/>
                <a:buNone/>
              </a:pPr>
              <a:t>22</a:t>
            </a:fld>
            <a:endParaRPr lang="en-US" altLang="en-US" sz="1400"/>
          </a:p>
        </p:txBody>
      </p:sp>
      <p:sp>
        <p:nvSpPr>
          <p:cNvPr id="25615" name="Rectangle 16">
            <a:extLst>
              <a:ext uri="{FF2B5EF4-FFF2-40B4-BE49-F238E27FC236}">
                <a16:creationId xmlns:a16="http://schemas.microsoft.com/office/drawing/2014/main" id="{224DB900-EC0D-4BF3-914B-CEC5DCFCA7A2}"/>
              </a:ext>
            </a:extLst>
          </p:cNvPr>
          <p:cNvSpPr>
            <a:spLocks noChangeArrowheads="1"/>
          </p:cNvSpPr>
          <p:nvPr/>
        </p:nvSpPr>
        <p:spPr bwMode="auto">
          <a:xfrm>
            <a:off x="228600" y="1447800"/>
            <a:ext cx="8610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In the worst case, each time the pivot divides the array into one big subarray with the other empty. The size of the big subarray is one less than the one before divided. The algorithm requires     time:</a:t>
            </a:r>
          </a:p>
        </p:txBody>
      </p:sp>
      <p:graphicFrame>
        <p:nvGraphicFramePr>
          <p:cNvPr id="25616" name="Object 17">
            <a:extLst>
              <a:ext uri="{FF2B5EF4-FFF2-40B4-BE49-F238E27FC236}">
                <a16:creationId xmlns:a16="http://schemas.microsoft.com/office/drawing/2014/main" id="{6CF1DC48-3DF1-4BEE-8516-3BF03CBC589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6597696"/>
              </p:ext>
            </p:extLst>
          </p:nvPr>
        </p:nvGraphicFramePr>
        <p:xfrm>
          <a:off x="2133600" y="4267200"/>
          <a:ext cx="3048000" cy="336550"/>
        </p:xfrm>
        <a:graphic>
          <a:graphicData uri="http://schemas.openxmlformats.org/presentationml/2006/ole">
            <mc:AlternateContent xmlns:mc="http://schemas.openxmlformats.org/markup-compatibility/2006">
              <mc:Choice xmlns:v="urn:schemas-microsoft-com:vml" Requires="v">
                <p:oleObj name="Equation" r:id="rId4" imgW="2070100" imgH="228600" progId="Equation.3">
                  <p:embed/>
                </p:oleObj>
              </mc:Choice>
              <mc:Fallback>
                <p:oleObj name="Equation" r:id="rId4" imgW="2070100" imgH="228600" progId="Equation.3">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4267200"/>
                        <a:ext cx="3048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8F5F3593-2ABA-4E5E-A35B-DB6BA00093D4}"/>
              </a:ext>
            </a:extLst>
          </p:cNvPr>
          <p:cNvSpPr>
            <a:spLocks noGrp="1" noChangeArrowheads="1"/>
          </p:cNvSpPr>
          <p:nvPr>
            <p:ph type="title"/>
          </p:nvPr>
        </p:nvSpPr>
        <p:spPr>
          <a:xfrm>
            <a:off x="685800" y="228600"/>
            <a:ext cx="7772400" cy="685800"/>
          </a:xfrm>
        </p:spPr>
        <p:txBody>
          <a:bodyPr/>
          <a:lstStyle/>
          <a:p>
            <a:r>
              <a:rPr lang="en-US" altLang="en-US"/>
              <a:t>Best-Case Time</a:t>
            </a:r>
          </a:p>
        </p:txBody>
      </p:sp>
      <p:sp>
        <p:nvSpPr>
          <p:cNvPr id="26626" name="Slide Number Placeholder 4">
            <a:extLst>
              <a:ext uri="{FF2B5EF4-FFF2-40B4-BE49-F238E27FC236}">
                <a16:creationId xmlns:a16="http://schemas.microsoft.com/office/drawing/2014/main" id="{941917B7-E228-4E44-8AF4-AB1DBCBEFDE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D5B8334-8E63-46EA-A0F3-3683E6B36128}" type="slidenum">
              <a:rPr lang="en-US" altLang="en-US" sz="1400"/>
              <a:pPr>
                <a:spcBef>
                  <a:spcPct val="0"/>
                </a:spcBef>
                <a:buClrTx/>
                <a:buSzTx/>
                <a:buFontTx/>
                <a:buNone/>
              </a:pPr>
              <a:t>23</a:t>
            </a:fld>
            <a:endParaRPr lang="en-US" altLang="en-US" sz="1400"/>
          </a:p>
        </p:txBody>
      </p:sp>
      <p:sp>
        <p:nvSpPr>
          <p:cNvPr id="26638" name="Rectangle 14">
            <a:extLst>
              <a:ext uri="{FF2B5EF4-FFF2-40B4-BE49-F238E27FC236}">
                <a16:creationId xmlns:a16="http://schemas.microsoft.com/office/drawing/2014/main" id="{E2B57BA6-BCEB-4132-BCAB-4304246A0198}"/>
              </a:ext>
            </a:extLst>
          </p:cNvPr>
          <p:cNvSpPr>
            <a:spLocks noChangeArrowheads="1"/>
          </p:cNvSpPr>
          <p:nvPr/>
        </p:nvSpPr>
        <p:spPr bwMode="auto">
          <a:xfrm>
            <a:off x="304800" y="1219200"/>
            <a:ext cx="8610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In the best case, each time the pivot divides the array into two parts of about the same size. Let  </a:t>
            </a:r>
            <a:r>
              <a:rPr lang="en-US" altLang="en-US" i="1"/>
              <a:t>T(n)</a:t>
            </a:r>
            <a:r>
              <a:rPr lang="en-US" altLang="en-US"/>
              <a:t> denote the time required for sorting an array of  elements using quick sort. So, </a:t>
            </a:r>
          </a:p>
        </p:txBody>
      </p:sp>
      <p:graphicFrame>
        <p:nvGraphicFramePr>
          <p:cNvPr id="26641" name="Object 18">
            <a:extLst>
              <a:ext uri="{FF2B5EF4-FFF2-40B4-BE49-F238E27FC236}">
                <a16:creationId xmlns:a16="http://schemas.microsoft.com/office/drawing/2014/main" id="{29F72AF6-8517-4B50-8F96-5E8FEE50DE7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15055683"/>
              </p:ext>
            </p:extLst>
          </p:nvPr>
        </p:nvGraphicFramePr>
        <p:xfrm>
          <a:off x="1600200" y="4038600"/>
          <a:ext cx="4419600" cy="793750"/>
        </p:xfrm>
        <a:graphic>
          <a:graphicData uri="http://schemas.openxmlformats.org/presentationml/2006/ole">
            <mc:AlternateContent xmlns:mc="http://schemas.openxmlformats.org/markup-compatibility/2006">
              <mc:Choice xmlns:v="urn:schemas-microsoft-com:vml" Requires="v">
                <p:oleObj name="Equation" r:id="rId2" imgW="2209800" imgH="393700" progId="Equation.3">
                  <p:embed/>
                </p:oleObj>
              </mc:Choice>
              <mc:Fallback>
                <p:oleObj name="Equation" r:id="rId2" imgW="2209800" imgH="393700" progId="Equation.3">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4038600"/>
                        <a:ext cx="44196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3B9E6B95-949C-4A54-8838-0449739664DC}"/>
              </a:ext>
            </a:extLst>
          </p:cNvPr>
          <p:cNvSpPr>
            <a:spLocks noGrp="1" noChangeArrowheads="1"/>
          </p:cNvSpPr>
          <p:nvPr>
            <p:ph type="title"/>
          </p:nvPr>
        </p:nvSpPr>
        <p:spPr>
          <a:xfrm>
            <a:off x="685800" y="228600"/>
            <a:ext cx="7772400" cy="685800"/>
          </a:xfrm>
        </p:spPr>
        <p:txBody>
          <a:bodyPr/>
          <a:lstStyle/>
          <a:p>
            <a:r>
              <a:rPr lang="en-US" altLang="en-US"/>
              <a:t>Average-Case Time</a:t>
            </a:r>
          </a:p>
        </p:txBody>
      </p:sp>
      <p:sp>
        <p:nvSpPr>
          <p:cNvPr id="27650" name="Slide Number Placeholder 4">
            <a:extLst>
              <a:ext uri="{FF2B5EF4-FFF2-40B4-BE49-F238E27FC236}">
                <a16:creationId xmlns:a16="http://schemas.microsoft.com/office/drawing/2014/main" id="{B74CCBBC-BD58-4399-9C37-6917F2015D1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AA76E62-FECD-43D8-B2AF-F3802B71D19D}" type="slidenum">
              <a:rPr lang="en-US" altLang="en-US" sz="1400"/>
              <a:pPr>
                <a:spcBef>
                  <a:spcPct val="0"/>
                </a:spcBef>
                <a:buClrTx/>
                <a:buSzTx/>
                <a:buFontTx/>
                <a:buNone/>
              </a:pPr>
              <a:t>24</a:t>
            </a:fld>
            <a:endParaRPr lang="en-US" altLang="en-US" sz="1400"/>
          </a:p>
        </p:txBody>
      </p:sp>
      <p:sp>
        <p:nvSpPr>
          <p:cNvPr id="27662" name="Rectangle 13">
            <a:extLst>
              <a:ext uri="{FF2B5EF4-FFF2-40B4-BE49-F238E27FC236}">
                <a16:creationId xmlns:a16="http://schemas.microsoft.com/office/drawing/2014/main" id="{7CD604AA-B893-41CC-A2A5-8B7CF517495B}"/>
              </a:ext>
            </a:extLst>
          </p:cNvPr>
          <p:cNvSpPr>
            <a:spLocks noChangeArrowheads="1"/>
          </p:cNvSpPr>
          <p:nvPr/>
        </p:nvSpPr>
        <p:spPr bwMode="auto">
          <a:xfrm>
            <a:off x="304800" y="1219200"/>
            <a:ext cx="86106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On the average, each time the pivot will not divide the array into two parts of the same size nor one empty part. Statistically, the sizes of the two parts are very close. So the average time is </a:t>
            </a:r>
            <a:r>
              <a:rPr lang="en-US" altLang="en-US" i="1"/>
              <a:t>O(nlogn)</a:t>
            </a:r>
            <a:r>
              <a:rPr lang="en-US" altLang="en-US"/>
              <a:t>. The exact average-case analysis is beyond the scope of this book.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9CE8942D-87A0-4422-90AF-C6BB2B70DE4B}"/>
              </a:ext>
            </a:extLst>
          </p:cNvPr>
          <p:cNvSpPr>
            <a:spLocks noGrp="1" noChangeArrowheads="1"/>
          </p:cNvSpPr>
          <p:nvPr>
            <p:ph type="title"/>
          </p:nvPr>
        </p:nvSpPr>
        <p:spPr>
          <a:xfrm>
            <a:off x="0" y="152400"/>
            <a:ext cx="8839200" cy="533400"/>
          </a:xfrm>
        </p:spPr>
        <p:txBody>
          <a:bodyPr/>
          <a:lstStyle/>
          <a:p>
            <a:pPr>
              <a:tabLst>
                <a:tab pos="6464300" algn="l"/>
              </a:tabLst>
            </a:pPr>
            <a:r>
              <a:rPr lang="en-US" altLang="en-US" sz="3600" dirty="0"/>
              <a:t>Heap</a:t>
            </a:r>
          </a:p>
        </p:txBody>
      </p:sp>
      <p:sp>
        <p:nvSpPr>
          <p:cNvPr id="28686" name="Rectangle 13">
            <a:extLst>
              <a:ext uri="{FF2B5EF4-FFF2-40B4-BE49-F238E27FC236}">
                <a16:creationId xmlns:a16="http://schemas.microsoft.com/office/drawing/2014/main" id="{77A209CC-6003-4B6C-BE35-C1AE554CF07A}"/>
              </a:ext>
            </a:extLst>
          </p:cNvPr>
          <p:cNvSpPr>
            <a:spLocks noGrp="1" noChangeArrowheads="1"/>
          </p:cNvSpPr>
          <p:nvPr>
            <p:ph idx="1"/>
          </p:nvPr>
        </p:nvSpPr>
        <p:spPr>
          <a:xfrm>
            <a:off x="152400" y="749301"/>
            <a:ext cx="8686800" cy="5105398"/>
          </a:xfrm>
        </p:spPr>
        <p:txBody>
          <a:bodyPr/>
          <a:lstStyle/>
          <a:p>
            <a:pPr marL="0" indent="0">
              <a:lnSpc>
                <a:spcPct val="90000"/>
              </a:lnSpc>
              <a:buFont typeface="Monotype Sorts"/>
              <a:buNone/>
            </a:pPr>
            <a:r>
              <a:rPr lang="en-US" altLang="en-US" sz="2400" dirty="0"/>
              <a:t>A </a:t>
            </a:r>
            <a:r>
              <a:rPr lang="en-US" altLang="en-US" sz="2400" b="1" dirty="0"/>
              <a:t>heap</a:t>
            </a:r>
            <a:r>
              <a:rPr lang="en-US" altLang="en-US" sz="2400" dirty="0"/>
              <a:t> is a useful data structure for designing efficient sorting algorithms and priority queues. </a:t>
            </a:r>
            <a:r>
              <a:rPr lang="en-US" altLang="en-US" sz="2400" dirty="0">
                <a:highlight>
                  <a:srgbClr val="FFFF00"/>
                </a:highlight>
              </a:rPr>
              <a:t>A heap is a binary tree with the following properties</a:t>
            </a:r>
            <a:r>
              <a:rPr lang="en-US" altLang="en-US" sz="2400" dirty="0"/>
              <a:t>:</a:t>
            </a:r>
          </a:p>
          <a:p>
            <a:pPr>
              <a:lnSpc>
                <a:spcPct val="90000"/>
              </a:lnSpc>
              <a:spcBef>
                <a:spcPts val="1200"/>
              </a:spcBef>
              <a:spcAft>
                <a:spcPts val="1200"/>
              </a:spcAft>
              <a:buFont typeface="Wingdings" panose="05000000000000000000" pitchFamily="2" charset="2"/>
              <a:buChar char="§"/>
            </a:pPr>
            <a:r>
              <a:rPr lang="en-US" altLang="en-US" sz="2400" dirty="0">
                <a:highlight>
                  <a:srgbClr val="FFFF00"/>
                </a:highlight>
              </a:rPr>
              <a:t>It is a complete binary tree</a:t>
            </a:r>
            <a:r>
              <a:rPr lang="en-US" altLang="en-US" sz="2400" dirty="0"/>
              <a:t>.</a:t>
            </a:r>
            <a:endParaRPr lang="en-US" altLang="en-US" sz="2400" b="1" dirty="0"/>
          </a:p>
          <a:p>
            <a:pPr>
              <a:lnSpc>
                <a:spcPct val="90000"/>
              </a:lnSpc>
              <a:spcBef>
                <a:spcPts val="0"/>
              </a:spcBef>
              <a:spcAft>
                <a:spcPts val="1200"/>
              </a:spcAft>
              <a:buFont typeface="Wingdings" panose="05000000000000000000" pitchFamily="2" charset="2"/>
              <a:buChar char="§"/>
            </a:pPr>
            <a:r>
              <a:rPr lang="en-US" altLang="en-US" sz="2400" u="sng" dirty="0">
                <a:highlight>
                  <a:srgbClr val="FFFF00"/>
                </a:highlight>
              </a:rPr>
              <a:t>Each node is greater than or equal to any of its children.</a:t>
            </a:r>
          </a:p>
          <a:p>
            <a:pPr marL="0" indent="0">
              <a:lnSpc>
                <a:spcPct val="90000"/>
              </a:lnSpc>
              <a:spcBef>
                <a:spcPts val="0"/>
              </a:spcBef>
              <a:spcAft>
                <a:spcPts val="1200"/>
              </a:spcAft>
              <a:buNone/>
            </a:pPr>
            <a:endParaRPr lang="en-US" altLang="en-US" sz="2400" dirty="0"/>
          </a:p>
          <a:p>
            <a:pPr>
              <a:lnSpc>
                <a:spcPct val="90000"/>
              </a:lnSpc>
              <a:spcBef>
                <a:spcPts val="0"/>
              </a:spcBef>
              <a:spcAft>
                <a:spcPts val="1200"/>
              </a:spcAft>
              <a:buFont typeface="Wingdings" panose="05000000000000000000" pitchFamily="2" charset="2"/>
              <a:buChar char="§"/>
            </a:pPr>
            <a:r>
              <a:rPr lang="en-US" altLang="en-US" sz="2400" dirty="0"/>
              <a:t>A </a:t>
            </a:r>
            <a:r>
              <a:rPr lang="en-US" altLang="en-US" sz="2400" b="1" dirty="0"/>
              <a:t>binary tree</a:t>
            </a:r>
            <a:r>
              <a:rPr lang="en-US" altLang="en-US" sz="2400" dirty="0"/>
              <a:t> is a hierarchical structure.</a:t>
            </a:r>
          </a:p>
          <a:p>
            <a:pPr>
              <a:lnSpc>
                <a:spcPct val="90000"/>
              </a:lnSpc>
              <a:spcBef>
                <a:spcPts val="0"/>
              </a:spcBef>
              <a:spcAft>
                <a:spcPts val="1200"/>
              </a:spcAft>
              <a:buFont typeface="Wingdings" panose="05000000000000000000" pitchFamily="2" charset="2"/>
              <a:buChar char="§"/>
            </a:pPr>
            <a:r>
              <a:rPr lang="en-US" altLang="en-US" sz="2400" dirty="0"/>
              <a:t>If it has elements, it has one root along with left and right subtrees</a:t>
            </a:r>
          </a:p>
          <a:p>
            <a:pPr>
              <a:lnSpc>
                <a:spcPct val="90000"/>
              </a:lnSpc>
              <a:spcBef>
                <a:spcPts val="0"/>
              </a:spcBef>
              <a:spcAft>
                <a:spcPts val="1200"/>
              </a:spcAft>
              <a:buFont typeface="Wingdings" panose="05000000000000000000" pitchFamily="2" charset="2"/>
              <a:buChar char="§"/>
            </a:pPr>
            <a:r>
              <a:rPr lang="en-US" altLang="en-US" sz="2400" dirty="0"/>
              <a:t>Each element on the tree is called a </a:t>
            </a:r>
            <a:r>
              <a:rPr lang="en-US" altLang="en-US" sz="2400" b="1" dirty="0"/>
              <a:t>node</a:t>
            </a:r>
          </a:p>
          <a:p>
            <a:pPr>
              <a:lnSpc>
                <a:spcPct val="90000"/>
              </a:lnSpc>
              <a:spcBef>
                <a:spcPts val="0"/>
              </a:spcBef>
              <a:spcAft>
                <a:spcPts val="1200"/>
              </a:spcAft>
              <a:buFont typeface="Wingdings" panose="05000000000000000000" pitchFamily="2" charset="2"/>
              <a:buChar char="§"/>
            </a:pPr>
            <a:r>
              <a:rPr lang="en-US" altLang="en-US" sz="2400" dirty="0"/>
              <a:t>The</a:t>
            </a:r>
            <a:r>
              <a:rPr lang="en-US" altLang="en-US" sz="2400" b="1" dirty="0"/>
              <a:t> length</a:t>
            </a:r>
            <a:r>
              <a:rPr lang="en-US" altLang="en-US" sz="2400" dirty="0"/>
              <a:t> of a path is the number of edges on the path, and the </a:t>
            </a:r>
            <a:r>
              <a:rPr lang="en-US" altLang="en-US" sz="2400" b="1" dirty="0"/>
              <a:t>depth</a:t>
            </a:r>
            <a:r>
              <a:rPr lang="en-US" altLang="en-US" sz="2400" dirty="0"/>
              <a:t> of a tree is the length of the path from the root to the bottom.</a:t>
            </a:r>
          </a:p>
          <a:p>
            <a:pPr>
              <a:lnSpc>
                <a:spcPct val="90000"/>
              </a:lnSpc>
              <a:spcBef>
                <a:spcPts val="0"/>
              </a:spcBef>
              <a:spcAft>
                <a:spcPts val="1200"/>
              </a:spcAft>
              <a:buFont typeface="Wingdings" panose="05000000000000000000" pitchFamily="2" charset="2"/>
              <a:buChar char="§"/>
            </a:pPr>
            <a:r>
              <a:rPr lang="en-US" altLang="en-US" sz="2400" dirty="0"/>
              <a:t>A node with no children is called a </a:t>
            </a:r>
            <a:r>
              <a:rPr lang="en-US" altLang="en-US" sz="2400" b="1" dirty="0"/>
              <a:t>leaf.</a:t>
            </a:r>
            <a:endParaRPr lang="en-US" altLang="en-US" u="sng" dirty="0"/>
          </a:p>
        </p:txBody>
      </p:sp>
      <p:sp>
        <p:nvSpPr>
          <p:cNvPr id="28674" name="Slide Number Placeholder 4">
            <a:extLst>
              <a:ext uri="{FF2B5EF4-FFF2-40B4-BE49-F238E27FC236}">
                <a16:creationId xmlns:a16="http://schemas.microsoft.com/office/drawing/2014/main" id="{C1E3CF6F-2615-441F-83A8-55869DD5365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72E5F9F-6DE0-4175-8049-AE941D989ED1}" type="slidenum">
              <a:rPr lang="en-US" altLang="en-US" sz="1400"/>
              <a:pPr>
                <a:spcBef>
                  <a:spcPct val="0"/>
                </a:spcBef>
                <a:buClrTx/>
                <a:buSzTx/>
                <a:buFontTx/>
                <a:buNone/>
              </a:pPr>
              <a:t>25</a:t>
            </a:fld>
            <a:endParaRPr lang="en-US" altLang="en-US" sz="1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06C84393-D199-4B91-AA0F-00C915B92066}"/>
              </a:ext>
            </a:extLst>
          </p:cNvPr>
          <p:cNvSpPr>
            <a:spLocks noGrp="1" noChangeArrowheads="1"/>
          </p:cNvSpPr>
          <p:nvPr>
            <p:ph type="title"/>
          </p:nvPr>
        </p:nvSpPr>
        <p:spPr>
          <a:xfrm>
            <a:off x="0" y="152400"/>
            <a:ext cx="8839200" cy="533400"/>
          </a:xfrm>
        </p:spPr>
        <p:txBody>
          <a:bodyPr/>
          <a:lstStyle/>
          <a:p>
            <a:r>
              <a:rPr lang="en-US" altLang="en-US" sz="3600" dirty="0"/>
              <a:t>Complete Binary Tree</a:t>
            </a:r>
          </a:p>
        </p:txBody>
      </p:sp>
      <p:sp>
        <p:nvSpPr>
          <p:cNvPr id="29710" name="Rectangle 13">
            <a:extLst>
              <a:ext uri="{FF2B5EF4-FFF2-40B4-BE49-F238E27FC236}">
                <a16:creationId xmlns:a16="http://schemas.microsoft.com/office/drawing/2014/main" id="{2B4B7E64-40F0-4226-AB54-695D1BE10C8B}"/>
              </a:ext>
            </a:extLst>
          </p:cNvPr>
          <p:cNvSpPr>
            <a:spLocks noGrp="1" noChangeArrowheads="1"/>
          </p:cNvSpPr>
          <p:nvPr>
            <p:ph idx="1"/>
          </p:nvPr>
        </p:nvSpPr>
        <p:spPr>
          <a:xfrm>
            <a:off x="152400" y="990600"/>
            <a:ext cx="8740775" cy="3230563"/>
          </a:xfrm>
        </p:spPr>
        <p:txBody>
          <a:bodyPr/>
          <a:lstStyle/>
          <a:p>
            <a:pPr>
              <a:lnSpc>
                <a:spcPct val="90000"/>
              </a:lnSpc>
              <a:spcBef>
                <a:spcPct val="0"/>
              </a:spcBef>
              <a:spcAft>
                <a:spcPts val="600"/>
              </a:spcAft>
              <a:buFont typeface="Wingdings" panose="05000000000000000000" pitchFamily="2" charset="2"/>
              <a:buChar char="§"/>
            </a:pPr>
            <a:r>
              <a:rPr lang="en-US" altLang="en-US" sz="2600" dirty="0"/>
              <a:t>A binary tree is </a:t>
            </a:r>
            <a:r>
              <a:rPr lang="en-US" altLang="en-US" sz="2600" b="1" dirty="0"/>
              <a:t>complete</a:t>
            </a:r>
            <a:r>
              <a:rPr lang="en-US" altLang="en-US" sz="2600" dirty="0"/>
              <a:t> if every level of the tree is full except that the last level may not be full and </a:t>
            </a:r>
            <a:r>
              <a:rPr lang="en-US" altLang="en-US" sz="2600" dirty="0">
                <a:highlight>
                  <a:srgbClr val="FFFF00"/>
                </a:highlight>
              </a:rPr>
              <a:t>all the leaves on the last level are placed left-most</a:t>
            </a:r>
            <a:r>
              <a:rPr lang="en-US" altLang="en-US" sz="2600" dirty="0"/>
              <a:t>. </a:t>
            </a:r>
          </a:p>
          <a:p>
            <a:pPr>
              <a:lnSpc>
                <a:spcPct val="90000"/>
              </a:lnSpc>
              <a:spcBef>
                <a:spcPct val="0"/>
              </a:spcBef>
              <a:spcAft>
                <a:spcPts val="600"/>
              </a:spcAft>
              <a:buFont typeface="Wingdings" panose="05000000000000000000" pitchFamily="2" charset="2"/>
              <a:buChar char="§"/>
            </a:pPr>
            <a:r>
              <a:rPr lang="en-US" altLang="en-US" sz="2600" dirty="0"/>
              <a:t>For example, in the following figure, the binary trees in (a) and (b) are complete, but the binary trees in (c) and (d) are not complete. </a:t>
            </a:r>
          </a:p>
          <a:p>
            <a:pPr>
              <a:lnSpc>
                <a:spcPct val="90000"/>
              </a:lnSpc>
              <a:spcBef>
                <a:spcPct val="0"/>
              </a:spcBef>
              <a:spcAft>
                <a:spcPts val="600"/>
              </a:spcAft>
              <a:buFont typeface="Wingdings" panose="05000000000000000000" pitchFamily="2" charset="2"/>
              <a:buChar char="§"/>
            </a:pPr>
            <a:r>
              <a:rPr lang="en-US" altLang="en-US" sz="2600" dirty="0"/>
              <a:t>Further, the binary tree in (a) is a heap, but the binary tree in (b) is not a heap, because the root (39) is less than its right child (42).</a:t>
            </a:r>
          </a:p>
        </p:txBody>
      </p:sp>
      <p:sp>
        <p:nvSpPr>
          <p:cNvPr id="29698" name="Slide Number Placeholder 4">
            <a:extLst>
              <a:ext uri="{FF2B5EF4-FFF2-40B4-BE49-F238E27FC236}">
                <a16:creationId xmlns:a16="http://schemas.microsoft.com/office/drawing/2014/main" id="{B55C711D-D711-40DF-B190-D1B12082E04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1A98C51-0F05-45E3-8392-FCFB17894435}" type="slidenum">
              <a:rPr lang="en-US" altLang="en-US" sz="1400"/>
              <a:pPr>
                <a:spcBef>
                  <a:spcPct val="0"/>
                </a:spcBef>
                <a:buClrTx/>
                <a:buSzTx/>
                <a:buFontTx/>
                <a:buNone/>
              </a:pPr>
              <a:t>26</a:t>
            </a:fld>
            <a:endParaRPr lang="en-US" altLang="en-US" sz="1400"/>
          </a:p>
        </p:txBody>
      </p:sp>
      <p:graphicFrame>
        <p:nvGraphicFramePr>
          <p:cNvPr id="29712" name="Object 15">
            <a:extLst>
              <a:ext uri="{FF2B5EF4-FFF2-40B4-BE49-F238E27FC236}">
                <a16:creationId xmlns:a16="http://schemas.microsoft.com/office/drawing/2014/main" id="{82D77E00-DAD5-4CE5-BED3-90FABC2E146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82441698"/>
              </p:ext>
            </p:extLst>
          </p:nvPr>
        </p:nvGraphicFramePr>
        <p:xfrm>
          <a:off x="431800" y="4437063"/>
          <a:ext cx="8305800" cy="1706562"/>
        </p:xfrm>
        <a:graphic>
          <a:graphicData uri="http://schemas.openxmlformats.org/presentationml/2006/ole">
            <mc:AlternateContent xmlns:mc="http://schemas.openxmlformats.org/markup-compatibility/2006">
              <mc:Choice xmlns:v="urn:schemas-microsoft-com:vml" Requires="v">
                <p:oleObj name="Picture" r:id="rId2" imgW="5564904" imgH="1140931" progId="Word.Picture.8">
                  <p:embed/>
                </p:oleObj>
              </mc:Choice>
              <mc:Fallback>
                <p:oleObj name="Picture" r:id="rId2" imgW="5564904" imgH="1140931"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4437063"/>
                        <a:ext cx="8305800" cy="170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a:extLst>
              <a:ext uri="{FF2B5EF4-FFF2-40B4-BE49-F238E27FC236}">
                <a16:creationId xmlns:a16="http://schemas.microsoft.com/office/drawing/2014/main" id="{E1EE121B-62F6-4F5E-B512-E2484CA06EAA}"/>
              </a:ext>
            </a:extLst>
          </p:cNvPr>
          <p:cNvSpPr>
            <a:spLocks noGrp="1" noChangeArrowheads="1"/>
          </p:cNvSpPr>
          <p:nvPr>
            <p:ph type="title"/>
          </p:nvPr>
        </p:nvSpPr>
        <p:spPr>
          <a:xfrm>
            <a:off x="0" y="152400"/>
            <a:ext cx="8839200" cy="533400"/>
          </a:xfrm>
        </p:spPr>
        <p:txBody>
          <a:bodyPr/>
          <a:lstStyle/>
          <a:p>
            <a:r>
              <a:rPr lang="en-US" altLang="en-US" sz="3600"/>
              <a:t>See How a Heap Works</a:t>
            </a:r>
          </a:p>
        </p:txBody>
      </p:sp>
      <p:sp>
        <p:nvSpPr>
          <p:cNvPr id="30722" name="Slide Number Placeholder 4">
            <a:extLst>
              <a:ext uri="{FF2B5EF4-FFF2-40B4-BE49-F238E27FC236}">
                <a16:creationId xmlns:a16="http://schemas.microsoft.com/office/drawing/2014/main" id="{43439A5B-6430-416A-9583-7AF44D774B9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012FCDA-4C57-46DA-AC75-BC1F93393E7E}" type="slidenum">
              <a:rPr lang="en-US" altLang="en-US" sz="1400"/>
              <a:pPr>
                <a:spcBef>
                  <a:spcPct val="0"/>
                </a:spcBef>
                <a:buClrTx/>
                <a:buSzTx/>
                <a:buFontTx/>
                <a:buNone/>
              </a:pPr>
              <a:t>27</a:t>
            </a:fld>
            <a:endParaRPr lang="en-US" altLang="en-US" sz="1400"/>
          </a:p>
        </p:txBody>
      </p:sp>
      <p:pic>
        <p:nvPicPr>
          <p:cNvPr id="30735" name="Picture 16">
            <a:extLst>
              <a:ext uri="{FF2B5EF4-FFF2-40B4-BE49-F238E27FC236}">
                <a16:creationId xmlns:a16="http://schemas.microsoft.com/office/drawing/2014/main" id="{90FF36D9-3A70-406F-90D8-195D89D6B49C}"/>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300" y="1752600"/>
            <a:ext cx="6597650"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30736" name="Rectangle 2">
            <a:extLst>
              <a:ext uri="{FF2B5EF4-FFF2-40B4-BE49-F238E27FC236}">
                <a16:creationId xmlns:a16="http://schemas.microsoft.com/office/drawing/2014/main" id="{986722C7-B994-402D-B0F7-120DBA770A06}"/>
              </a:ext>
            </a:extLst>
          </p:cNvPr>
          <p:cNvSpPr txBox="1">
            <a:spLocks noChangeArrowheads="1"/>
          </p:cNvSpPr>
          <p:nvPr/>
        </p:nvSpPr>
        <p:spPr bwMode="auto">
          <a:xfrm>
            <a:off x="76200" y="771525"/>
            <a:ext cx="8839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rPr>
              <a:t>https://liveexample.pearsoncmg.com/dsanimation/HeapeBook.html</a:t>
            </a:r>
          </a:p>
        </p:txBody>
      </p:sp>
      <p:sp>
        <p:nvSpPr>
          <p:cNvPr id="30737" name="AutoShape 15">
            <a:hlinkClick r:id="rId3" highlightClick="1"/>
            <a:extLst>
              <a:ext uri="{FF2B5EF4-FFF2-40B4-BE49-F238E27FC236}">
                <a16:creationId xmlns:a16="http://schemas.microsoft.com/office/drawing/2014/main" id="{6C0A2A66-4882-459C-A1A2-7F4DFD8B2FC9}"/>
              </a:ext>
              <a:ext uri="{C183D7F6-B498-43B3-948B-1728B52AA6E4}">
                <adec:decorative xmlns:adec="http://schemas.microsoft.com/office/drawing/2017/decorative" val="1"/>
              </a:ext>
            </a:extLst>
          </p:cNvPr>
          <p:cNvSpPr>
            <a:spLocks noChangeArrowheads="1"/>
          </p:cNvSpPr>
          <p:nvPr/>
        </p:nvSpPr>
        <p:spPr bwMode="auto">
          <a:xfrm>
            <a:off x="8305800" y="1284288"/>
            <a:ext cx="468313"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3D10D1E3-9110-4D6B-936B-E821F7274982}"/>
              </a:ext>
            </a:extLst>
          </p:cNvPr>
          <p:cNvSpPr>
            <a:spLocks noGrp="1" noChangeArrowheads="1"/>
          </p:cNvSpPr>
          <p:nvPr>
            <p:ph type="title"/>
          </p:nvPr>
        </p:nvSpPr>
        <p:spPr>
          <a:xfrm>
            <a:off x="0" y="152400"/>
            <a:ext cx="8839200" cy="533400"/>
          </a:xfrm>
        </p:spPr>
        <p:txBody>
          <a:bodyPr/>
          <a:lstStyle/>
          <a:p>
            <a:r>
              <a:rPr lang="en-US" altLang="en-US" sz="3600"/>
              <a:t>Representing a Heap</a:t>
            </a:r>
          </a:p>
        </p:txBody>
      </p:sp>
      <p:sp>
        <p:nvSpPr>
          <p:cNvPr id="31757" name="Rectangle 12">
            <a:extLst>
              <a:ext uri="{FF2B5EF4-FFF2-40B4-BE49-F238E27FC236}">
                <a16:creationId xmlns:a16="http://schemas.microsoft.com/office/drawing/2014/main" id="{BE345FD9-5D00-4DF6-B0E7-20E4C3F2A39F}"/>
              </a:ext>
            </a:extLst>
          </p:cNvPr>
          <p:cNvSpPr>
            <a:spLocks noGrp="1" noChangeArrowheads="1"/>
          </p:cNvSpPr>
          <p:nvPr>
            <p:ph idx="1"/>
          </p:nvPr>
        </p:nvSpPr>
        <p:spPr>
          <a:xfrm>
            <a:off x="152400" y="908050"/>
            <a:ext cx="8812213" cy="2628900"/>
          </a:xfrm>
        </p:spPr>
        <p:txBody>
          <a:bodyPr/>
          <a:lstStyle/>
          <a:p>
            <a:pPr marL="0" indent="0">
              <a:lnSpc>
                <a:spcPct val="90000"/>
              </a:lnSpc>
              <a:spcBef>
                <a:spcPct val="0"/>
              </a:spcBef>
              <a:buFont typeface="Monotype Sorts"/>
              <a:buNone/>
            </a:pPr>
            <a:r>
              <a:rPr lang="en-US" altLang="en-US" sz="2800"/>
              <a:t>For a node at position </a:t>
            </a:r>
            <a:r>
              <a:rPr lang="en-US" altLang="en-US" sz="2800" i="1"/>
              <a:t>i</a:t>
            </a:r>
            <a:r>
              <a:rPr lang="en-US" altLang="en-US" sz="2800"/>
              <a:t>, its left child is at position </a:t>
            </a:r>
            <a:r>
              <a:rPr lang="en-US" altLang="en-US" sz="2800" i="1"/>
              <a:t>2i+1</a:t>
            </a:r>
            <a:r>
              <a:rPr lang="en-US" altLang="en-US" sz="2800"/>
              <a:t> and its right child is at position </a:t>
            </a:r>
            <a:r>
              <a:rPr lang="en-US" altLang="en-US" sz="2800" i="1"/>
              <a:t>2i+2</a:t>
            </a:r>
            <a:r>
              <a:rPr lang="en-US" altLang="en-US" sz="2800"/>
              <a:t>, and its parent is at index (</a:t>
            </a:r>
            <a:r>
              <a:rPr lang="en-US" altLang="en-US" sz="2800" i="1"/>
              <a:t>i-1)/2</a:t>
            </a:r>
            <a:r>
              <a:rPr lang="en-US" altLang="en-US" sz="2800"/>
              <a:t>. For example, the node for element 39 is at position 4, so its left child (element 14) is at 9 (</a:t>
            </a:r>
            <a:r>
              <a:rPr lang="en-US" altLang="en-US" sz="2800" i="1"/>
              <a:t>2*4+1</a:t>
            </a:r>
            <a:r>
              <a:rPr lang="en-US" altLang="en-US" sz="2800"/>
              <a:t>), its right child (element 33) is at 10 (</a:t>
            </a:r>
            <a:r>
              <a:rPr lang="en-US" altLang="en-US" sz="2800" i="1"/>
              <a:t>2*4+2</a:t>
            </a:r>
            <a:r>
              <a:rPr lang="en-US" altLang="en-US" sz="2800"/>
              <a:t>), and its parent (element 42) is at 1 (</a:t>
            </a:r>
            <a:r>
              <a:rPr lang="en-US" altLang="en-US" sz="2800" i="1"/>
              <a:t>(4-1)/2</a:t>
            </a:r>
            <a:r>
              <a:rPr lang="en-US" altLang="en-US" sz="2800"/>
              <a:t>).</a:t>
            </a:r>
          </a:p>
        </p:txBody>
      </p:sp>
      <p:sp>
        <p:nvSpPr>
          <p:cNvPr id="31746" name="Slide Number Placeholder 4">
            <a:extLst>
              <a:ext uri="{FF2B5EF4-FFF2-40B4-BE49-F238E27FC236}">
                <a16:creationId xmlns:a16="http://schemas.microsoft.com/office/drawing/2014/main" id="{391E87A7-98EE-4FAF-8FA6-E9D0C8C7D37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E9F2BDA-076C-45AD-8974-798CF9B470B3}" type="slidenum">
              <a:rPr lang="en-US" altLang="en-US" sz="1400"/>
              <a:pPr>
                <a:spcBef>
                  <a:spcPct val="0"/>
                </a:spcBef>
                <a:buClrTx/>
                <a:buSzTx/>
                <a:buFontTx/>
                <a:buNone/>
              </a:pPr>
              <a:t>28</a:t>
            </a:fld>
            <a:endParaRPr lang="en-US" altLang="en-US" sz="1400"/>
          </a:p>
        </p:txBody>
      </p:sp>
      <p:graphicFrame>
        <p:nvGraphicFramePr>
          <p:cNvPr id="31762" name="Object 17">
            <a:extLst>
              <a:ext uri="{FF2B5EF4-FFF2-40B4-BE49-F238E27FC236}">
                <a16:creationId xmlns:a16="http://schemas.microsoft.com/office/drawing/2014/main" id="{03A62264-607B-4523-8BB1-645F4046F21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45441239"/>
              </p:ext>
            </p:extLst>
          </p:nvPr>
        </p:nvGraphicFramePr>
        <p:xfrm>
          <a:off x="287338" y="3429000"/>
          <a:ext cx="8569325" cy="2546350"/>
        </p:xfrm>
        <a:graphic>
          <a:graphicData uri="http://schemas.openxmlformats.org/presentationml/2006/ole">
            <mc:AlternateContent xmlns:mc="http://schemas.openxmlformats.org/markup-compatibility/2006">
              <mc:Choice xmlns:v="urn:schemas-microsoft-com:vml" Requires="v">
                <p:oleObj name="Picture" r:id="rId2" imgW="5559785" imgH="1652966" progId="Word.Picture.8">
                  <p:embed/>
                </p:oleObj>
              </mc:Choice>
              <mc:Fallback>
                <p:oleObj name="Picture" r:id="rId2" imgW="5559785" imgH="1652966" progId="Word.Picture.8">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38" y="3429000"/>
                        <a:ext cx="856932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A8742986-51EA-4800-907E-5C8AB2C409E8}"/>
              </a:ext>
            </a:extLst>
          </p:cNvPr>
          <p:cNvSpPr>
            <a:spLocks noGrp="1" noChangeArrowheads="1"/>
          </p:cNvSpPr>
          <p:nvPr>
            <p:ph type="title"/>
          </p:nvPr>
        </p:nvSpPr>
        <p:spPr>
          <a:xfrm>
            <a:off x="0" y="152400"/>
            <a:ext cx="8839200" cy="533400"/>
          </a:xfrm>
        </p:spPr>
        <p:txBody>
          <a:bodyPr/>
          <a:lstStyle/>
          <a:p>
            <a:r>
              <a:rPr lang="en-US" altLang="en-US" sz="3600"/>
              <a:t>Adding Elements to the Heap</a:t>
            </a:r>
          </a:p>
        </p:txBody>
      </p:sp>
      <p:sp>
        <p:nvSpPr>
          <p:cNvPr id="32770" name="Slide Number Placeholder 4">
            <a:extLst>
              <a:ext uri="{FF2B5EF4-FFF2-40B4-BE49-F238E27FC236}">
                <a16:creationId xmlns:a16="http://schemas.microsoft.com/office/drawing/2014/main" id="{505CCCA0-48AE-4332-B01F-9B653B4BF66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407D01A-E84A-4E5D-A20F-EA1540AFC23F}" type="slidenum">
              <a:rPr lang="en-US" altLang="en-US" sz="1400"/>
              <a:pPr>
                <a:spcBef>
                  <a:spcPct val="0"/>
                </a:spcBef>
                <a:buClrTx/>
                <a:buSzTx/>
                <a:buFontTx/>
                <a:buNone/>
              </a:pPr>
              <a:t>29</a:t>
            </a:fld>
            <a:endParaRPr lang="en-US" altLang="en-US" sz="1400"/>
          </a:p>
        </p:txBody>
      </p:sp>
      <p:sp>
        <p:nvSpPr>
          <p:cNvPr id="32784" name="Text Box 15">
            <a:extLst>
              <a:ext uri="{FF2B5EF4-FFF2-40B4-BE49-F238E27FC236}">
                <a16:creationId xmlns:a16="http://schemas.microsoft.com/office/drawing/2014/main" id="{9DD150E8-2BD4-463E-9E9E-C23146E2CC81}"/>
              </a:ext>
            </a:extLst>
          </p:cNvPr>
          <p:cNvSpPr txBox="1">
            <a:spLocks noChangeArrowheads="1"/>
          </p:cNvSpPr>
          <p:nvPr/>
        </p:nvSpPr>
        <p:spPr bwMode="auto">
          <a:xfrm>
            <a:off x="1943100" y="1341438"/>
            <a:ext cx="7200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Adding 3, 5, 1, 19, 11, and 22 to a heap, initially empty</a:t>
            </a:r>
          </a:p>
        </p:txBody>
      </p:sp>
      <p:graphicFrame>
        <p:nvGraphicFramePr>
          <p:cNvPr id="32787" name="Object 18">
            <a:extLst>
              <a:ext uri="{FF2B5EF4-FFF2-40B4-BE49-F238E27FC236}">
                <a16:creationId xmlns:a16="http://schemas.microsoft.com/office/drawing/2014/main" id="{DF7CC89B-77BA-4CF1-8D15-484345E4CFD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30214192"/>
              </p:ext>
            </p:extLst>
          </p:nvPr>
        </p:nvGraphicFramePr>
        <p:xfrm>
          <a:off x="179388" y="1916113"/>
          <a:ext cx="8713787" cy="4437062"/>
        </p:xfrm>
        <a:graphic>
          <a:graphicData uri="http://schemas.openxmlformats.org/presentationml/2006/ole">
            <mc:AlternateContent xmlns:mc="http://schemas.openxmlformats.org/markup-compatibility/2006">
              <mc:Choice xmlns:v="urn:schemas-microsoft-com:vml" Requires="v">
                <p:oleObj name="Picture" r:id="rId2" imgW="5039106" imgH="2568677" progId="Word.Picture.8">
                  <p:embed/>
                </p:oleObj>
              </mc:Choice>
              <mc:Fallback>
                <p:oleObj name="Picture" r:id="rId2" imgW="5039106" imgH="2568677"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916113"/>
                        <a:ext cx="8713787" cy="443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A7CCFC32-12A4-4040-8E43-CB7022C95AD4}"/>
              </a:ext>
            </a:extLst>
          </p:cNvPr>
          <p:cNvSpPr>
            <a:spLocks noGrp="1" noChangeArrowheads="1"/>
          </p:cNvSpPr>
          <p:nvPr>
            <p:ph type="title"/>
          </p:nvPr>
        </p:nvSpPr>
        <p:spPr>
          <a:xfrm>
            <a:off x="0" y="152400"/>
            <a:ext cx="8839200" cy="533400"/>
          </a:xfrm>
        </p:spPr>
        <p:txBody>
          <a:bodyPr/>
          <a:lstStyle/>
          <a:p>
            <a:r>
              <a:rPr lang="en-US" altLang="en-US" sz="4000"/>
              <a:t>Rebuild the heap after adding a new node</a:t>
            </a:r>
          </a:p>
        </p:txBody>
      </p:sp>
      <p:sp>
        <p:nvSpPr>
          <p:cNvPr id="33794" name="Slide Number Placeholder 4">
            <a:extLst>
              <a:ext uri="{FF2B5EF4-FFF2-40B4-BE49-F238E27FC236}">
                <a16:creationId xmlns:a16="http://schemas.microsoft.com/office/drawing/2014/main" id="{B9DD1D0F-CF02-4949-9995-1DD48FB00D3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54EBED5-60AA-4A80-8901-1E6E9386636F}" type="slidenum">
              <a:rPr lang="en-US" altLang="en-US" sz="1400"/>
              <a:pPr>
                <a:spcBef>
                  <a:spcPct val="0"/>
                </a:spcBef>
                <a:buClrTx/>
                <a:buSzTx/>
                <a:buFontTx/>
                <a:buNone/>
              </a:pPr>
              <a:t>30</a:t>
            </a:fld>
            <a:endParaRPr lang="en-US" altLang="en-US" sz="1400"/>
          </a:p>
        </p:txBody>
      </p:sp>
      <p:sp>
        <p:nvSpPr>
          <p:cNvPr id="33808" name="Text Box 15">
            <a:extLst>
              <a:ext uri="{FF2B5EF4-FFF2-40B4-BE49-F238E27FC236}">
                <a16:creationId xmlns:a16="http://schemas.microsoft.com/office/drawing/2014/main" id="{C863D188-BC93-453F-B2AC-A7AD0003A744}"/>
              </a:ext>
            </a:extLst>
          </p:cNvPr>
          <p:cNvSpPr txBox="1">
            <a:spLocks noChangeArrowheads="1"/>
          </p:cNvSpPr>
          <p:nvPr/>
        </p:nvSpPr>
        <p:spPr bwMode="auto">
          <a:xfrm>
            <a:off x="5508625" y="1808163"/>
            <a:ext cx="3167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Adding 88 to the heap</a:t>
            </a:r>
          </a:p>
        </p:txBody>
      </p:sp>
      <p:graphicFrame>
        <p:nvGraphicFramePr>
          <p:cNvPr id="33812" name="Object 19">
            <a:extLst>
              <a:ext uri="{FF2B5EF4-FFF2-40B4-BE49-F238E27FC236}">
                <a16:creationId xmlns:a16="http://schemas.microsoft.com/office/drawing/2014/main" id="{5A1B6EE4-C510-4119-A3D6-6472F176146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839481341"/>
              </p:ext>
            </p:extLst>
          </p:nvPr>
        </p:nvGraphicFramePr>
        <p:xfrm>
          <a:off x="142875" y="2312988"/>
          <a:ext cx="8858250" cy="2427287"/>
        </p:xfrm>
        <a:graphic>
          <a:graphicData uri="http://schemas.openxmlformats.org/presentationml/2006/ole">
            <mc:AlternateContent xmlns:mc="http://schemas.openxmlformats.org/markup-compatibility/2006">
              <mc:Choice xmlns:v="urn:schemas-microsoft-com:vml" Requires="v">
                <p:oleObj name="Picture" r:id="rId2" imgW="4988370" imgH="1373206" progId="Word.Picture.8">
                  <p:embed/>
                </p:oleObj>
              </mc:Choice>
              <mc:Fallback>
                <p:oleObj name="Picture" r:id="rId2" imgW="4988370" imgH="1373206" progId="Word.Picture.8">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2312988"/>
                        <a:ext cx="8858250" cy="242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EFD1F6DF-6E72-4E90-8E9D-881E859237F5}"/>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4818" name="Slide Number Placeholder 4">
            <a:extLst>
              <a:ext uri="{FF2B5EF4-FFF2-40B4-BE49-F238E27FC236}">
                <a16:creationId xmlns:a16="http://schemas.microsoft.com/office/drawing/2014/main" id="{F04A5DF7-877C-4CBB-8AD8-C0CADEDBFF2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C541AF2-BF0F-4E67-8E8A-2D91803B48A4}" type="slidenum">
              <a:rPr lang="en-US" altLang="en-US" sz="1400"/>
              <a:pPr>
                <a:spcBef>
                  <a:spcPct val="0"/>
                </a:spcBef>
                <a:buClrTx/>
                <a:buSzTx/>
                <a:buFontTx/>
                <a:buNone/>
              </a:pPr>
              <a:t>31</a:t>
            </a:fld>
            <a:endParaRPr lang="en-US" altLang="en-US" sz="1400"/>
          </a:p>
        </p:txBody>
      </p:sp>
      <p:graphicFrame>
        <p:nvGraphicFramePr>
          <p:cNvPr id="34832" name="Object 15">
            <a:extLst>
              <a:ext uri="{FF2B5EF4-FFF2-40B4-BE49-F238E27FC236}">
                <a16:creationId xmlns:a16="http://schemas.microsoft.com/office/drawing/2014/main" id="{CBAC0159-634C-44F8-9539-9FF32D44A14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65258174"/>
              </p:ext>
            </p:extLst>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33" name="Text Box 16">
            <a:extLst>
              <a:ext uri="{FF2B5EF4-FFF2-40B4-BE49-F238E27FC236}">
                <a16:creationId xmlns:a16="http://schemas.microsoft.com/office/drawing/2014/main" id="{40127887-72F3-407D-B7C3-FA4E5E55B32A}"/>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Removing root 62 from the heap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8394E302-E639-465E-887F-BC18BC09D48B}"/>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5842" name="Slide Number Placeholder 4">
            <a:extLst>
              <a:ext uri="{FF2B5EF4-FFF2-40B4-BE49-F238E27FC236}">
                <a16:creationId xmlns:a16="http://schemas.microsoft.com/office/drawing/2014/main" id="{C01CC55F-87AB-4C55-BE2C-98F1641786F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EC9C50E-65A5-45AA-90E3-5AF860DE3BFB}" type="slidenum">
              <a:rPr lang="en-US" altLang="en-US" sz="1400"/>
              <a:pPr>
                <a:spcBef>
                  <a:spcPct val="0"/>
                </a:spcBef>
                <a:buClrTx/>
                <a:buSzTx/>
                <a:buFontTx/>
                <a:buNone/>
              </a:pPr>
              <a:t>32</a:t>
            </a:fld>
            <a:endParaRPr lang="en-US" altLang="en-US" sz="1400"/>
          </a:p>
        </p:txBody>
      </p:sp>
      <p:graphicFrame>
        <p:nvGraphicFramePr>
          <p:cNvPr id="35856" name="Object 15">
            <a:extLst>
              <a:ext uri="{FF2B5EF4-FFF2-40B4-BE49-F238E27FC236}">
                <a16:creationId xmlns:a16="http://schemas.microsoft.com/office/drawing/2014/main" id="{4A27AACD-3FF4-42C0-AFE8-A6D40C25987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27132579"/>
              </p:ext>
            </p:extLst>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7" name="Text Box 16">
            <a:extLst>
              <a:ext uri="{FF2B5EF4-FFF2-40B4-BE49-F238E27FC236}">
                <a16:creationId xmlns:a16="http://schemas.microsoft.com/office/drawing/2014/main" id="{40570520-A9BB-4DA0-A7E5-3A074902D502}"/>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Move 9 to root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63A1BF89-881B-4B79-9FAC-F06D14D6E79A}"/>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6866" name="Slide Number Placeholder 4">
            <a:extLst>
              <a:ext uri="{FF2B5EF4-FFF2-40B4-BE49-F238E27FC236}">
                <a16:creationId xmlns:a16="http://schemas.microsoft.com/office/drawing/2014/main" id="{66222421-7859-473E-B46E-2396975C644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02E1403-A49D-4A32-A8EB-A671D867E334}" type="slidenum">
              <a:rPr lang="en-US" altLang="en-US" sz="1400"/>
              <a:pPr>
                <a:spcBef>
                  <a:spcPct val="0"/>
                </a:spcBef>
                <a:buClrTx/>
                <a:buSzTx/>
                <a:buFontTx/>
                <a:buNone/>
              </a:pPr>
              <a:t>33</a:t>
            </a:fld>
            <a:endParaRPr lang="en-US" altLang="en-US" sz="1400"/>
          </a:p>
        </p:txBody>
      </p:sp>
      <p:graphicFrame>
        <p:nvGraphicFramePr>
          <p:cNvPr id="36880" name="Object 15">
            <a:extLst>
              <a:ext uri="{FF2B5EF4-FFF2-40B4-BE49-F238E27FC236}">
                <a16:creationId xmlns:a16="http://schemas.microsoft.com/office/drawing/2014/main" id="{EF09CBB1-E131-478E-B195-F560EA74D3F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20723644"/>
              </p:ext>
            </p:extLst>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81" name="Text Box 16">
            <a:extLst>
              <a:ext uri="{FF2B5EF4-FFF2-40B4-BE49-F238E27FC236}">
                <a16:creationId xmlns:a16="http://schemas.microsoft.com/office/drawing/2014/main" id="{01FE667A-FF59-498C-A2F7-A27B99CEEB5D}"/>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59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93553176-EDFB-44B0-BB4A-7F69FCD1AB77}"/>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7890" name="Slide Number Placeholder 4">
            <a:extLst>
              <a:ext uri="{FF2B5EF4-FFF2-40B4-BE49-F238E27FC236}">
                <a16:creationId xmlns:a16="http://schemas.microsoft.com/office/drawing/2014/main" id="{75134219-A922-487A-9DF7-0E82BFAFC12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F46A4A0-611D-4E06-88A7-8B8331A5E44D}" type="slidenum">
              <a:rPr lang="en-US" altLang="en-US" sz="1400"/>
              <a:pPr>
                <a:spcBef>
                  <a:spcPct val="0"/>
                </a:spcBef>
                <a:buClrTx/>
                <a:buSzTx/>
                <a:buFontTx/>
                <a:buNone/>
              </a:pPr>
              <a:t>34</a:t>
            </a:fld>
            <a:endParaRPr lang="en-US" altLang="en-US" sz="1400"/>
          </a:p>
        </p:txBody>
      </p:sp>
      <p:graphicFrame>
        <p:nvGraphicFramePr>
          <p:cNvPr id="37904" name="Object 15">
            <a:extLst>
              <a:ext uri="{FF2B5EF4-FFF2-40B4-BE49-F238E27FC236}">
                <a16:creationId xmlns:a16="http://schemas.microsoft.com/office/drawing/2014/main" id="{276956E0-8C76-4AAA-8834-63178A0171D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32662601"/>
              </p:ext>
            </p:extLst>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5" name="Text Box 16">
            <a:extLst>
              <a:ext uri="{FF2B5EF4-FFF2-40B4-BE49-F238E27FC236}">
                <a16:creationId xmlns:a16="http://schemas.microsoft.com/office/drawing/2014/main" id="{7F577C87-D4F4-40EE-AE16-F46FD18BD4A3}"/>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44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B60135B4-9769-4F6F-8B5D-8AEEF3204B51}"/>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8914" name="Slide Number Placeholder 4">
            <a:extLst>
              <a:ext uri="{FF2B5EF4-FFF2-40B4-BE49-F238E27FC236}">
                <a16:creationId xmlns:a16="http://schemas.microsoft.com/office/drawing/2014/main" id="{0C1C6F45-D42B-4D5D-8414-1881C9BC019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E119854-1C7F-40F4-B3B1-22CDAD71E5CB}" type="slidenum">
              <a:rPr lang="en-US" altLang="en-US" sz="1400"/>
              <a:pPr>
                <a:spcBef>
                  <a:spcPct val="0"/>
                </a:spcBef>
                <a:buClrTx/>
                <a:buSzTx/>
                <a:buFontTx/>
                <a:buNone/>
              </a:pPr>
              <a:t>35</a:t>
            </a:fld>
            <a:endParaRPr lang="en-US" altLang="en-US" sz="1400"/>
          </a:p>
        </p:txBody>
      </p:sp>
      <p:graphicFrame>
        <p:nvGraphicFramePr>
          <p:cNvPr id="38928" name="Object 15">
            <a:extLst>
              <a:ext uri="{FF2B5EF4-FFF2-40B4-BE49-F238E27FC236}">
                <a16:creationId xmlns:a16="http://schemas.microsoft.com/office/drawing/2014/main" id="{8A2FD23B-5274-42C3-AE57-0FCF808AA9D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63596413"/>
              </p:ext>
            </p:extLst>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9" name="Text Box 16">
            <a:extLst>
              <a:ext uri="{FF2B5EF4-FFF2-40B4-BE49-F238E27FC236}">
                <a16:creationId xmlns:a16="http://schemas.microsoft.com/office/drawing/2014/main" id="{80398F8B-C915-4E30-B133-BB5DCC1B8D9C}"/>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30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FA3B310D-F067-49F6-AC00-1911D78E3F82}"/>
              </a:ext>
            </a:extLst>
          </p:cNvPr>
          <p:cNvSpPr>
            <a:spLocks noGrp="1" noChangeArrowheads="1"/>
          </p:cNvSpPr>
          <p:nvPr>
            <p:ph type="title"/>
          </p:nvPr>
        </p:nvSpPr>
        <p:spPr>
          <a:xfrm>
            <a:off x="0" y="304800"/>
            <a:ext cx="8839200" cy="533400"/>
          </a:xfrm>
        </p:spPr>
        <p:txBody>
          <a:bodyPr/>
          <a:lstStyle/>
          <a:p>
            <a:r>
              <a:rPr lang="en-US" altLang="en-US" sz="3600"/>
              <a:t>The Heap Class</a:t>
            </a:r>
          </a:p>
        </p:txBody>
      </p:sp>
      <p:sp>
        <p:nvSpPr>
          <p:cNvPr id="39938" name="Slide Number Placeholder 4">
            <a:extLst>
              <a:ext uri="{FF2B5EF4-FFF2-40B4-BE49-F238E27FC236}">
                <a16:creationId xmlns:a16="http://schemas.microsoft.com/office/drawing/2014/main" id="{C1A5BBD6-BE65-467E-B084-AF6A1AA6F00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C3A5F9D-4174-45F6-BEF3-F71B6BF8D355}" type="slidenum">
              <a:rPr lang="en-US" altLang="en-US" sz="1400"/>
              <a:pPr>
                <a:spcBef>
                  <a:spcPct val="0"/>
                </a:spcBef>
                <a:buClrTx/>
                <a:buSzTx/>
                <a:buFontTx/>
                <a:buNone/>
              </a:pPr>
              <a:t>36</a:t>
            </a:fld>
            <a:endParaRPr lang="en-US" altLang="en-US" sz="1400"/>
          </a:p>
        </p:txBody>
      </p:sp>
      <p:pic>
        <p:nvPicPr>
          <p:cNvPr id="39957" name="Picture 24">
            <a:extLst>
              <a:ext uri="{FF2B5EF4-FFF2-40B4-BE49-F238E27FC236}">
                <a16:creationId xmlns:a16="http://schemas.microsoft.com/office/drawing/2014/main" id="{125946D4-5600-453C-B937-1543D05E9954}"/>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76400"/>
            <a:ext cx="8534400" cy="2762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39958" name="Rectangle 24">
            <a:hlinkClick r:id="rId3"/>
            <a:extLst>
              <a:ext uri="{FF2B5EF4-FFF2-40B4-BE49-F238E27FC236}">
                <a16:creationId xmlns:a16="http://schemas.microsoft.com/office/drawing/2014/main" id="{8C5D3F97-FA45-48FE-A33A-5BB617BADA20}"/>
              </a:ext>
            </a:extLst>
          </p:cNvPr>
          <p:cNvSpPr>
            <a:spLocks noChangeArrowheads="1"/>
          </p:cNvSpPr>
          <p:nvPr/>
        </p:nvSpPr>
        <p:spPr bwMode="auto">
          <a:xfrm>
            <a:off x="4953000" y="5397500"/>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Heap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6EF227DF-C1A5-4A9C-9AAD-622037B41BEF}"/>
              </a:ext>
            </a:extLst>
          </p:cNvPr>
          <p:cNvSpPr>
            <a:spLocks noGrp="1" noChangeArrowheads="1"/>
          </p:cNvSpPr>
          <p:nvPr>
            <p:ph type="title"/>
          </p:nvPr>
        </p:nvSpPr>
        <p:spPr>
          <a:xfrm>
            <a:off x="685800" y="228600"/>
            <a:ext cx="7772400" cy="685800"/>
          </a:xfrm>
        </p:spPr>
        <p:txBody>
          <a:bodyPr/>
          <a:lstStyle/>
          <a:p>
            <a:r>
              <a:rPr lang="en-US" altLang="en-US"/>
              <a:t>Heap Sort</a:t>
            </a:r>
          </a:p>
        </p:txBody>
      </p:sp>
      <p:sp>
        <p:nvSpPr>
          <p:cNvPr id="40962" name="Slide Number Placeholder 4">
            <a:extLst>
              <a:ext uri="{FF2B5EF4-FFF2-40B4-BE49-F238E27FC236}">
                <a16:creationId xmlns:a16="http://schemas.microsoft.com/office/drawing/2014/main" id="{56C887CB-D3B2-4EFE-A5B4-ADC980B20D0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D054CFC-6FE8-45E8-B448-C029FE6B5D95}" type="slidenum">
              <a:rPr lang="en-US" altLang="en-US" sz="1400"/>
              <a:pPr>
                <a:spcBef>
                  <a:spcPct val="0"/>
                </a:spcBef>
                <a:buClrTx/>
                <a:buSzTx/>
                <a:buFontTx/>
                <a:buNone/>
              </a:pPr>
              <a:t>37</a:t>
            </a:fld>
            <a:endParaRPr lang="en-US" altLang="en-US" sz="1400"/>
          </a:p>
        </p:txBody>
      </p:sp>
      <p:sp>
        <p:nvSpPr>
          <p:cNvPr id="40969" name="Rectangle 12">
            <a:hlinkClick r:id="rId2"/>
            <a:extLst>
              <a:ext uri="{FF2B5EF4-FFF2-40B4-BE49-F238E27FC236}">
                <a16:creationId xmlns:a16="http://schemas.microsoft.com/office/drawing/2014/main" id="{C32E4640-CEFE-4A57-AD1B-2E0937A7BEE6}"/>
              </a:ext>
            </a:extLst>
          </p:cNvPr>
          <p:cNvSpPr>
            <a:spLocks noChangeArrowheads="1"/>
          </p:cNvSpPr>
          <p:nvPr/>
        </p:nvSpPr>
        <p:spPr bwMode="auto">
          <a:xfrm>
            <a:off x="4953000" y="5397500"/>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HeapSort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B52EB6EF-35F1-4E6A-889F-D083FC28C41C}"/>
              </a:ext>
            </a:extLst>
          </p:cNvPr>
          <p:cNvSpPr>
            <a:spLocks noGrp="1" noChangeArrowheads="1"/>
          </p:cNvSpPr>
          <p:nvPr>
            <p:ph type="title"/>
          </p:nvPr>
        </p:nvSpPr>
        <p:spPr>
          <a:xfrm>
            <a:off x="685800" y="228600"/>
            <a:ext cx="7772400" cy="685800"/>
          </a:xfrm>
        </p:spPr>
        <p:txBody>
          <a:bodyPr/>
          <a:lstStyle/>
          <a:p>
            <a:r>
              <a:rPr lang="en-US" altLang="en-US"/>
              <a:t>Heap Sort Time</a:t>
            </a:r>
          </a:p>
        </p:txBody>
      </p:sp>
      <p:sp>
        <p:nvSpPr>
          <p:cNvPr id="41986" name="Slide Number Placeholder 4">
            <a:extLst>
              <a:ext uri="{FF2B5EF4-FFF2-40B4-BE49-F238E27FC236}">
                <a16:creationId xmlns:a16="http://schemas.microsoft.com/office/drawing/2014/main" id="{B5C6FD47-831E-43F8-81AA-89409904E43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879081F-7161-4691-BE04-9D1D7E58B3BC}" type="slidenum">
              <a:rPr lang="en-US" altLang="en-US" sz="1400"/>
              <a:pPr>
                <a:spcBef>
                  <a:spcPct val="0"/>
                </a:spcBef>
                <a:buClrTx/>
                <a:buSzTx/>
                <a:buFontTx/>
                <a:buNone/>
              </a:pPr>
              <a:t>38</a:t>
            </a:fld>
            <a:endParaRPr lang="en-US" altLang="en-US" sz="1400"/>
          </a:p>
        </p:txBody>
      </p:sp>
      <p:sp>
        <p:nvSpPr>
          <p:cNvPr id="41998" name="Rectangle 13">
            <a:extLst>
              <a:ext uri="{FF2B5EF4-FFF2-40B4-BE49-F238E27FC236}">
                <a16:creationId xmlns:a16="http://schemas.microsoft.com/office/drawing/2014/main" id="{676496A1-8280-44BE-93C5-1D83827270D8}"/>
              </a:ext>
            </a:extLst>
          </p:cNvPr>
          <p:cNvSpPr>
            <a:spLocks noChangeArrowheads="1"/>
          </p:cNvSpPr>
          <p:nvPr/>
        </p:nvSpPr>
        <p:spPr bwMode="auto">
          <a:xfrm>
            <a:off x="304800" y="1066800"/>
            <a:ext cx="86106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marL="720725" indent="-457200">
              <a:spcBef>
                <a:spcPct val="0"/>
              </a:spcBef>
              <a:buFont typeface="Wingdings" panose="05000000000000000000" pitchFamily="2" charset="2"/>
              <a:buChar char="§"/>
            </a:pPr>
            <a:r>
              <a:rPr lang="en-US" altLang="en-US" sz="2800" dirty="0"/>
              <a:t>Let </a:t>
            </a:r>
            <a:r>
              <a:rPr lang="en-US" altLang="en-US" sz="2800" i="1" dirty="0"/>
              <a:t>h</a:t>
            </a:r>
            <a:r>
              <a:rPr lang="en-US" altLang="en-US" sz="2800" dirty="0"/>
              <a:t> denote the height for a heap of </a:t>
            </a:r>
            <a:r>
              <a:rPr lang="en-US" altLang="en-US" sz="2800" i="1" dirty="0"/>
              <a:t>n</a:t>
            </a:r>
            <a:r>
              <a:rPr lang="en-US" altLang="en-US" sz="2800" dirty="0"/>
              <a:t> elements. </a:t>
            </a:r>
          </a:p>
          <a:p>
            <a:pPr marL="720725" indent="-457200">
              <a:spcBef>
                <a:spcPct val="0"/>
              </a:spcBef>
              <a:buFont typeface="Wingdings" panose="05000000000000000000" pitchFamily="2" charset="2"/>
              <a:buChar char="§"/>
            </a:pPr>
            <a:r>
              <a:rPr lang="en-US" altLang="en-US" sz="2800" dirty="0"/>
              <a:t>Since a heap is a complete binary tree, the first level has 1 node, the second level has 2 nodes, the </a:t>
            </a:r>
            <a:r>
              <a:rPr lang="en-US" altLang="en-US" sz="2800" i="1" dirty="0"/>
              <a:t>k</a:t>
            </a:r>
            <a:r>
              <a:rPr lang="en-US" altLang="en-US" sz="2800" dirty="0"/>
              <a:t>th level has 2</a:t>
            </a:r>
            <a:r>
              <a:rPr lang="en-US" altLang="en-US" sz="2800" baseline="30000" dirty="0"/>
              <a:t>(k-1)</a:t>
            </a:r>
            <a:r>
              <a:rPr lang="en-US" altLang="en-US" sz="2800" dirty="0"/>
              <a:t> nodes, the </a:t>
            </a:r>
            <a:r>
              <a:rPr lang="en-US" altLang="en-US" sz="2800" i="1" dirty="0"/>
              <a:t>(h-1)</a:t>
            </a:r>
            <a:r>
              <a:rPr lang="en-US" altLang="en-US" sz="2800" dirty="0" err="1"/>
              <a:t>th</a:t>
            </a:r>
            <a:r>
              <a:rPr lang="en-US" altLang="en-US" sz="2800" dirty="0"/>
              <a:t> level has 2</a:t>
            </a:r>
            <a:r>
              <a:rPr lang="en-US" altLang="en-US" sz="2800" baseline="30000" dirty="0"/>
              <a:t>(h-2)</a:t>
            </a:r>
            <a:r>
              <a:rPr lang="en-US" altLang="en-US" sz="2800" dirty="0"/>
              <a:t> nodes, and the </a:t>
            </a:r>
            <a:r>
              <a:rPr lang="en-US" altLang="en-US" sz="2800" dirty="0" err="1"/>
              <a:t>hth</a:t>
            </a:r>
            <a:r>
              <a:rPr lang="en-US" altLang="en-US" sz="2800" dirty="0"/>
              <a:t> level has at least one node and at most 2</a:t>
            </a:r>
            <a:r>
              <a:rPr lang="en-US" altLang="en-US" sz="2800" baseline="30000" dirty="0"/>
              <a:t>(h-1)</a:t>
            </a:r>
            <a:r>
              <a:rPr lang="en-US" altLang="en-US" sz="2800" dirty="0"/>
              <a:t> nodes. </a:t>
            </a:r>
          </a:p>
          <a:p>
            <a:pPr marL="720725" indent="-457200">
              <a:spcBef>
                <a:spcPct val="0"/>
              </a:spcBef>
              <a:buFont typeface="Wingdings" panose="05000000000000000000" pitchFamily="2" charset="2"/>
              <a:buChar char="§"/>
            </a:pPr>
            <a:r>
              <a:rPr lang="en-US" altLang="en-US" sz="2800" dirty="0"/>
              <a:t>By the equations below, it is </a:t>
            </a:r>
            <a:r>
              <a:rPr lang="en-US" altLang="en-US" sz="2800" dirty="0">
                <a:highlight>
                  <a:srgbClr val="FFFF00"/>
                </a:highlight>
              </a:rPr>
              <a:t>O(</a:t>
            </a:r>
            <a:r>
              <a:rPr lang="en-US" altLang="en-US" sz="2800" i="1" dirty="0">
                <a:highlight>
                  <a:srgbClr val="FFFF00"/>
                </a:highlight>
              </a:rPr>
              <a:t>n</a:t>
            </a:r>
            <a:r>
              <a:rPr lang="en-US" altLang="en-US" sz="2800" dirty="0">
                <a:highlight>
                  <a:srgbClr val="FFFF00"/>
                </a:highlight>
              </a:rPr>
              <a:t> </a:t>
            </a:r>
            <a:r>
              <a:rPr lang="en-US" altLang="en-US" sz="2800" dirty="0" err="1">
                <a:highlight>
                  <a:srgbClr val="FFFF00"/>
                </a:highlight>
              </a:rPr>
              <a:t>log</a:t>
            </a:r>
            <a:r>
              <a:rPr lang="en-US" altLang="en-US" sz="2800" i="1" dirty="0" err="1">
                <a:highlight>
                  <a:srgbClr val="FFFF00"/>
                </a:highlight>
              </a:rPr>
              <a:t>n</a:t>
            </a:r>
            <a:r>
              <a:rPr lang="en-US" altLang="en-US" sz="2800" dirty="0">
                <a:highlight>
                  <a:srgbClr val="FFFF00"/>
                </a:highlight>
              </a:rPr>
              <a:t>) </a:t>
            </a:r>
          </a:p>
        </p:txBody>
      </p:sp>
      <p:graphicFrame>
        <p:nvGraphicFramePr>
          <p:cNvPr id="42002" name="Object 16">
            <a:extLst>
              <a:ext uri="{FF2B5EF4-FFF2-40B4-BE49-F238E27FC236}">
                <a16:creationId xmlns:a16="http://schemas.microsoft.com/office/drawing/2014/main" id="{C6746BED-BCDC-4447-8B6F-914DAE45F1C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417633346"/>
              </p:ext>
            </p:extLst>
          </p:nvPr>
        </p:nvGraphicFramePr>
        <p:xfrm>
          <a:off x="650875" y="4718049"/>
          <a:ext cx="4795838" cy="382588"/>
        </p:xfrm>
        <a:graphic>
          <a:graphicData uri="http://schemas.openxmlformats.org/presentationml/2006/ole">
            <mc:AlternateContent xmlns:mc="http://schemas.openxmlformats.org/markup-compatibility/2006">
              <mc:Choice xmlns:v="urn:schemas-microsoft-com:vml" Requires="v">
                <p:oleObj name="Equation" r:id="rId2" imgW="2590800" imgH="203200" progId="Equation.3">
                  <p:embed/>
                </p:oleObj>
              </mc:Choice>
              <mc:Fallback>
                <p:oleObj name="Equation" r:id="rId2" imgW="2590800" imgH="203200"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75" y="4718049"/>
                        <a:ext cx="479583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4" name="Object 18">
            <a:extLst>
              <a:ext uri="{FF2B5EF4-FFF2-40B4-BE49-F238E27FC236}">
                <a16:creationId xmlns:a16="http://schemas.microsoft.com/office/drawing/2014/main" id="{C8D30867-D8DD-4C72-9117-09A709EE6D4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810068829"/>
              </p:ext>
            </p:extLst>
          </p:nvPr>
        </p:nvGraphicFramePr>
        <p:xfrm>
          <a:off x="685800" y="5253037"/>
          <a:ext cx="2590800" cy="461963"/>
        </p:xfrm>
        <a:graphic>
          <a:graphicData uri="http://schemas.openxmlformats.org/presentationml/2006/ole">
            <mc:AlternateContent xmlns:mc="http://schemas.openxmlformats.org/markup-compatibility/2006">
              <mc:Choice xmlns:v="urn:schemas-microsoft-com:vml" Requires="v">
                <p:oleObj name="Equation" r:id="rId4" imgW="1155700" imgH="203200" progId="Equation.3">
                  <p:embed/>
                </p:oleObj>
              </mc:Choice>
              <mc:Fallback>
                <p:oleObj name="Equation" r:id="rId4" imgW="1155700" imgH="2032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5253037"/>
                        <a:ext cx="259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6" name="Object 20">
            <a:extLst>
              <a:ext uri="{FF2B5EF4-FFF2-40B4-BE49-F238E27FC236}">
                <a16:creationId xmlns:a16="http://schemas.microsoft.com/office/drawing/2014/main" id="{5F5FDD0E-927E-4057-8BBF-724800FD763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676333312"/>
              </p:ext>
            </p:extLst>
          </p:nvPr>
        </p:nvGraphicFramePr>
        <p:xfrm>
          <a:off x="3886200" y="5867400"/>
          <a:ext cx="3429000" cy="407988"/>
        </p:xfrm>
        <a:graphic>
          <a:graphicData uri="http://schemas.openxmlformats.org/presentationml/2006/ole">
            <mc:AlternateContent xmlns:mc="http://schemas.openxmlformats.org/markup-compatibility/2006">
              <mc:Choice xmlns:v="urn:schemas-microsoft-com:vml" Requires="v">
                <p:oleObj name="Equation" r:id="rId6" imgW="1739900" imgH="203200" progId="Equation.3">
                  <p:embed/>
                </p:oleObj>
              </mc:Choice>
              <mc:Fallback>
                <p:oleObj name="Equation" r:id="rId6" imgW="1739900" imgH="203200"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6200" y="5867400"/>
                        <a:ext cx="342900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7" name="Object 22">
            <a:extLst>
              <a:ext uri="{FF2B5EF4-FFF2-40B4-BE49-F238E27FC236}">
                <a16:creationId xmlns:a16="http://schemas.microsoft.com/office/drawing/2014/main" id="{E7C8B2F2-B090-4343-AD89-D99775095D6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539236560"/>
              </p:ext>
            </p:extLst>
          </p:nvPr>
        </p:nvGraphicFramePr>
        <p:xfrm>
          <a:off x="3429000" y="5253037"/>
          <a:ext cx="1905000" cy="381000"/>
        </p:xfrm>
        <a:graphic>
          <a:graphicData uri="http://schemas.openxmlformats.org/presentationml/2006/ole">
            <mc:AlternateContent xmlns:mc="http://schemas.openxmlformats.org/markup-compatibility/2006">
              <mc:Choice xmlns:v="urn:schemas-microsoft-com:vml" Requires="v">
                <p:oleObj name="Equation" r:id="rId8" imgW="977476" imgH="203112" progId="Equation.3">
                  <p:embed/>
                </p:oleObj>
              </mc:Choice>
              <mc:Fallback>
                <p:oleObj name="Equation" r:id="rId8" imgW="977476" imgH="203112" progId="Equation.3">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5253037"/>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8" name="Object 23">
            <a:extLst>
              <a:ext uri="{FF2B5EF4-FFF2-40B4-BE49-F238E27FC236}">
                <a16:creationId xmlns:a16="http://schemas.microsoft.com/office/drawing/2014/main" id="{4D570867-7FF3-4628-B3F0-3D60EED2FFE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05334946"/>
              </p:ext>
            </p:extLst>
          </p:nvPr>
        </p:nvGraphicFramePr>
        <p:xfrm>
          <a:off x="5486400" y="5253037"/>
          <a:ext cx="3316288" cy="428625"/>
        </p:xfrm>
        <a:graphic>
          <a:graphicData uri="http://schemas.openxmlformats.org/presentationml/2006/ole">
            <mc:AlternateContent xmlns:mc="http://schemas.openxmlformats.org/markup-compatibility/2006">
              <mc:Choice xmlns:v="urn:schemas-microsoft-com:vml" Requires="v">
                <p:oleObj name="Equation" r:id="rId10" imgW="1701800" imgH="228600" progId="Equation.3">
                  <p:embed/>
                </p:oleObj>
              </mc:Choice>
              <mc:Fallback>
                <p:oleObj name="Equation" r:id="rId10" imgW="1701800" imgH="228600" progId="Equation.3">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86400" y="5253037"/>
                        <a:ext cx="331628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9" name="Object 24">
            <a:extLst>
              <a:ext uri="{FF2B5EF4-FFF2-40B4-BE49-F238E27FC236}">
                <a16:creationId xmlns:a16="http://schemas.microsoft.com/office/drawing/2014/main" id="{C250B5DB-D369-43BF-850A-570A321CB19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66760528"/>
              </p:ext>
            </p:extLst>
          </p:nvPr>
        </p:nvGraphicFramePr>
        <p:xfrm>
          <a:off x="1030288" y="5891213"/>
          <a:ext cx="2474912" cy="381000"/>
        </p:xfrm>
        <a:graphic>
          <a:graphicData uri="http://schemas.openxmlformats.org/presentationml/2006/ole">
            <mc:AlternateContent xmlns:mc="http://schemas.openxmlformats.org/markup-compatibility/2006">
              <mc:Choice xmlns:v="urn:schemas-microsoft-com:vml" Requires="v">
                <p:oleObj name="Equation" r:id="rId12" imgW="1269449" imgH="203112" progId="Equation.3">
                  <p:embed/>
                </p:oleObj>
              </mc:Choice>
              <mc:Fallback>
                <p:oleObj name="Equation" r:id="rId12" imgW="1269449" imgH="203112"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30288" y="5891213"/>
                        <a:ext cx="24749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a:extLst>
              <a:ext uri="{FF2B5EF4-FFF2-40B4-BE49-F238E27FC236}">
                <a16:creationId xmlns:a16="http://schemas.microsoft.com/office/drawing/2014/main" id="{73994416-8AC7-4389-85DB-61CE825B065D}"/>
              </a:ext>
            </a:extLst>
          </p:cNvPr>
          <p:cNvSpPr>
            <a:spLocks noGrp="1" noChangeArrowheads="1"/>
          </p:cNvSpPr>
          <p:nvPr>
            <p:ph type="title"/>
          </p:nvPr>
        </p:nvSpPr>
        <p:spPr>
          <a:xfrm>
            <a:off x="685800" y="228600"/>
            <a:ext cx="7772400" cy="685800"/>
          </a:xfrm>
        </p:spPr>
        <p:txBody>
          <a:bodyPr/>
          <a:lstStyle/>
          <a:p>
            <a:r>
              <a:rPr lang="en-US" altLang="en-US"/>
              <a:t>Bucket Sort and Radix Sort </a:t>
            </a:r>
          </a:p>
        </p:txBody>
      </p:sp>
      <p:sp>
        <p:nvSpPr>
          <p:cNvPr id="43012" name="Rectangle 3">
            <a:extLst>
              <a:ext uri="{FF2B5EF4-FFF2-40B4-BE49-F238E27FC236}">
                <a16:creationId xmlns:a16="http://schemas.microsoft.com/office/drawing/2014/main" id="{35D42B1F-0EF2-462E-9B93-607A9791F87F}"/>
              </a:ext>
            </a:extLst>
          </p:cNvPr>
          <p:cNvSpPr>
            <a:spLocks noGrp="1" noChangeArrowheads="1"/>
          </p:cNvSpPr>
          <p:nvPr>
            <p:ph idx="1"/>
          </p:nvPr>
        </p:nvSpPr>
        <p:spPr>
          <a:xfrm>
            <a:off x="228600" y="1066800"/>
            <a:ext cx="8763000" cy="5105400"/>
          </a:xfrm>
        </p:spPr>
        <p:txBody>
          <a:bodyPr/>
          <a:lstStyle/>
          <a:p>
            <a:pPr>
              <a:spcBef>
                <a:spcPct val="0"/>
              </a:spcBef>
              <a:buFont typeface="Wingdings" panose="05000000000000000000" pitchFamily="2" charset="2"/>
              <a:buChar char="§"/>
            </a:pPr>
            <a:r>
              <a:rPr lang="en-US" altLang="en-US" sz="2800" dirty="0"/>
              <a:t>All sort algorithms discussed so far are general sorting algorithms that </a:t>
            </a:r>
            <a:r>
              <a:rPr lang="en-US" altLang="en-US" sz="2800" dirty="0">
                <a:highlight>
                  <a:srgbClr val="FFFF00"/>
                </a:highlight>
              </a:rPr>
              <a:t>work for any types of keys (</a:t>
            </a:r>
            <a:r>
              <a:rPr lang="en-US" altLang="en-US" sz="2800" dirty="0"/>
              <a:t>e.g., integers, strings, and any comparable objects).</a:t>
            </a:r>
          </a:p>
          <a:p>
            <a:pPr>
              <a:spcBef>
                <a:spcPct val="0"/>
              </a:spcBef>
              <a:buFont typeface="Wingdings" panose="05000000000000000000" pitchFamily="2" charset="2"/>
              <a:buChar char="§"/>
            </a:pPr>
            <a:r>
              <a:rPr lang="en-US" altLang="en-US" sz="2800" dirty="0"/>
              <a:t>These algorithms sort the elements by comparing their keys. </a:t>
            </a:r>
          </a:p>
          <a:p>
            <a:pPr>
              <a:spcBef>
                <a:spcPct val="0"/>
              </a:spcBef>
              <a:buFont typeface="Wingdings" panose="05000000000000000000" pitchFamily="2" charset="2"/>
              <a:buChar char="§"/>
            </a:pPr>
            <a:r>
              <a:rPr lang="en-US" altLang="en-US" sz="2800" dirty="0"/>
              <a:t>The lower bound for general sorting algorithms is O(</a:t>
            </a:r>
            <a:r>
              <a:rPr lang="en-US" altLang="en-US" sz="2800" dirty="0" err="1"/>
              <a:t>nlogn</a:t>
            </a:r>
            <a:r>
              <a:rPr lang="en-US" altLang="en-US" sz="2800" dirty="0"/>
              <a:t>). </a:t>
            </a:r>
          </a:p>
          <a:p>
            <a:pPr>
              <a:spcBef>
                <a:spcPct val="0"/>
              </a:spcBef>
              <a:buFont typeface="Wingdings" panose="05000000000000000000" pitchFamily="2" charset="2"/>
              <a:buChar char="§"/>
            </a:pPr>
            <a:r>
              <a:rPr lang="en-US" altLang="en-US" sz="2800" dirty="0"/>
              <a:t>So, </a:t>
            </a:r>
            <a:r>
              <a:rPr lang="en-US" altLang="en-US" sz="2800" dirty="0">
                <a:highlight>
                  <a:srgbClr val="FFFF00"/>
                </a:highlight>
              </a:rPr>
              <a:t>no sorting algorithms </a:t>
            </a:r>
            <a:r>
              <a:rPr lang="en-US" altLang="en-US" sz="2800" dirty="0"/>
              <a:t>based on </a:t>
            </a:r>
            <a:r>
              <a:rPr lang="en-US" altLang="en-US" sz="2800" dirty="0">
                <a:highlight>
                  <a:srgbClr val="FFFF00"/>
                </a:highlight>
              </a:rPr>
              <a:t>comparisons</a:t>
            </a:r>
            <a:r>
              <a:rPr lang="en-US" altLang="en-US" sz="2800" dirty="0"/>
              <a:t> can perform </a:t>
            </a:r>
            <a:r>
              <a:rPr lang="en-US" altLang="en-US" sz="2800" dirty="0">
                <a:highlight>
                  <a:srgbClr val="FFFF00"/>
                </a:highlight>
              </a:rPr>
              <a:t>better than O(</a:t>
            </a:r>
            <a:r>
              <a:rPr lang="en-US" altLang="en-US" sz="2800" dirty="0" err="1">
                <a:highlight>
                  <a:srgbClr val="FFFF00"/>
                </a:highlight>
              </a:rPr>
              <a:t>nlogn</a:t>
            </a:r>
            <a:r>
              <a:rPr lang="en-US" altLang="en-US" sz="2800" dirty="0">
                <a:highlight>
                  <a:srgbClr val="FFFF00"/>
                </a:highlight>
              </a:rPr>
              <a:t>).</a:t>
            </a:r>
            <a:r>
              <a:rPr lang="en-US" altLang="en-US" sz="2800" dirty="0"/>
              <a:t> </a:t>
            </a:r>
          </a:p>
          <a:p>
            <a:pPr>
              <a:spcBef>
                <a:spcPct val="0"/>
              </a:spcBef>
              <a:buFont typeface="Wingdings" panose="05000000000000000000" pitchFamily="2" charset="2"/>
              <a:buChar char="§"/>
            </a:pPr>
            <a:r>
              <a:rPr lang="en-US" altLang="en-US" sz="2800" dirty="0"/>
              <a:t>However, if the keys are small integers, you can use bucket sort without having to compare the keys.</a:t>
            </a:r>
          </a:p>
        </p:txBody>
      </p:sp>
      <p:sp>
        <p:nvSpPr>
          <p:cNvPr id="43010" name="Slide Number Placeholder 4">
            <a:extLst>
              <a:ext uri="{FF2B5EF4-FFF2-40B4-BE49-F238E27FC236}">
                <a16:creationId xmlns:a16="http://schemas.microsoft.com/office/drawing/2014/main" id="{B211666D-9093-433D-A85A-897861FD65C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BF7915B-C494-4517-8CF0-94D768065F43}" type="slidenum">
              <a:rPr lang="en-US" altLang="en-US" sz="1400"/>
              <a:pPr>
                <a:spcBef>
                  <a:spcPct val="0"/>
                </a:spcBef>
                <a:buClrTx/>
                <a:buSzTx/>
                <a:buFontTx/>
                <a:buNone/>
              </a:pPr>
              <a:t>39</a:t>
            </a:fld>
            <a:endParaRPr lang="en-US" altLang="en-US"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a16="http://schemas.microsoft.com/office/drawing/2014/main" id="{74685432-D646-4DD6-A59F-D845B4C3B461}"/>
              </a:ext>
            </a:extLst>
          </p:cNvPr>
          <p:cNvSpPr>
            <a:spLocks noGrp="1" noChangeArrowheads="1"/>
          </p:cNvSpPr>
          <p:nvPr>
            <p:ph type="title"/>
          </p:nvPr>
        </p:nvSpPr>
        <p:spPr>
          <a:xfrm>
            <a:off x="685800" y="228600"/>
            <a:ext cx="7772400" cy="685800"/>
          </a:xfrm>
        </p:spPr>
        <p:txBody>
          <a:bodyPr/>
          <a:lstStyle/>
          <a:p>
            <a:r>
              <a:rPr lang="en-US" altLang="en-US"/>
              <a:t>Bucket Sort</a:t>
            </a:r>
          </a:p>
        </p:txBody>
      </p:sp>
      <p:sp>
        <p:nvSpPr>
          <p:cNvPr id="44036" name="Rectangle 3">
            <a:extLst>
              <a:ext uri="{FF2B5EF4-FFF2-40B4-BE49-F238E27FC236}">
                <a16:creationId xmlns:a16="http://schemas.microsoft.com/office/drawing/2014/main" id="{69EB1851-F9C7-4033-9F62-19FA9CE7069F}"/>
              </a:ext>
            </a:extLst>
          </p:cNvPr>
          <p:cNvSpPr>
            <a:spLocks noGrp="1" noChangeArrowheads="1"/>
          </p:cNvSpPr>
          <p:nvPr>
            <p:ph idx="1"/>
          </p:nvPr>
        </p:nvSpPr>
        <p:spPr>
          <a:xfrm>
            <a:off x="209550" y="1066799"/>
            <a:ext cx="8934450" cy="3428997"/>
          </a:xfrm>
        </p:spPr>
        <p:txBody>
          <a:bodyPr/>
          <a:lstStyle/>
          <a:p>
            <a:pPr>
              <a:spcBef>
                <a:spcPct val="0"/>
              </a:spcBef>
              <a:spcAft>
                <a:spcPts val="1200"/>
              </a:spcAft>
              <a:buFont typeface="Wingdings" panose="05000000000000000000" pitchFamily="2" charset="2"/>
              <a:buChar char="§"/>
            </a:pPr>
            <a:r>
              <a:rPr lang="en-US" altLang="en-US" sz="2400" dirty="0"/>
              <a:t>The bucket sort algorithm works as follows. </a:t>
            </a:r>
          </a:p>
          <a:p>
            <a:pPr>
              <a:spcBef>
                <a:spcPct val="0"/>
              </a:spcBef>
              <a:spcAft>
                <a:spcPts val="1200"/>
              </a:spcAft>
              <a:buFont typeface="Wingdings" panose="05000000000000000000" pitchFamily="2" charset="2"/>
              <a:buChar char="§"/>
            </a:pPr>
            <a:r>
              <a:rPr lang="en-US" altLang="en-US" sz="2400" dirty="0"/>
              <a:t>Assume the keys are in the range from </a:t>
            </a:r>
            <a:r>
              <a:rPr lang="en-US" altLang="en-US" sz="2400" u="sng" dirty="0"/>
              <a:t>0</a:t>
            </a:r>
            <a:r>
              <a:rPr lang="en-US" altLang="en-US" sz="2400" dirty="0"/>
              <a:t> to </a:t>
            </a:r>
            <a:r>
              <a:rPr lang="en-US" altLang="en-US" sz="2400" u="sng" dirty="0"/>
              <a:t>N-1</a:t>
            </a:r>
            <a:r>
              <a:rPr lang="en-US" altLang="en-US" sz="2400" dirty="0"/>
              <a:t>. </a:t>
            </a:r>
          </a:p>
          <a:p>
            <a:pPr>
              <a:spcBef>
                <a:spcPct val="0"/>
              </a:spcBef>
              <a:spcAft>
                <a:spcPts val="1200"/>
              </a:spcAft>
              <a:buFont typeface="Wingdings" panose="05000000000000000000" pitchFamily="2" charset="2"/>
              <a:buChar char="§"/>
            </a:pPr>
            <a:r>
              <a:rPr lang="en-US" altLang="en-US" sz="2400" dirty="0"/>
              <a:t>We need </a:t>
            </a:r>
            <a:r>
              <a:rPr lang="en-US" altLang="en-US" sz="2400" u="sng" dirty="0"/>
              <a:t>N</a:t>
            </a:r>
            <a:r>
              <a:rPr lang="en-US" altLang="en-US" sz="2400" dirty="0"/>
              <a:t> buckets labeled </a:t>
            </a:r>
            <a:r>
              <a:rPr lang="en-US" altLang="en-US" sz="2400" u="sng" dirty="0"/>
              <a:t>0</a:t>
            </a:r>
            <a:r>
              <a:rPr lang="en-US" altLang="en-US" sz="2400" dirty="0"/>
              <a:t>, </a:t>
            </a:r>
            <a:r>
              <a:rPr lang="en-US" altLang="en-US" sz="2400" u="sng" dirty="0"/>
              <a:t>1</a:t>
            </a:r>
            <a:r>
              <a:rPr lang="en-US" altLang="en-US" sz="2400" dirty="0"/>
              <a:t>, ..., and </a:t>
            </a:r>
            <a:r>
              <a:rPr lang="en-US" altLang="en-US" sz="2400" u="sng" dirty="0"/>
              <a:t>N-1</a:t>
            </a:r>
            <a:r>
              <a:rPr lang="en-US" altLang="en-US" sz="2400" dirty="0"/>
              <a:t>. </a:t>
            </a:r>
          </a:p>
          <a:p>
            <a:pPr>
              <a:spcBef>
                <a:spcPct val="0"/>
              </a:spcBef>
              <a:spcAft>
                <a:spcPts val="1200"/>
              </a:spcAft>
              <a:buFont typeface="Wingdings" panose="05000000000000000000" pitchFamily="2" charset="2"/>
              <a:buChar char="§"/>
            </a:pPr>
            <a:r>
              <a:rPr lang="en-US" altLang="en-US" sz="2400" dirty="0"/>
              <a:t>If an element’s key is </a:t>
            </a:r>
            <a:r>
              <a:rPr lang="en-US" altLang="en-US" sz="2400" u="sng" dirty="0" err="1"/>
              <a:t>i</a:t>
            </a:r>
            <a:r>
              <a:rPr lang="en-US" altLang="en-US" sz="2400" dirty="0"/>
              <a:t>, the element is put into the bucket </a:t>
            </a:r>
            <a:r>
              <a:rPr lang="en-US" altLang="en-US" sz="2400" u="sng" dirty="0" err="1"/>
              <a:t>i</a:t>
            </a:r>
            <a:r>
              <a:rPr lang="en-US" altLang="en-US" sz="2400" dirty="0"/>
              <a:t>. </a:t>
            </a:r>
          </a:p>
          <a:p>
            <a:pPr>
              <a:spcBef>
                <a:spcPct val="0"/>
              </a:spcBef>
              <a:spcAft>
                <a:spcPts val="1200"/>
              </a:spcAft>
              <a:buFont typeface="Wingdings" panose="05000000000000000000" pitchFamily="2" charset="2"/>
              <a:buChar char="§"/>
            </a:pPr>
            <a:r>
              <a:rPr lang="en-US" altLang="en-US" sz="2400" dirty="0">
                <a:highlight>
                  <a:srgbClr val="FFFF00"/>
                </a:highlight>
              </a:rPr>
              <a:t>Each bucket holds the elements with the same key value. </a:t>
            </a:r>
          </a:p>
          <a:p>
            <a:pPr>
              <a:spcBef>
                <a:spcPct val="0"/>
              </a:spcBef>
              <a:spcAft>
                <a:spcPts val="1200"/>
              </a:spcAft>
              <a:buFont typeface="Wingdings" panose="05000000000000000000" pitchFamily="2" charset="2"/>
              <a:buChar char="§"/>
            </a:pPr>
            <a:r>
              <a:rPr lang="en-US" altLang="en-US" sz="2400" dirty="0"/>
              <a:t>You can use an </a:t>
            </a:r>
            <a:r>
              <a:rPr lang="en-US" altLang="en-US" sz="2400" u="sng" dirty="0" err="1"/>
              <a:t>ArrayList</a:t>
            </a:r>
            <a:r>
              <a:rPr lang="en-US" altLang="en-US" sz="2400" dirty="0"/>
              <a:t> to implement a bucket.</a:t>
            </a:r>
          </a:p>
          <a:p>
            <a:pPr>
              <a:spcBef>
                <a:spcPct val="0"/>
              </a:spcBef>
              <a:spcAft>
                <a:spcPts val="1200"/>
              </a:spcAft>
              <a:buFont typeface="Wingdings" panose="05000000000000000000" pitchFamily="2" charset="2"/>
              <a:buChar char="§"/>
            </a:pPr>
            <a:r>
              <a:rPr lang="en-US" altLang="en-US" sz="2400" dirty="0"/>
              <a:t>If the key values are from 0 to t, then it takes </a:t>
            </a:r>
            <a:r>
              <a:rPr lang="en-US" altLang="en-US" sz="2400" dirty="0">
                <a:highlight>
                  <a:srgbClr val="FFFF00"/>
                </a:highlight>
              </a:rPr>
              <a:t>O(</a:t>
            </a:r>
            <a:r>
              <a:rPr lang="en-US" altLang="en-US" sz="2400" dirty="0" err="1">
                <a:highlight>
                  <a:srgbClr val="FFFF00"/>
                </a:highlight>
              </a:rPr>
              <a:t>n+t</a:t>
            </a:r>
            <a:r>
              <a:rPr lang="en-US" altLang="en-US" sz="2400" dirty="0">
                <a:highlight>
                  <a:srgbClr val="FFFF00"/>
                </a:highlight>
              </a:rPr>
              <a:t>) </a:t>
            </a:r>
            <a:r>
              <a:rPr lang="en-US" altLang="en-US" sz="2400" dirty="0"/>
              <a:t>to sort the list</a:t>
            </a:r>
          </a:p>
        </p:txBody>
      </p:sp>
      <p:sp>
        <p:nvSpPr>
          <p:cNvPr id="44034" name="Slide Number Placeholder 4">
            <a:extLst>
              <a:ext uri="{FF2B5EF4-FFF2-40B4-BE49-F238E27FC236}">
                <a16:creationId xmlns:a16="http://schemas.microsoft.com/office/drawing/2014/main" id="{0BBEC901-8781-4FD0-B490-03E7570D82B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B692ABB-128D-4A79-8DDE-0B5FCD931FA6}" type="slidenum">
              <a:rPr lang="en-US" altLang="en-US" sz="1400"/>
              <a:pPr>
                <a:spcBef>
                  <a:spcPct val="0"/>
                </a:spcBef>
                <a:buClrTx/>
                <a:buSzTx/>
                <a:buFontTx/>
                <a:buNone/>
              </a:pPr>
              <a:t>40</a:t>
            </a:fld>
            <a:endParaRPr lang="en-US" altLang="en-US" sz="1400"/>
          </a:p>
        </p:txBody>
      </p:sp>
      <p:pic>
        <p:nvPicPr>
          <p:cNvPr id="44046" name="Picture 18">
            <a:extLst>
              <a:ext uri="{FF2B5EF4-FFF2-40B4-BE49-F238E27FC236}">
                <a16:creationId xmlns:a16="http://schemas.microsoft.com/office/drawing/2014/main" id="{6322D36E-E573-4E33-BCBB-0565EFF0069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5027613"/>
            <a:ext cx="8782050"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a16="http://schemas.microsoft.com/office/drawing/2014/main" id="{74685432-D646-4DD6-A59F-D845B4C3B461}"/>
              </a:ext>
            </a:extLst>
          </p:cNvPr>
          <p:cNvSpPr>
            <a:spLocks noGrp="1" noChangeArrowheads="1"/>
          </p:cNvSpPr>
          <p:nvPr>
            <p:ph type="title"/>
          </p:nvPr>
        </p:nvSpPr>
        <p:spPr>
          <a:xfrm>
            <a:off x="685800" y="228600"/>
            <a:ext cx="7772400" cy="685800"/>
          </a:xfrm>
        </p:spPr>
        <p:txBody>
          <a:bodyPr/>
          <a:lstStyle/>
          <a:p>
            <a:r>
              <a:rPr lang="en-US" altLang="en-US" dirty="0"/>
              <a:t>Radix Sort</a:t>
            </a:r>
          </a:p>
        </p:txBody>
      </p:sp>
      <p:sp>
        <p:nvSpPr>
          <p:cNvPr id="44036" name="Rectangle 3">
            <a:extLst>
              <a:ext uri="{FF2B5EF4-FFF2-40B4-BE49-F238E27FC236}">
                <a16:creationId xmlns:a16="http://schemas.microsoft.com/office/drawing/2014/main" id="{69EB1851-F9C7-4033-9F62-19FA9CE7069F}"/>
              </a:ext>
            </a:extLst>
          </p:cNvPr>
          <p:cNvSpPr>
            <a:spLocks noGrp="1" noChangeArrowheads="1"/>
          </p:cNvSpPr>
          <p:nvPr>
            <p:ph idx="1"/>
          </p:nvPr>
        </p:nvSpPr>
        <p:spPr>
          <a:xfrm>
            <a:off x="209550" y="1066799"/>
            <a:ext cx="8934450" cy="3428997"/>
          </a:xfrm>
        </p:spPr>
        <p:txBody>
          <a:bodyPr/>
          <a:lstStyle/>
          <a:p>
            <a:pPr>
              <a:spcBef>
                <a:spcPct val="0"/>
              </a:spcBef>
              <a:spcAft>
                <a:spcPts val="600"/>
              </a:spcAft>
              <a:buFont typeface="Wingdings" panose="05000000000000000000" pitchFamily="2" charset="2"/>
              <a:buChar char="§"/>
            </a:pPr>
            <a:r>
              <a:rPr lang="en-US" altLang="en-US" sz="2400" dirty="0">
                <a:highlight>
                  <a:srgbClr val="FFFF00"/>
                </a:highlight>
              </a:rPr>
              <a:t>If t is too large, bucket Sort will not work well.  </a:t>
            </a:r>
          </a:p>
          <a:p>
            <a:pPr>
              <a:spcBef>
                <a:spcPct val="0"/>
              </a:spcBef>
              <a:spcAft>
                <a:spcPts val="600"/>
              </a:spcAft>
              <a:buFont typeface="Wingdings" panose="05000000000000000000" pitchFamily="2" charset="2"/>
              <a:buChar char="§"/>
            </a:pPr>
            <a:r>
              <a:rPr lang="en-US" altLang="en-US" sz="2400" dirty="0"/>
              <a:t>You could </a:t>
            </a:r>
            <a:r>
              <a:rPr lang="en-US" altLang="en-US" sz="2400" dirty="0">
                <a:highlight>
                  <a:srgbClr val="FFFF00"/>
                </a:highlight>
              </a:rPr>
              <a:t>use </a:t>
            </a:r>
            <a:r>
              <a:rPr lang="en-US" altLang="en-US" sz="2400" b="1" dirty="0">
                <a:highlight>
                  <a:srgbClr val="FFFF00"/>
                </a:highlight>
              </a:rPr>
              <a:t>radix sort </a:t>
            </a:r>
            <a:r>
              <a:rPr lang="en-US" altLang="en-US" sz="2400" dirty="0">
                <a:highlight>
                  <a:srgbClr val="FFFF00"/>
                </a:highlight>
              </a:rPr>
              <a:t>instead, key still must be an integer</a:t>
            </a:r>
          </a:p>
          <a:p>
            <a:pPr>
              <a:spcBef>
                <a:spcPct val="0"/>
              </a:spcBef>
              <a:spcAft>
                <a:spcPts val="600"/>
              </a:spcAft>
              <a:buFont typeface="Wingdings" panose="05000000000000000000" pitchFamily="2" charset="2"/>
              <a:buChar char="§"/>
            </a:pPr>
            <a:r>
              <a:rPr lang="en-US" altLang="en-US" sz="2400" dirty="0"/>
              <a:t>Radix sort is based on bucket sort but </a:t>
            </a:r>
            <a:r>
              <a:rPr lang="en-US" altLang="en-US" sz="2400" dirty="0">
                <a:highlight>
                  <a:srgbClr val="FFFF00"/>
                </a:highlight>
              </a:rPr>
              <a:t>only uses 10 buckets.</a:t>
            </a:r>
          </a:p>
          <a:p>
            <a:pPr>
              <a:spcBef>
                <a:spcPct val="0"/>
              </a:spcBef>
              <a:spcAft>
                <a:spcPts val="600"/>
              </a:spcAft>
              <a:buFont typeface="Wingdings" panose="05000000000000000000" pitchFamily="2" charset="2"/>
              <a:buChar char="§"/>
            </a:pPr>
            <a:r>
              <a:rPr lang="en-US" altLang="en-US" sz="2400" dirty="0"/>
              <a:t>The keys are placed in a </a:t>
            </a:r>
            <a:r>
              <a:rPr lang="en-US" altLang="en-US" sz="2400" dirty="0">
                <a:highlight>
                  <a:srgbClr val="FFFF00"/>
                </a:highlight>
              </a:rPr>
              <a:t>bucket based on their last digit</a:t>
            </a:r>
          </a:p>
          <a:p>
            <a:pPr>
              <a:spcBef>
                <a:spcPct val="0"/>
              </a:spcBef>
              <a:spcAft>
                <a:spcPts val="600"/>
              </a:spcAft>
              <a:buFont typeface="Wingdings" panose="05000000000000000000" pitchFamily="2" charset="2"/>
              <a:buChar char="§"/>
            </a:pPr>
            <a:r>
              <a:rPr lang="en-US" altLang="en-US" sz="2400" dirty="0"/>
              <a:t>Then the keys are collected from the buckets and </a:t>
            </a:r>
            <a:r>
              <a:rPr lang="en-US" altLang="en-US" sz="2400" dirty="0">
                <a:highlight>
                  <a:srgbClr val="FFFF00"/>
                </a:highlight>
              </a:rPr>
              <a:t>placed in based on their 2</a:t>
            </a:r>
            <a:r>
              <a:rPr lang="en-US" altLang="en-US" sz="2400" baseline="30000" dirty="0">
                <a:highlight>
                  <a:srgbClr val="FFFF00"/>
                </a:highlight>
              </a:rPr>
              <a:t>nd</a:t>
            </a:r>
            <a:r>
              <a:rPr lang="en-US" altLang="en-US" sz="2400" dirty="0">
                <a:highlight>
                  <a:srgbClr val="FFFF00"/>
                </a:highlight>
              </a:rPr>
              <a:t> to last digits</a:t>
            </a:r>
          </a:p>
          <a:p>
            <a:pPr>
              <a:spcBef>
                <a:spcPct val="0"/>
              </a:spcBef>
              <a:spcAft>
                <a:spcPts val="600"/>
              </a:spcAft>
              <a:buFont typeface="Wingdings" panose="05000000000000000000" pitchFamily="2" charset="2"/>
              <a:buChar char="§"/>
            </a:pPr>
            <a:r>
              <a:rPr lang="en-US" altLang="en-US" sz="2400" dirty="0"/>
              <a:t>This is repeated for the 3</a:t>
            </a:r>
            <a:r>
              <a:rPr lang="en-US" altLang="en-US" sz="2400" baseline="30000" dirty="0"/>
              <a:t>rd</a:t>
            </a:r>
            <a:r>
              <a:rPr lang="en-US" altLang="en-US" sz="2400" dirty="0"/>
              <a:t> to last digits and so on.  The final result is a sorted list.</a:t>
            </a:r>
          </a:p>
        </p:txBody>
      </p:sp>
      <p:sp>
        <p:nvSpPr>
          <p:cNvPr id="44034" name="Slide Number Placeholder 4">
            <a:extLst>
              <a:ext uri="{FF2B5EF4-FFF2-40B4-BE49-F238E27FC236}">
                <a16:creationId xmlns:a16="http://schemas.microsoft.com/office/drawing/2014/main" id="{0BBEC901-8781-4FD0-B490-03E7570D82B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B692ABB-128D-4A79-8DDE-0B5FCD931FA6}" type="slidenum">
              <a:rPr lang="en-US" altLang="en-US" sz="1400"/>
              <a:pPr>
                <a:spcBef>
                  <a:spcPct val="0"/>
                </a:spcBef>
                <a:buClrTx/>
                <a:buSzTx/>
                <a:buFontTx/>
                <a:buNone/>
              </a:pPr>
              <a:t>41</a:t>
            </a:fld>
            <a:endParaRPr lang="en-US" altLang="en-US" sz="1400"/>
          </a:p>
        </p:txBody>
      </p:sp>
      <p:sp>
        <p:nvSpPr>
          <p:cNvPr id="12" name="Rectangle 3">
            <a:extLst>
              <a:ext uri="{FF2B5EF4-FFF2-40B4-BE49-F238E27FC236}">
                <a16:creationId xmlns:a16="http://schemas.microsoft.com/office/drawing/2014/main" id="{1D046634-B27D-4C8D-BB33-235F156E732B}"/>
              </a:ext>
            </a:extLst>
          </p:cNvPr>
          <p:cNvSpPr txBox="1">
            <a:spLocks noChangeArrowheads="1"/>
          </p:cNvSpPr>
          <p:nvPr/>
        </p:nvSpPr>
        <p:spPr bwMode="auto">
          <a:xfrm>
            <a:off x="228600" y="4799012"/>
            <a:ext cx="8763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1" fontAlgn="base" hangingPunct="1">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Font typeface="Monotype Sorts"/>
              <a:buNone/>
            </a:pPr>
            <a:r>
              <a:rPr lang="en-US" altLang="en-US"/>
              <a:t>Sort 331, 454, 230, 34, 343, 45, 59, 453, 345, 231, 9</a:t>
            </a:r>
          </a:p>
        </p:txBody>
      </p:sp>
      <p:pic>
        <p:nvPicPr>
          <p:cNvPr id="13" name="Picture 48">
            <a:extLst>
              <a:ext uri="{FF2B5EF4-FFF2-40B4-BE49-F238E27FC236}">
                <a16:creationId xmlns:a16="http://schemas.microsoft.com/office/drawing/2014/main" id="{671705DE-91F3-4497-A499-81CB96488071}"/>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357812"/>
            <a:ext cx="8229600" cy="966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323416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id="{E39370D3-4E1E-46D0-B5C2-F532C54E0306}"/>
              </a:ext>
            </a:extLst>
          </p:cNvPr>
          <p:cNvSpPr>
            <a:spLocks noGrp="1" noChangeArrowheads="1"/>
          </p:cNvSpPr>
          <p:nvPr>
            <p:ph type="title"/>
          </p:nvPr>
        </p:nvSpPr>
        <p:spPr>
          <a:xfrm>
            <a:off x="685800" y="228600"/>
            <a:ext cx="7772400" cy="685800"/>
          </a:xfrm>
        </p:spPr>
        <p:txBody>
          <a:bodyPr/>
          <a:lstStyle/>
          <a:p>
            <a:r>
              <a:rPr lang="en-US" altLang="en-US"/>
              <a:t>Radix Sort</a:t>
            </a:r>
          </a:p>
        </p:txBody>
      </p:sp>
      <p:sp>
        <p:nvSpPr>
          <p:cNvPr id="407555" name="Rectangle 3">
            <a:extLst>
              <a:ext uri="{FF2B5EF4-FFF2-40B4-BE49-F238E27FC236}">
                <a16:creationId xmlns:a16="http://schemas.microsoft.com/office/drawing/2014/main" id="{4DC38A7E-01D8-4141-9E3F-F7405B5FFBA8}"/>
              </a:ext>
            </a:extLst>
          </p:cNvPr>
          <p:cNvSpPr>
            <a:spLocks noGrp="1" noChangeArrowheads="1"/>
          </p:cNvSpPr>
          <p:nvPr>
            <p:ph idx="1"/>
          </p:nvPr>
        </p:nvSpPr>
        <p:spPr>
          <a:xfrm>
            <a:off x="381000" y="914400"/>
            <a:ext cx="8763000" cy="609600"/>
          </a:xfrm>
        </p:spPr>
        <p:txBody>
          <a:bodyPr/>
          <a:lstStyle/>
          <a:p>
            <a:pPr marL="0" indent="0">
              <a:spcBef>
                <a:spcPct val="0"/>
              </a:spcBef>
              <a:buFont typeface="Monotype Sorts"/>
              <a:buNone/>
            </a:pPr>
            <a:r>
              <a:rPr lang="en-US" altLang="en-US"/>
              <a:t>Sort 331, 454, 230, 34, 343, 45, 59, 453, 345, 231, 9</a:t>
            </a:r>
          </a:p>
        </p:txBody>
      </p:sp>
      <p:sp>
        <p:nvSpPr>
          <p:cNvPr id="45058" name="Slide Number Placeholder 4">
            <a:extLst>
              <a:ext uri="{FF2B5EF4-FFF2-40B4-BE49-F238E27FC236}">
                <a16:creationId xmlns:a16="http://schemas.microsoft.com/office/drawing/2014/main" id="{AA3E6F31-0410-4BD7-BBEF-052A7D09943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6283C41-1F4B-4CCC-A3AF-68F9FF0FB3FC}" type="slidenum">
              <a:rPr lang="en-US" altLang="en-US" sz="1400"/>
              <a:pPr>
                <a:spcBef>
                  <a:spcPct val="0"/>
                </a:spcBef>
                <a:buClrTx/>
                <a:buSzTx/>
                <a:buFontTx/>
                <a:buNone/>
              </a:pPr>
              <a:t>42</a:t>
            </a:fld>
            <a:endParaRPr lang="en-US" altLang="en-US" sz="1400"/>
          </a:p>
        </p:txBody>
      </p:sp>
      <p:sp>
        <p:nvSpPr>
          <p:cNvPr id="407571" name="Rectangle 19">
            <a:extLst>
              <a:ext uri="{FF2B5EF4-FFF2-40B4-BE49-F238E27FC236}">
                <a16:creationId xmlns:a16="http://schemas.microsoft.com/office/drawing/2014/main" id="{B364A0ED-3480-4892-821E-1F4BD13DEF57}"/>
              </a:ext>
            </a:extLst>
          </p:cNvPr>
          <p:cNvSpPr>
            <a:spLocks noChangeArrowheads="1"/>
          </p:cNvSpPr>
          <p:nvPr/>
        </p:nvSpPr>
        <p:spPr bwMode="auto">
          <a:xfrm>
            <a:off x="388938" y="2595563"/>
            <a:ext cx="8763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dirty="0"/>
              <a:t>230, 331, 231, 343, 453, 454, 34, 45, 345, 59, 9</a:t>
            </a:r>
          </a:p>
        </p:txBody>
      </p:sp>
      <p:sp>
        <p:nvSpPr>
          <p:cNvPr id="407583" name="Rectangle 31">
            <a:extLst>
              <a:ext uri="{FF2B5EF4-FFF2-40B4-BE49-F238E27FC236}">
                <a16:creationId xmlns:a16="http://schemas.microsoft.com/office/drawing/2014/main" id="{84E74E0B-AAB4-4A16-BC4A-D74AE200ED23}"/>
              </a:ext>
            </a:extLst>
          </p:cNvPr>
          <p:cNvSpPr>
            <a:spLocks noChangeArrowheads="1"/>
          </p:cNvSpPr>
          <p:nvPr/>
        </p:nvSpPr>
        <p:spPr bwMode="auto">
          <a:xfrm>
            <a:off x="381000" y="4343400"/>
            <a:ext cx="8763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9, 230, 331, 231, 34, 343, 45, 345, 453, 454, 59</a:t>
            </a:r>
          </a:p>
        </p:txBody>
      </p:sp>
      <p:sp>
        <p:nvSpPr>
          <p:cNvPr id="407598" name="Rectangle 46">
            <a:extLst>
              <a:ext uri="{FF2B5EF4-FFF2-40B4-BE49-F238E27FC236}">
                <a16:creationId xmlns:a16="http://schemas.microsoft.com/office/drawing/2014/main" id="{E97EE754-3517-4EEF-9401-0DC88DA37407}"/>
              </a:ext>
            </a:extLst>
          </p:cNvPr>
          <p:cNvSpPr>
            <a:spLocks noChangeArrowheads="1"/>
          </p:cNvSpPr>
          <p:nvPr/>
        </p:nvSpPr>
        <p:spPr bwMode="auto">
          <a:xfrm>
            <a:off x="381000" y="5943600"/>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9, 34, 45, 59, 230, 231, 331, 343, 345, 453, 454</a:t>
            </a:r>
          </a:p>
        </p:txBody>
      </p:sp>
      <p:pic>
        <p:nvPicPr>
          <p:cNvPr id="45071" name="Picture 48">
            <a:extLst>
              <a:ext uri="{FF2B5EF4-FFF2-40B4-BE49-F238E27FC236}">
                <a16:creationId xmlns:a16="http://schemas.microsoft.com/office/drawing/2014/main" id="{FEB32645-257C-4257-A67A-203A4D6D4CC2}"/>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73200"/>
            <a:ext cx="8229600" cy="966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45072" name="Picture 69">
            <a:extLst>
              <a:ext uri="{FF2B5EF4-FFF2-40B4-BE49-F238E27FC236}">
                <a16:creationId xmlns:a16="http://schemas.microsoft.com/office/drawing/2014/main" id="{AC10DC8C-2E93-40E8-BB4C-52401F354B2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3124200"/>
            <a:ext cx="8001000" cy="1338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45073" name="Picture 70">
            <a:extLst>
              <a:ext uri="{FF2B5EF4-FFF2-40B4-BE49-F238E27FC236}">
                <a16:creationId xmlns:a16="http://schemas.microsoft.com/office/drawing/2014/main" id="{28B7EF0C-B113-4FC0-A652-E087BB8658A2}"/>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876800"/>
            <a:ext cx="7905750"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7555">
                                            <p:txEl>
                                              <p:pRg st="0" end="0"/>
                                            </p:txEl>
                                          </p:spTgt>
                                        </p:tgtEl>
                                        <p:attrNameLst>
                                          <p:attrName>style.visibility</p:attrName>
                                        </p:attrNameLst>
                                      </p:cBhvr>
                                      <p:to>
                                        <p:strVal val="visible"/>
                                      </p:to>
                                    </p:set>
                                    <p:anim calcmode="lin" valueType="num">
                                      <p:cBhvr additive="base">
                                        <p:cTn id="7" dur="500" fill="hold"/>
                                        <p:tgtEl>
                                          <p:spTgt spid="407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7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7571"/>
                                        </p:tgtEl>
                                        <p:attrNameLst>
                                          <p:attrName>style.visibility</p:attrName>
                                        </p:attrNameLst>
                                      </p:cBhvr>
                                      <p:to>
                                        <p:strVal val="visible"/>
                                      </p:to>
                                    </p:set>
                                    <p:anim calcmode="lin" valueType="num">
                                      <p:cBhvr additive="base">
                                        <p:cTn id="13" dur="500" fill="hold"/>
                                        <p:tgtEl>
                                          <p:spTgt spid="407571"/>
                                        </p:tgtEl>
                                        <p:attrNameLst>
                                          <p:attrName>ppt_x</p:attrName>
                                        </p:attrNameLst>
                                      </p:cBhvr>
                                      <p:tavLst>
                                        <p:tav tm="0">
                                          <p:val>
                                            <p:strVal val="#ppt_x"/>
                                          </p:val>
                                        </p:tav>
                                        <p:tav tm="100000">
                                          <p:val>
                                            <p:strVal val="#ppt_x"/>
                                          </p:val>
                                        </p:tav>
                                      </p:tavLst>
                                    </p:anim>
                                    <p:anim calcmode="lin" valueType="num">
                                      <p:cBhvr additive="base">
                                        <p:cTn id="14" dur="500" fill="hold"/>
                                        <p:tgtEl>
                                          <p:spTgt spid="40757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7583"/>
                                        </p:tgtEl>
                                        <p:attrNameLst>
                                          <p:attrName>style.visibility</p:attrName>
                                        </p:attrNameLst>
                                      </p:cBhvr>
                                      <p:to>
                                        <p:strVal val="visible"/>
                                      </p:to>
                                    </p:set>
                                    <p:anim calcmode="lin" valueType="num">
                                      <p:cBhvr additive="base">
                                        <p:cTn id="19" dur="500" fill="hold"/>
                                        <p:tgtEl>
                                          <p:spTgt spid="407583"/>
                                        </p:tgtEl>
                                        <p:attrNameLst>
                                          <p:attrName>ppt_x</p:attrName>
                                        </p:attrNameLst>
                                      </p:cBhvr>
                                      <p:tavLst>
                                        <p:tav tm="0">
                                          <p:val>
                                            <p:strVal val="#ppt_x"/>
                                          </p:val>
                                        </p:tav>
                                        <p:tav tm="100000">
                                          <p:val>
                                            <p:strVal val="#ppt_x"/>
                                          </p:val>
                                        </p:tav>
                                      </p:tavLst>
                                    </p:anim>
                                    <p:anim calcmode="lin" valueType="num">
                                      <p:cBhvr additive="base">
                                        <p:cTn id="20" dur="500" fill="hold"/>
                                        <p:tgtEl>
                                          <p:spTgt spid="40758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7598"/>
                                        </p:tgtEl>
                                        <p:attrNameLst>
                                          <p:attrName>style.visibility</p:attrName>
                                        </p:attrNameLst>
                                      </p:cBhvr>
                                      <p:to>
                                        <p:strVal val="visible"/>
                                      </p:to>
                                    </p:set>
                                    <p:anim calcmode="lin" valueType="num">
                                      <p:cBhvr additive="base">
                                        <p:cTn id="25" dur="500" fill="hold"/>
                                        <p:tgtEl>
                                          <p:spTgt spid="407598"/>
                                        </p:tgtEl>
                                        <p:attrNameLst>
                                          <p:attrName>ppt_x</p:attrName>
                                        </p:attrNameLst>
                                      </p:cBhvr>
                                      <p:tavLst>
                                        <p:tav tm="0">
                                          <p:val>
                                            <p:strVal val="#ppt_x"/>
                                          </p:val>
                                        </p:tav>
                                        <p:tav tm="100000">
                                          <p:val>
                                            <p:strVal val="#ppt_x"/>
                                          </p:val>
                                        </p:tav>
                                      </p:tavLst>
                                    </p:anim>
                                    <p:anim calcmode="lin" valueType="num">
                                      <p:cBhvr additive="base">
                                        <p:cTn id="26" dur="500" fill="hold"/>
                                        <p:tgtEl>
                                          <p:spTgt spid="4075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P spid="407571" grpId="0"/>
      <p:bldP spid="407583" grpId="0"/>
      <p:bldP spid="40759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1665B547-E8F6-4F32-A130-1E820AE2D352}"/>
              </a:ext>
            </a:extLst>
          </p:cNvPr>
          <p:cNvSpPr>
            <a:spLocks noGrp="1" noChangeArrowheads="1"/>
          </p:cNvSpPr>
          <p:nvPr>
            <p:ph type="title"/>
          </p:nvPr>
        </p:nvSpPr>
        <p:spPr>
          <a:xfrm>
            <a:off x="0" y="152400"/>
            <a:ext cx="8839200" cy="533400"/>
          </a:xfrm>
        </p:spPr>
        <p:txBody>
          <a:bodyPr/>
          <a:lstStyle/>
          <a:p>
            <a:r>
              <a:rPr lang="en-US" altLang="en-US" sz="3600"/>
              <a:t>Radix Sort Animation</a:t>
            </a:r>
          </a:p>
        </p:txBody>
      </p:sp>
      <p:sp>
        <p:nvSpPr>
          <p:cNvPr id="46082" name="Slide Number Placeholder 4">
            <a:extLst>
              <a:ext uri="{FF2B5EF4-FFF2-40B4-BE49-F238E27FC236}">
                <a16:creationId xmlns:a16="http://schemas.microsoft.com/office/drawing/2014/main" id="{DE082C2F-4B22-4020-BBF6-37ADA4AFF85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2E83A4-61DC-40EC-878B-AE8710990AED}" type="slidenum">
              <a:rPr lang="en-US" altLang="en-US" sz="1400"/>
              <a:pPr>
                <a:spcBef>
                  <a:spcPct val="0"/>
                </a:spcBef>
                <a:buClrTx/>
                <a:buSzTx/>
                <a:buFontTx/>
                <a:buNone/>
              </a:pPr>
              <a:t>43</a:t>
            </a:fld>
            <a:endParaRPr lang="en-US" altLang="en-US" sz="1400"/>
          </a:p>
        </p:txBody>
      </p:sp>
      <p:pic>
        <p:nvPicPr>
          <p:cNvPr id="46095" name="Picture 16">
            <a:extLst>
              <a:ext uri="{FF2B5EF4-FFF2-40B4-BE49-F238E27FC236}">
                <a16:creationId xmlns:a16="http://schemas.microsoft.com/office/drawing/2014/main" id="{1650A936-FEAD-4267-A49D-E41E6F155550}"/>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873250"/>
            <a:ext cx="7239000" cy="4605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46096" name="AutoShape 19">
            <a:hlinkClick r:id="rId3" highlightClick="1"/>
            <a:extLst>
              <a:ext uri="{FF2B5EF4-FFF2-40B4-BE49-F238E27FC236}">
                <a16:creationId xmlns:a16="http://schemas.microsoft.com/office/drawing/2014/main" id="{BE3442F4-D33C-4482-A8BE-AB16188279C6}"/>
              </a:ext>
              <a:ext uri="{C183D7F6-B498-43B3-948B-1728B52AA6E4}">
                <adec:decorative xmlns:adec="http://schemas.microsoft.com/office/drawing/2017/decorative" val="1"/>
              </a:ext>
            </a:extLst>
          </p:cNvPr>
          <p:cNvSpPr>
            <a:spLocks noChangeArrowheads="1"/>
          </p:cNvSpPr>
          <p:nvPr/>
        </p:nvSpPr>
        <p:spPr bwMode="auto">
          <a:xfrm>
            <a:off x="457200" y="1397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97" name="Rectangle 2">
            <a:extLst>
              <a:ext uri="{FF2B5EF4-FFF2-40B4-BE49-F238E27FC236}">
                <a16:creationId xmlns:a16="http://schemas.microsoft.com/office/drawing/2014/main" id="{C2039E02-F5AA-417A-B694-9D097D3D0231}"/>
              </a:ext>
            </a:extLst>
          </p:cNvPr>
          <p:cNvSpPr txBox="1">
            <a:spLocks noChangeArrowheads="1"/>
          </p:cNvSpPr>
          <p:nvPr/>
        </p:nvSpPr>
        <p:spPr bwMode="auto">
          <a:xfrm>
            <a:off x="152400" y="884238"/>
            <a:ext cx="8839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rPr>
              <a:t>https://liveexample.pearsoncmg.com/dsanimation/RadixSorteBook.html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8D7D5B45-9588-4A90-A21E-798EA7878737}"/>
              </a:ext>
            </a:extLst>
          </p:cNvPr>
          <p:cNvSpPr>
            <a:spLocks noGrp="1" noChangeArrowheads="1"/>
          </p:cNvSpPr>
          <p:nvPr>
            <p:ph type="title"/>
          </p:nvPr>
        </p:nvSpPr>
        <p:spPr>
          <a:xfrm>
            <a:off x="685800" y="228600"/>
            <a:ext cx="7772400" cy="685800"/>
          </a:xfrm>
        </p:spPr>
        <p:txBody>
          <a:bodyPr/>
          <a:lstStyle/>
          <a:p>
            <a:r>
              <a:rPr lang="en-US" altLang="en-US" dirty="0"/>
              <a:t>External Sort</a:t>
            </a:r>
          </a:p>
        </p:txBody>
      </p:sp>
      <p:sp>
        <p:nvSpPr>
          <p:cNvPr id="47108" name="Rectangle 3">
            <a:extLst>
              <a:ext uri="{FF2B5EF4-FFF2-40B4-BE49-F238E27FC236}">
                <a16:creationId xmlns:a16="http://schemas.microsoft.com/office/drawing/2014/main" id="{FE3B2CC9-C8FE-4718-B9F4-FCAC457AF651}"/>
              </a:ext>
            </a:extLst>
          </p:cNvPr>
          <p:cNvSpPr>
            <a:spLocks noGrp="1" noChangeArrowheads="1"/>
          </p:cNvSpPr>
          <p:nvPr>
            <p:ph idx="1"/>
          </p:nvPr>
        </p:nvSpPr>
        <p:spPr>
          <a:xfrm>
            <a:off x="228600" y="1066800"/>
            <a:ext cx="8686800" cy="2819400"/>
          </a:xfrm>
        </p:spPr>
        <p:txBody>
          <a:bodyPr/>
          <a:lstStyle/>
          <a:p>
            <a:pPr marL="0" indent="0">
              <a:spcBef>
                <a:spcPct val="0"/>
              </a:spcBef>
              <a:buFont typeface="Monotype Sorts"/>
              <a:buNone/>
            </a:pPr>
            <a:r>
              <a:rPr lang="en-US" altLang="en-US" sz="2800" dirty="0"/>
              <a:t>All the sort algorithms discussed in the preceding sections assume that all data to be sorted is available at one time in internal memory such as an array. To sort data stored in an external file, you may first bring data to the memory, then sort it internally. However, if the file is too large, all data in the file cannot be brought to memory at one time. </a:t>
            </a:r>
          </a:p>
        </p:txBody>
      </p:sp>
      <p:sp>
        <p:nvSpPr>
          <p:cNvPr id="47106" name="Slide Number Placeholder 4">
            <a:extLst>
              <a:ext uri="{FF2B5EF4-FFF2-40B4-BE49-F238E27FC236}">
                <a16:creationId xmlns:a16="http://schemas.microsoft.com/office/drawing/2014/main" id="{5DFD33C2-EFF6-4F33-9EE7-1F12BD12DB1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5CCACED-7799-45C5-9E32-24F66D60DD06}" type="slidenum">
              <a:rPr lang="en-US" altLang="en-US" sz="1400"/>
              <a:pPr>
                <a:spcBef>
                  <a:spcPct val="0"/>
                </a:spcBef>
                <a:buClrTx/>
                <a:buSzTx/>
                <a:buFontTx/>
                <a:buNone/>
              </a:pPr>
              <a:t>44</a:t>
            </a:fld>
            <a:endParaRPr lang="en-US" altLang="en-US" sz="1400"/>
          </a:p>
        </p:txBody>
      </p:sp>
      <p:graphicFrame>
        <p:nvGraphicFramePr>
          <p:cNvPr id="47115" name="Object 10">
            <a:extLst>
              <a:ext uri="{FF2B5EF4-FFF2-40B4-BE49-F238E27FC236}">
                <a16:creationId xmlns:a16="http://schemas.microsoft.com/office/drawing/2014/main" id="{3D00465E-42F8-42B9-B9FC-49B68828B98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830742514"/>
              </p:ext>
            </p:extLst>
          </p:nvPr>
        </p:nvGraphicFramePr>
        <p:xfrm>
          <a:off x="0" y="3810000"/>
          <a:ext cx="7239000" cy="2424113"/>
        </p:xfrm>
        <a:graphic>
          <a:graphicData uri="http://schemas.openxmlformats.org/presentationml/2006/ole">
            <mc:AlternateContent xmlns:mc="http://schemas.openxmlformats.org/markup-compatibility/2006">
              <mc:Choice xmlns:v="urn:schemas-microsoft-com:vml" Requires="v">
                <p:oleObj name="Picture" r:id="rId2" imgW="5170884" imgH="1724337" progId="Word.Picture.8">
                  <p:embed/>
                </p:oleObj>
              </mc:Choice>
              <mc:Fallback>
                <p:oleObj name="Picture" r:id="rId2" imgW="5170884" imgH="1724337" progId="Word.Picture.8">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10000"/>
                        <a:ext cx="7239000" cy="2424113"/>
                      </a:xfrm>
                      <a:prstGeom prst="rect">
                        <a:avLst/>
                      </a:prstGeom>
                      <a:noFill/>
                      <a:ln>
                        <a:noFill/>
                      </a:ln>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6" name="Rectangle 18">
            <a:hlinkClick r:id="rId4"/>
            <a:extLst>
              <a:ext uri="{FF2B5EF4-FFF2-40B4-BE49-F238E27FC236}">
                <a16:creationId xmlns:a16="http://schemas.microsoft.com/office/drawing/2014/main" id="{CCC59B6C-E9FD-40AD-B315-EB8D6891C3E9}"/>
              </a:ext>
            </a:extLst>
          </p:cNvPr>
          <p:cNvSpPr>
            <a:spLocks noChangeArrowheads="1"/>
          </p:cNvSpPr>
          <p:nvPr/>
        </p:nvSpPr>
        <p:spPr bwMode="auto">
          <a:xfrm>
            <a:off x="6180138" y="3900488"/>
            <a:ext cx="1954212"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CreateLargeFile</a:t>
            </a:r>
          </a:p>
        </p:txBody>
      </p:sp>
      <p:sp>
        <p:nvSpPr>
          <p:cNvPr id="47117" name="Rectangle 20">
            <a:hlinkClick r:id="rId5"/>
            <a:extLst>
              <a:ext uri="{FF2B5EF4-FFF2-40B4-BE49-F238E27FC236}">
                <a16:creationId xmlns:a16="http://schemas.microsoft.com/office/drawing/2014/main" id="{932B8636-05DF-4E7D-BFEC-DED0A98362F7}"/>
              </a:ext>
            </a:extLst>
          </p:cNvPr>
          <p:cNvSpPr>
            <a:spLocks noChangeArrowheads="1"/>
          </p:cNvSpPr>
          <p:nvPr/>
        </p:nvSpPr>
        <p:spPr bwMode="auto">
          <a:xfrm>
            <a:off x="6194425" y="6075363"/>
            <a:ext cx="19542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SortLargeFile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75818C60-949D-412B-B7A7-5A6ADBDC35C6}"/>
              </a:ext>
            </a:extLst>
          </p:cNvPr>
          <p:cNvSpPr>
            <a:spLocks noGrp="1" noChangeArrowheads="1"/>
          </p:cNvSpPr>
          <p:nvPr>
            <p:ph type="title"/>
          </p:nvPr>
        </p:nvSpPr>
        <p:spPr>
          <a:xfrm>
            <a:off x="685800" y="228600"/>
            <a:ext cx="7772400" cy="685800"/>
          </a:xfrm>
        </p:spPr>
        <p:txBody>
          <a:bodyPr/>
          <a:lstStyle/>
          <a:p>
            <a:r>
              <a:rPr lang="en-US" altLang="en-US"/>
              <a:t>Phase I</a:t>
            </a:r>
          </a:p>
        </p:txBody>
      </p:sp>
      <p:sp>
        <p:nvSpPr>
          <p:cNvPr id="48132" name="Rectangle 3">
            <a:extLst>
              <a:ext uri="{FF2B5EF4-FFF2-40B4-BE49-F238E27FC236}">
                <a16:creationId xmlns:a16="http://schemas.microsoft.com/office/drawing/2014/main" id="{E724E22C-E43F-4302-BF86-6D9E32E30C9A}"/>
              </a:ext>
            </a:extLst>
          </p:cNvPr>
          <p:cNvSpPr>
            <a:spLocks noGrp="1" noChangeArrowheads="1"/>
          </p:cNvSpPr>
          <p:nvPr>
            <p:ph idx="1"/>
          </p:nvPr>
        </p:nvSpPr>
        <p:spPr>
          <a:xfrm>
            <a:off x="381000" y="1295400"/>
            <a:ext cx="8534400" cy="1981200"/>
          </a:xfrm>
        </p:spPr>
        <p:txBody>
          <a:bodyPr/>
          <a:lstStyle/>
          <a:p>
            <a:pPr marL="0" indent="0">
              <a:spcBef>
                <a:spcPct val="0"/>
              </a:spcBef>
              <a:buFont typeface="Monotype Sorts"/>
              <a:buNone/>
            </a:pPr>
            <a:r>
              <a:rPr lang="en-US" altLang="en-US"/>
              <a:t>Repeatedly bring data from the file to an array, sort the array using an internal sorting algorithm, and output the data from the array to a temporary file. </a:t>
            </a:r>
          </a:p>
        </p:txBody>
      </p:sp>
      <p:sp>
        <p:nvSpPr>
          <p:cNvPr id="48130" name="Slide Number Placeholder 4">
            <a:extLst>
              <a:ext uri="{FF2B5EF4-FFF2-40B4-BE49-F238E27FC236}">
                <a16:creationId xmlns:a16="http://schemas.microsoft.com/office/drawing/2014/main" id="{BBF85FA1-0FDE-4CED-8D56-AFA97290541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24CCCBE-D8E8-4412-BBF6-89EC0203D826}" type="slidenum">
              <a:rPr lang="en-US" altLang="en-US" sz="1400"/>
              <a:pPr>
                <a:spcBef>
                  <a:spcPct val="0"/>
                </a:spcBef>
                <a:buClrTx/>
                <a:buSzTx/>
                <a:buFontTx/>
                <a:buNone/>
              </a:pPr>
              <a:t>45</a:t>
            </a:fld>
            <a:endParaRPr lang="en-US" altLang="en-US" sz="1400"/>
          </a:p>
        </p:txBody>
      </p:sp>
      <p:graphicFrame>
        <p:nvGraphicFramePr>
          <p:cNvPr id="48139" name="Object 10">
            <a:extLst>
              <a:ext uri="{FF2B5EF4-FFF2-40B4-BE49-F238E27FC236}">
                <a16:creationId xmlns:a16="http://schemas.microsoft.com/office/drawing/2014/main" id="{FB31CB2C-05D7-440B-8E30-F720DA1C5D4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603486408"/>
              </p:ext>
            </p:extLst>
          </p:nvPr>
        </p:nvGraphicFramePr>
        <p:xfrm>
          <a:off x="1143000" y="3276600"/>
          <a:ext cx="7239000" cy="2424113"/>
        </p:xfrm>
        <a:graphic>
          <a:graphicData uri="http://schemas.openxmlformats.org/presentationml/2006/ole">
            <mc:AlternateContent xmlns:mc="http://schemas.openxmlformats.org/markup-compatibility/2006">
              <mc:Choice xmlns:v="urn:schemas-microsoft-com:vml" Requires="v">
                <p:oleObj name="Picture" r:id="rId2" imgW="5170884" imgH="1724337" progId="Word.Picture.8">
                  <p:embed/>
                </p:oleObj>
              </mc:Choice>
              <mc:Fallback>
                <p:oleObj name="Picture" r:id="rId2" imgW="5170884" imgH="1724337" progId="Word.Picture.8">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276600"/>
                        <a:ext cx="7239000" cy="2424113"/>
                      </a:xfrm>
                      <a:prstGeom prst="rect">
                        <a:avLst/>
                      </a:prstGeom>
                      <a:noFill/>
                      <a:ln>
                        <a:noFill/>
                      </a:ln>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a:extLst>
              <a:ext uri="{FF2B5EF4-FFF2-40B4-BE49-F238E27FC236}">
                <a16:creationId xmlns:a16="http://schemas.microsoft.com/office/drawing/2014/main" id="{1A00CDC2-8CCB-4232-BB02-6C62FA149DDE}"/>
              </a:ext>
            </a:extLst>
          </p:cNvPr>
          <p:cNvSpPr>
            <a:spLocks noGrp="1" noChangeArrowheads="1"/>
          </p:cNvSpPr>
          <p:nvPr>
            <p:ph type="title"/>
          </p:nvPr>
        </p:nvSpPr>
        <p:spPr>
          <a:xfrm>
            <a:off x="685800" y="228600"/>
            <a:ext cx="7772400" cy="685800"/>
          </a:xfrm>
        </p:spPr>
        <p:txBody>
          <a:bodyPr/>
          <a:lstStyle/>
          <a:p>
            <a:r>
              <a:rPr lang="en-US" altLang="en-US"/>
              <a:t>Phase II</a:t>
            </a:r>
          </a:p>
        </p:txBody>
      </p:sp>
      <p:sp>
        <p:nvSpPr>
          <p:cNvPr id="49156" name="Rectangle 3">
            <a:extLst>
              <a:ext uri="{FF2B5EF4-FFF2-40B4-BE49-F238E27FC236}">
                <a16:creationId xmlns:a16="http://schemas.microsoft.com/office/drawing/2014/main" id="{CAB8BF0C-29E5-4380-8C36-CBB6FC35C616}"/>
              </a:ext>
            </a:extLst>
          </p:cNvPr>
          <p:cNvSpPr>
            <a:spLocks noGrp="1" noChangeArrowheads="1"/>
          </p:cNvSpPr>
          <p:nvPr>
            <p:ph idx="1"/>
          </p:nvPr>
        </p:nvSpPr>
        <p:spPr>
          <a:xfrm>
            <a:off x="304800" y="914400"/>
            <a:ext cx="8610600" cy="2286000"/>
          </a:xfrm>
        </p:spPr>
        <p:txBody>
          <a:bodyPr/>
          <a:lstStyle/>
          <a:p>
            <a:pPr marL="0" indent="0">
              <a:spcBef>
                <a:spcPct val="0"/>
              </a:spcBef>
              <a:buFont typeface="Monotype Sorts"/>
              <a:buNone/>
            </a:pPr>
            <a:r>
              <a:rPr lang="en-US" altLang="en-US"/>
              <a:t>Merge a pair of sorted segments (e.g., S1 with S2, S3 with S4, ..., and so on) into a larger sorted segment and save the new segment into a new temporary file. Continue the same process until one sorted segment results. </a:t>
            </a:r>
          </a:p>
        </p:txBody>
      </p:sp>
      <p:sp>
        <p:nvSpPr>
          <p:cNvPr id="49154" name="Slide Number Placeholder 4">
            <a:extLst>
              <a:ext uri="{FF2B5EF4-FFF2-40B4-BE49-F238E27FC236}">
                <a16:creationId xmlns:a16="http://schemas.microsoft.com/office/drawing/2014/main" id="{A60DE7D4-A979-40F3-8B12-6ADE416D935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1316A4B-AE13-4C6F-83DF-9414D192822F}" type="slidenum">
              <a:rPr lang="en-US" altLang="en-US" sz="1400"/>
              <a:pPr>
                <a:spcBef>
                  <a:spcPct val="0"/>
                </a:spcBef>
                <a:buClrTx/>
                <a:buSzTx/>
                <a:buFontTx/>
                <a:buNone/>
              </a:pPr>
              <a:t>46</a:t>
            </a:fld>
            <a:endParaRPr lang="en-US" altLang="en-US" sz="1400"/>
          </a:p>
        </p:txBody>
      </p:sp>
      <p:graphicFrame>
        <p:nvGraphicFramePr>
          <p:cNvPr id="49164" name="Object 11">
            <a:extLst>
              <a:ext uri="{FF2B5EF4-FFF2-40B4-BE49-F238E27FC236}">
                <a16:creationId xmlns:a16="http://schemas.microsoft.com/office/drawing/2014/main" id="{FF662DFB-EF52-41CC-89D8-648CFEE926E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89168902"/>
              </p:ext>
            </p:extLst>
          </p:nvPr>
        </p:nvGraphicFramePr>
        <p:xfrm>
          <a:off x="1143000" y="3581400"/>
          <a:ext cx="6781800" cy="2852738"/>
        </p:xfrm>
        <a:graphic>
          <a:graphicData uri="http://schemas.openxmlformats.org/presentationml/2006/ole">
            <mc:AlternateContent xmlns:mc="http://schemas.openxmlformats.org/markup-compatibility/2006">
              <mc:Choice xmlns:v="urn:schemas-microsoft-com:vml" Requires="v">
                <p:oleObj name="Picture" r:id="rId2" imgW="4840613" imgH="2028442" progId="Word.Picture.8">
                  <p:embed/>
                </p:oleObj>
              </mc:Choice>
              <mc:Fallback>
                <p:oleObj name="Picture" r:id="rId2" imgW="4840613" imgH="2028442" progId="Word.Picture.8">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581400"/>
                        <a:ext cx="6781800" cy="285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499B4ADF-584C-464A-84B7-FE2BABA010E1}"/>
              </a:ext>
            </a:extLst>
          </p:cNvPr>
          <p:cNvSpPr>
            <a:spLocks noGrp="1" noChangeArrowheads="1"/>
          </p:cNvSpPr>
          <p:nvPr>
            <p:ph type="title"/>
          </p:nvPr>
        </p:nvSpPr>
        <p:spPr>
          <a:xfrm>
            <a:off x="685800" y="228600"/>
            <a:ext cx="7772400" cy="685800"/>
          </a:xfrm>
        </p:spPr>
        <p:txBody>
          <a:bodyPr/>
          <a:lstStyle/>
          <a:p>
            <a:r>
              <a:rPr lang="en-US" altLang="en-US"/>
              <a:t>Implementing Phase II</a:t>
            </a:r>
          </a:p>
        </p:txBody>
      </p:sp>
      <p:sp>
        <p:nvSpPr>
          <p:cNvPr id="50180" name="Rectangle 3">
            <a:extLst>
              <a:ext uri="{FF2B5EF4-FFF2-40B4-BE49-F238E27FC236}">
                <a16:creationId xmlns:a16="http://schemas.microsoft.com/office/drawing/2014/main" id="{FC78A160-0D8B-41A6-BF61-5A2985B068BA}"/>
              </a:ext>
            </a:extLst>
          </p:cNvPr>
          <p:cNvSpPr>
            <a:spLocks noGrp="1" noChangeArrowheads="1"/>
          </p:cNvSpPr>
          <p:nvPr>
            <p:ph idx="1"/>
          </p:nvPr>
        </p:nvSpPr>
        <p:spPr>
          <a:xfrm>
            <a:off x="304800" y="914400"/>
            <a:ext cx="8610600" cy="5410200"/>
          </a:xfrm>
        </p:spPr>
        <p:txBody>
          <a:bodyPr/>
          <a:lstStyle/>
          <a:p>
            <a:pPr>
              <a:spcBef>
                <a:spcPct val="0"/>
              </a:spcBef>
              <a:buFont typeface="Wingdings" panose="05000000000000000000" pitchFamily="2" charset="2"/>
              <a:buChar char="§"/>
            </a:pPr>
            <a:r>
              <a:rPr lang="en-US" altLang="en-US" sz="2800" dirty="0"/>
              <a:t>Each merge step merges two sorted segments to form a new segment. </a:t>
            </a:r>
          </a:p>
          <a:p>
            <a:pPr>
              <a:spcBef>
                <a:spcPct val="0"/>
              </a:spcBef>
              <a:buFont typeface="Wingdings" panose="05000000000000000000" pitchFamily="2" charset="2"/>
              <a:buChar char="§"/>
            </a:pPr>
            <a:r>
              <a:rPr lang="en-US" altLang="en-US" sz="2800" dirty="0"/>
              <a:t>The new segment doubles the number elements. </a:t>
            </a:r>
          </a:p>
          <a:p>
            <a:pPr>
              <a:spcBef>
                <a:spcPct val="0"/>
              </a:spcBef>
              <a:buFont typeface="Wingdings" panose="05000000000000000000" pitchFamily="2" charset="2"/>
              <a:buChar char="§"/>
            </a:pPr>
            <a:r>
              <a:rPr lang="en-US" altLang="en-US" sz="2800" dirty="0"/>
              <a:t>So, the number of segments is reduced by half after each merge step. </a:t>
            </a:r>
          </a:p>
          <a:p>
            <a:pPr>
              <a:spcBef>
                <a:spcPct val="0"/>
              </a:spcBef>
              <a:buFont typeface="Wingdings" panose="05000000000000000000" pitchFamily="2" charset="2"/>
              <a:buChar char="§"/>
            </a:pPr>
            <a:r>
              <a:rPr lang="en-US" altLang="en-US" sz="2800" dirty="0"/>
              <a:t>A segment is too large to be brought to an array in memory. </a:t>
            </a:r>
          </a:p>
          <a:p>
            <a:pPr>
              <a:spcBef>
                <a:spcPct val="0"/>
              </a:spcBef>
              <a:buFont typeface="Wingdings" panose="05000000000000000000" pitchFamily="2" charset="2"/>
              <a:buChar char="§"/>
            </a:pPr>
            <a:r>
              <a:rPr lang="en-US" altLang="en-US" sz="2800" dirty="0"/>
              <a:t>To implement a merge step, copy half number of segments from file f1.dat to a temporary file f2.dat. </a:t>
            </a:r>
          </a:p>
          <a:p>
            <a:pPr>
              <a:spcBef>
                <a:spcPct val="0"/>
              </a:spcBef>
              <a:buFont typeface="Wingdings" panose="05000000000000000000" pitchFamily="2" charset="2"/>
              <a:buChar char="§"/>
            </a:pPr>
            <a:r>
              <a:rPr lang="en-US" altLang="en-US" sz="2800" dirty="0"/>
              <a:t>Then merge the first remaining segment in f1.dat with the first segment in f2.dat into a temporary file named f3.dat.</a:t>
            </a:r>
          </a:p>
        </p:txBody>
      </p:sp>
      <p:sp>
        <p:nvSpPr>
          <p:cNvPr id="50178" name="Slide Number Placeholder 4">
            <a:extLst>
              <a:ext uri="{FF2B5EF4-FFF2-40B4-BE49-F238E27FC236}">
                <a16:creationId xmlns:a16="http://schemas.microsoft.com/office/drawing/2014/main" id="{E2156440-86F6-48BA-8E74-F01E27BD20C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85A46A4-6238-43AC-A5B3-0FB7771D10C5}" type="slidenum">
              <a:rPr lang="en-US" altLang="en-US" sz="1400"/>
              <a:pPr>
                <a:spcBef>
                  <a:spcPct val="0"/>
                </a:spcBef>
                <a:buClrTx/>
                <a:buSzTx/>
                <a:buFontTx/>
                <a:buNone/>
              </a:pPr>
              <a:t>47</a:t>
            </a:fld>
            <a:endParaRPr lang="en-US" altLang="en-US"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a:extLst>
              <a:ext uri="{FF2B5EF4-FFF2-40B4-BE49-F238E27FC236}">
                <a16:creationId xmlns:a16="http://schemas.microsoft.com/office/drawing/2014/main" id="{178D9952-F7FE-43C7-A801-510D4721F8CF}"/>
              </a:ext>
            </a:extLst>
          </p:cNvPr>
          <p:cNvSpPr>
            <a:spLocks noGrp="1" noChangeArrowheads="1"/>
          </p:cNvSpPr>
          <p:nvPr>
            <p:ph type="title"/>
          </p:nvPr>
        </p:nvSpPr>
        <p:spPr>
          <a:xfrm>
            <a:off x="685800" y="228600"/>
            <a:ext cx="7772400" cy="685800"/>
          </a:xfrm>
        </p:spPr>
        <p:txBody>
          <a:bodyPr/>
          <a:lstStyle/>
          <a:p>
            <a:r>
              <a:rPr lang="en-US" altLang="en-US"/>
              <a:t>Implementing Phase II</a:t>
            </a:r>
          </a:p>
        </p:txBody>
      </p:sp>
      <p:sp>
        <p:nvSpPr>
          <p:cNvPr id="51202" name="Slide Number Placeholder 4">
            <a:extLst>
              <a:ext uri="{FF2B5EF4-FFF2-40B4-BE49-F238E27FC236}">
                <a16:creationId xmlns:a16="http://schemas.microsoft.com/office/drawing/2014/main" id="{5251473B-6320-4756-8797-194227652F8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5849591-09E8-466C-B817-AD7EF01B0F2C}" type="slidenum">
              <a:rPr lang="en-US" altLang="en-US" sz="1400"/>
              <a:pPr>
                <a:spcBef>
                  <a:spcPct val="0"/>
                </a:spcBef>
                <a:buClrTx/>
                <a:buSzTx/>
                <a:buFontTx/>
                <a:buNone/>
              </a:pPr>
              <a:t>48</a:t>
            </a:fld>
            <a:endParaRPr lang="en-US" altLang="en-US" sz="1400"/>
          </a:p>
        </p:txBody>
      </p:sp>
      <p:graphicFrame>
        <p:nvGraphicFramePr>
          <p:cNvPr id="51211" name="Object 12">
            <a:extLst>
              <a:ext uri="{FF2B5EF4-FFF2-40B4-BE49-F238E27FC236}">
                <a16:creationId xmlns:a16="http://schemas.microsoft.com/office/drawing/2014/main" id="{8A28386F-E5B2-4847-86E9-051DF35BD8C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79741076"/>
              </p:ext>
            </p:extLst>
          </p:nvPr>
        </p:nvGraphicFramePr>
        <p:xfrm>
          <a:off x="228600" y="1524000"/>
          <a:ext cx="8534400" cy="2598738"/>
        </p:xfrm>
        <a:graphic>
          <a:graphicData uri="http://schemas.openxmlformats.org/presentationml/2006/ole">
            <mc:AlternateContent xmlns:mc="http://schemas.openxmlformats.org/markup-compatibility/2006">
              <mc:Choice xmlns:v="urn:schemas-microsoft-com:vml" Requires="v">
                <p:oleObj name="Picture" r:id="rId2" imgW="4954785" imgH="1508660" progId="Word.Picture.8">
                  <p:embed/>
                </p:oleObj>
              </mc:Choice>
              <mc:Fallback>
                <p:oleObj name="Picture" r:id="rId2" imgW="4954785" imgH="1508660" progId="Word.Picture.8">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24000"/>
                        <a:ext cx="8534400"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theme/theme1.xml><?xml version="1.0" encoding="utf-8"?>
<a:theme xmlns:a="http://schemas.openxmlformats.org/drawingml/2006/main" name="Internatio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22 Developing Efficient Algorithms</Template>
  <TotalTime>34798</TotalTime>
  <Words>2513</Words>
  <Application>Microsoft Office PowerPoint</Application>
  <PresentationFormat>On-screen Show (4:3)</PresentationFormat>
  <Paragraphs>275</Paragraphs>
  <Slides>48</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48</vt:i4>
      </vt:variant>
    </vt:vector>
  </HeadingPairs>
  <TitlesOfParts>
    <vt:vector size="58" baseType="lpstr">
      <vt:lpstr>Arial</vt:lpstr>
      <vt:lpstr>Book Antiqua</vt:lpstr>
      <vt:lpstr>Courier New</vt:lpstr>
      <vt:lpstr>Forte</vt:lpstr>
      <vt:lpstr>Monotype Sorts</vt:lpstr>
      <vt:lpstr>Times New Roman</vt:lpstr>
      <vt:lpstr>Wingdings</vt:lpstr>
      <vt:lpstr>International</vt:lpstr>
      <vt:lpstr>Picture</vt:lpstr>
      <vt:lpstr>Equation</vt:lpstr>
      <vt:lpstr>Chapter 23 Sorting</vt:lpstr>
      <vt:lpstr>Objectives</vt:lpstr>
      <vt:lpstr>Why Study Sorting? </vt:lpstr>
      <vt:lpstr>What Data To Sort?</vt:lpstr>
      <vt:lpstr>Insertion Sort</vt:lpstr>
      <vt:lpstr>Insertion Sort Animation</vt:lpstr>
      <vt:lpstr>Insertion Sort</vt:lpstr>
      <vt:lpstr>How to Insert?</vt:lpstr>
      <vt:lpstr>From Idea to Solution</vt:lpstr>
      <vt:lpstr>From Idea to Solution</vt:lpstr>
      <vt:lpstr>Bubble Sort</vt:lpstr>
      <vt:lpstr>Bubble Sort Animation</vt:lpstr>
      <vt:lpstr>Merge Sort</vt:lpstr>
      <vt:lpstr>Merge Sort</vt:lpstr>
      <vt:lpstr>Merge Two Sorted Lists</vt:lpstr>
      <vt:lpstr>Merge Sort Time</vt:lpstr>
      <vt:lpstr>Merge Sort Time</vt:lpstr>
      <vt:lpstr>Quick Sort</vt:lpstr>
      <vt:lpstr>Quick Sort</vt:lpstr>
      <vt:lpstr>Partition</vt:lpstr>
      <vt:lpstr>Quick Sort Time</vt:lpstr>
      <vt:lpstr>Worst-Case Time</vt:lpstr>
      <vt:lpstr>Best-Case Time</vt:lpstr>
      <vt:lpstr>Average-Case Time</vt:lpstr>
      <vt:lpstr>Heap</vt:lpstr>
      <vt:lpstr>Complete Binary Tree</vt:lpstr>
      <vt:lpstr>See How a Heap Works</vt:lpstr>
      <vt:lpstr>Representing a Heap</vt:lpstr>
      <vt:lpstr>Adding Elements to the Heap</vt:lpstr>
      <vt:lpstr>Rebuild the heap after adding a new node</vt:lpstr>
      <vt:lpstr>Removing the Root and Rebuild the Tree</vt:lpstr>
      <vt:lpstr>Removing the Root and Rebuild the Tree</vt:lpstr>
      <vt:lpstr>Removing the Root and Rebuild the Tree</vt:lpstr>
      <vt:lpstr>Removing the Root and Rebuild the Tree</vt:lpstr>
      <vt:lpstr>Removing the Root and Rebuild the Tree</vt:lpstr>
      <vt:lpstr>The Heap Class</vt:lpstr>
      <vt:lpstr>Heap Sort</vt:lpstr>
      <vt:lpstr>Heap Sort Time</vt:lpstr>
      <vt:lpstr>Bucket Sort and Radix Sort </vt:lpstr>
      <vt:lpstr>Bucket Sort</vt:lpstr>
      <vt:lpstr>Radix Sort</vt:lpstr>
      <vt:lpstr>Radix Sort</vt:lpstr>
      <vt:lpstr>Radix Sort Animation</vt:lpstr>
      <vt:lpstr>External Sort</vt:lpstr>
      <vt:lpstr>Phase I</vt:lpstr>
      <vt:lpstr>Phase II</vt:lpstr>
      <vt:lpstr>Implementing Phase II</vt:lpstr>
      <vt:lpstr>Implementing Phase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 Multithreading</dc:title>
  <dc:creator>Y. Daniel Liang</dc:creator>
  <cp:lastModifiedBy>Nguyen, Phuong Tran Lan</cp:lastModifiedBy>
  <cp:revision>219</cp:revision>
  <dcterms:created xsi:type="dcterms:W3CDTF">1995-06-10T17:31:50Z</dcterms:created>
  <dcterms:modified xsi:type="dcterms:W3CDTF">2025-10-21T16:36:34Z</dcterms:modified>
</cp:coreProperties>
</file>