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24" r:id="rId1"/>
  </p:sldMasterIdLst>
  <p:notesMasterIdLst>
    <p:notesMasterId r:id="rId39"/>
  </p:notesMasterIdLst>
  <p:handoutMasterIdLst>
    <p:handoutMasterId r:id="rId40"/>
  </p:handoutMasterIdLst>
  <p:sldIdLst>
    <p:sldId id="256" r:id="rId2"/>
    <p:sldId id="283" r:id="rId3"/>
    <p:sldId id="257" r:id="rId4"/>
    <p:sldId id="377" r:id="rId5"/>
    <p:sldId id="287" r:id="rId6"/>
    <p:sldId id="293" r:id="rId7"/>
    <p:sldId id="380" r:id="rId8"/>
    <p:sldId id="357" r:id="rId9"/>
    <p:sldId id="358" r:id="rId10"/>
    <p:sldId id="372" r:id="rId11"/>
    <p:sldId id="373" r:id="rId12"/>
    <p:sldId id="374" r:id="rId13"/>
    <p:sldId id="375" r:id="rId14"/>
    <p:sldId id="376" r:id="rId15"/>
    <p:sldId id="384" r:id="rId16"/>
    <p:sldId id="385" r:id="rId17"/>
    <p:sldId id="288" r:id="rId18"/>
    <p:sldId id="378" r:id="rId19"/>
    <p:sldId id="371" r:id="rId20"/>
    <p:sldId id="389" r:id="rId21"/>
    <p:sldId id="388" r:id="rId22"/>
    <p:sldId id="294" r:id="rId23"/>
    <p:sldId id="360" r:id="rId24"/>
    <p:sldId id="295" r:id="rId25"/>
    <p:sldId id="361" r:id="rId26"/>
    <p:sldId id="297" r:id="rId27"/>
    <p:sldId id="383" r:id="rId28"/>
    <p:sldId id="366" r:id="rId29"/>
    <p:sldId id="362" r:id="rId30"/>
    <p:sldId id="363" r:id="rId31"/>
    <p:sldId id="364" r:id="rId32"/>
    <p:sldId id="365" r:id="rId33"/>
    <p:sldId id="302" r:id="rId34"/>
    <p:sldId id="387" r:id="rId35"/>
    <p:sldId id="381" r:id="rId36"/>
    <p:sldId id="386" r:id="rId37"/>
    <p:sldId id="382" r:id="rId38"/>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576">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14" autoAdjust="0"/>
    <p:restoredTop sz="94635" autoAdjust="0"/>
  </p:normalViewPr>
  <p:slideViewPr>
    <p:cSldViewPr>
      <p:cViewPr varScale="1">
        <p:scale>
          <a:sx n="56" d="100"/>
          <a:sy n="56" d="100"/>
        </p:scale>
        <p:origin x="54" y="513"/>
      </p:cViewPr>
      <p:guideLst>
        <p:guide orient="horz" pos="576"/>
        <p:guide pos="576"/>
      </p:guideLst>
    </p:cSldViewPr>
  </p:slideViewPr>
  <p:outlineViewPr>
    <p:cViewPr>
      <p:scale>
        <a:sx n="33" d="100"/>
        <a:sy n="33" d="100"/>
      </p:scale>
      <p:origin x="0" y="-4662"/>
    </p:cViewPr>
  </p:outlineViewPr>
  <p:notesTextViewPr>
    <p:cViewPr>
      <p:scale>
        <a:sx n="100" d="100"/>
        <a:sy n="100" d="100"/>
      </p:scale>
      <p:origin x="0" y="0"/>
    </p:cViewPr>
  </p:notesTextViewPr>
  <p:sorterViewPr>
    <p:cViewPr>
      <p:scale>
        <a:sx n="100" d="100"/>
        <a:sy n="100" d="100"/>
      </p:scale>
      <p:origin x="0" y="4857"/>
    </p:cViewPr>
  </p:sorterViewPr>
  <p:notesViewPr>
    <p:cSldViewPr>
      <p:cViewPr varScale="1">
        <p:scale>
          <a:sx n="40" d="100"/>
          <a:sy n="40" d="100"/>
        </p:scale>
        <p:origin x="-1404" y="-78"/>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D93E109-0656-43B2-B7DA-4B6A01C7BBF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eaLnBrk="0" hangingPunct="0">
              <a:defRPr sz="1000" i="1">
                <a:cs typeface="+mn-cs"/>
              </a:defRPr>
            </a:lvl1pPr>
          </a:lstStyle>
          <a:p>
            <a:pPr>
              <a:defRPr/>
            </a:pPr>
            <a:endParaRPr lang="en-US"/>
          </a:p>
        </p:txBody>
      </p:sp>
      <p:sp>
        <p:nvSpPr>
          <p:cNvPr id="2051" name="Rectangle 3">
            <a:extLst>
              <a:ext uri="{FF2B5EF4-FFF2-40B4-BE49-F238E27FC236}">
                <a16:creationId xmlns:a16="http://schemas.microsoft.com/office/drawing/2014/main" id="{B9048794-3637-4088-9D40-A54071077B11}"/>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eaLnBrk="0" hangingPunct="0">
              <a:defRPr sz="1000" i="1">
                <a:cs typeface="+mn-cs"/>
              </a:defRPr>
            </a:lvl1pPr>
          </a:lstStyle>
          <a:p>
            <a:pPr>
              <a:defRPr/>
            </a:pPr>
            <a:endParaRPr lang="en-US"/>
          </a:p>
        </p:txBody>
      </p:sp>
      <p:sp>
        <p:nvSpPr>
          <p:cNvPr id="3076" name="Rectangle 4">
            <a:extLst>
              <a:ext uri="{FF2B5EF4-FFF2-40B4-BE49-F238E27FC236}">
                <a16:creationId xmlns:a16="http://schemas.microsoft.com/office/drawing/2014/main" id="{0898C9A4-D114-449B-944A-E215AA5D0FA9}"/>
              </a:ext>
            </a:extLst>
          </p:cNvPr>
          <p:cNvSpPr>
            <a:spLocks noGrp="1" noRot="1" noChangeAspect="1" noChangeArrowheads="1" noTextEdit="1"/>
          </p:cNvSpPr>
          <p:nvPr>
            <p:ph type="sldImg" idx="2"/>
          </p:nvPr>
        </p:nvSpPr>
        <p:spPr bwMode="auto">
          <a:xfrm>
            <a:off x="1150938" y="692150"/>
            <a:ext cx="4556125"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7AF26C37-074F-4113-B647-EF1CEAF5B032}"/>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6D42438B-4C58-4886-8D3A-4006697CC764}"/>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eaLnBrk="0" hangingPunct="0">
              <a:defRPr sz="1000" i="1">
                <a:cs typeface="+mn-cs"/>
              </a:defRPr>
            </a:lvl1pPr>
          </a:lstStyle>
          <a:p>
            <a:pPr>
              <a:defRPr/>
            </a:pPr>
            <a:endParaRPr lang="en-US"/>
          </a:p>
        </p:txBody>
      </p:sp>
      <p:sp>
        <p:nvSpPr>
          <p:cNvPr id="2055" name="Rectangle 7">
            <a:extLst>
              <a:ext uri="{FF2B5EF4-FFF2-40B4-BE49-F238E27FC236}">
                <a16:creationId xmlns:a16="http://schemas.microsoft.com/office/drawing/2014/main" id="{C07ED21F-811F-464E-9713-309D455BA1E1}"/>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fld id="{5352FDF7-D795-467B-A2B7-09C57FEC1A1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Hình</a:t>
            </a:r>
            <a:r>
              <a:rPr lang="en-US" dirty="0"/>
              <a:t> 1 </a:t>
            </a:r>
            <a:r>
              <a:rPr lang="en-US" dirty="0" err="1"/>
              <a:t>là</a:t>
            </a:r>
            <a:r>
              <a:rPr lang="en-US" dirty="0"/>
              <a:t> complete graph, </a:t>
            </a:r>
            <a:r>
              <a:rPr lang="en-US" dirty="0" err="1"/>
              <a:t>Hình</a:t>
            </a:r>
            <a:r>
              <a:rPr lang="en-US" dirty="0"/>
              <a:t> 2 </a:t>
            </a:r>
            <a:r>
              <a:rPr lang="en-US" dirty="0" err="1"/>
              <a:t>không</a:t>
            </a:r>
            <a:r>
              <a:rPr lang="en-US" dirty="0"/>
              <a:t> </a:t>
            </a:r>
            <a:r>
              <a:rPr lang="en-US" dirty="0" err="1"/>
              <a:t>phải</a:t>
            </a:r>
            <a:r>
              <a:rPr lang="en-US" dirty="0"/>
              <a:t> complete graph</a:t>
            </a:r>
            <a:br>
              <a:rPr lang="en-US" dirty="0"/>
            </a:br>
            <a:r>
              <a:rPr lang="en-US" dirty="0"/>
              <a:t>-&gt; </a:t>
            </a:r>
            <a:r>
              <a:rPr lang="en-US" dirty="0" err="1"/>
              <a:t>nó</a:t>
            </a:r>
            <a:r>
              <a:rPr lang="en-US" dirty="0"/>
              <a:t> undirected and are simple graph.</a:t>
            </a:r>
            <a:endParaRPr lang="vi-VN" dirty="0"/>
          </a:p>
        </p:txBody>
      </p:sp>
      <p:sp>
        <p:nvSpPr>
          <p:cNvPr id="4" name="Slide Number Placeholder 3"/>
          <p:cNvSpPr>
            <a:spLocks noGrp="1"/>
          </p:cNvSpPr>
          <p:nvPr>
            <p:ph type="sldNum" sz="quarter" idx="5"/>
          </p:nvPr>
        </p:nvSpPr>
        <p:spPr/>
        <p:txBody>
          <a:bodyPr/>
          <a:lstStyle/>
          <a:p>
            <a:fld id="{5352FDF7-D795-467B-A2B7-09C57FEC1A1E}" type="slidenum">
              <a:rPr lang="en-US" altLang="en-US" smtClean="0"/>
              <a:pPr/>
              <a:t>8</a:t>
            </a:fld>
            <a:endParaRPr lang="en-US" altLang="en-US"/>
          </a:p>
        </p:txBody>
      </p:sp>
    </p:spTree>
    <p:extLst>
      <p:ext uri="{BB962C8B-B14F-4D97-AF65-F5344CB8AC3E}">
        <p14:creationId xmlns:p14="http://schemas.microsoft.com/office/powerpoint/2010/main" val="2583787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an object Edge and add Edge into a list.</a:t>
            </a:r>
            <a:endParaRPr lang="vi-VN" dirty="0"/>
          </a:p>
        </p:txBody>
      </p:sp>
      <p:sp>
        <p:nvSpPr>
          <p:cNvPr id="4" name="Slide Number Placeholder 3"/>
          <p:cNvSpPr>
            <a:spLocks noGrp="1"/>
          </p:cNvSpPr>
          <p:nvPr>
            <p:ph type="sldNum" sz="quarter" idx="5"/>
          </p:nvPr>
        </p:nvSpPr>
        <p:spPr/>
        <p:txBody>
          <a:bodyPr/>
          <a:lstStyle/>
          <a:p>
            <a:fld id="{5352FDF7-D795-467B-A2B7-09C57FEC1A1E}" type="slidenum">
              <a:rPr lang="en-US" altLang="en-US" smtClean="0"/>
              <a:pPr/>
              <a:t>12</a:t>
            </a:fld>
            <a:endParaRPr lang="en-US" altLang="en-US"/>
          </a:p>
        </p:txBody>
      </p:sp>
    </p:spTree>
    <p:extLst>
      <p:ext uri="{BB962C8B-B14F-4D97-AF65-F5344CB8AC3E}">
        <p14:creationId xmlns:p14="http://schemas.microsoft.com/office/powerpoint/2010/main" val="4012834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matrix to represent the edges</a:t>
            </a:r>
            <a:endParaRPr lang="vi-VN" dirty="0"/>
          </a:p>
        </p:txBody>
      </p:sp>
      <p:sp>
        <p:nvSpPr>
          <p:cNvPr id="4" name="Slide Number Placeholder 3"/>
          <p:cNvSpPr>
            <a:spLocks noGrp="1"/>
          </p:cNvSpPr>
          <p:nvPr>
            <p:ph type="sldNum" sz="quarter" idx="5"/>
          </p:nvPr>
        </p:nvSpPr>
        <p:spPr/>
        <p:txBody>
          <a:bodyPr/>
          <a:lstStyle/>
          <a:p>
            <a:fld id="{5352FDF7-D795-467B-A2B7-09C57FEC1A1E}" type="slidenum">
              <a:rPr lang="en-US" altLang="en-US" smtClean="0"/>
              <a:pPr/>
              <a:t>13</a:t>
            </a:fld>
            <a:endParaRPr lang="en-US" altLang="en-US"/>
          </a:p>
        </p:txBody>
      </p:sp>
    </p:spTree>
    <p:extLst>
      <p:ext uri="{BB962C8B-B14F-4D97-AF65-F5344CB8AC3E}">
        <p14:creationId xmlns:p14="http://schemas.microsoft.com/office/powerpoint/2010/main" val="3549346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A30F8C03-E16D-438D-B95A-80B85B359AA0}"/>
              </a:ext>
            </a:extLst>
          </p:cNvPr>
          <p:cNvSpPr>
            <a:spLocks noGrp="1" noRot="1" noChangeAspect="1" noChangeArrowheads="1" noTextEdit="1"/>
          </p:cNvSpPr>
          <p:nvPr>
            <p:ph type="sldImg"/>
          </p:nvPr>
        </p:nvSpPr>
        <p:spPr>
          <a:ln/>
        </p:spPr>
      </p:sp>
      <p:sp>
        <p:nvSpPr>
          <p:cNvPr id="18435" name="Notes Placeholder 2">
            <a:extLst>
              <a:ext uri="{FF2B5EF4-FFF2-40B4-BE49-F238E27FC236}">
                <a16:creationId xmlns:a16="http://schemas.microsoft.com/office/drawing/2014/main" id="{AC953160-69FA-4FCF-BF4B-4D31D7A76A17}"/>
              </a:ext>
            </a:extLst>
          </p:cNvPr>
          <p:cNvSpPr>
            <a:spLocks noGrp="1" noChangeArrowheads="1"/>
          </p:cNvSpPr>
          <p:nvPr>
            <p:ph type="body" idx="1"/>
          </p:nvPr>
        </p:nvSpPr>
        <p:spPr>
          <a:noFill/>
        </p:spPr>
        <p:txBody>
          <a:bodyPr/>
          <a:lstStyle/>
          <a:p>
            <a:endParaRPr lang="en-US" altLang="en-US"/>
          </a:p>
        </p:txBody>
      </p:sp>
      <p:sp>
        <p:nvSpPr>
          <p:cNvPr id="18436" name="Slide Number Placeholder 3">
            <a:extLst>
              <a:ext uri="{FF2B5EF4-FFF2-40B4-BE49-F238E27FC236}">
                <a16:creationId xmlns:a16="http://schemas.microsoft.com/office/drawing/2014/main" id="{74309DCF-5A5E-4C6F-8232-5E8A7E2C302A}"/>
              </a:ext>
            </a:extLst>
          </p:cNvPr>
          <p:cNvSpPr>
            <a:spLocks noGrp="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2E8C1AB-C7C2-40D2-A35E-30E458472B55}" type="slidenum">
              <a:rPr lang="en-US" altLang="en-US" sz="1000"/>
              <a:pPr>
                <a:spcBef>
                  <a:spcPct val="0"/>
                </a:spcBef>
              </a:pPr>
              <a:t>14</a:t>
            </a:fld>
            <a:endParaRPr lang="en-US" altLang="en-US" sz="10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1">
            <a:extLst>
              <a:ext uri="{FF2B5EF4-FFF2-40B4-BE49-F238E27FC236}">
                <a16:creationId xmlns:a16="http://schemas.microsoft.com/office/drawing/2014/main" id="{61FC91DB-7ADF-4F5A-BE25-54B5E3D6A24C}"/>
              </a:ext>
            </a:extLst>
          </p:cNvPr>
          <p:cNvGrpSpPr>
            <a:grpSpLocks/>
          </p:cNvGrpSpPr>
          <p:nvPr/>
        </p:nvGrpSpPr>
        <p:grpSpPr bwMode="auto">
          <a:xfrm>
            <a:off x="0" y="114300"/>
            <a:ext cx="9142413" cy="6742113"/>
            <a:chOff x="0" y="72"/>
            <a:chExt cx="5759" cy="4247"/>
          </a:xfrm>
        </p:grpSpPr>
        <p:sp>
          <p:nvSpPr>
            <p:cNvPr id="5" name="Rectangle 2">
              <a:extLst>
                <a:ext uri="{FF2B5EF4-FFF2-40B4-BE49-F238E27FC236}">
                  <a16:creationId xmlns:a16="http://schemas.microsoft.com/office/drawing/2014/main" id="{71927960-2F8B-4333-9003-3DB92F56F481}"/>
                </a:ext>
              </a:extLst>
            </p:cNvPr>
            <p:cNvSpPr>
              <a:spLocks noChangeArrowheads="1"/>
            </p:cNvSpPr>
            <p:nvPr/>
          </p:nvSpPr>
          <p:spPr bwMode="hidden">
            <a:xfrm>
              <a:off x="0" y="2112"/>
              <a:ext cx="5759" cy="2207"/>
            </a:xfrm>
            <a:prstGeom prst="rect">
              <a:avLst/>
            </a:prstGeom>
            <a:solidFill>
              <a:schemeClr val="bg1"/>
            </a:soli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30">
              <a:extLst>
                <a:ext uri="{FF2B5EF4-FFF2-40B4-BE49-F238E27FC236}">
                  <a16:creationId xmlns:a16="http://schemas.microsoft.com/office/drawing/2014/main" id="{40FC582F-6612-4C14-99AD-1BEEABB34391}"/>
                </a:ext>
              </a:extLst>
            </p:cNvPr>
            <p:cNvGrpSpPr>
              <a:grpSpLocks/>
            </p:cNvGrpSpPr>
            <p:nvPr/>
          </p:nvGrpSpPr>
          <p:grpSpPr bwMode="auto">
            <a:xfrm>
              <a:off x="0" y="72"/>
              <a:ext cx="5759" cy="2040"/>
              <a:chOff x="0" y="72"/>
              <a:chExt cx="5759" cy="2040"/>
            </a:xfrm>
          </p:grpSpPr>
          <p:sp>
            <p:nvSpPr>
              <p:cNvPr id="7" name="Rectangle 3">
                <a:extLst>
                  <a:ext uri="{FF2B5EF4-FFF2-40B4-BE49-F238E27FC236}">
                    <a16:creationId xmlns:a16="http://schemas.microsoft.com/office/drawing/2014/main" id="{A42B4868-8E85-4E67-9A7E-0EA85A096585}"/>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9">
                <a:extLst>
                  <a:ext uri="{FF2B5EF4-FFF2-40B4-BE49-F238E27FC236}">
                    <a16:creationId xmlns:a16="http://schemas.microsoft.com/office/drawing/2014/main" id="{BDD480BE-E0B8-4DCC-9F8D-21628FAF588C}"/>
                  </a:ext>
                </a:extLst>
              </p:cNvPr>
              <p:cNvGrpSpPr>
                <a:grpSpLocks/>
              </p:cNvGrpSpPr>
              <p:nvPr/>
            </p:nvGrpSpPr>
            <p:grpSpPr bwMode="auto">
              <a:xfrm>
                <a:off x="2289" y="72"/>
                <a:ext cx="1440" cy="1984"/>
                <a:chOff x="2289" y="72"/>
                <a:chExt cx="1440" cy="1984"/>
              </a:xfrm>
            </p:grpSpPr>
            <p:sp>
              <p:nvSpPr>
                <p:cNvPr id="29" name="Freeform 4">
                  <a:extLst>
                    <a:ext uri="{FF2B5EF4-FFF2-40B4-BE49-F238E27FC236}">
                      <a16:creationId xmlns:a16="http://schemas.microsoft.com/office/drawing/2014/main" id="{168EE059-6BB5-42C5-96E3-66D90C9B9F3D}"/>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5">
                  <a:extLst>
                    <a:ext uri="{FF2B5EF4-FFF2-40B4-BE49-F238E27FC236}">
                      <a16:creationId xmlns:a16="http://schemas.microsoft.com/office/drawing/2014/main" id="{9E5D42EF-22AB-4645-BBFD-4F6971CB4700}"/>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6">
                  <a:extLst>
                    <a:ext uri="{FF2B5EF4-FFF2-40B4-BE49-F238E27FC236}">
                      <a16:creationId xmlns:a16="http://schemas.microsoft.com/office/drawing/2014/main" id="{897446EE-2740-42A8-9EEB-118C99368CAF}"/>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7">
                  <a:extLst>
                    <a:ext uri="{FF2B5EF4-FFF2-40B4-BE49-F238E27FC236}">
                      <a16:creationId xmlns:a16="http://schemas.microsoft.com/office/drawing/2014/main" id="{D28D7690-CB0B-4620-8A92-57BCA6DA968E}"/>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Freeform 8">
                  <a:extLst>
                    <a:ext uri="{FF2B5EF4-FFF2-40B4-BE49-F238E27FC236}">
                      <a16:creationId xmlns:a16="http://schemas.microsoft.com/office/drawing/2014/main" id="{5765BC86-DECA-4DEA-B069-2914D53EAEF9}"/>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 name="Oval 10">
                <a:extLst>
                  <a:ext uri="{FF2B5EF4-FFF2-40B4-BE49-F238E27FC236}">
                    <a16:creationId xmlns:a16="http://schemas.microsoft.com/office/drawing/2014/main" id="{09888EB4-3B26-49B0-9054-3F442DFD260B}"/>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 name="Group 29">
                <a:extLst>
                  <a:ext uri="{FF2B5EF4-FFF2-40B4-BE49-F238E27FC236}">
                    <a16:creationId xmlns:a16="http://schemas.microsoft.com/office/drawing/2014/main" id="{B9D4BEEF-5BB3-4E90-9095-AE08BE9896A9}"/>
                  </a:ext>
                </a:extLst>
              </p:cNvPr>
              <p:cNvGrpSpPr>
                <a:grpSpLocks/>
              </p:cNvGrpSpPr>
              <p:nvPr/>
            </p:nvGrpSpPr>
            <p:grpSpPr bwMode="auto">
              <a:xfrm>
                <a:off x="2071" y="406"/>
                <a:ext cx="1392" cy="1109"/>
                <a:chOff x="2071" y="406"/>
                <a:chExt cx="1392" cy="1109"/>
              </a:xfrm>
            </p:grpSpPr>
            <p:sp>
              <p:nvSpPr>
                <p:cNvPr id="11" name="Freeform 11">
                  <a:extLst>
                    <a:ext uri="{FF2B5EF4-FFF2-40B4-BE49-F238E27FC236}">
                      <a16:creationId xmlns:a16="http://schemas.microsoft.com/office/drawing/2014/main" id="{59EF1FB1-AEFF-4676-AD82-C39B502E736F}"/>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2">
                  <a:extLst>
                    <a:ext uri="{FF2B5EF4-FFF2-40B4-BE49-F238E27FC236}">
                      <a16:creationId xmlns:a16="http://schemas.microsoft.com/office/drawing/2014/main" id="{6C75F2F0-4B08-40AC-8E73-2B8D8891CD6F}"/>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3">
                  <a:extLst>
                    <a:ext uri="{FF2B5EF4-FFF2-40B4-BE49-F238E27FC236}">
                      <a16:creationId xmlns:a16="http://schemas.microsoft.com/office/drawing/2014/main" id="{A2D58DBB-835B-4D45-BE27-3DF11D0E8FA0}"/>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4">
                  <a:extLst>
                    <a:ext uri="{FF2B5EF4-FFF2-40B4-BE49-F238E27FC236}">
                      <a16:creationId xmlns:a16="http://schemas.microsoft.com/office/drawing/2014/main" id="{437C4EB7-F055-4001-A409-0D3789A09CCA}"/>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5">
                  <a:extLst>
                    <a:ext uri="{FF2B5EF4-FFF2-40B4-BE49-F238E27FC236}">
                      <a16:creationId xmlns:a16="http://schemas.microsoft.com/office/drawing/2014/main" id="{A3A9430C-E256-41E4-8B42-D8AEF67883F2}"/>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6">
                  <a:extLst>
                    <a:ext uri="{FF2B5EF4-FFF2-40B4-BE49-F238E27FC236}">
                      <a16:creationId xmlns:a16="http://schemas.microsoft.com/office/drawing/2014/main" id="{49630AAD-236C-42D4-8D0B-AFA88CAC1DAA}"/>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7">
                  <a:extLst>
                    <a:ext uri="{FF2B5EF4-FFF2-40B4-BE49-F238E27FC236}">
                      <a16:creationId xmlns:a16="http://schemas.microsoft.com/office/drawing/2014/main" id="{41CB7C81-78CF-4FC3-BB43-86D7CBD86D0B}"/>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8">
                  <a:extLst>
                    <a:ext uri="{FF2B5EF4-FFF2-40B4-BE49-F238E27FC236}">
                      <a16:creationId xmlns:a16="http://schemas.microsoft.com/office/drawing/2014/main" id="{4887CB1A-7B48-42EC-8EF9-958FA9F7EDAD}"/>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9">
                  <a:extLst>
                    <a:ext uri="{FF2B5EF4-FFF2-40B4-BE49-F238E27FC236}">
                      <a16:creationId xmlns:a16="http://schemas.microsoft.com/office/drawing/2014/main" id="{3D576805-FD94-4E3A-A504-AA3284929A8B}"/>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0">
                  <a:extLst>
                    <a:ext uri="{FF2B5EF4-FFF2-40B4-BE49-F238E27FC236}">
                      <a16:creationId xmlns:a16="http://schemas.microsoft.com/office/drawing/2014/main" id="{9A7D591C-25D2-47D8-9E77-26523B70EB70}"/>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1">
                  <a:extLst>
                    <a:ext uri="{FF2B5EF4-FFF2-40B4-BE49-F238E27FC236}">
                      <a16:creationId xmlns:a16="http://schemas.microsoft.com/office/drawing/2014/main" id="{444B6402-191B-411F-B107-16522A1671BE}"/>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2">
                  <a:extLst>
                    <a:ext uri="{FF2B5EF4-FFF2-40B4-BE49-F238E27FC236}">
                      <a16:creationId xmlns:a16="http://schemas.microsoft.com/office/drawing/2014/main" id="{35E915C1-8462-4C34-8587-DF5E6C68EB62}"/>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3">
                  <a:extLst>
                    <a:ext uri="{FF2B5EF4-FFF2-40B4-BE49-F238E27FC236}">
                      <a16:creationId xmlns:a16="http://schemas.microsoft.com/office/drawing/2014/main" id="{980DC663-7CCB-4F15-BA5D-6DE0D251F967}"/>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4">
                  <a:extLst>
                    <a:ext uri="{FF2B5EF4-FFF2-40B4-BE49-F238E27FC236}">
                      <a16:creationId xmlns:a16="http://schemas.microsoft.com/office/drawing/2014/main" id="{9E29EFC0-9E25-4A72-A0E4-77E4F9ABFEA7}"/>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5">
                  <a:extLst>
                    <a:ext uri="{FF2B5EF4-FFF2-40B4-BE49-F238E27FC236}">
                      <a16:creationId xmlns:a16="http://schemas.microsoft.com/office/drawing/2014/main" id="{F753A5FB-8918-4B2A-8F58-FD5C09DFC447}"/>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6">
                  <a:extLst>
                    <a:ext uri="{FF2B5EF4-FFF2-40B4-BE49-F238E27FC236}">
                      <a16:creationId xmlns:a16="http://schemas.microsoft.com/office/drawing/2014/main" id="{FE3649D4-B83D-4B05-91BE-D908C3764247}"/>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Freeform 27">
                  <a:extLst>
                    <a:ext uri="{FF2B5EF4-FFF2-40B4-BE49-F238E27FC236}">
                      <a16:creationId xmlns:a16="http://schemas.microsoft.com/office/drawing/2014/main" id="{8ECC7FBC-6EC0-4D53-9EBE-5ED45CBDD82E}"/>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Freeform 28">
                  <a:extLst>
                    <a:ext uri="{FF2B5EF4-FFF2-40B4-BE49-F238E27FC236}">
                      <a16:creationId xmlns:a16="http://schemas.microsoft.com/office/drawing/2014/main" id="{359AF7C1-C766-45D7-A86F-28F8AB04C41D}"/>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4" name="Rectangle 34">
            <a:extLst>
              <a:ext uri="{FF2B5EF4-FFF2-40B4-BE49-F238E27FC236}">
                <a16:creationId xmlns:a16="http://schemas.microsoft.com/office/drawing/2014/main" id="{8F400BA4-6A40-46F1-B7AC-59CB57C74BDC}"/>
              </a:ext>
            </a:extLst>
          </p:cNvPr>
          <p:cNvSpPr>
            <a:spLocks noGrp="1" noChangeArrowheads="1"/>
          </p:cNvSpPr>
          <p:nvPr>
            <p:ph type="dt" sz="quarter" idx="10"/>
          </p:nvPr>
        </p:nvSpPr>
        <p:spPr/>
        <p:txBody>
          <a:bodyPr/>
          <a:lstStyle>
            <a:lvl1pPr>
              <a:defRPr/>
            </a:lvl1pPr>
          </a:lstStyle>
          <a:p>
            <a:pPr>
              <a:defRPr/>
            </a:pPr>
            <a:endParaRPr lang="en-US"/>
          </a:p>
        </p:txBody>
      </p:sp>
      <p:sp>
        <p:nvSpPr>
          <p:cNvPr id="35" name="Rectangle 35">
            <a:extLst>
              <a:ext uri="{FF2B5EF4-FFF2-40B4-BE49-F238E27FC236}">
                <a16:creationId xmlns:a16="http://schemas.microsoft.com/office/drawing/2014/main" id="{530FE8AD-9622-4D9C-87BB-64811E0DEC1F}"/>
              </a:ext>
            </a:extLst>
          </p:cNvPr>
          <p:cNvSpPr>
            <a:spLocks noGrp="1" noChangeArrowheads="1"/>
          </p:cNvSpPr>
          <p:nvPr>
            <p:ph type="ftr" sz="quarter" idx="11"/>
          </p:nvPr>
        </p:nvSpPr>
        <p:spPr bwMode="auto">
          <a:xfrm>
            <a:off x="3124200" y="6400800"/>
            <a:ext cx="2895600" cy="457200"/>
          </a:xfrm>
          <a:prstGeom prst="rect">
            <a:avLst/>
          </a:prstGeom>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and Data Structures, Twelfth Edition, (c) 2020  Pearson Education, Inc. All rights reserved. </a:t>
            </a:r>
          </a:p>
        </p:txBody>
      </p:sp>
      <p:sp>
        <p:nvSpPr>
          <p:cNvPr id="36" name="Rectangle 36">
            <a:extLst>
              <a:ext uri="{FF2B5EF4-FFF2-40B4-BE49-F238E27FC236}">
                <a16:creationId xmlns:a16="http://schemas.microsoft.com/office/drawing/2014/main" id="{FD20E48A-B6FB-4B76-95F8-3BCC5E596D21}"/>
              </a:ext>
            </a:extLst>
          </p:cNvPr>
          <p:cNvSpPr>
            <a:spLocks noGrp="1" noChangeArrowheads="1"/>
          </p:cNvSpPr>
          <p:nvPr>
            <p:ph type="sldNum" sz="quarter" idx="12"/>
          </p:nvPr>
        </p:nvSpPr>
        <p:spPr>
          <a:xfrm>
            <a:off x="6553200" y="6400800"/>
            <a:ext cx="1905000" cy="457200"/>
          </a:xfrm>
        </p:spPr>
        <p:txBody>
          <a:bodyPr/>
          <a:lstStyle>
            <a:lvl1pPr>
              <a:defRPr/>
            </a:lvl1pPr>
          </a:lstStyle>
          <a:p>
            <a:fld id="{632E23E0-BC6B-482C-8014-4320D3243EAD}" type="slidenum">
              <a:rPr lang="en-US" altLang="en-US" smtClean="0"/>
              <a:pPr/>
              <a:t>‹#›</a:t>
            </a:fld>
            <a:endParaRPr lang="en-US" altLang="en-US"/>
          </a:p>
        </p:txBody>
      </p:sp>
    </p:spTree>
    <p:extLst>
      <p:ext uri="{BB962C8B-B14F-4D97-AF65-F5344CB8AC3E}">
        <p14:creationId xmlns:p14="http://schemas.microsoft.com/office/powerpoint/2010/main" val="2485566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7A1450D0-5C6B-4A7D-9DD3-12ABC6CE74D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77C3EC62-E8ED-4B3A-A7A4-D2AC4B0772FA}"/>
              </a:ext>
            </a:extLst>
          </p:cNvPr>
          <p:cNvSpPr>
            <a:spLocks noGrp="1" noChangeArrowheads="1"/>
          </p:cNvSpPr>
          <p:nvPr>
            <p:ph type="sldNum" sz="quarter" idx="11"/>
          </p:nvPr>
        </p:nvSpPr>
        <p:spPr>
          <a:ln/>
        </p:spPr>
        <p:txBody>
          <a:bodyPr/>
          <a:lstStyle>
            <a:lvl1pPr>
              <a:defRPr/>
            </a:lvl1pPr>
          </a:lstStyle>
          <a:p>
            <a:fld id="{B28D5714-B375-4F86-AD04-B8195B25454C}" type="slidenum">
              <a:rPr lang="en-US" altLang="en-US" smtClean="0"/>
              <a:pPr/>
              <a:t>‹#›</a:t>
            </a:fld>
            <a:endParaRPr lang="en-US" altLang="en-US"/>
          </a:p>
        </p:txBody>
      </p:sp>
    </p:spTree>
    <p:extLst>
      <p:ext uri="{BB962C8B-B14F-4D97-AF65-F5344CB8AC3E}">
        <p14:creationId xmlns:p14="http://schemas.microsoft.com/office/powerpoint/2010/main" val="3933494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74D14C60-F19C-4EB2-AD48-30730C45662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A7531466-45D1-4A3D-AD82-112BB8F64248}"/>
              </a:ext>
            </a:extLst>
          </p:cNvPr>
          <p:cNvSpPr>
            <a:spLocks noGrp="1" noChangeArrowheads="1"/>
          </p:cNvSpPr>
          <p:nvPr>
            <p:ph type="sldNum" sz="quarter" idx="11"/>
          </p:nvPr>
        </p:nvSpPr>
        <p:spPr>
          <a:ln/>
        </p:spPr>
        <p:txBody>
          <a:bodyPr/>
          <a:lstStyle>
            <a:lvl1pPr>
              <a:defRPr/>
            </a:lvl1pPr>
          </a:lstStyle>
          <a:p>
            <a:fld id="{47F62205-0F78-4B7A-83E6-799691F1EA03}" type="slidenum">
              <a:rPr lang="en-US" altLang="en-US" smtClean="0"/>
              <a:pPr/>
              <a:t>‹#›</a:t>
            </a:fld>
            <a:endParaRPr lang="en-US" altLang="en-US"/>
          </a:p>
        </p:txBody>
      </p:sp>
    </p:spTree>
    <p:extLst>
      <p:ext uri="{BB962C8B-B14F-4D97-AF65-F5344CB8AC3E}">
        <p14:creationId xmlns:p14="http://schemas.microsoft.com/office/powerpoint/2010/main" val="3834145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068F10D1-1835-4088-AD0B-6C7BADD5959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29AAEAB9-5939-47B3-869D-BB65143F9100}"/>
              </a:ext>
            </a:extLst>
          </p:cNvPr>
          <p:cNvSpPr>
            <a:spLocks noGrp="1" noChangeArrowheads="1"/>
          </p:cNvSpPr>
          <p:nvPr>
            <p:ph type="sldNum" sz="quarter" idx="11"/>
          </p:nvPr>
        </p:nvSpPr>
        <p:spPr>
          <a:ln/>
        </p:spPr>
        <p:txBody>
          <a:bodyPr/>
          <a:lstStyle>
            <a:lvl1pPr>
              <a:defRPr/>
            </a:lvl1pPr>
          </a:lstStyle>
          <a:p>
            <a:fld id="{BADE9601-79EB-4EBA-B4DB-94437142E65F}" type="slidenum">
              <a:rPr lang="en-US" altLang="en-US" smtClean="0"/>
              <a:pPr/>
              <a:t>‹#›</a:t>
            </a:fld>
            <a:endParaRPr lang="en-US" altLang="en-US"/>
          </a:p>
        </p:txBody>
      </p:sp>
    </p:spTree>
    <p:extLst>
      <p:ext uri="{BB962C8B-B14F-4D97-AF65-F5344CB8AC3E}">
        <p14:creationId xmlns:p14="http://schemas.microsoft.com/office/powerpoint/2010/main" val="1556582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C09A7E37-3E64-47AD-9ADC-4BD16748DDF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2694643A-125A-4E28-A1E6-1B4FDDA66662}"/>
              </a:ext>
            </a:extLst>
          </p:cNvPr>
          <p:cNvSpPr>
            <a:spLocks noGrp="1" noChangeArrowheads="1"/>
          </p:cNvSpPr>
          <p:nvPr>
            <p:ph type="sldNum" sz="quarter" idx="11"/>
          </p:nvPr>
        </p:nvSpPr>
        <p:spPr>
          <a:ln/>
        </p:spPr>
        <p:txBody>
          <a:bodyPr/>
          <a:lstStyle>
            <a:lvl1pPr>
              <a:defRPr/>
            </a:lvl1pPr>
          </a:lstStyle>
          <a:p>
            <a:fld id="{9E15817A-4852-4F95-8CFE-0E9BE72AD043}" type="slidenum">
              <a:rPr lang="en-US" altLang="en-US" smtClean="0"/>
              <a:pPr/>
              <a:t>‹#›</a:t>
            </a:fld>
            <a:endParaRPr lang="en-US" altLang="en-US"/>
          </a:p>
        </p:txBody>
      </p:sp>
    </p:spTree>
    <p:extLst>
      <p:ext uri="{BB962C8B-B14F-4D97-AF65-F5344CB8AC3E}">
        <p14:creationId xmlns:p14="http://schemas.microsoft.com/office/powerpoint/2010/main" val="3039408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391C5B43-3D44-4A5D-BB40-26F113E38ED2}"/>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2094C956-0F22-4D91-B62A-26663564D2FB}"/>
              </a:ext>
            </a:extLst>
          </p:cNvPr>
          <p:cNvSpPr>
            <a:spLocks noGrp="1" noChangeArrowheads="1"/>
          </p:cNvSpPr>
          <p:nvPr>
            <p:ph type="sldNum" sz="quarter" idx="11"/>
          </p:nvPr>
        </p:nvSpPr>
        <p:spPr>
          <a:ln/>
        </p:spPr>
        <p:txBody>
          <a:bodyPr/>
          <a:lstStyle>
            <a:lvl1pPr>
              <a:defRPr/>
            </a:lvl1pPr>
          </a:lstStyle>
          <a:p>
            <a:fld id="{FEF15679-E54B-4665-A872-D86FFAACBC24}" type="slidenum">
              <a:rPr lang="en-US" altLang="en-US" smtClean="0"/>
              <a:pPr/>
              <a:t>‹#›</a:t>
            </a:fld>
            <a:endParaRPr lang="en-US" altLang="en-US"/>
          </a:p>
        </p:txBody>
      </p:sp>
    </p:spTree>
    <p:extLst>
      <p:ext uri="{BB962C8B-B14F-4D97-AF65-F5344CB8AC3E}">
        <p14:creationId xmlns:p14="http://schemas.microsoft.com/office/powerpoint/2010/main" val="1349251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BC947A72-855F-404F-9E57-C8FFAA973EBE}"/>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F121E76E-222C-4DD0-B702-E2DEE761CE89}"/>
              </a:ext>
            </a:extLst>
          </p:cNvPr>
          <p:cNvSpPr>
            <a:spLocks noGrp="1" noChangeArrowheads="1"/>
          </p:cNvSpPr>
          <p:nvPr>
            <p:ph type="sldNum" sz="quarter" idx="11"/>
          </p:nvPr>
        </p:nvSpPr>
        <p:spPr>
          <a:ln/>
        </p:spPr>
        <p:txBody>
          <a:bodyPr/>
          <a:lstStyle>
            <a:lvl1pPr>
              <a:defRPr/>
            </a:lvl1pPr>
          </a:lstStyle>
          <a:p>
            <a:fld id="{9AB4861A-6585-43CD-9C93-A5EB3A5B730E}" type="slidenum">
              <a:rPr lang="en-US" altLang="en-US" smtClean="0"/>
              <a:pPr/>
              <a:t>‹#›</a:t>
            </a:fld>
            <a:endParaRPr lang="en-US" altLang="en-US"/>
          </a:p>
        </p:txBody>
      </p:sp>
    </p:spTree>
    <p:extLst>
      <p:ext uri="{BB962C8B-B14F-4D97-AF65-F5344CB8AC3E}">
        <p14:creationId xmlns:p14="http://schemas.microsoft.com/office/powerpoint/2010/main" val="3063285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0B25BBF2-0F2C-4F7A-A9C7-E1BA50459BA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80CB4D2C-1260-4158-8D07-953D305F2001}"/>
              </a:ext>
            </a:extLst>
          </p:cNvPr>
          <p:cNvSpPr>
            <a:spLocks noGrp="1" noChangeArrowheads="1"/>
          </p:cNvSpPr>
          <p:nvPr>
            <p:ph type="sldNum" sz="quarter" idx="11"/>
          </p:nvPr>
        </p:nvSpPr>
        <p:spPr>
          <a:ln/>
        </p:spPr>
        <p:txBody>
          <a:bodyPr/>
          <a:lstStyle>
            <a:lvl1pPr>
              <a:defRPr/>
            </a:lvl1pPr>
          </a:lstStyle>
          <a:p>
            <a:fld id="{05484A47-2BC8-45E6-862B-9291A437951B}" type="slidenum">
              <a:rPr lang="en-US" altLang="en-US" smtClean="0"/>
              <a:pPr/>
              <a:t>‹#›</a:t>
            </a:fld>
            <a:endParaRPr lang="en-US" altLang="en-US"/>
          </a:p>
        </p:txBody>
      </p:sp>
    </p:spTree>
    <p:extLst>
      <p:ext uri="{BB962C8B-B14F-4D97-AF65-F5344CB8AC3E}">
        <p14:creationId xmlns:p14="http://schemas.microsoft.com/office/powerpoint/2010/main" val="490690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BB6E36BF-FAC7-4094-AC32-501A1DB4DD6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EB0E6CA6-653C-48AC-AC21-4339465C6A72}"/>
              </a:ext>
            </a:extLst>
          </p:cNvPr>
          <p:cNvSpPr>
            <a:spLocks noGrp="1" noChangeArrowheads="1"/>
          </p:cNvSpPr>
          <p:nvPr>
            <p:ph type="sldNum" sz="quarter" idx="11"/>
          </p:nvPr>
        </p:nvSpPr>
        <p:spPr>
          <a:ln/>
        </p:spPr>
        <p:txBody>
          <a:bodyPr/>
          <a:lstStyle>
            <a:lvl1pPr>
              <a:defRPr/>
            </a:lvl1pPr>
          </a:lstStyle>
          <a:p>
            <a:fld id="{647CBC7A-5C28-4F6F-8234-8678C271F3A1}" type="slidenum">
              <a:rPr lang="en-US" altLang="en-US" smtClean="0"/>
              <a:pPr/>
              <a:t>‹#›</a:t>
            </a:fld>
            <a:endParaRPr lang="en-US" altLang="en-US"/>
          </a:p>
        </p:txBody>
      </p:sp>
    </p:spTree>
    <p:extLst>
      <p:ext uri="{BB962C8B-B14F-4D97-AF65-F5344CB8AC3E}">
        <p14:creationId xmlns:p14="http://schemas.microsoft.com/office/powerpoint/2010/main" val="3143718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46254852-8B45-4626-BCE8-A641E688986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DBE0E510-CD38-4382-89DE-C76584A1A7F4}"/>
              </a:ext>
            </a:extLst>
          </p:cNvPr>
          <p:cNvSpPr>
            <a:spLocks noGrp="1" noChangeArrowheads="1"/>
          </p:cNvSpPr>
          <p:nvPr>
            <p:ph type="sldNum" sz="quarter" idx="11"/>
          </p:nvPr>
        </p:nvSpPr>
        <p:spPr>
          <a:ln/>
        </p:spPr>
        <p:txBody>
          <a:bodyPr/>
          <a:lstStyle>
            <a:lvl1pPr>
              <a:defRPr/>
            </a:lvl1pPr>
          </a:lstStyle>
          <a:p>
            <a:fld id="{1201F82E-2927-429C-854B-13D1D42EE311}" type="slidenum">
              <a:rPr lang="en-US" altLang="en-US" smtClean="0"/>
              <a:pPr/>
              <a:t>‹#›</a:t>
            </a:fld>
            <a:endParaRPr lang="en-US" altLang="en-US"/>
          </a:p>
        </p:txBody>
      </p:sp>
    </p:spTree>
    <p:extLst>
      <p:ext uri="{BB962C8B-B14F-4D97-AF65-F5344CB8AC3E}">
        <p14:creationId xmlns:p14="http://schemas.microsoft.com/office/powerpoint/2010/main" val="973258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0D7007F0-B9D5-4051-892C-827B841066A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D3B930A4-2CF8-45C1-83CE-984693168F27}"/>
              </a:ext>
            </a:extLst>
          </p:cNvPr>
          <p:cNvSpPr>
            <a:spLocks noGrp="1" noChangeArrowheads="1"/>
          </p:cNvSpPr>
          <p:nvPr>
            <p:ph type="sldNum" sz="quarter" idx="11"/>
          </p:nvPr>
        </p:nvSpPr>
        <p:spPr>
          <a:ln/>
        </p:spPr>
        <p:txBody>
          <a:bodyPr/>
          <a:lstStyle>
            <a:lvl1pPr>
              <a:defRPr/>
            </a:lvl1pPr>
          </a:lstStyle>
          <a:p>
            <a:fld id="{EE785E2B-DDCD-4EE8-AAF8-DC5DDDE5A591}" type="slidenum">
              <a:rPr lang="en-US" altLang="en-US" smtClean="0"/>
              <a:pPr/>
              <a:t>‹#›</a:t>
            </a:fld>
            <a:endParaRPr lang="en-US" altLang="en-US"/>
          </a:p>
        </p:txBody>
      </p:sp>
    </p:spTree>
    <p:extLst>
      <p:ext uri="{BB962C8B-B14F-4D97-AF65-F5344CB8AC3E}">
        <p14:creationId xmlns:p14="http://schemas.microsoft.com/office/powerpoint/2010/main" val="3748638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8575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C712761A-9C89-4D5B-9404-D6576D290AD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588E4D5C-8884-4A84-A016-83EEE4093CD3}"/>
              </a:ext>
            </a:extLst>
          </p:cNvPr>
          <p:cNvSpPr>
            <a:spLocks noGrp="1" noChangeArrowheads="1"/>
          </p:cNvSpPr>
          <p:nvPr>
            <p:ph type="sldNum" sz="quarter" idx="11"/>
          </p:nvPr>
        </p:nvSpPr>
        <p:spPr>
          <a:ln/>
        </p:spPr>
        <p:txBody>
          <a:bodyPr/>
          <a:lstStyle>
            <a:lvl1pPr>
              <a:defRPr/>
            </a:lvl1pPr>
          </a:lstStyle>
          <a:p>
            <a:fld id="{B716EAEA-B7A8-48F4-B7FD-4726CC0313D6}" type="slidenum">
              <a:rPr lang="en-US" altLang="en-US" smtClean="0"/>
              <a:pPr/>
              <a:t>‹#›</a:t>
            </a:fld>
            <a:endParaRPr lang="en-US" altLang="en-US"/>
          </a:p>
        </p:txBody>
      </p:sp>
    </p:spTree>
    <p:extLst>
      <p:ext uri="{BB962C8B-B14F-4D97-AF65-F5344CB8AC3E}">
        <p14:creationId xmlns:p14="http://schemas.microsoft.com/office/powerpoint/2010/main" val="1212903446"/>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a:extLst>
              <a:ext uri="{FF2B5EF4-FFF2-40B4-BE49-F238E27FC236}">
                <a16:creationId xmlns:a16="http://schemas.microsoft.com/office/drawing/2014/main" id="{C3EC5D4F-7241-4D48-A4A7-0981C8FB188A}"/>
              </a:ext>
            </a:extLst>
          </p:cNvPr>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EBFA5783-58D9-4D35-9CD0-554773E52F0B}"/>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4" name="Group 28">
              <a:extLst>
                <a:ext uri="{FF2B5EF4-FFF2-40B4-BE49-F238E27FC236}">
                  <a16:creationId xmlns:a16="http://schemas.microsoft.com/office/drawing/2014/main" id="{1739EB3B-E772-4FC7-BDBA-76ED5FAF222B}"/>
                </a:ext>
              </a:extLst>
            </p:cNvPr>
            <p:cNvGrpSpPr>
              <a:grpSpLocks/>
            </p:cNvGrpSpPr>
            <p:nvPr/>
          </p:nvGrpSpPr>
          <p:grpSpPr bwMode="auto">
            <a:xfrm>
              <a:off x="4458" y="2751"/>
              <a:ext cx="1190" cy="1426"/>
              <a:chOff x="4458" y="2751"/>
              <a:chExt cx="1190" cy="1426"/>
            </a:xfrm>
          </p:grpSpPr>
          <p:sp>
            <p:nvSpPr>
              <p:cNvPr id="1035" name="Freeform 3">
                <a:extLst>
                  <a:ext uri="{FF2B5EF4-FFF2-40B4-BE49-F238E27FC236}">
                    <a16:creationId xmlns:a16="http://schemas.microsoft.com/office/drawing/2014/main" id="{E390AD0B-045C-45AF-B2EA-4FD6A8679676}"/>
                  </a:ext>
                </a:extLst>
              </p:cNvPr>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6" name="Line 4">
                <a:extLst>
                  <a:ext uri="{FF2B5EF4-FFF2-40B4-BE49-F238E27FC236}">
                    <a16:creationId xmlns:a16="http://schemas.microsoft.com/office/drawing/2014/main" id="{29DDE5CF-6ED8-4BEC-A2AB-A210289ACA45}"/>
                  </a:ext>
                </a:extLst>
              </p:cNvPr>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5">
                <a:extLst>
                  <a:ext uri="{FF2B5EF4-FFF2-40B4-BE49-F238E27FC236}">
                    <a16:creationId xmlns:a16="http://schemas.microsoft.com/office/drawing/2014/main" id="{EA4D0DE6-A17E-4CD0-909A-7835D04A2F27}"/>
                  </a:ext>
                </a:extLst>
              </p:cNvPr>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Line 6">
                <a:extLst>
                  <a:ext uri="{FF2B5EF4-FFF2-40B4-BE49-F238E27FC236}">
                    <a16:creationId xmlns:a16="http://schemas.microsoft.com/office/drawing/2014/main" id="{B0C4E214-2BC7-4E89-9C34-E60765C9C33E}"/>
                  </a:ext>
                </a:extLst>
              </p:cNvPr>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9" name="Freeform 7">
                <a:extLst>
                  <a:ext uri="{FF2B5EF4-FFF2-40B4-BE49-F238E27FC236}">
                    <a16:creationId xmlns:a16="http://schemas.microsoft.com/office/drawing/2014/main" id="{4EBC01BC-C4AC-4FBE-A8D9-67FBD691B2C3}"/>
                  </a:ext>
                </a:extLst>
              </p:cNvPr>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Oval 8">
                <a:extLst>
                  <a:ext uri="{FF2B5EF4-FFF2-40B4-BE49-F238E27FC236}">
                    <a16:creationId xmlns:a16="http://schemas.microsoft.com/office/drawing/2014/main" id="{B5EFB3FB-0C0E-4A82-A156-B8549CFB8D8E}"/>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1" name="Group 27">
                <a:extLst>
                  <a:ext uri="{FF2B5EF4-FFF2-40B4-BE49-F238E27FC236}">
                    <a16:creationId xmlns:a16="http://schemas.microsoft.com/office/drawing/2014/main" id="{7DAA45A8-E4FF-4B83-876D-31C506D7FA9D}"/>
                  </a:ext>
                </a:extLst>
              </p:cNvPr>
              <p:cNvGrpSpPr>
                <a:grpSpLocks/>
              </p:cNvGrpSpPr>
              <p:nvPr/>
            </p:nvGrpSpPr>
            <p:grpSpPr bwMode="auto">
              <a:xfrm>
                <a:off x="4458" y="2991"/>
                <a:ext cx="999" cy="797"/>
                <a:chOff x="4458" y="2991"/>
                <a:chExt cx="999" cy="797"/>
              </a:xfrm>
            </p:grpSpPr>
            <p:sp>
              <p:nvSpPr>
                <p:cNvPr id="1042" name="Freeform 9">
                  <a:extLst>
                    <a:ext uri="{FF2B5EF4-FFF2-40B4-BE49-F238E27FC236}">
                      <a16:creationId xmlns:a16="http://schemas.microsoft.com/office/drawing/2014/main" id="{10AF373A-5478-4732-8B93-C7FA2214DC06}"/>
                    </a:ext>
                  </a:extLst>
                </p:cNvPr>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0">
                  <a:extLst>
                    <a:ext uri="{FF2B5EF4-FFF2-40B4-BE49-F238E27FC236}">
                      <a16:creationId xmlns:a16="http://schemas.microsoft.com/office/drawing/2014/main" id="{18C3FF5F-1087-4A14-B05C-EF93FED535E3}"/>
                    </a:ext>
                  </a:extLst>
                </p:cNvPr>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1">
                  <a:extLst>
                    <a:ext uri="{FF2B5EF4-FFF2-40B4-BE49-F238E27FC236}">
                      <a16:creationId xmlns:a16="http://schemas.microsoft.com/office/drawing/2014/main" id="{768B6B30-DD10-4951-9D6F-0FE59F9AEC7A}"/>
                    </a:ext>
                  </a:extLst>
                </p:cNvPr>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2">
                  <a:extLst>
                    <a:ext uri="{FF2B5EF4-FFF2-40B4-BE49-F238E27FC236}">
                      <a16:creationId xmlns:a16="http://schemas.microsoft.com/office/drawing/2014/main" id="{F59CCDAA-0C06-4A12-A642-F7BE4F4AB7BA}"/>
                    </a:ext>
                  </a:extLst>
                </p:cNvPr>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3">
                  <a:extLst>
                    <a:ext uri="{FF2B5EF4-FFF2-40B4-BE49-F238E27FC236}">
                      <a16:creationId xmlns:a16="http://schemas.microsoft.com/office/drawing/2014/main" id="{088C8B6F-F05E-44F8-9265-BBB3EDA55A46}"/>
                    </a:ext>
                  </a:extLst>
                </p:cNvPr>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4">
                  <a:extLst>
                    <a:ext uri="{FF2B5EF4-FFF2-40B4-BE49-F238E27FC236}">
                      <a16:creationId xmlns:a16="http://schemas.microsoft.com/office/drawing/2014/main" id="{E48D41F2-F24F-45D4-842F-BD116865DBE1}"/>
                    </a:ext>
                  </a:extLst>
                </p:cNvPr>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5">
                  <a:extLst>
                    <a:ext uri="{FF2B5EF4-FFF2-40B4-BE49-F238E27FC236}">
                      <a16:creationId xmlns:a16="http://schemas.microsoft.com/office/drawing/2014/main" id="{6E3BF754-3A1F-40DB-A2B5-41FCE932A98D}"/>
                    </a:ext>
                  </a:extLst>
                </p:cNvPr>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6">
                  <a:extLst>
                    <a:ext uri="{FF2B5EF4-FFF2-40B4-BE49-F238E27FC236}">
                      <a16:creationId xmlns:a16="http://schemas.microsoft.com/office/drawing/2014/main" id="{318B4698-4323-4853-8C17-9F1F9E9F3D45}"/>
                    </a:ext>
                  </a:extLst>
                </p:cNvPr>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7">
                  <a:extLst>
                    <a:ext uri="{FF2B5EF4-FFF2-40B4-BE49-F238E27FC236}">
                      <a16:creationId xmlns:a16="http://schemas.microsoft.com/office/drawing/2014/main" id="{28585D53-7679-4221-AB50-808FA417F754}"/>
                    </a:ext>
                  </a:extLst>
                </p:cNvPr>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8">
                  <a:extLst>
                    <a:ext uri="{FF2B5EF4-FFF2-40B4-BE49-F238E27FC236}">
                      <a16:creationId xmlns:a16="http://schemas.microsoft.com/office/drawing/2014/main" id="{CAEDA6BB-ABDC-44FF-B8F1-57AF8920E62B}"/>
                    </a:ext>
                  </a:extLst>
                </p:cNvPr>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19">
                  <a:extLst>
                    <a:ext uri="{FF2B5EF4-FFF2-40B4-BE49-F238E27FC236}">
                      <a16:creationId xmlns:a16="http://schemas.microsoft.com/office/drawing/2014/main" id="{B52588C3-F7A7-4750-8958-9E46DC30128D}"/>
                    </a:ext>
                  </a:extLst>
                </p:cNvPr>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0">
                  <a:extLst>
                    <a:ext uri="{FF2B5EF4-FFF2-40B4-BE49-F238E27FC236}">
                      <a16:creationId xmlns:a16="http://schemas.microsoft.com/office/drawing/2014/main" id="{1B242CA3-251C-49A8-9F8B-3C36D19DAF99}"/>
                    </a:ext>
                  </a:extLst>
                </p:cNvPr>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1">
                  <a:extLst>
                    <a:ext uri="{FF2B5EF4-FFF2-40B4-BE49-F238E27FC236}">
                      <a16:creationId xmlns:a16="http://schemas.microsoft.com/office/drawing/2014/main" id="{934A00C5-C8F2-4AB7-9F6D-983AF931C1BD}"/>
                    </a:ext>
                  </a:extLst>
                </p:cNvPr>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2">
                  <a:extLst>
                    <a:ext uri="{FF2B5EF4-FFF2-40B4-BE49-F238E27FC236}">
                      <a16:creationId xmlns:a16="http://schemas.microsoft.com/office/drawing/2014/main" id="{56A807CD-D73B-4E85-BD9C-E48E63EFE8A6}"/>
                    </a:ext>
                  </a:extLst>
                </p:cNvPr>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3">
                  <a:extLst>
                    <a:ext uri="{FF2B5EF4-FFF2-40B4-BE49-F238E27FC236}">
                      <a16:creationId xmlns:a16="http://schemas.microsoft.com/office/drawing/2014/main" id="{E7FCF25E-43F2-47F9-84CA-88DA94BC6C90}"/>
                    </a:ext>
                  </a:extLst>
                </p:cNvPr>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4">
                  <a:extLst>
                    <a:ext uri="{FF2B5EF4-FFF2-40B4-BE49-F238E27FC236}">
                      <a16:creationId xmlns:a16="http://schemas.microsoft.com/office/drawing/2014/main" id="{941BF1B0-B0FC-4B26-87D2-8E92F0B923BB}"/>
                    </a:ext>
                  </a:extLst>
                </p:cNvPr>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 name="Freeform 25">
                  <a:extLst>
                    <a:ext uri="{FF2B5EF4-FFF2-40B4-BE49-F238E27FC236}">
                      <a16:creationId xmlns:a16="http://schemas.microsoft.com/office/drawing/2014/main" id="{58386E5A-8831-41BF-A518-267851851837}"/>
                    </a:ext>
                  </a:extLst>
                </p:cNvPr>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9" name="Freeform 26">
                  <a:extLst>
                    <a:ext uri="{FF2B5EF4-FFF2-40B4-BE49-F238E27FC236}">
                      <a16:creationId xmlns:a16="http://schemas.microsoft.com/office/drawing/2014/main" id="{42A36C76-0897-4DBC-8C24-F1DE13438B11}"/>
                    </a:ext>
                  </a:extLst>
                </p:cNvPr>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a:extLst>
              <a:ext uri="{FF2B5EF4-FFF2-40B4-BE49-F238E27FC236}">
                <a16:creationId xmlns:a16="http://schemas.microsoft.com/office/drawing/2014/main" id="{0C33E6C5-337F-4255-A1DA-43C86CD19DD8}"/>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a:extLst>
              <a:ext uri="{FF2B5EF4-FFF2-40B4-BE49-F238E27FC236}">
                <a16:creationId xmlns:a16="http://schemas.microsoft.com/office/drawing/2014/main" id="{7299F587-A84B-44B9-8C48-AC1437FF5217}"/>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039852B9-9585-4786-86B9-2B6A70406C43}"/>
              </a:ext>
            </a:extLst>
          </p:cNvPr>
          <p:cNvSpPr>
            <a:spLocks noGrp="1" noChangeArrowheads="1"/>
          </p:cNvSpPr>
          <p:nvPr>
            <p:ph type="dt" sz="half" idx="2"/>
          </p:nvPr>
        </p:nvSpPr>
        <p:spPr bwMode="auto">
          <a:xfrm>
            <a:off x="685800" y="6400800"/>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121C8707-69C6-4ACD-BD95-09F063A7B008}"/>
              </a:ext>
            </a:extLst>
          </p:cNvPr>
          <p:cNvSpPr>
            <a:spLocks noGrp="1" noChangeArrowheads="1"/>
          </p:cNvSpPr>
          <p:nvPr>
            <p:ph type="sldNum" sz="quarter" idx="4"/>
          </p:nvPr>
        </p:nvSpPr>
        <p:spPr bwMode="auto">
          <a:xfrm>
            <a:off x="6553200" y="6399213"/>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lgn="r">
              <a:defRPr sz="1400"/>
            </a:lvl1pPr>
          </a:lstStyle>
          <a:p>
            <a:fld id="{B716EAEA-B7A8-48F4-B7FD-4726CC0313D6}" type="slidenum">
              <a:rPr lang="en-US" altLang="en-US" smtClean="0"/>
              <a:pPr/>
              <a:t>‹#›</a:t>
            </a:fld>
            <a:endParaRPr lang="en-US" altLang="en-US"/>
          </a:p>
        </p:txBody>
      </p:sp>
      <p:sp>
        <p:nvSpPr>
          <p:cNvPr id="1031" name="Rectangle 35">
            <a:extLst>
              <a:ext uri="{FF2B5EF4-FFF2-40B4-BE49-F238E27FC236}">
                <a16:creationId xmlns:a16="http://schemas.microsoft.com/office/drawing/2014/main" id="{C1639140-DF82-447C-8940-97C93664B7A5}"/>
              </a:ext>
            </a:extLst>
          </p:cNvPr>
          <p:cNvSpPr>
            <a:spLocks noChangeArrowheads="1"/>
          </p:cNvSpPr>
          <p:nvPr/>
        </p:nvSpPr>
        <p:spPr bwMode="auto">
          <a:xfrm>
            <a:off x="1676400" y="6438900"/>
            <a:ext cx="5581650" cy="419100"/>
          </a:xfrm>
          <a:prstGeom prst="rect">
            <a:avLst/>
          </a:prstGeom>
          <a:noFill/>
          <a:ln>
            <a:noFill/>
          </a:ln>
          <a:effec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
        <p:nvSpPr>
          <p:cNvPr id="35" name="Rectangle 35">
            <a:extLst>
              <a:ext uri="{FF2B5EF4-FFF2-40B4-BE49-F238E27FC236}">
                <a16:creationId xmlns:a16="http://schemas.microsoft.com/office/drawing/2014/main" id="{B16DA2B3-3106-4A65-A620-A5451B6A92B9}"/>
              </a:ext>
            </a:extLst>
          </p:cNvPr>
          <p:cNvSpPr>
            <a:spLocks noChangeArrowheads="1"/>
          </p:cNvSpPr>
          <p:nvPr/>
        </p:nvSpPr>
        <p:spPr bwMode="auto">
          <a:xfrm>
            <a:off x="1676400" y="6438900"/>
            <a:ext cx="5581650" cy="419100"/>
          </a:xfrm>
          <a:prstGeom prst="rect">
            <a:avLst/>
          </a:prstGeom>
          <a:noFill/>
          <a:ln>
            <a:noFill/>
          </a:ln>
          <a:effec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
        <p:nvSpPr>
          <p:cNvPr id="36" name="Rectangle 35">
            <a:extLst>
              <a:ext uri="{FF2B5EF4-FFF2-40B4-BE49-F238E27FC236}">
                <a16:creationId xmlns:a16="http://schemas.microsoft.com/office/drawing/2014/main" id="{65AC703D-15C9-428A-8C4D-DE5F49AD1368}"/>
              </a:ext>
            </a:extLst>
          </p:cNvPr>
          <p:cNvSpPr>
            <a:spLocks noChangeArrowheads="1"/>
          </p:cNvSpPr>
          <p:nvPr/>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sz="1000" dirty="0">
                <a:latin typeface="Arial" panose="020B0604020202020204" pitchFamily="34" charset="0"/>
              </a:rPr>
              <a:t>Liang, Introduction to Java Programming and Data Structures, Twelfth Edition, (c) 2020  Pearson Education, Inc. All rights reserved. </a:t>
            </a:r>
          </a:p>
        </p:txBody>
      </p:sp>
    </p:spTree>
    <p:extLst>
      <p:ext uri="{BB962C8B-B14F-4D97-AF65-F5344CB8AC3E}">
        <p14:creationId xmlns:p14="http://schemas.microsoft.com/office/powerpoint/2010/main" val="1491903787"/>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Lst>
  <p:hf hdr="0" ftr="0" dt="0"/>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anose="02020603050405020304" pitchFamily="18" charset="0"/>
        </a:defRPr>
      </a:lvl2pPr>
      <a:lvl3pPr algn="ctr" rtl="0" eaLnBrk="1" fontAlgn="base" hangingPunct="1">
        <a:spcBef>
          <a:spcPct val="0"/>
        </a:spcBef>
        <a:spcAft>
          <a:spcPct val="0"/>
        </a:spcAft>
        <a:defRPr sz="4400">
          <a:solidFill>
            <a:schemeClr val="tx2"/>
          </a:solidFill>
          <a:latin typeface="Times New Roman" panose="02020603050405020304" pitchFamily="18" charset="0"/>
        </a:defRPr>
      </a:lvl3pPr>
      <a:lvl4pPr algn="ctr" rtl="0" eaLnBrk="1" fontAlgn="base" hangingPunct="1">
        <a:spcBef>
          <a:spcPct val="0"/>
        </a:spcBef>
        <a:spcAft>
          <a:spcPct val="0"/>
        </a:spcAft>
        <a:defRPr sz="4400">
          <a:solidFill>
            <a:schemeClr val="tx2"/>
          </a:solidFill>
          <a:latin typeface="Times New Roman" panose="02020603050405020304" pitchFamily="18" charset="0"/>
        </a:defRPr>
      </a:lvl4pPr>
      <a:lvl5pPr algn="ctr" rtl="0" eaLnBrk="1" fontAlgn="base" hangingPunct="1">
        <a:spcBef>
          <a:spcPct val="0"/>
        </a:spcBef>
        <a:spcAft>
          <a:spcPct val="0"/>
        </a:spcAft>
        <a:defRPr sz="4400">
          <a:solidFill>
            <a:schemeClr val="tx2"/>
          </a:solidFill>
          <a:latin typeface="Times New Roman" panose="02020603050405020304" pitchFamily="18" charset="0"/>
        </a:defRPr>
      </a:lvl5pPr>
      <a:lvl6pPr marL="457200" algn="ctr" rtl="0" eaLnBrk="1" fontAlgn="base" hangingPunct="1">
        <a:spcBef>
          <a:spcPct val="0"/>
        </a:spcBef>
        <a:spcAft>
          <a:spcPct val="0"/>
        </a:spcAft>
        <a:defRPr sz="4400">
          <a:solidFill>
            <a:schemeClr val="tx2"/>
          </a:solidFill>
          <a:latin typeface="Times New Roman" panose="02020603050405020304" pitchFamily="18" charset="0"/>
        </a:defRPr>
      </a:lvl6pPr>
      <a:lvl7pPr marL="914400" algn="ctr" rtl="0" eaLnBrk="1" fontAlgn="base" hangingPunct="1">
        <a:spcBef>
          <a:spcPct val="0"/>
        </a:spcBef>
        <a:spcAft>
          <a:spcPct val="0"/>
        </a:spcAft>
        <a:defRPr sz="4400">
          <a:solidFill>
            <a:schemeClr val="tx2"/>
          </a:solidFill>
          <a:latin typeface="Times New Roman" panose="02020603050405020304" pitchFamily="18" charset="0"/>
        </a:defRPr>
      </a:lvl7pPr>
      <a:lvl8pPr marL="1371600" algn="ctr" rtl="0" eaLnBrk="1" fontAlgn="base" hangingPunct="1">
        <a:spcBef>
          <a:spcPct val="0"/>
        </a:spcBef>
        <a:spcAft>
          <a:spcPct val="0"/>
        </a:spcAft>
        <a:defRPr sz="4400">
          <a:solidFill>
            <a:schemeClr val="tx2"/>
          </a:solidFill>
          <a:latin typeface="Times New Roman" panose="02020603050405020304" pitchFamily="18" charset="0"/>
        </a:defRPr>
      </a:lvl8pPr>
      <a:lvl9pPr marL="1828800" algn="ctr"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cs.armstrong.edu/liang/animation/web/GraphLearningTool.html"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liveexample.pearsoncmg.com/dsanimation/GraphLearningTooleBook.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image" Target="../media/image7.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1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hyperlink" Target="https://liveexample.pearsoncmg.com/html/Graph.html" TargetMode="External"/><Relationship Id="rId5" Type="http://schemas.openxmlformats.org/officeDocument/2006/relationships/hyperlink" Target="https://liveexample.pearsoncmg.com/html/UnweightedGraph.html" TargetMode="External"/><Relationship Id="rId4" Type="http://schemas.openxmlformats.org/officeDocument/2006/relationships/hyperlink" Target="https://liveexample.pearsoncmg.com/html/TestGraph.html"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liveexample.pearsoncmg.com/html/DisplayUSMap.html" TargetMode="External"/><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hyperlink" Target="https://liveexample.pearsoncmg.com/html/Displayable.html" TargetMode="External"/><Relationship Id="rId4" Type="http://schemas.openxmlformats.org/officeDocument/2006/relationships/hyperlink" Target="https://liveexample.pearsoncmg.com/html/GraphView.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0.bin"/><Relationship Id="rId1" Type="http://schemas.openxmlformats.org/officeDocument/2006/relationships/slideLayout" Target="../slideLayouts/slideLayout2.xml"/><Relationship Id="rId4" Type="http://schemas.openxmlformats.org/officeDocument/2006/relationships/hyperlink" Target="https://liveexample.pearsoncmg.com/html/TestDFS.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hyperlink" Target="http://www.cs.armstrong.edu/liang/intro11e/html/ConnectedCircles.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2.bin"/><Relationship Id="rId1" Type="http://schemas.openxmlformats.org/officeDocument/2006/relationships/slideLayout" Target="../slideLayouts/slideLayout2.xml"/><Relationship Id="rId4" Type="http://schemas.openxmlformats.org/officeDocument/2006/relationships/hyperlink" Target="https://liveexample.pearsoncmg.com/html/TestBFS.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9.wmf"/><Relationship Id="rId18" Type="http://schemas.openxmlformats.org/officeDocument/2006/relationships/oleObject" Target="../embeddings/oleObject21.bin"/><Relationship Id="rId26" Type="http://schemas.openxmlformats.org/officeDocument/2006/relationships/oleObject" Target="../embeddings/oleObject25.bin"/><Relationship Id="rId3" Type="http://schemas.openxmlformats.org/officeDocument/2006/relationships/image" Target="../media/image24.wmf"/><Relationship Id="rId21" Type="http://schemas.openxmlformats.org/officeDocument/2006/relationships/image" Target="../media/image33.wmf"/><Relationship Id="rId7" Type="http://schemas.openxmlformats.org/officeDocument/2006/relationships/image" Target="../media/image26.wmf"/><Relationship Id="rId12" Type="http://schemas.openxmlformats.org/officeDocument/2006/relationships/oleObject" Target="../embeddings/oleObject18.bin"/><Relationship Id="rId17" Type="http://schemas.openxmlformats.org/officeDocument/2006/relationships/image" Target="../media/image31.wmf"/><Relationship Id="rId25" Type="http://schemas.openxmlformats.org/officeDocument/2006/relationships/image" Target="../media/image35.wmf"/><Relationship Id="rId2" Type="http://schemas.openxmlformats.org/officeDocument/2006/relationships/oleObject" Target="../embeddings/oleObject13.bin"/><Relationship Id="rId16" Type="http://schemas.openxmlformats.org/officeDocument/2006/relationships/oleObject" Target="../embeddings/oleObject20.bin"/><Relationship Id="rId20" Type="http://schemas.openxmlformats.org/officeDocument/2006/relationships/oleObject" Target="../embeddings/oleObject22.bin"/><Relationship Id="rId1" Type="http://schemas.openxmlformats.org/officeDocument/2006/relationships/slideLayout" Target="../slideLayouts/slideLayout2.xml"/><Relationship Id="rId6" Type="http://schemas.openxmlformats.org/officeDocument/2006/relationships/oleObject" Target="../embeddings/oleObject15.bin"/><Relationship Id="rId11" Type="http://schemas.openxmlformats.org/officeDocument/2006/relationships/image" Target="../media/image28.wmf"/><Relationship Id="rId24" Type="http://schemas.openxmlformats.org/officeDocument/2006/relationships/oleObject" Target="../embeddings/oleObject24.bin"/><Relationship Id="rId5" Type="http://schemas.openxmlformats.org/officeDocument/2006/relationships/image" Target="../media/image25.wmf"/><Relationship Id="rId15" Type="http://schemas.openxmlformats.org/officeDocument/2006/relationships/image" Target="../media/image30.wmf"/><Relationship Id="rId23" Type="http://schemas.openxmlformats.org/officeDocument/2006/relationships/image" Target="../media/image34.wmf"/><Relationship Id="rId10" Type="http://schemas.openxmlformats.org/officeDocument/2006/relationships/oleObject" Target="../embeddings/oleObject17.bin"/><Relationship Id="rId19" Type="http://schemas.openxmlformats.org/officeDocument/2006/relationships/image" Target="../media/image32.wmf"/><Relationship Id="rId4" Type="http://schemas.openxmlformats.org/officeDocument/2006/relationships/oleObject" Target="../embeddings/oleObject14.bin"/><Relationship Id="rId9" Type="http://schemas.openxmlformats.org/officeDocument/2006/relationships/image" Target="../media/image27.wmf"/><Relationship Id="rId14" Type="http://schemas.openxmlformats.org/officeDocument/2006/relationships/oleObject" Target="../embeddings/oleObject19.bin"/><Relationship Id="rId22" Type="http://schemas.openxmlformats.org/officeDocument/2006/relationships/oleObject" Target="../embeddings/oleObject23.bin"/><Relationship Id="rId27" Type="http://schemas.openxmlformats.org/officeDocument/2006/relationships/image" Target="../media/image36.wmf"/></Relationships>
</file>

<file path=ppt/slides/_rels/slide37.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26.bin"/><Relationship Id="rId1" Type="http://schemas.openxmlformats.org/officeDocument/2006/relationships/slideLayout" Target="../slideLayouts/slideLayout2.xml"/><Relationship Id="rId5" Type="http://schemas.openxmlformats.org/officeDocument/2006/relationships/hyperlink" Target="https://liveexample.pearsoncmg.com/html/NineTailModel.html" TargetMode="External"/><Relationship Id="rId4" Type="http://schemas.openxmlformats.org/officeDocument/2006/relationships/hyperlink" Target="https://liveexample.pearsoncmg.com/html/NineTail.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a:extLst>
              <a:ext uri="{FF2B5EF4-FFF2-40B4-BE49-F238E27FC236}">
                <a16:creationId xmlns:a16="http://schemas.microsoft.com/office/drawing/2014/main" id="{3922AAC2-30DA-481D-8CF2-D145C62FAD63}"/>
              </a:ext>
            </a:extLst>
          </p:cNvPr>
          <p:cNvSpPr>
            <a:spLocks noGrp="1" noChangeArrowheads="1"/>
          </p:cNvSpPr>
          <p:nvPr>
            <p:ph type="title"/>
          </p:nvPr>
        </p:nvSpPr>
        <p:spPr>
          <a:xfrm>
            <a:off x="304800" y="1676400"/>
            <a:ext cx="8610600" cy="1524000"/>
          </a:xfrm>
        </p:spPr>
        <p:txBody>
          <a:bodyPr/>
          <a:lstStyle/>
          <a:p>
            <a:r>
              <a:rPr lang="en-US" altLang="en-US" dirty="0"/>
              <a:t>Chapter 28 Graphs and Applications</a:t>
            </a:r>
          </a:p>
        </p:txBody>
      </p:sp>
      <p:sp>
        <p:nvSpPr>
          <p:cNvPr id="4098" name="Slide Number Placeholder 4">
            <a:extLst>
              <a:ext uri="{FF2B5EF4-FFF2-40B4-BE49-F238E27FC236}">
                <a16:creationId xmlns:a16="http://schemas.microsoft.com/office/drawing/2014/main" id="{1655404B-B2D9-4741-8260-E9A36AD2D62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E5C8854-FC9D-48D3-A0AF-57A977E310B7}" type="slidenum">
              <a:rPr lang="en-US" altLang="en-US" sz="1400"/>
              <a:pPr>
                <a:spcBef>
                  <a:spcPct val="0"/>
                </a:spcBef>
                <a:buClrTx/>
                <a:buSzTx/>
                <a:buFontTx/>
                <a:buNone/>
              </a:pPr>
              <a:t>1</a:t>
            </a:fld>
            <a:endParaRPr lang="en-US" altLang="en-US"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E7BAA7C5-2C5F-492D-8420-B9B0BC67D441}"/>
              </a:ext>
            </a:extLst>
          </p:cNvPr>
          <p:cNvSpPr>
            <a:spLocks noGrp="1" noChangeArrowheads="1"/>
          </p:cNvSpPr>
          <p:nvPr>
            <p:ph type="title"/>
          </p:nvPr>
        </p:nvSpPr>
        <p:spPr>
          <a:xfrm>
            <a:off x="685800" y="152400"/>
            <a:ext cx="7772400" cy="552450"/>
          </a:xfrm>
        </p:spPr>
        <p:txBody>
          <a:bodyPr/>
          <a:lstStyle/>
          <a:p>
            <a:r>
              <a:rPr lang="en-US" altLang="en-US"/>
              <a:t>Objectives</a:t>
            </a:r>
          </a:p>
        </p:txBody>
      </p:sp>
      <p:sp>
        <p:nvSpPr>
          <p:cNvPr id="5124" name="Rectangle 3">
            <a:extLst>
              <a:ext uri="{FF2B5EF4-FFF2-40B4-BE49-F238E27FC236}">
                <a16:creationId xmlns:a16="http://schemas.microsoft.com/office/drawing/2014/main" id="{1938DEC7-A6F9-444C-B9F5-2E7F91481920}"/>
              </a:ext>
            </a:extLst>
          </p:cNvPr>
          <p:cNvSpPr>
            <a:spLocks noGrp="1" noChangeArrowheads="1"/>
          </p:cNvSpPr>
          <p:nvPr>
            <p:ph idx="1"/>
          </p:nvPr>
        </p:nvSpPr>
        <p:spPr>
          <a:xfrm>
            <a:off x="0" y="914400"/>
            <a:ext cx="9144000" cy="5638800"/>
          </a:xfrm>
        </p:spPr>
        <p:txBody>
          <a:bodyPr/>
          <a:lstStyle/>
          <a:p>
            <a:pPr marL="514350">
              <a:lnSpc>
                <a:spcPct val="115000"/>
              </a:lnSpc>
              <a:buFont typeface="Wingdings" panose="05000000000000000000" pitchFamily="2" charset="2"/>
              <a:buChar char="§"/>
            </a:pPr>
            <a:r>
              <a:rPr lang="en-US" altLang="en-US" sz="2000"/>
              <a:t>To model real-world problems using graphs and explain the Seven Bridges of Königsberg problem (§28.1).</a:t>
            </a:r>
          </a:p>
          <a:p>
            <a:pPr marL="514350">
              <a:lnSpc>
                <a:spcPct val="115000"/>
              </a:lnSpc>
              <a:buFont typeface="Wingdings" panose="05000000000000000000" pitchFamily="2" charset="2"/>
              <a:buChar char="§"/>
            </a:pPr>
            <a:r>
              <a:rPr lang="en-US" altLang="en-US" sz="2000"/>
              <a:t>To describe the graph terminologies: vertices, edges, simple graphs, weighted/unweighted graphs, and directed/undirected graphs (§28.2).</a:t>
            </a:r>
          </a:p>
          <a:p>
            <a:pPr marL="514350">
              <a:lnSpc>
                <a:spcPct val="115000"/>
              </a:lnSpc>
              <a:buFont typeface="Wingdings" panose="05000000000000000000" pitchFamily="2" charset="2"/>
              <a:buChar char="§"/>
            </a:pPr>
            <a:r>
              <a:rPr lang="en-US" altLang="en-US" sz="2000"/>
              <a:t>To represent vertices and edges using lists, edge arrays, edge objects, adjacency matrices, and adjacency lists (§28.3).</a:t>
            </a:r>
          </a:p>
          <a:p>
            <a:pPr marL="514350">
              <a:lnSpc>
                <a:spcPct val="115000"/>
              </a:lnSpc>
              <a:buFont typeface="Wingdings" panose="05000000000000000000" pitchFamily="2" charset="2"/>
              <a:buChar char="§"/>
            </a:pPr>
            <a:r>
              <a:rPr lang="en-US" altLang="en-US" sz="2000"/>
              <a:t>To model graphs using the </a:t>
            </a:r>
            <a:r>
              <a:rPr lang="en-US" altLang="en-US" sz="2000" b="1"/>
              <a:t>Graph</a:t>
            </a:r>
            <a:r>
              <a:rPr lang="en-US" altLang="en-US" sz="2000"/>
              <a:t> interface, the </a:t>
            </a:r>
            <a:r>
              <a:rPr lang="en-US" altLang="en-US" sz="2000" b="1"/>
              <a:t>AbstractGraph</a:t>
            </a:r>
            <a:r>
              <a:rPr lang="en-US" altLang="en-US" sz="2000"/>
              <a:t> class, and the </a:t>
            </a:r>
            <a:r>
              <a:rPr lang="en-US" altLang="en-US" sz="2000" b="1"/>
              <a:t>UnweightedGraph</a:t>
            </a:r>
            <a:r>
              <a:rPr lang="en-US" altLang="en-US" sz="2000"/>
              <a:t> class (§28.4).</a:t>
            </a:r>
          </a:p>
          <a:p>
            <a:pPr marL="514350">
              <a:lnSpc>
                <a:spcPct val="115000"/>
              </a:lnSpc>
              <a:buFont typeface="Wingdings" panose="05000000000000000000" pitchFamily="2" charset="2"/>
              <a:buChar char="§"/>
            </a:pPr>
            <a:r>
              <a:rPr lang="en-US" altLang="en-US" sz="2000"/>
              <a:t>To display graphs visually (§28.5).</a:t>
            </a:r>
          </a:p>
          <a:p>
            <a:pPr marL="514350">
              <a:lnSpc>
                <a:spcPct val="115000"/>
              </a:lnSpc>
              <a:buFont typeface="Wingdings" panose="05000000000000000000" pitchFamily="2" charset="2"/>
              <a:buChar char="§"/>
            </a:pPr>
            <a:r>
              <a:rPr lang="en-US" altLang="en-US" sz="2000"/>
              <a:t>To represent the traversal of a graph using the </a:t>
            </a:r>
            <a:r>
              <a:rPr lang="en-US" altLang="en-US" sz="2000" b="1"/>
              <a:t>AbstractGraph.Tree</a:t>
            </a:r>
            <a:r>
              <a:rPr lang="en-US" altLang="en-US" sz="2000"/>
              <a:t> class (§28.6).</a:t>
            </a:r>
          </a:p>
          <a:p>
            <a:pPr marL="514350">
              <a:lnSpc>
                <a:spcPct val="115000"/>
              </a:lnSpc>
              <a:buFont typeface="Wingdings" panose="05000000000000000000" pitchFamily="2" charset="2"/>
              <a:buChar char="§"/>
            </a:pPr>
            <a:r>
              <a:rPr lang="en-US" altLang="en-US" sz="2000"/>
              <a:t>To design and implement depth-first search (§28.7).</a:t>
            </a:r>
          </a:p>
          <a:p>
            <a:pPr marL="514350">
              <a:lnSpc>
                <a:spcPct val="115000"/>
              </a:lnSpc>
              <a:buFont typeface="Wingdings" panose="05000000000000000000" pitchFamily="2" charset="2"/>
              <a:buChar char="§"/>
            </a:pPr>
            <a:r>
              <a:rPr lang="en-US" altLang="en-US" sz="2000"/>
              <a:t>To solve the connected-circle problem using depth-first search (§28.8).</a:t>
            </a:r>
          </a:p>
          <a:p>
            <a:pPr marL="514350">
              <a:lnSpc>
                <a:spcPct val="115000"/>
              </a:lnSpc>
              <a:buFont typeface="Wingdings" panose="05000000000000000000" pitchFamily="2" charset="2"/>
              <a:buChar char="§"/>
            </a:pPr>
            <a:r>
              <a:rPr lang="en-US" altLang="en-US" sz="2000"/>
              <a:t>To design and implement breadth-first search (§28.9).</a:t>
            </a:r>
          </a:p>
          <a:p>
            <a:pPr marL="514350">
              <a:lnSpc>
                <a:spcPct val="115000"/>
              </a:lnSpc>
              <a:buFont typeface="Wingdings" panose="05000000000000000000" pitchFamily="2" charset="2"/>
              <a:buChar char="§"/>
            </a:pPr>
            <a:r>
              <a:rPr lang="en-US" altLang="en-US" sz="2000"/>
              <a:t>To solve the nine-tail problem using breadth-first search (§28.10).</a:t>
            </a:r>
          </a:p>
        </p:txBody>
      </p:sp>
      <p:sp>
        <p:nvSpPr>
          <p:cNvPr id="5122" name="Slide Number Placeholder 4">
            <a:extLst>
              <a:ext uri="{FF2B5EF4-FFF2-40B4-BE49-F238E27FC236}">
                <a16:creationId xmlns:a16="http://schemas.microsoft.com/office/drawing/2014/main" id="{C14F25DE-3C8E-413E-A2A9-96E02484ABA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C4516FC-8BDE-488F-8D67-BF810A909EA2}" type="slidenum">
              <a:rPr lang="en-US" altLang="en-US" sz="1400"/>
              <a:pPr>
                <a:spcBef>
                  <a:spcPct val="0"/>
                </a:spcBef>
                <a:buClrTx/>
                <a:buSzTx/>
                <a:buFontTx/>
                <a:buNone/>
              </a:pPr>
              <a:t>2</a:t>
            </a:fld>
            <a:endParaRPr lang="en-US" alt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a:extLst>
              <a:ext uri="{FF2B5EF4-FFF2-40B4-BE49-F238E27FC236}">
                <a16:creationId xmlns:a16="http://schemas.microsoft.com/office/drawing/2014/main" id="{686C636A-2342-4E9A-891A-CFCC2A629203}"/>
              </a:ext>
            </a:extLst>
          </p:cNvPr>
          <p:cNvSpPr>
            <a:spLocks noGrp="1" noChangeArrowheads="1"/>
          </p:cNvSpPr>
          <p:nvPr>
            <p:ph type="title"/>
          </p:nvPr>
        </p:nvSpPr>
        <p:spPr>
          <a:xfrm>
            <a:off x="685800" y="228600"/>
            <a:ext cx="7772400" cy="533400"/>
          </a:xfrm>
        </p:spPr>
        <p:txBody>
          <a:bodyPr/>
          <a:lstStyle/>
          <a:p>
            <a:r>
              <a:rPr lang="en-US" altLang="en-US"/>
              <a:t>Modeling Using Graphs</a:t>
            </a:r>
          </a:p>
        </p:txBody>
      </p:sp>
      <p:sp>
        <p:nvSpPr>
          <p:cNvPr id="6146" name="Slide Number Placeholder 4">
            <a:extLst>
              <a:ext uri="{FF2B5EF4-FFF2-40B4-BE49-F238E27FC236}">
                <a16:creationId xmlns:a16="http://schemas.microsoft.com/office/drawing/2014/main" id="{2AB75036-0CA3-4F91-8635-728F40EA415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75C0170-B004-4415-BBBB-D203D5DD844B}" type="slidenum">
              <a:rPr lang="en-US" altLang="en-US" sz="1400"/>
              <a:pPr>
                <a:spcBef>
                  <a:spcPct val="0"/>
                </a:spcBef>
                <a:buClrTx/>
                <a:buSzTx/>
                <a:buFontTx/>
                <a:buNone/>
              </a:pPr>
              <a:t>3</a:t>
            </a:fld>
            <a:endParaRPr lang="en-US" altLang="en-US" sz="1400"/>
          </a:p>
        </p:txBody>
      </p:sp>
      <p:pic>
        <p:nvPicPr>
          <p:cNvPr id="6153" name="Picture 10">
            <a:extLst>
              <a:ext uri="{FF2B5EF4-FFF2-40B4-BE49-F238E27FC236}">
                <a16:creationId xmlns:a16="http://schemas.microsoft.com/office/drawing/2014/main" id="{EBA70D81-4433-40C5-A37A-6319DEBBD6A8}"/>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925" y="1196975"/>
            <a:ext cx="8489950" cy="453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B5B6BD92-54BE-44AD-BC96-D998AA7DAADD}"/>
              </a:ext>
            </a:extLst>
          </p:cNvPr>
          <p:cNvSpPr>
            <a:spLocks noGrp="1" noChangeArrowheads="1"/>
          </p:cNvSpPr>
          <p:nvPr>
            <p:ph type="title"/>
          </p:nvPr>
        </p:nvSpPr>
        <p:spPr>
          <a:xfrm>
            <a:off x="179388" y="152400"/>
            <a:ext cx="8659812" cy="533400"/>
          </a:xfrm>
        </p:spPr>
        <p:txBody>
          <a:bodyPr/>
          <a:lstStyle/>
          <a:p>
            <a:r>
              <a:rPr lang="en-US" altLang="en-US" sz="3600"/>
              <a:t>Graph Animation</a:t>
            </a:r>
          </a:p>
        </p:txBody>
      </p:sp>
      <p:sp>
        <p:nvSpPr>
          <p:cNvPr id="7170" name="Slide Number Placeholder 4">
            <a:extLst>
              <a:ext uri="{FF2B5EF4-FFF2-40B4-BE49-F238E27FC236}">
                <a16:creationId xmlns:a16="http://schemas.microsoft.com/office/drawing/2014/main" id="{1FE07E88-697D-4E0F-9D22-02EA7236BF3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4F26B40-207E-4852-8D89-B49821809512}" type="slidenum">
              <a:rPr lang="en-US" altLang="en-US" sz="1400"/>
              <a:pPr>
                <a:spcBef>
                  <a:spcPct val="0"/>
                </a:spcBef>
                <a:buClrTx/>
                <a:buSzTx/>
                <a:buFontTx/>
                <a:buNone/>
              </a:pPr>
              <a:t>4</a:t>
            </a:fld>
            <a:endParaRPr lang="en-US" altLang="en-US" sz="1400"/>
          </a:p>
        </p:txBody>
      </p:sp>
      <p:pic>
        <p:nvPicPr>
          <p:cNvPr id="7176" name="Picture 9">
            <a:extLst>
              <a:ext uri="{FF2B5EF4-FFF2-40B4-BE49-F238E27FC236}">
                <a16:creationId xmlns:a16="http://schemas.microsoft.com/office/drawing/2014/main" id="{25DD74F6-1208-4ABD-8539-4FE1BBCBB998}"/>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435100"/>
            <a:ext cx="8839200" cy="491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7" name="Rounded Rectangle 1">
            <a:hlinkClick r:id="rId3"/>
            <a:extLst>
              <a:ext uri="{FF2B5EF4-FFF2-40B4-BE49-F238E27FC236}">
                <a16:creationId xmlns:a16="http://schemas.microsoft.com/office/drawing/2014/main" id="{36B9BE4D-20C3-42BA-9501-7D0309C09CC8}"/>
              </a:ext>
            </a:extLst>
          </p:cNvPr>
          <p:cNvSpPr>
            <a:spLocks noChangeArrowheads="1"/>
          </p:cNvSpPr>
          <p:nvPr/>
        </p:nvSpPr>
        <p:spPr bwMode="auto">
          <a:xfrm>
            <a:off x="179388" y="685800"/>
            <a:ext cx="8809037" cy="6858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 typeface="Monotype Sorts"/>
              <a:buNone/>
            </a:pPr>
            <a:r>
              <a:rPr lang="en-US" altLang="en-US" sz="2000" u="sng" dirty="0">
                <a:solidFill>
                  <a:srgbClr val="002060"/>
                </a:solidFill>
              </a:rPr>
              <a:t>https://liveexample.pearsoncmg.com/dsanimation/GraphLearningTooleBook.html </a:t>
            </a:r>
          </a:p>
        </p:txBody>
      </p:sp>
      <p:sp>
        <p:nvSpPr>
          <p:cNvPr id="7178" name="AutoShape 12">
            <a:hlinkClick r:id="rId4" highlightClick="1"/>
            <a:extLst>
              <a:ext uri="{FF2B5EF4-FFF2-40B4-BE49-F238E27FC236}">
                <a16:creationId xmlns:a16="http://schemas.microsoft.com/office/drawing/2014/main" id="{A1B88C5A-174E-452F-9792-1BAD1EA68A64}"/>
              </a:ext>
              <a:ext uri="{C183D7F6-B498-43B3-948B-1728B52AA6E4}">
                <adec:decorative xmlns:adec="http://schemas.microsoft.com/office/drawing/2017/decorative" val="1"/>
              </a:ext>
            </a:extLst>
          </p:cNvPr>
          <p:cNvSpPr>
            <a:spLocks noChangeArrowheads="1"/>
          </p:cNvSpPr>
          <p:nvPr/>
        </p:nvSpPr>
        <p:spPr bwMode="auto">
          <a:xfrm>
            <a:off x="69850" y="3048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5" name="Rectangle 2">
            <a:extLst>
              <a:ext uri="{FF2B5EF4-FFF2-40B4-BE49-F238E27FC236}">
                <a16:creationId xmlns:a16="http://schemas.microsoft.com/office/drawing/2014/main" id="{CD252924-0870-4F83-9856-23C601C472C7}"/>
              </a:ext>
            </a:extLst>
          </p:cNvPr>
          <p:cNvSpPr>
            <a:spLocks noGrp="1" noChangeArrowheads="1"/>
          </p:cNvSpPr>
          <p:nvPr>
            <p:ph type="title"/>
          </p:nvPr>
        </p:nvSpPr>
        <p:spPr>
          <a:xfrm>
            <a:off x="685800" y="285750"/>
            <a:ext cx="7772400" cy="704850"/>
          </a:xfrm>
        </p:spPr>
        <p:txBody>
          <a:bodyPr/>
          <a:lstStyle/>
          <a:p>
            <a:r>
              <a:rPr lang="en-US" altLang="en-US"/>
              <a:t>Seven Bridges of Königsberg </a:t>
            </a:r>
          </a:p>
        </p:txBody>
      </p:sp>
      <p:sp>
        <p:nvSpPr>
          <p:cNvPr id="8194" name="Slide Number Placeholder 4">
            <a:extLst>
              <a:ext uri="{FF2B5EF4-FFF2-40B4-BE49-F238E27FC236}">
                <a16:creationId xmlns:a16="http://schemas.microsoft.com/office/drawing/2014/main" id="{AABED0DD-22A1-4289-BF60-38F1ED1D373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23E6187-425E-4DAA-A02E-FA41E464CF12}" type="slidenum">
              <a:rPr lang="en-US" altLang="en-US" sz="1400"/>
              <a:pPr>
                <a:spcBef>
                  <a:spcPct val="0"/>
                </a:spcBef>
                <a:buClrTx/>
                <a:buSzTx/>
                <a:buFontTx/>
                <a:buNone/>
              </a:pPr>
              <a:t>5</a:t>
            </a:fld>
            <a:endParaRPr lang="en-US" altLang="en-US" sz="1400"/>
          </a:p>
        </p:txBody>
      </p:sp>
      <p:graphicFrame>
        <p:nvGraphicFramePr>
          <p:cNvPr id="8198" name="Object 5">
            <a:extLst>
              <a:ext uri="{FF2B5EF4-FFF2-40B4-BE49-F238E27FC236}">
                <a16:creationId xmlns:a16="http://schemas.microsoft.com/office/drawing/2014/main" id="{74B94C04-9E02-47E7-B1EA-53B1149CE12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713524505"/>
              </p:ext>
            </p:extLst>
          </p:nvPr>
        </p:nvGraphicFramePr>
        <p:xfrm>
          <a:off x="152400" y="1295400"/>
          <a:ext cx="5029200" cy="2098675"/>
        </p:xfrm>
        <a:graphic>
          <a:graphicData uri="http://schemas.openxmlformats.org/presentationml/2006/ole">
            <mc:AlternateContent xmlns:mc="http://schemas.openxmlformats.org/markup-compatibility/2006">
              <mc:Choice xmlns:v="urn:schemas-microsoft-com:vml" Requires="v">
                <p:oleObj name="Picture" r:id="rId2" imgW="4160520" imgH="1743456" progId="Word.Picture.8">
                  <p:embed/>
                </p:oleObj>
              </mc:Choice>
              <mc:Fallback>
                <p:oleObj name="Picture" r:id="rId2" imgW="4160520" imgH="1743456" progId="Word.Picture.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95400"/>
                        <a:ext cx="5029200"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0" name="Object 7">
            <a:extLst>
              <a:ext uri="{FF2B5EF4-FFF2-40B4-BE49-F238E27FC236}">
                <a16:creationId xmlns:a16="http://schemas.microsoft.com/office/drawing/2014/main" id="{D57382D6-4022-4699-99DB-4B8651AB3A4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036531566"/>
              </p:ext>
            </p:extLst>
          </p:nvPr>
        </p:nvGraphicFramePr>
        <p:xfrm>
          <a:off x="5257800" y="3427413"/>
          <a:ext cx="3201988" cy="2855912"/>
        </p:xfrm>
        <a:graphic>
          <a:graphicData uri="http://schemas.openxmlformats.org/presentationml/2006/ole">
            <mc:AlternateContent xmlns:mc="http://schemas.openxmlformats.org/markup-compatibility/2006">
              <mc:Choice xmlns:v="urn:schemas-microsoft-com:vml" Requires="v">
                <p:oleObj name="Picture" r:id="rId4" imgW="1943100" imgH="1739900" progId="Word.Picture.8">
                  <p:embed/>
                </p:oleObj>
              </mc:Choice>
              <mc:Fallback>
                <p:oleObj name="Picture" r:id="rId4" imgW="1943100" imgH="1739900" progId="Word.Picture.8">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7800" y="3427413"/>
                        <a:ext cx="3201988" cy="285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a:extLst>
              <a:ext uri="{FF2B5EF4-FFF2-40B4-BE49-F238E27FC236}">
                <a16:creationId xmlns:a16="http://schemas.microsoft.com/office/drawing/2014/main" id="{08E28468-081E-4E88-A76B-62E53CC3DD60}"/>
              </a:ext>
            </a:extLst>
          </p:cNvPr>
          <p:cNvSpPr>
            <a:spLocks noGrp="1" noChangeArrowheads="1"/>
          </p:cNvSpPr>
          <p:nvPr>
            <p:ph type="title"/>
          </p:nvPr>
        </p:nvSpPr>
        <p:spPr>
          <a:xfrm>
            <a:off x="685800" y="76200"/>
            <a:ext cx="7772400" cy="704850"/>
          </a:xfrm>
        </p:spPr>
        <p:txBody>
          <a:bodyPr/>
          <a:lstStyle/>
          <a:p>
            <a:r>
              <a:rPr lang="en-US" altLang="en-US" dirty="0"/>
              <a:t>Basic Graph Terminologies </a:t>
            </a:r>
          </a:p>
        </p:txBody>
      </p:sp>
      <p:sp>
        <p:nvSpPr>
          <p:cNvPr id="9218" name="Slide Number Placeholder 4">
            <a:extLst>
              <a:ext uri="{FF2B5EF4-FFF2-40B4-BE49-F238E27FC236}">
                <a16:creationId xmlns:a16="http://schemas.microsoft.com/office/drawing/2014/main" id="{E2C055BD-EC4F-4DF1-9328-FAF980985E8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4CE56C8-E481-42BF-BEB9-5F9FA8B9972D}" type="slidenum">
              <a:rPr lang="en-US" altLang="en-US" sz="1400"/>
              <a:pPr>
                <a:spcBef>
                  <a:spcPct val="0"/>
                </a:spcBef>
                <a:buClrTx/>
                <a:buSzTx/>
                <a:buFontTx/>
                <a:buNone/>
              </a:pPr>
              <a:t>6</a:t>
            </a:fld>
            <a:endParaRPr lang="en-US" altLang="en-US" sz="1400"/>
          </a:p>
        </p:txBody>
      </p:sp>
      <p:sp>
        <p:nvSpPr>
          <p:cNvPr id="9221" name="Text Box 4">
            <a:extLst>
              <a:ext uri="{FF2B5EF4-FFF2-40B4-BE49-F238E27FC236}">
                <a16:creationId xmlns:a16="http://schemas.microsoft.com/office/drawing/2014/main" id="{3BF00C1E-1F31-479D-AC5B-8959389E3924}"/>
              </a:ext>
            </a:extLst>
          </p:cNvPr>
          <p:cNvSpPr txBox="1">
            <a:spLocks noChangeArrowheads="1"/>
          </p:cNvSpPr>
          <p:nvPr/>
        </p:nvSpPr>
        <p:spPr bwMode="auto">
          <a:xfrm>
            <a:off x="266700" y="781050"/>
            <a:ext cx="86106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800" dirty="0">
                <a:cs typeface="Times New Roman" panose="02020603050405020304" pitchFamily="18" charset="0"/>
              </a:rPr>
              <a:t>What is a graph?  G=(V, E)</a:t>
            </a:r>
          </a:p>
          <a:p>
            <a:pPr>
              <a:spcBef>
                <a:spcPct val="0"/>
              </a:spcBef>
              <a:spcAft>
                <a:spcPts val="1200"/>
              </a:spcAft>
              <a:buClrTx/>
              <a:buSzTx/>
              <a:buFontTx/>
              <a:buNone/>
            </a:pPr>
            <a:r>
              <a:rPr lang="en-US" altLang="en-US" sz="2800" dirty="0">
                <a:cs typeface="Times New Roman" panose="02020603050405020304" pitchFamily="18" charset="0"/>
              </a:rPr>
              <a:t>Define a graph : </a:t>
            </a:r>
            <a:r>
              <a:rPr lang="en-US" altLang="en-US" sz="2400" dirty="0">
                <a:solidFill>
                  <a:srgbClr val="002060"/>
                </a:solidFill>
                <a:cs typeface="Times New Roman" panose="02020603050405020304" pitchFamily="18" charset="0"/>
              </a:rPr>
              <a:t>mathematical structure representing relationships between entities. </a:t>
            </a:r>
            <a:r>
              <a:rPr lang="en-US" altLang="en-US" sz="2400" dirty="0">
                <a:solidFill>
                  <a:srgbClr val="002060"/>
                </a:solidFill>
                <a:highlight>
                  <a:srgbClr val="FFFF00"/>
                </a:highlight>
                <a:cs typeface="Times New Roman" panose="02020603050405020304" pitchFamily="18" charset="0"/>
              </a:rPr>
              <a:t>It has vertices (nodes) and edges, but each vertex can have many edges connecting it to other vertices.</a:t>
            </a:r>
          </a:p>
          <a:p>
            <a:pPr>
              <a:spcBef>
                <a:spcPct val="0"/>
              </a:spcBef>
              <a:spcAft>
                <a:spcPts val="800"/>
              </a:spcAft>
              <a:buClrTx/>
              <a:buSzTx/>
              <a:buFontTx/>
              <a:buNone/>
            </a:pPr>
            <a:r>
              <a:rPr lang="en-US" altLang="en-US" sz="2800" dirty="0">
                <a:cs typeface="Times New Roman" panose="02020603050405020304" pitchFamily="18" charset="0"/>
              </a:rPr>
              <a:t>Directed vs. undirected graphs</a:t>
            </a:r>
          </a:p>
          <a:p>
            <a:pPr>
              <a:spcBef>
                <a:spcPct val="0"/>
              </a:spcBef>
              <a:spcAft>
                <a:spcPts val="800"/>
              </a:spcAft>
              <a:buClrTx/>
              <a:buSzTx/>
              <a:buFontTx/>
              <a:buNone/>
            </a:pPr>
            <a:r>
              <a:rPr lang="en-US" altLang="en-US" sz="2800" dirty="0">
                <a:cs typeface="Times New Roman" panose="02020603050405020304" pitchFamily="18" charset="0"/>
              </a:rPr>
              <a:t>Weighted vs. unweighted graphs</a:t>
            </a:r>
          </a:p>
          <a:p>
            <a:pPr>
              <a:spcBef>
                <a:spcPct val="0"/>
              </a:spcBef>
              <a:spcAft>
                <a:spcPts val="800"/>
              </a:spcAft>
              <a:buClrTx/>
              <a:buSzTx/>
              <a:buFontTx/>
              <a:buNone/>
            </a:pPr>
            <a:r>
              <a:rPr lang="en-US" altLang="en-US" sz="2800" dirty="0">
                <a:cs typeface="Times New Roman" panose="02020603050405020304" pitchFamily="18" charset="0"/>
              </a:rPr>
              <a:t>Adjacent vertices: </a:t>
            </a:r>
            <a:r>
              <a:rPr lang="en-US" altLang="en-US" sz="2400" dirty="0">
                <a:solidFill>
                  <a:srgbClr val="002060"/>
                </a:solidFill>
                <a:cs typeface="Times New Roman" panose="02020603050405020304" pitchFamily="18" charset="0"/>
              </a:rPr>
              <a:t>connected by an edge</a:t>
            </a:r>
          </a:p>
          <a:p>
            <a:pPr>
              <a:spcBef>
                <a:spcPct val="0"/>
              </a:spcBef>
              <a:spcAft>
                <a:spcPts val="800"/>
              </a:spcAft>
              <a:buClrTx/>
              <a:buSzTx/>
              <a:buFontTx/>
              <a:buNone/>
            </a:pPr>
            <a:r>
              <a:rPr lang="en-US" altLang="en-US" sz="2800" dirty="0">
                <a:cs typeface="Times New Roman" panose="02020603050405020304" pitchFamily="18" charset="0"/>
              </a:rPr>
              <a:t>Incident: </a:t>
            </a:r>
            <a:r>
              <a:rPr lang="en-US" altLang="en-US" sz="2400" dirty="0">
                <a:solidFill>
                  <a:srgbClr val="002060"/>
                </a:solidFill>
                <a:cs typeface="Times New Roman" panose="02020603050405020304" pitchFamily="18" charset="0"/>
              </a:rPr>
              <a:t>an edge joining 2 vertices is </a:t>
            </a:r>
            <a:r>
              <a:rPr lang="en-US" altLang="en-US" sz="2400" b="1" dirty="0">
                <a:solidFill>
                  <a:srgbClr val="002060"/>
                </a:solidFill>
                <a:cs typeface="Times New Roman" panose="02020603050405020304" pitchFamily="18" charset="0"/>
              </a:rPr>
              <a:t>incident</a:t>
            </a:r>
            <a:r>
              <a:rPr lang="en-US" altLang="en-US" sz="2400" dirty="0">
                <a:solidFill>
                  <a:srgbClr val="002060"/>
                </a:solidFill>
                <a:cs typeface="Times New Roman" panose="02020603050405020304" pitchFamily="18" charset="0"/>
              </a:rPr>
              <a:t> to those vertices </a:t>
            </a:r>
            <a:endParaRPr lang="en-US" altLang="en-US" sz="2800" dirty="0">
              <a:solidFill>
                <a:srgbClr val="002060"/>
              </a:solidFill>
              <a:cs typeface="Times New Roman" panose="02020603050405020304" pitchFamily="18" charset="0"/>
            </a:endParaRPr>
          </a:p>
          <a:p>
            <a:pPr>
              <a:spcBef>
                <a:spcPct val="0"/>
              </a:spcBef>
              <a:spcAft>
                <a:spcPts val="800"/>
              </a:spcAft>
              <a:buClrTx/>
              <a:buSzTx/>
              <a:buFontTx/>
              <a:buNone/>
            </a:pPr>
            <a:r>
              <a:rPr lang="en-US" altLang="en-US" sz="2800" b="1" dirty="0">
                <a:highlight>
                  <a:srgbClr val="FFFF00"/>
                </a:highlight>
                <a:cs typeface="Times New Roman" panose="02020603050405020304" pitchFamily="18" charset="0"/>
              </a:rPr>
              <a:t>Degree</a:t>
            </a:r>
            <a:r>
              <a:rPr lang="en-US" altLang="en-US" sz="2800" dirty="0">
                <a:highlight>
                  <a:srgbClr val="FFFF00"/>
                </a:highlight>
                <a:cs typeface="Times New Roman" panose="02020603050405020304" pitchFamily="18" charset="0"/>
              </a:rPr>
              <a:t> </a:t>
            </a:r>
            <a:r>
              <a:rPr lang="en-US" altLang="en-US" sz="2400" dirty="0">
                <a:solidFill>
                  <a:srgbClr val="002060"/>
                </a:solidFill>
                <a:highlight>
                  <a:srgbClr val="FFFF00"/>
                </a:highlight>
                <a:cs typeface="Times New Roman" panose="02020603050405020304" pitchFamily="18" charset="0"/>
              </a:rPr>
              <a:t>of a vertex </a:t>
            </a:r>
            <a:r>
              <a:rPr lang="en-US" altLang="en-US" sz="2400" dirty="0">
                <a:solidFill>
                  <a:srgbClr val="002060"/>
                </a:solidFill>
                <a:cs typeface="Times New Roman" panose="02020603050405020304" pitchFamily="18" charset="0"/>
              </a:rPr>
              <a:t>is the number of edges connected to it</a:t>
            </a:r>
          </a:p>
          <a:p>
            <a:pPr>
              <a:spcBef>
                <a:spcPct val="0"/>
              </a:spcBef>
              <a:spcAft>
                <a:spcPts val="800"/>
              </a:spcAft>
              <a:buClrTx/>
              <a:buSzTx/>
              <a:buFontTx/>
              <a:buNone/>
            </a:pPr>
            <a:r>
              <a:rPr lang="en-US" altLang="en-US" sz="2800" dirty="0">
                <a:cs typeface="Times New Roman" panose="02020603050405020304" pitchFamily="18" charset="0"/>
              </a:rPr>
              <a:t>Neighbor: </a:t>
            </a:r>
            <a:r>
              <a:rPr lang="en-US" altLang="en-US" sz="2400" dirty="0">
                <a:solidFill>
                  <a:srgbClr val="002060"/>
                </a:solidFill>
                <a:cs typeface="Times New Roman" panose="02020603050405020304" pitchFamily="18" charset="0"/>
              </a:rPr>
              <a:t>adjacent vertex</a:t>
            </a:r>
          </a:p>
          <a:p>
            <a:pPr>
              <a:spcBef>
                <a:spcPct val="0"/>
              </a:spcBef>
              <a:spcAft>
                <a:spcPts val="800"/>
              </a:spcAft>
              <a:buClrTx/>
              <a:buSzTx/>
              <a:buFontTx/>
              <a:buNone/>
            </a:pPr>
            <a:r>
              <a:rPr lang="en-US" altLang="en-US" sz="2800" dirty="0">
                <a:cs typeface="Times New Roman" panose="02020603050405020304" pitchFamily="18" charset="0"/>
              </a:rPr>
              <a:t>Loop: </a:t>
            </a:r>
            <a:r>
              <a:rPr lang="en-US" altLang="en-US" sz="2400" dirty="0">
                <a:solidFill>
                  <a:srgbClr val="002060"/>
                </a:solidFill>
                <a:cs typeface="Times New Roman" panose="02020603050405020304" pitchFamily="18" charset="0"/>
              </a:rPr>
              <a:t>edge with both ends connected to the same vertex</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a:extLst>
              <a:ext uri="{FF2B5EF4-FFF2-40B4-BE49-F238E27FC236}">
                <a16:creationId xmlns:a16="http://schemas.microsoft.com/office/drawing/2014/main" id="{31218390-BDCD-45F5-884E-14B5F91A96D6}"/>
              </a:ext>
            </a:extLst>
          </p:cNvPr>
          <p:cNvSpPr>
            <a:spLocks noGrp="1" noChangeArrowheads="1"/>
          </p:cNvSpPr>
          <p:nvPr>
            <p:ph type="title"/>
          </p:nvPr>
        </p:nvSpPr>
        <p:spPr>
          <a:xfrm>
            <a:off x="685800" y="285750"/>
            <a:ext cx="7772400" cy="704850"/>
          </a:xfrm>
        </p:spPr>
        <p:txBody>
          <a:bodyPr/>
          <a:lstStyle/>
          <a:p>
            <a:r>
              <a:rPr lang="en-US" altLang="en-US"/>
              <a:t>Directed vs Undirected Graph </a:t>
            </a:r>
          </a:p>
        </p:txBody>
      </p:sp>
      <p:sp>
        <p:nvSpPr>
          <p:cNvPr id="10242" name="Slide Number Placeholder 4">
            <a:extLst>
              <a:ext uri="{FF2B5EF4-FFF2-40B4-BE49-F238E27FC236}">
                <a16:creationId xmlns:a16="http://schemas.microsoft.com/office/drawing/2014/main" id="{175D9E57-0B27-4382-AE54-E6CFF605203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6263B61-C413-46F6-8841-7D0665222BE1}" type="slidenum">
              <a:rPr lang="en-US" altLang="en-US" sz="1400"/>
              <a:pPr>
                <a:spcBef>
                  <a:spcPct val="0"/>
                </a:spcBef>
                <a:buClrTx/>
                <a:buSzTx/>
                <a:buFontTx/>
                <a:buNone/>
              </a:pPr>
              <a:t>7</a:t>
            </a:fld>
            <a:endParaRPr lang="en-US" altLang="en-US" sz="1400"/>
          </a:p>
        </p:txBody>
      </p:sp>
      <p:graphicFrame>
        <p:nvGraphicFramePr>
          <p:cNvPr id="10246" name="Object 5">
            <a:extLst>
              <a:ext uri="{FF2B5EF4-FFF2-40B4-BE49-F238E27FC236}">
                <a16:creationId xmlns:a16="http://schemas.microsoft.com/office/drawing/2014/main" id="{0F1F93E6-86CB-44A6-8FC1-530B8B52CA9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574545544"/>
              </p:ext>
            </p:extLst>
          </p:nvPr>
        </p:nvGraphicFramePr>
        <p:xfrm>
          <a:off x="609600" y="1524000"/>
          <a:ext cx="3276600" cy="2287588"/>
        </p:xfrm>
        <a:graphic>
          <a:graphicData uri="http://schemas.openxmlformats.org/presentationml/2006/ole">
            <mc:AlternateContent xmlns:mc="http://schemas.openxmlformats.org/markup-compatibility/2006">
              <mc:Choice xmlns:v="urn:schemas-microsoft-com:vml" Requires="v">
                <p:oleObj name="Picture" r:id="rId2" imgW="2042160" imgH="1438656" progId="Word.Picture.8">
                  <p:embed/>
                </p:oleObj>
              </mc:Choice>
              <mc:Fallback>
                <p:oleObj name="Picture" r:id="rId2" imgW="2042160" imgH="1438656" progId="Word.Picture.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524000"/>
                        <a:ext cx="3276600" cy="228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Object 7">
            <a:extLst>
              <a:ext uri="{FF2B5EF4-FFF2-40B4-BE49-F238E27FC236}">
                <a16:creationId xmlns:a16="http://schemas.microsoft.com/office/drawing/2014/main" id="{BC8C8B63-FD95-44A5-8420-4914F9A83D8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915828699"/>
              </p:ext>
            </p:extLst>
          </p:nvPr>
        </p:nvGraphicFramePr>
        <p:xfrm>
          <a:off x="4572000" y="2614613"/>
          <a:ext cx="3429000" cy="2393950"/>
        </p:xfrm>
        <a:graphic>
          <a:graphicData uri="http://schemas.openxmlformats.org/presentationml/2006/ole">
            <mc:AlternateContent xmlns:mc="http://schemas.openxmlformats.org/markup-compatibility/2006">
              <mc:Choice xmlns:v="urn:schemas-microsoft-com:vml" Requires="v">
                <p:oleObj name="Picture" r:id="rId4" imgW="2044700" imgH="1435100" progId="Word.Picture.8">
                  <p:embed/>
                </p:oleObj>
              </mc:Choice>
              <mc:Fallback>
                <p:oleObj name="Picture" r:id="rId4" imgW="2044700" imgH="1435100" progId="Word.Picture.8">
                  <p:embed/>
                  <p:pic>
                    <p:nvPicPr>
                      <p:cNvPr id="11273" name="Object 7">
                        <a:extLst>
                          <a:ext uri="{FF2B5EF4-FFF2-40B4-BE49-F238E27FC236}">
                            <a16:creationId xmlns:a16="http://schemas.microsoft.com/office/drawing/2014/main" id="{8C46AA64-A38E-4687-AAB5-C95F916F433F}"/>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614613"/>
                        <a:ext cx="3429000" cy="239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C0F891D1-DF23-4617-BBCA-1B0C84DD1C80}"/>
              </a:ext>
            </a:extLst>
          </p:cNvPr>
          <p:cNvSpPr>
            <a:spLocks noGrp="1" noChangeArrowheads="1"/>
          </p:cNvSpPr>
          <p:nvPr>
            <p:ph type="title"/>
          </p:nvPr>
        </p:nvSpPr>
        <p:spPr>
          <a:xfrm>
            <a:off x="685800" y="285750"/>
            <a:ext cx="7772400" cy="704850"/>
          </a:xfrm>
        </p:spPr>
        <p:txBody>
          <a:bodyPr/>
          <a:lstStyle/>
          <a:p>
            <a:r>
              <a:rPr lang="en-US" altLang="en-US"/>
              <a:t>Basic Graph Terminologies </a:t>
            </a:r>
          </a:p>
        </p:txBody>
      </p:sp>
      <p:sp>
        <p:nvSpPr>
          <p:cNvPr id="11266" name="Slide Number Placeholder 4">
            <a:extLst>
              <a:ext uri="{FF2B5EF4-FFF2-40B4-BE49-F238E27FC236}">
                <a16:creationId xmlns:a16="http://schemas.microsoft.com/office/drawing/2014/main" id="{526FAB6F-D8D1-48DA-AF8D-FF605706417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4D385E6-AA66-4AE4-A115-10B697FA5FA4}" type="slidenum">
              <a:rPr lang="en-US" altLang="en-US" sz="1400"/>
              <a:pPr>
                <a:spcBef>
                  <a:spcPct val="0"/>
                </a:spcBef>
                <a:buClrTx/>
                <a:buSzTx/>
                <a:buFontTx/>
                <a:buNone/>
              </a:pPr>
              <a:t>8</a:t>
            </a:fld>
            <a:endParaRPr lang="en-US" altLang="en-US" sz="1400"/>
          </a:p>
        </p:txBody>
      </p:sp>
      <p:sp>
        <p:nvSpPr>
          <p:cNvPr id="11269" name="Text Box 4">
            <a:extLst>
              <a:ext uri="{FF2B5EF4-FFF2-40B4-BE49-F238E27FC236}">
                <a16:creationId xmlns:a16="http://schemas.microsoft.com/office/drawing/2014/main" id="{3C575E3B-C049-48E1-90E1-F2AF805EEA56}"/>
              </a:ext>
            </a:extLst>
          </p:cNvPr>
          <p:cNvSpPr txBox="1">
            <a:spLocks noChangeArrowheads="1"/>
          </p:cNvSpPr>
          <p:nvPr/>
        </p:nvSpPr>
        <p:spPr bwMode="auto">
          <a:xfrm>
            <a:off x="533400" y="1219200"/>
            <a:ext cx="8610600"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800" dirty="0">
                <a:cs typeface="Times New Roman" panose="02020603050405020304" pitchFamily="18" charset="0"/>
              </a:rPr>
              <a:t>Parallel edges: </a:t>
            </a:r>
            <a:r>
              <a:rPr lang="en-US" altLang="en-US" sz="2400" dirty="0">
                <a:solidFill>
                  <a:srgbClr val="002060"/>
                </a:solidFill>
                <a:cs typeface="Times New Roman" panose="02020603050405020304" pitchFamily="18" charset="0"/>
              </a:rPr>
              <a:t>2 edges between the same 2 vertices</a:t>
            </a:r>
          </a:p>
          <a:p>
            <a:pPr>
              <a:spcBef>
                <a:spcPct val="0"/>
              </a:spcBef>
              <a:spcAft>
                <a:spcPts val="1200"/>
              </a:spcAft>
              <a:buClrTx/>
              <a:buSzTx/>
              <a:buFontTx/>
              <a:buNone/>
            </a:pPr>
            <a:r>
              <a:rPr lang="en-US" altLang="en-US" sz="2800" dirty="0">
                <a:cs typeface="Times New Roman" panose="02020603050405020304" pitchFamily="18" charset="0"/>
              </a:rPr>
              <a:t>Simple graph</a:t>
            </a:r>
            <a:r>
              <a:rPr lang="en-US" altLang="en-US" sz="2800" b="1" dirty="0">
                <a:highlight>
                  <a:srgbClr val="FFFF00"/>
                </a:highlight>
                <a:cs typeface="Times New Roman" panose="02020603050405020304" pitchFamily="18" charset="0"/>
              </a:rPr>
              <a:t>: </a:t>
            </a:r>
            <a:r>
              <a:rPr lang="en-US" altLang="en-US" sz="2400" b="1" dirty="0">
                <a:solidFill>
                  <a:srgbClr val="002060"/>
                </a:solidFill>
                <a:highlight>
                  <a:srgbClr val="FFFF00"/>
                </a:highlight>
                <a:cs typeface="Times New Roman" panose="02020603050405020304" pitchFamily="18" charset="0"/>
              </a:rPr>
              <a:t>no loops or parallel edges</a:t>
            </a:r>
          </a:p>
          <a:p>
            <a:pPr>
              <a:spcBef>
                <a:spcPct val="0"/>
              </a:spcBef>
              <a:spcAft>
                <a:spcPts val="1200"/>
              </a:spcAft>
              <a:buClrTx/>
              <a:buSzTx/>
              <a:buFontTx/>
              <a:buNone/>
            </a:pPr>
            <a:r>
              <a:rPr lang="en-US" altLang="en-US" sz="2800" dirty="0">
                <a:cs typeface="Times New Roman" panose="02020603050405020304" pitchFamily="18" charset="0"/>
              </a:rPr>
              <a:t>Complete graph: </a:t>
            </a:r>
            <a:r>
              <a:rPr lang="en-US" altLang="en-US" sz="2400" dirty="0">
                <a:solidFill>
                  <a:srgbClr val="002060"/>
                </a:solidFill>
                <a:highlight>
                  <a:srgbClr val="FFFF00"/>
                </a:highlight>
                <a:cs typeface="Times New Roman" panose="02020603050405020304" pitchFamily="18" charset="0"/>
              </a:rPr>
              <a:t>every 2 vertices are connected by an edge</a:t>
            </a:r>
            <a:endParaRPr lang="en-US" altLang="en-US" sz="2800" dirty="0">
              <a:solidFill>
                <a:srgbClr val="002060"/>
              </a:solidFill>
              <a:highlight>
                <a:srgbClr val="FFFF00"/>
              </a:highlight>
              <a:cs typeface="Times New Roman" panose="02020603050405020304" pitchFamily="18" charset="0"/>
            </a:endParaRPr>
          </a:p>
        </p:txBody>
      </p:sp>
      <p:graphicFrame>
        <p:nvGraphicFramePr>
          <p:cNvPr id="11271" name="Object 5">
            <a:extLst>
              <a:ext uri="{FF2B5EF4-FFF2-40B4-BE49-F238E27FC236}">
                <a16:creationId xmlns:a16="http://schemas.microsoft.com/office/drawing/2014/main" id="{C422971F-374B-484D-A39C-B1FD8EA7B5E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69062884"/>
              </p:ext>
            </p:extLst>
          </p:nvPr>
        </p:nvGraphicFramePr>
        <p:xfrm>
          <a:off x="533400" y="3657600"/>
          <a:ext cx="3429000" cy="2393950"/>
        </p:xfrm>
        <a:graphic>
          <a:graphicData uri="http://schemas.openxmlformats.org/presentationml/2006/ole">
            <mc:AlternateContent xmlns:mc="http://schemas.openxmlformats.org/markup-compatibility/2006">
              <mc:Choice xmlns:v="urn:schemas-microsoft-com:vml" Requires="v">
                <p:oleObj name="Picture" r:id="rId3" imgW="2040636" imgH="1438656" progId="Word.Picture.8">
                  <p:embed/>
                </p:oleObj>
              </mc:Choice>
              <mc:Fallback>
                <p:oleObj name="Picture" r:id="rId3" imgW="2040636" imgH="1438656" progId="Word.Picture.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657600"/>
                        <a:ext cx="3429000" cy="239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3" name="Object 7">
            <a:extLst>
              <a:ext uri="{FF2B5EF4-FFF2-40B4-BE49-F238E27FC236}">
                <a16:creationId xmlns:a16="http://schemas.microsoft.com/office/drawing/2014/main" id="{8C46AA64-A38E-4687-AAB5-C95F916F433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509310683"/>
              </p:ext>
            </p:extLst>
          </p:nvPr>
        </p:nvGraphicFramePr>
        <p:xfrm>
          <a:off x="4572000" y="3810000"/>
          <a:ext cx="3429000" cy="2393950"/>
        </p:xfrm>
        <a:graphic>
          <a:graphicData uri="http://schemas.openxmlformats.org/presentationml/2006/ole">
            <mc:AlternateContent xmlns:mc="http://schemas.openxmlformats.org/markup-compatibility/2006">
              <mc:Choice xmlns:v="urn:schemas-microsoft-com:vml" Requires="v">
                <p:oleObj name="Picture" r:id="rId5" imgW="2044700" imgH="1435100" progId="Word.Picture.8">
                  <p:embed/>
                </p:oleObj>
              </mc:Choice>
              <mc:Fallback>
                <p:oleObj name="Picture" r:id="rId5" imgW="2044700" imgH="1435100" progId="Word.Picture.8">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3810000"/>
                        <a:ext cx="3429000" cy="239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43780A90-EA97-4F73-A98C-02ED2FBDBC60}"/>
              </a:ext>
            </a:extLst>
          </p:cNvPr>
          <p:cNvSpPr>
            <a:spLocks noGrp="1" noChangeArrowheads="1"/>
          </p:cNvSpPr>
          <p:nvPr>
            <p:ph type="title"/>
          </p:nvPr>
        </p:nvSpPr>
        <p:spPr>
          <a:xfrm>
            <a:off x="685800" y="285750"/>
            <a:ext cx="7772400" cy="704850"/>
          </a:xfrm>
        </p:spPr>
        <p:txBody>
          <a:bodyPr/>
          <a:lstStyle/>
          <a:p>
            <a:r>
              <a:rPr lang="en-US" altLang="en-US"/>
              <a:t>Representing Graphs </a:t>
            </a:r>
          </a:p>
        </p:txBody>
      </p:sp>
      <p:sp>
        <p:nvSpPr>
          <p:cNvPr id="12290" name="Slide Number Placeholder 4">
            <a:extLst>
              <a:ext uri="{FF2B5EF4-FFF2-40B4-BE49-F238E27FC236}">
                <a16:creationId xmlns:a16="http://schemas.microsoft.com/office/drawing/2014/main" id="{200A4070-42AD-4D5C-A9CC-3FCDE607A0D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DB440C9-708F-46A4-8FA0-BEC80B5F56E1}" type="slidenum">
              <a:rPr lang="en-US" altLang="en-US" sz="1400"/>
              <a:pPr>
                <a:spcBef>
                  <a:spcPct val="0"/>
                </a:spcBef>
                <a:buClrTx/>
                <a:buSzTx/>
                <a:buFontTx/>
                <a:buNone/>
              </a:pPr>
              <a:t>9</a:t>
            </a:fld>
            <a:endParaRPr lang="en-US" altLang="en-US" sz="1400"/>
          </a:p>
        </p:txBody>
      </p:sp>
      <p:sp>
        <p:nvSpPr>
          <p:cNvPr id="12293" name="Text Box 4">
            <a:extLst>
              <a:ext uri="{FF2B5EF4-FFF2-40B4-BE49-F238E27FC236}">
                <a16:creationId xmlns:a16="http://schemas.microsoft.com/office/drawing/2014/main" id="{FCA37DC3-E974-4AF0-800E-3690F0489CDD}"/>
              </a:ext>
            </a:extLst>
          </p:cNvPr>
          <p:cNvSpPr txBox="1">
            <a:spLocks noChangeArrowheads="1"/>
          </p:cNvSpPr>
          <p:nvPr/>
        </p:nvSpPr>
        <p:spPr bwMode="auto">
          <a:xfrm>
            <a:off x="304800" y="1219200"/>
            <a:ext cx="8610600" cy="2554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a:t>Representing Vertices </a:t>
            </a:r>
          </a:p>
          <a:p>
            <a:pPr>
              <a:spcBef>
                <a:spcPct val="0"/>
              </a:spcBef>
              <a:spcAft>
                <a:spcPts val="1200"/>
              </a:spcAft>
              <a:buClrTx/>
              <a:buSzTx/>
              <a:buFontTx/>
              <a:buNone/>
            </a:pPr>
            <a:r>
              <a:rPr lang="en-US" altLang="en-US" sz="2400"/>
              <a:t>Representing Edges: Edge Array </a:t>
            </a:r>
          </a:p>
          <a:p>
            <a:pPr>
              <a:spcBef>
                <a:spcPct val="0"/>
              </a:spcBef>
              <a:spcAft>
                <a:spcPts val="1200"/>
              </a:spcAft>
              <a:buClrTx/>
              <a:buSzTx/>
              <a:buFontTx/>
              <a:buNone/>
            </a:pPr>
            <a:r>
              <a:rPr lang="en-US" altLang="en-US" sz="2400"/>
              <a:t>Representing Edges: Edge Objects </a:t>
            </a:r>
          </a:p>
          <a:p>
            <a:pPr>
              <a:spcBef>
                <a:spcPct val="0"/>
              </a:spcBef>
              <a:spcAft>
                <a:spcPts val="1200"/>
              </a:spcAft>
              <a:buClrTx/>
              <a:buSzTx/>
              <a:buFontTx/>
              <a:buNone/>
            </a:pPr>
            <a:r>
              <a:rPr lang="en-US" altLang="en-US" sz="2400"/>
              <a:t>Representing Edges: Adjacency Matrices </a:t>
            </a:r>
          </a:p>
          <a:p>
            <a:pPr>
              <a:spcBef>
                <a:spcPct val="0"/>
              </a:spcBef>
              <a:spcAft>
                <a:spcPts val="1200"/>
              </a:spcAft>
              <a:buClrTx/>
              <a:buSzTx/>
              <a:buFontTx/>
              <a:buNone/>
            </a:pPr>
            <a:r>
              <a:rPr lang="en-US" altLang="en-US" sz="2400"/>
              <a:t>Representing Edges: Adjacency Lists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CF745F24-CDE9-45C9-AA0A-0A4F1B984BD7}"/>
              </a:ext>
            </a:extLst>
          </p:cNvPr>
          <p:cNvSpPr>
            <a:spLocks noGrp="1" noChangeArrowheads="1"/>
          </p:cNvSpPr>
          <p:nvPr>
            <p:ph type="title"/>
          </p:nvPr>
        </p:nvSpPr>
        <p:spPr>
          <a:xfrm>
            <a:off x="685800" y="285750"/>
            <a:ext cx="7772400" cy="704850"/>
          </a:xfrm>
        </p:spPr>
        <p:txBody>
          <a:bodyPr/>
          <a:lstStyle/>
          <a:p>
            <a:r>
              <a:rPr lang="en-US" altLang="en-US"/>
              <a:t>Representing Vertices </a:t>
            </a:r>
          </a:p>
        </p:txBody>
      </p:sp>
      <p:sp>
        <p:nvSpPr>
          <p:cNvPr id="13314" name="Slide Number Placeholder 4">
            <a:extLst>
              <a:ext uri="{FF2B5EF4-FFF2-40B4-BE49-F238E27FC236}">
                <a16:creationId xmlns:a16="http://schemas.microsoft.com/office/drawing/2014/main" id="{ECFFB844-294E-4875-BE12-A246D432D74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54D3F43-BFFD-456E-8D60-4CC57ADF26E4}" type="slidenum">
              <a:rPr lang="en-US" altLang="en-US" sz="1400"/>
              <a:pPr>
                <a:spcBef>
                  <a:spcPct val="0"/>
                </a:spcBef>
                <a:buClrTx/>
                <a:buSzTx/>
                <a:buFontTx/>
                <a:buNone/>
              </a:pPr>
              <a:t>10</a:t>
            </a:fld>
            <a:endParaRPr lang="en-US" altLang="en-US" sz="1400"/>
          </a:p>
        </p:txBody>
      </p:sp>
      <p:sp>
        <p:nvSpPr>
          <p:cNvPr id="13317" name="Text Box 4">
            <a:extLst>
              <a:ext uri="{FF2B5EF4-FFF2-40B4-BE49-F238E27FC236}">
                <a16:creationId xmlns:a16="http://schemas.microsoft.com/office/drawing/2014/main" id="{F63F7A3E-7D97-4471-8124-1AC9E2DC3B81}"/>
              </a:ext>
            </a:extLst>
          </p:cNvPr>
          <p:cNvSpPr txBox="1">
            <a:spLocks noChangeArrowheads="1"/>
          </p:cNvSpPr>
          <p:nvPr/>
        </p:nvSpPr>
        <p:spPr bwMode="auto">
          <a:xfrm>
            <a:off x="228600" y="1219200"/>
            <a:ext cx="8915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dirty="0"/>
              <a:t>String[] vertices = {“Seattle”, “San Francisco”, “Los Angles”, “Denver”, “Kansas City”, “Chicago”, … };</a:t>
            </a:r>
          </a:p>
        </p:txBody>
      </p:sp>
      <p:sp>
        <p:nvSpPr>
          <p:cNvPr id="13318" name="Text Box 5">
            <a:extLst>
              <a:ext uri="{FF2B5EF4-FFF2-40B4-BE49-F238E27FC236}">
                <a16:creationId xmlns:a16="http://schemas.microsoft.com/office/drawing/2014/main" id="{8B587254-A047-4277-BB7D-9AE633A6EDBD}"/>
              </a:ext>
            </a:extLst>
          </p:cNvPr>
          <p:cNvSpPr txBox="1">
            <a:spLocks noChangeArrowheads="1"/>
          </p:cNvSpPr>
          <p:nvPr/>
        </p:nvSpPr>
        <p:spPr bwMode="auto">
          <a:xfrm>
            <a:off x="228600" y="2133600"/>
            <a:ext cx="861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a:t>City[] vertices = {city0, city1, … };</a:t>
            </a:r>
          </a:p>
        </p:txBody>
      </p:sp>
      <p:sp>
        <p:nvSpPr>
          <p:cNvPr id="13319" name="Text Box 6">
            <a:extLst>
              <a:ext uri="{FF2B5EF4-FFF2-40B4-BE49-F238E27FC236}">
                <a16:creationId xmlns:a16="http://schemas.microsoft.com/office/drawing/2014/main" id="{2FDF7D0A-39E9-4FB6-BEE5-80E81D813C16}"/>
              </a:ext>
            </a:extLst>
          </p:cNvPr>
          <p:cNvSpPr txBox="1">
            <a:spLocks noChangeArrowheads="1"/>
          </p:cNvSpPr>
          <p:nvPr/>
        </p:nvSpPr>
        <p:spPr bwMode="auto">
          <a:xfrm>
            <a:off x="304800" y="2895600"/>
            <a:ext cx="8610600" cy="149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a:t>public class City {</a:t>
            </a:r>
          </a:p>
          <a:p>
            <a:pPr>
              <a:spcBef>
                <a:spcPct val="0"/>
              </a:spcBef>
              <a:spcAft>
                <a:spcPts val="1200"/>
              </a:spcAft>
              <a:buClrTx/>
              <a:buSzTx/>
              <a:buFontTx/>
              <a:buNone/>
            </a:pPr>
            <a:endParaRPr lang="en-US" altLang="en-US" sz="2400"/>
          </a:p>
          <a:p>
            <a:pPr>
              <a:spcBef>
                <a:spcPct val="0"/>
              </a:spcBef>
              <a:spcAft>
                <a:spcPts val="1200"/>
              </a:spcAft>
              <a:buClrTx/>
              <a:buSzTx/>
              <a:buFontTx/>
              <a:buNone/>
            </a:pPr>
            <a:r>
              <a:rPr lang="en-US" altLang="en-US" sz="2400"/>
              <a:t>}</a:t>
            </a:r>
          </a:p>
        </p:txBody>
      </p:sp>
      <p:sp>
        <p:nvSpPr>
          <p:cNvPr id="13320" name="Text Box 7">
            <a:extLst>
              <a:ext uri="{FF2B5EF4-FFF2-40B4-BE49-F238E27FC236}">
                <a16:creationId xmlns:a16="http://schemas.microsoft.com/office/drawing/2014/main" id="{C41BCFC1-FA56-4AFC-9B86-1D44CFCF3935}"/>
              </a:ext>
            </a:extLst>
          </p:cNvPr>
          <p:cNvSpPr txBox="1">
            <a:spLocks noChangeArrowheads="1"/>
          </p:cNvSpPr>
          <p:nvPr/>
        </p:nvSpPr>
        <p:spPr bwMode="auto">
          <a:xfrm>
            <a:off x="304800" y="4800600"/>
            <a:ext cx="861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dirty="0">
                <a:highlight>
                  <a:srgbClr val="FFFF00"/>
                </a:highlight>
              </a:rPr>
              <a:t>List&lt;String&gt; vertices;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795D416F-FA3C-4F84-B492-55C122880AF2}"/>
              </a:ext>
            </a:extLst>
          </p:cNvPr>
          <p:cNvSpPr>
            <a:spLocks noGrp="1" noChangeArrowheads="1"/>
          </p:cNvSpPr>
          <p:nvPr>
            <p:ph type="title"/>
          </p:nvPr>
        </p:nvSpPr>
        <p:spPr>
          <a:xfrm>
            <a:off x="685800" y="285750"/>
            <a:ext cx="7772400" cy="704850"/>
          </a:xfrm>
        </p:spPr>
        <p:txBody>
          <a:bodyPr/>
          <a:lstStyle/>
          <a:p>
            <a:r>
              <a:rPr lang="en-US" altLang="en-US"/>
              <a:t>Representing Edges: Edge Array </a:t>
            </a:r>
          </a:p>
        </p:txBody>
      </p:sp>
      <p:sp>
        <p:nvSpPr>
          <p:cNvPr id="14338" name="Slide Number Placeholder 4">
            <a:extLst>
              <a:ext uri="{FF2B5EF4-FFF2-40B4-BE49-F238E27FC236}">
                <a16:creationId xmlns:a16="http://schemas.microsoft.com/office/drawing/2014/main" id="{5B02C4DF-193C-4894-9AE8-A5009F527C1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C31B8C6-B36D-448E-AF95-3E8F8A5E66A0}" type="slidenum">
              <a:rPr lang="en-US" altLang="en-US" sz="1400"/>
              <a:pPr>
                <a:spcBef>
                  <a:spcPct val="0"/>
                </a:spcBef>
                <a:buClrTx/>
                <a:buSzTx/>
                <a:buFontTx/>
                <a:buNone/>
              </a:pPr>
              <a:t>11</a:t>
            </a:fld>
            <a:endParaRPr lang="en-US" altLang="en-US" sz="1400"/>
          </a:p>
        </p:txBody>
      </p:sp>
      <p:sp>
        <p:nvSpPr>
          <p:cNvPr id="14341" name="Text Box 4">
            <a:extLst>
              <a:ext uri="{FF2B5EF4-FFF2-40B4-BE49-F238E27FC236}">
                <a16:creationId xmlns:a16="http://schemas.microsoft.com/office/drawing/2014/main" id="{767054F8-57B3-4567-B1D5-914BB5D78BA5}"/>
              </a:ext>
            </a:extLst>
          </p:cNvPr>
          <p:cNvSpPr txBox="1">
            <a:spLocks noChangeArrowheads="1"/>
          </p:cNvSpPr>
          <p:nvPr/>
        </p:nvSpPr>
        <p:spPr bwMode="auto">
          <a:xfrm>
            <a:off x="228600" y="1219200"/>
            <a:ext cx="891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dirty="0">
                <a:highlight>
                  <a:srgbClr val="FFFF00"/>
                </a:highlight>
              </a:rPr>
              <a:t>int[][] edges = </a:t>
            </a:r>
            <a:r>
              <a:rPr lang="en-US" altLang="en-US" sz="2400" dirty="0"/>
              <a:t>{{0, 1}, {0, 3} {0, 5}, {1, 0}, {1, 2}, …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01F1CA83-F5BE-47C0-A2CD-981BE13E07D1}"/>
              </a:ext>
            </a:extLst>
          </p:cNvPr>
          <p:cNvSpPr>
            <a:spLocks noGrp="1" noChangeArrowheads="1"/>
          </p:cNvSpPr>
          <p:nvPr>
            <p:ph type="title"/>
          </p:nvPr>
        </p:nvSpPr>
        <p:spPr>
          <a:xfrm>
            <a:off x="685800" y="285750"/>
            <a:ext cx="7772400" cy="704850"/>
          </a:xfrm>
        </p:spPr>
        <p:txBody>
          <a:bodyPr/>
          <a:lstStyle/>
          <a:p>
            <a:r>
              <a:rPr lang="en-US" altLang="en-US"/>
              <a:t>Representing Edges: Edge Object </a:t>
            </a:r>
          </a:p>
        </p:txBody>
      </p:sp>
      <p:sp>
        <p:nvSpPr>
          <p:cNvPr id="15362" name="Slide Number Placeholder 4">
            <a:extLst>
              <a:ext uri="{FF2B5EF4-FFF2-40B4-BE49-F238E27FC236}">
                <a16:creationId xmlns:a16="http://schemas.microsoft.com/office/drawing/2014/main" id="{84A0C8BC-05B0-4930-8309-14468B8EFB8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9805254-0C33-400B-ADEA-65D644DA03C3}" type="slidenum">
              <a:rPr lang="en-US" altLang="en-US" sz="1400"/>
              <a:pPr>
                <a:spcBef>
                  <a:spcPct val="0"/>
                </a:spcBef>
                <a:buClrTx/>
                <a:buSzTx/>
                <a:buFontTx/>
                <a:buNone/>
              </a:pPr>
              <a:t>12</a:t>
            </a:fld>
            <a:endParaRPr lang="en-US" altLang="en-US" sz="1400"/>
          </a:p>
        </p:txBody>
      </p:sp>
      <p:sp>
        <p:nvSpPr>
          <p:cNvPr id="15365" name="Text Box 4">
            <a:extLst>
              <a:ext uri="{FF2B5EF4-FFF2-40B4-BE49-F238E27FC236}">
                <a16:creationId xmlns:a16="http://schemas.microsoft.com/office/drawing/2014/main" id="{847C774A-C499-463A-9300-16937DBFE9F1}"/>
              </a:ext>
            </a:extLst>
          </p:cNvPr>
          <p:cNvSpPr txBox="1">
            <a:spLocks noChangeArrowheads="1"/>
          </p:cNvSpPr>
          <p:nvPr/>
        </p:nvSpPr>
        <p:spPr bwMode="auto">
          <a:xfrm>
            <a:off x="228600" y="1219200"/>
            <a:ext cx="8915400"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dirty="0">
                <a:highlight>
                  <a:srgbClr val="FFFF00"/>
                </a:highlight>
              </a:rPr>
              <a:t>public class Edge </a:t>
            </a:r>
            <a:r>
              <a:rPr lang="en-US" altLang="en-US" sz="2400" dirty="0"/>
              <a:t>{</a:t>
            </a:r>
          </a:p>
          <a:p>
            <a:pPr>
              <a:spcBef>
                <a:spcPct val="0"/>
              </a:spcBef>
              <a:spcAft>
                <a:spcPts val="1200"/>
              </a:spcAft>
              <a:buClrTx/>
              <a:buSzTx/>
              <a:buFontTx/>
              <a:buNone/>
            </a:pPr>
            <a:r>
              <a:rPr lang="en-US" altLang="en-US" sz="2400" dirty="0"/>
              <a:t>  int u, v;</a:t>
            </a:r>
          </a:p>
          <a:p>
            <a:pPr>
              <a:spcBef>
                <a:spcPct val="0"/>
              </a:spcBef>
              <a:spcAft>
                <a:spcPts val="1200"/>
              </a:spcAft>
              <a:buClrTx/>
              <a:buSzTx/>
              <a:buFontTx/>
              <a:buNone/>
            </a:pPr>
            <a:r>
              <a:rPr lang="en-US" altLang="en-US" sz="2400" dirty="0"/>
              <a:t>  public Edge(int u, int v) {</a:t>
            </a:r>
          </a:p>
          <a:p>
            <a:pPr>
              <a:spcBef>
                <a:spcPct val="0"/>
              </a:spcBef>
              <a:spcAft>
                <a:spcPts val="1200"/>
              </a:spcAft>
              <a:buClrTx/>
              <a:buSzTx/>
              <a:buFontTx/>
              <a:buNone/>
            </a:pPr>
            <a:r>
              <a:rPr lang="en-US" altLang="en-US" sz="2400" dirty="0"/>
              <a:t>    </a:t>
            </a:r>
            <a:r>
              <a:rPr lang="en-US" altLang="en-US" sz="2400" dirty="0" err="1">
                <a:highlight>
                  <a:srgbClr val="FFFF00"/>
                </a:highlight>
              </a:rPr>
              <a:t>this.u</a:t>
            </a:r>
            <a:r>
              <a:rPr lang="en-US" altLang="en-US" sz="2400" dirty="0">
                <a:highlight>
                  <a:srgbClr val="FFFF00"/>
                </a:highlight>
              </a:rPr>
              <a:t> = u;</a:t>
            </a:r>
          </a:p>
          <a:p>
            <a:pPr>
              <a:spcBef>
                <a:spcPct val="0"/>
              </a:spcBef>
              <a:spcAft>
                <a:spcPts val="1200"/>
              </a:spcAft>
              <a:buClrTx/>
              <a:buSzTx/>
              <a:buFontTx/>
              <a:buNone/>
            </a:pPr>
            <a:r>
              <a:rPr lang="en-US" altLang="en-US" sz="2400" dirty="0">
                <a:highlight>
                  <a:srgbClr val="FFFF00"/>
                </a:highlight>
              </a:rPr>
              <a:t>    </a:t>
            </a:r>
            <a:r>
              <a:rPr lang="en-US" altLang="en-US" sz="2400" dirty="0" err="1">
                <a:highlight>
                  <a:srgbClr val="FFFF00"/>
                </a:highlight>
              </a:rPr>
              <a:t>this.v</a:t>
            </a:r>
            <a:r>
              <a:rPr lang="en-US" altLang="en-US" sz="2400" dirty="0">
                <a:highlight>
                  <a:srgbClr val="FFFF00"/>
                </a:highlight>
              </a:rPr>
              <a:t> = v;</a:t>
            </a:r>
          </a:p>
          <a:p>
            <a:pPr>
              <a:spcBef>
                <a:spcPct val="0"/>
              </a:spcBef>
              <a:spcAft>
                <a:spcPts val="1200"/>
              </a:spcAft>
              <a:buClrTx/>
              <a:buSzTx/>
              <a:buFontTx/>
              <a:buNone/>
            </a:pPr>
            <a:r>
              <a:rPr lang="en-US" altLang="en-US" sz="2400" dirty="0"/>
              <a:t>}</a:t>
            </a:r>
          </a:p>
        </p:txBody>
      </p:sp>
      <p:sp>
        <p:nvSpPr>
          <p:cNvPr id="15366" name="Text Box 5">
            <a:extLst>
              <a:ext uri="{FF2B5EF4-FFF2-40B4-BE49-F238E27FC236}">
                <a16:creationId xmlns:a16="http://schemas.microsoft.com/office/drawing/2014/main" id="{3351C3F7-BA63-4447-9EF4-9335A141390A}"/>
              </a:ext>
            </a:extLst>
          </p:cNvPr>
          <p:cNvSpPr txBox="1">
            <a:spLocks noChangeArrowheads="1"/>
          </p:cNvSpPr>
          <p:nvPr/>
        </p:nvSpPr>
        <p:spPr bwMode="auto">
          <a:xfrm>
            <a:off x="228600" y="4648200"/>
            <a:ext cx="8915400" cy="150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dirty="0">
                <a:highlight>
                  <a:srgbClr val="FFFF00"/>
                </a:highlight>
              </a:rPr>
              <a:t>List&lt;Edge&gt; list = new </a:t>
            </a:r>
            <a:r>
              <a:rPr lang="en-US" altLang="en-US" sz="2400" dirty="0" err="1">
                <a:highlight>
                  <a:srgbClr val="FFFF00"/>
                </a:highlight>
              </a:rPr>
              <a:t>ArrayList</a:t>
            </a:r>
            <a:r>
              <a:rPr lang="en-US" altLang="en-US" sz="2400" dirty="0">
                <a:highlight>
                  <a:srgbClr val="FFFF00"/>
                </a:highlight>
              </a:rPr>
              <a:t>&lt;&gt;();</a:t>
            </a:r>
          </a:p>
          <a:p>
            <a:pPr>
              <a:spcBef>
                <a:spcPct val="0"/>
              </a:spcBef>
              <a:spcAft>
                <a:spcPts val="1200"/>
              </a:spcAft>
              <a:buClrTx/>
              <a:buSzTx/>
              <a:buFontTx/>
              <a:buNone/>
            </a:pPr>
            <a:r>
              <a:rPr lang="en-US" altLang="en-US" sz="2400" dirty="0" err="1"/>
              <a:t>list.add</a:t>
            </a:r>
            <a:r>
              <a:rPr lang="en-US" altLang="en-US" sz="2400" dirty="0"/>
              <a:t>(new Edge(0, 1)); </a:t>
            </a:r>
            <a:r>
              <a:rPr lang="en-US" altLang="en-US" sz="2400" dirty="0" err="1"/>
              <a:t>list.add</a:t>
            </a:r>
            <a:r>
              <a:rPr lang="en-US" altLang="en-US" sz="2400" dirty="0"/>
              <a:t>(new Edge(0, 3)); …</a:t>
            </a:r>
          </a:p>
          <a:p>
            <a:pPr>
              <a:spcBef>
                <a:spcPct val="0"/>
              </a:spcBef>
              <a:spcAft>
                <a:spcPts val="1200"/>
              </a:spcAft>
              <a:buClrTx/>
              <a:buSzTx/>
              <a:buFontTx/>
              <a:buNone/>
            </a:pPr>
            <a:endParaRPr lang="en-US" alt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97B5BACD-9F8F-4A31-9AAB-069AF8B8E23F}"/>
              </a:ext>
            </a:extLst>
          </p:cNvPr>
          <p:cNvSpPr>
            <a:spLocks noGrp="1" noChangeArrowheads="1"/>
          </p:cNvSpPr>
          <p:nvPr>
            <p:ph type="title"/>
          </p:nvPr>
        </p:nvSpPr>
        <p:spPr>
          <a:xfrm>
            <a:off x="685800" y="285750"/>
            <a:ext cx="7772400" cy="704850"/>
          </a:xfrm>
        </p:spPr>
        <p:txBody>
          <a:bodyPr/>
          <a:lstStyle/>
          <a:p>
            <a:r>
              <a:rPr lang="en-US" altLang="en-US"/>
              <a:t>Representing Edges: Adjacency Matrix </a:t>
            </a:r>
          </a:p>
        </p:txBody>
      </p:sp>
      <p:sp>
        <p:nvSpPr>
          <p:cNvPr id="16386" name="Slide Number Placeholder 4">
            <a:extLst>
              <a:ext uri="{FF2B5EF4-FFF2-40B4-BE49-F238E27FC236}">
                <a16:creationId xmlns:a16="http://schemas.microsoft.com/office/drawing/2014/main" id="{933EC942-5D98-4B0E-8992-BBA778EA432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86770E1-D464-4CC0-889D-C038AFE69284}" type="slidenum">
              <a:rPr lang="en-US" altLang="en-US" sz="1400"/>
              <a:pPr>
                <a:spcBef>
                  <a:spcPct val="0"/>
                </a:spcBef>
                <a:buClrTx/>
                <a:buSzTx/>
                <a:buFontTx/>
                <a:buNone/>
              </a:pPr>
              <a:t>13</a:t>
            </a:fld>
            <a:endParaRPr lang="en-US" altLang="en-US" sz="1400"/>
          </a:p>
        </p:txBody>
      </p:sp>
      <p:sp>
        <p:nvSpPr>
          <p:cNvPr id="16389" name="Text Box 4">
            <a:extLst>
              <a:ext uri="{FF2B5EF4-FFF2-40B4-BE49-F238E27FC236}">
                <a16:creationId xmlns:a16="http://schemas.microsoft.com/office/drawing/2014/main" id="{4ACD676E-0CAE-46B8-8311-082018E30C3C}"/>
              </a:ext>
            </a:extLst>
          </p:cNvPr>
          <p:cNvSpPr txBox="1">
            <a:spLocks noChangeArrowheads="1"/>
          </p:cNvSpPr>
          <p:nvPr/>
        </p:nvSpPr>
        <p:spPr bwMode="auto">
          <a:xfrm>
            <a:off x="228600" y="1219200"/>
            <a:ext cx="89154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b="1" dirty="0"/>
              <a:t>int</a:t>
            </a:r>
            <a:r>
              <a:rPr lang="en-US" altLang="en-US" sz="2400" dirty="0"/>
              <a:t>[][] </a:t>
            </a:r>
            <a:r>
              <a:rPr lang="en-US" altLang="en-US" sz="2400" dirty="0" err="1"/>
              <a:t>adjacencyMatrix</a:t>
            </a:r>
            <a:r>
              <a:rPr lang="en-US" altLang="en-US" sz="2400" dirty="0"/>
              <a:t> = {</a:t>
            </a:r>
            <a:endParaRPr lang="en-US" altLang="en-US" sz="2400" b="1" dirty="0"/>
          </a:p>
          <a:p>
            <a:pPr>
              <a:spcBef>
                <a:spcPct val="0"/>
              </a:spcBef>
              <a:buClrTx/>
              <a:buSzTx/>
              <a:buFontTx/>
              <a:buNone/>
            </a:pPr>
            <a:r>
              <a:rPr lang="en-US" altLang="en-US" sz="2400" b="1" dirty="0"/>
              <a:t>  </a:t>
            </a:r>
            <a:r>
              <a:rPr lang="en-US" altLang="en-US" sz="2400" dirty="0"/>
              <a:t>{0, 1, 0, 1, 0, 1, 0, 0, 0, 0, 0, 0}, // Seattle  </a:t>
            </a:r>
          </a:p>
          <a:p>
            <a:pPr>
              <a:spcBef>
                <a:spcPct val="0"/>
              </a:spcBef>
              <a:buClrTx/>
              <a:buSzTx/>
              <a:buFontTx/>
              <a:buNone/>
            </a:pPr>
            <a:r>
              <a:rPr lang="en-US" altLang="en-US" sz="2400" dirty="0"/>
              <a:t>  {1, 0, 1, 1, 0, 0, 0, 0, 0, 0, 0, 0}, // San Francisco</a:t>
            </a:r>
          </a:p>
          <a:p>
            <a:pPr>
              <a:spcBef>
                <a:spcPct val="0"/>
              </a:spcBef>
              <a:buClrTx/>
              <a:buSzTx/>
              <a:buFontTx/>
              <a:buNone/>
            </a:pPr>
            <a:r>
              <a:rPr lang="en-US" altLang="en-US" sz="2400" dirty="0"/>
              <a:t>  {0, 1, 0, 1, 1, 1, 0, 0, 0, 0, 0, 0}, // Los Angeles</a:t>
            </a:r>
          </a:p>
          <a:p>
            <a:pPr>
              <a:spcBef>
                <a:spcPct val="0"/>
              </a:spcBef>
              <a:buClrTx/>
              <a:buSzTx/>
              <a:buFontTx/>
              <a:buNone/>
            </a:pPr>
            <a:r>
              <a:rPr lang="en-US" altLang="en-US" sz="2400" dirty="0"/>
              <a:t>  {1, 1, 1, 0, 1, 1, 0, 0, 0, 0, 0, 0}, // Denver</a:t>
            </a:r>
          </a:p>
          <a:p>
            <a:pPr>
              <a:spcBef>
                <a:spcPct val="0"/>
              </a:spcBef>
              <a:buClrTx/>
              <a:buSzTx/>
              <a:buFontTx/>
              <a:buNone/>
            </a:pPr>
            <a:r>
              <a:rPr lang="en-US" altLang="en-US" sz="2400" dirty="0"/>
              <a:t>  {0, 0, 1, 1, 0, 1, 0, 1, 1, 0, 1, 0}, // Kansas City</a:t>
            </a:r>
          </a:p>
          <a:p>
            <a:pPr>
              <a:spcBef>
                <a:spcPct val="0"/>
              </a:spcBef>
              <a:buClrTx/>
              <a:buSzTx/>
              <a:buFontTx/>
              <a:buNone/>
            </a:pPr>
            <a:r>
              <a:rPr lang="en-US" altLang="en-US" sz="2400" dirty="0"/>
              <a:t>  {1, 0, 0, 1, 1, 0, 1, 1, 0, 0, 0, 0}, // Chicago</a:t>
            </a:r>
          </a:p>
          <a:p>
            <a:pPr>
              <a:spcBef>
                <a:spcPct val="0"/>
              </a:spcBef>
              <a:buClrTx/>
              <a:buSzTx/>
              <a:buFontTx/>
              <a:buNone/>
            </a:pPr>
            <a:r>
              <a:rPr lang="en-US" altLang="en-US" sz="2400" dirty="0"/>
              <a:t>  {0, 0, 0, 0, 0, 1, 0, 1, 0, 0, 0, 0}, // Boston</a:t>
            </a:r>
          </a:p>
          <a:p>
            <a:pPr>
              <a:spcBef>
                <a:spcPct val="0"/>
              </a:spcBef>
              <a:buClrTx/>
              <a:buSzTx/>
              <a:buFontTx/>
              <a:buNone/>
            </a:pPr>
            <a:r>
              <a:rPr lang="en-US" altLang="en-US" sz="2400" dirty="0"/>
              <a:t>  {0, 0, 0, 0, 1, 1, 1, 0, 1, 0, 0, 0}, // New York</a:t>
            </a:r>
          </a:p>
          <a:p>
            <a:pPr>
              <a:spcBef>
                <a:spcPct val="0"/>
              </a:spcBef>
              <a:buClrTx/>
              <a:buSzTx/>
              <a:buFontTx/>
              <a:buNone/>
            </a:pPr>
            <a:r>
              <a:rPr lang="en-US" altLang="en-US" sz="2400" dirty="0"/>
              <a:t>  {0, 0, 0, 1, 1, 0, 0, 1, 0, 1, 1, 1}, // Atlanta</a:t>
            </a:r>
          </a:p>
          <a:p>
            <a:pPr>
              <a:spcBef>
                <a:spcPct val="0"/>
              </a:spcBef>
              <a:buClrTx/>
              <a:buSzTx/>
              <a:buFontTx/>
              <a:buNone/>
            </a:pPr>
            <a:r>
              <a:rPr lang="en-US" altLang="en-US" sz="2400" dirty="0"/>
              <a:t>  {0, 0, 0, 0, 0, 0, 0, 0, 1, 0, 0, 1}, // Miami</a:t>
            </a:r>
          </a:p>
          <a:p>
            <a:pPr>
              <a:spcBef>
                <a:spcPct val="0"/>
              </a:spcBef>
              <a:buClrTx/>
              <a:buSzTx/>
              <a:buFontTx/>
              <a:buNone/>
            </a:pPr>
            <a:r>
              <a:rPr lang="en-US" altLang="en-US" sz="2400" dirty="0"/>
              <a:t>  {0, 0, 1, 0, 1, 0, 0, 0, 1, 0, 0, 1}, // Dallas</a:t>
            </a:r>
          </a:p>
          <a:p>
            <a:pPr>
              <a:spcBef>
                <a:spcPct val="0"/>
              </a:spcBef>
              <a:buClrTx/>
              <a:buSzTx/>
              <a:buFontTx/>
              <a:buNone/>
            </a:pPr>
            <a:r>
              <a:rPr lang="en-US" altLang="en-US" sz="2400" dirty="0"/>
              <a:t>  {0, 0, 0, 0, 0, 0, 0, 0, 1, 1, 1, 0}  // Houston</a:t>
            </a:r>
          </a:p>
          <a:p>
            <a:pPr>
              <a:spcBef>
                <a:spcPct val="0"/>
              </a:spcBef>
              <a:buClrTx/>
              <a:buSzTx/>
              <a:buFontTx/>
              <a:buNone/>
            </a:pPr>
            <a:r>
              <a:rPr lang="en-US" altLang="en-US" sz="2400"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D7031ADC-0564-4AB8-A81A-B3B9533436FC}"/>
              </a:ext>
            </a:extLst>
          </p:cNvPr>
          <p:cNvSpPr>
            <a:spLocks noGrp="1" noChangeArrowheads="1"/>
          </p:cNvSpPr>
          <p:nvPr>
            <p:ph type="title"/>
          </p:nvPr>
        </p:nvSpPr>
        <p:spPr>
          <a:xfrm>
            <a:off x="0" y="285750"/>
            <a:ext cx="9067800" cy="552450"/>
          </a:xfrm>
        </p:spPr>
        <p:txBody>
          <a:bodyPr/>
          <a:lstStyle/>
          <a:p>
            <a:r>
              <a:rPr lang="en-US" altLang="en-US" sz="4000"/>
              <a:t>Representing Edges: Adjacency Vertex List </a:t>
            </a:r>
          </a:p>
        </p:txBody>
      </p:sp>
      <p:sp>
        <p:nvSpPr>
          <p:cNvPr id="17410" name="Slide Number Placeholder 4">
            <a:extLst>
              <a:ext uri="{FF2B5EF4-FFF2-40B4-BE49-F238E27FC236}">
                <a16:creationId xmlns:a16="http://schemas.microsoft.com/office/drawing/2014/main" id="{78BE31C1-F6B6-4607-B931-A38DD492413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1000222-CA94-48E4-BAE3-4DD6403179F5}" type="slidenum">
              <a:rPr lang="en-US" altLang="en-US" sz="1400"/>
              <a:pPr>
                <a:spcBef>
                  <a:spcPct val="0"/>
                </a:spcBef>
                <a:buClrTx/>
                <a:buSzTx/>
                <a:buFontTx/>
                <a:buNone/>
              </a:pPr>
              <a:t>14</a:t>
            </a:fld>
            <a:endParaRPr lang="en-US" altLang="en-US" sz="1400"/>
          </a:p>
        </p:txBody>
      </p:sp>
      <p:sp>
        <p:nvSpPr>
          <p:cNvPr id="17414" name="Text Box 7">
            <a:extLst>
              <a:ext uri="{FF2B5EF4-FFF2-40B4-BE49-F238E27FC236}">
                <a16:creationId xmlns:a16="http://schemas.microsoft.com/office/drawing/2014/main" id="{5FE5FD26-7C8D-43F2-937D-22DE92E91EEA}"/>
              </a:ext>
            </a:extLst>
          </p:cNvPr>
          <p:cNvSpPr txBox="1">
            <a:spLocks noChangeArrowheads="1"/>
          </p:cNvSpPr>
          <p:nvPr/>
        </p:nvSpPr>
        <p:spPr bwMode="auto">
          <a:xfrm>
            <a:off x="228600" y="1066800"/>
            <a:ext cx="891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List&lt;Integer&gt;[] neighbors = new List[12];</a:t>
            </a:r>
          </a:p>
        </p:txBody>
      </p:sp>
      <p:sp>
        <p:nvSpPr>
          <p:cNvPr id="17416" name="Text Box 10">
            <a:extLst>
              <a:ext uri="{FF2B5EF4-FFF2-40B4-BE49-F238E27FC236}">
                <a16:creationId xmlns:a16="http://schemas.microsoft.com/office/drawing/2014/main" id="{57041DE7-A445-460D-82E9-C9A91687F3FD}"/>
              </a:ext>
            </a:extLst>
          </p:cNvPr>
          <p:cNvSpPr txBox="1">
            <a:spLocks noChangeArrowheads="1"/>
          </p:cNvSpPr>
          <p:nvPr/>
        </p:nvSpPr>
        <p:spPr bwMode="auto">
          <a:xfrm>
            <a:off x="0" y="6019800"/>
            <a:ext cx="891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List&lt;List&lt;Integer&gt;&gt; neighbors = new ArrayList&lt;&gt;();</a:t>
            </a:r>
          </a:p>
        </p:txBody>
      </p:sp>
      <p:graphicFrame>
        <p:nvGraphicFramePr>
          <p:cNvPr id="17418" name="Object 2">
            <a:extLst>
              <a:ext uri="{FF2B5EF4-FFF2-40B4-BE49-F238E27FC236}">
                <a16:creationId xmlns:a16="http://schemas.microsoft.com/office/drawing/2014/main" id="{163AB0E7-A4DF-4685-9847-7B9BDAD47CB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06503461"/>
              </p:ext>
            </p:extLst>
          </p:nvPr>
        </p:nvGraphicFramePr>
        <p:xfrm>
          <a:off x="1447800" y="1538288"/>
          <a:ext cx="5867400" cy="4476750"/>
        </p:xfrm>
        <a:graphic>
          <a:graphicData uri="http://schemas.openxmlformats.org/presentationml/2006/ole">
            <mc:AlternateContent xmlns:mc="http://schemas.openxmlformats.org/markup-compatibility/2006">
              <mc:Choice xmlns:v="urn:schemas-microsoft-com:vml" Requires="v">
                <p:oleObj name="Picture" r:id="rId3" imgW="3962906" imgH="3024203" progId="Word.Picture.8">
                  <p:embed/>
                </p:oleObj>
              </mc:Choice>
              <mc:Fallback>
                <p:oleObj name="Picture" r:id="rId3" imgW="3962906" imgH="3024203" progId="Word.Picture.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538288"/>
                        <a:ext cx="5867400" cy="447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C8807ADA-4C77-4686-97EC-19211245BB91}"/>
              </a:ext>
            </a:extLst>
          </p:cNvPr>
          <p:cNvSpPr>
            <a:spLocks noGrp="1" noChangeArrowheads="1"/>
          </p:cNvSpPr>
          <p:nvPr>
            <p:ph type="title"/>
          </p:nvPr>
        </p:nvSpPr>
        <p:spPr>
          <a:xfrm>
            <a:off x="0" y="285750"/>
            <a:ext cx="9067800" cy="552450"/>
          </a:xfrm>
        </p:spPr>
        <p:txBody>
          <a:bodyPr/>
          <a:lstStyle/>
          <a:p>
            <a:r>
              <a:rPr lang="en-US" altLang="en-US" sz="4000"/>
              <a:t>Representing Edges: Adjacency Edge List </a:t>
            </a:r>
          </a:p>
        </p:txBody>
      </p:sp>
      <p:sp>
        <p:nvSpPr>
          <p:cNvPr id="19458" name="Slide Number Placeholder 4">
            <a:extLst>
              <a:ext uri="{FF2B5EF4-FFF2-40B4-BE49-F238E27FC236}">
                <a16:creationId xmlns:a16="http://schemas.microsoft.com/office/drawing/2014/main" id="{2E5361B8-2FFC-4F9D-A525-AB012EE4752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79F695E-1157-4D4F-AEA0-D96F9DA33CE3}" type="slidenum">
              <a:rPr lang="en-US" altLang="en-US" sz="1400"/>
              <a:pPr>
                <a:spcBef>
                  <a:spcPct val="0"/>
                </a:spcBef>
                <a:buClrTx/>
                <a:buSzTx/>
                <a:buFontTx/>
                <a:buNone/>
              </a:pPr>
              <a:t>15</a:t>
            </a:fld>
            <a:endParaRPr lang="en-US" altLang="en-US" sz="1400"/>
          </a:p>
        </p:txBody>
      </p:sp>
      <p:sp>
        <p:nvSpPr>
          <p:cNvPr id="19462" name="Text Box 7">
            <a:extLst>
              <a:ext uri="{FF2B5EF4-FFF2-40B4-BE49-F238E27FC236}">
                <a16:creationId xmlns:a16="http://schemas.microsoft.com/office/drawing/2014/main" id="{7EB01293-D2E7-4539-BF05-653FD2C5D550}"/>
              </a:ext>
            </a:extLst>
          </p:cNvPr>
          <p:cNvSpPr txBox="1">
            <a:spLocks noChangeArrowheads="1"/>
          </p:cNvSpPr>
          <p:nvPr/>
        </p:nvSpPr>
        <p:spPr bwMode="auto">
          <a:xfrm>
            <a:off x="228600" y="1066800"/>
            <a:ext cx="891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List&lt;Edge&gt;[] neighbors = new List[12];</a:t>
            </a:r>
          </a:p>
        </p:txBody>
      </p:sp>
      <p:graphicFrame>
        <p:nvGraphicFramePr>
          <p:cNvPr id="19465" name="Object 2">
            <a:extLst>
              <a:ext uri="{FF2B5EF4-FFF2-40B4-BE49-F238E27FC236}">
                <a16:creationId xmlns:a16="http://schemas.microsoft.com/office/drawing/2014/main" id="{A0B8AC7D-C708-4898-9005-B71A9B02F70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087435201"/>
              </p:ext>
            </p:extLst>
          </p:nvPr>
        </p:nvGraphicFramePr>
        <p:xfrm>
          <a:off x="377825" y="1528763"/>
          <a:ext cx="8464550" cy="4364037"/>
        </p:xfrm>
        <a:graphic>
          <a:graphicData uri="http://schemas.openxmlformats.org/presentationml/2006/ole">
            <mc:AlternateContent xmlns:mc="http://schemas.openxmlformats.org/markup-compatibility/2006">
              <mc:Choice xmlns:v="urn:schemas-microsoft-com:vml" Requires="v">
                <p:oleObj name="Picture" r:id="rId2" imgW="5866134" imgH="3024203" progId="Word.Picture.8">
                  <p:embed/>
                </p:oleObj>
              </mc:Choice>
              <mc:Fallback>
                <p:oleObj name="Picture" r:id="rId2" imgW="5866134" imgH="3024203" progId="Word.Picture.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825" y="1528763"/>
                        <a:ext cx="8464550" cy="436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16B26BE4-360B-4A42-9BC8-24E855C68C0F}"/>
              </a:ext>
            </a:extLst>
          </p:cNvPr>
          <p:cNvSpPr>
            <a:spLocks noGrp="1" noChangeArrowheads="1"/>
          </p:cNvSpPr>
          <p:nvPr>
            <p:ph type="title"/>
          </p:nvPr>
        </p:nvSpPr>
        <p:spPr>
          <a:xfrm>
            <a:off x="0" y="285750"/>
            <a:ext cx="9067800" cy="552450"/>
          </a:xfrm>
        </p:spPr>
        <p:txBody>
          <a:bodyPr/>
          <a:lstStyle/>
          <a:p>
            <a:r>
              <a:rPr lang="en-US" altLang="en-US" sz="3200"/>
              <a:t>Representing Adjacency Edge List Using ArrayList</a:t>
            </a:r>
            <a:r>
              <a:rPr lang="en-US" altLang="en-US" sz="4000"/>
              <a:t> </a:t>
            </a:r>
          </a:p>
        </p:txBody>
      </p:sp>
      <p:sp>
        <p:nvSpPr>
          <p:cNvPr id="20482" name="Slide Number Placeholder 4">
            <a:extLst>
              <a:ext uri="{FF2B5EF4-FFF2-40B4-BE49-F238E27FC236}">
                <a16:creationId xmlns:a16="http://schemas.microsoft.com/office/drawing/2014/main" id="{C4D3D2DA-CBC1-45F8-AAEF-574C2492D0F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FDE1395-169C-42D2-8B0E-2B36922A5199}" type="slidenum">
              <a:rPr lang="en-US" altLang="en-US" sz="1400"/>
              <a:pPr>
                <a:spcBef>
                  <a:spcPct val="0"/>
                </a:spcBef>
                <a:buClrTx/>
                <a:buSzTx/>
                <a:buFontTx/>
                <a:buNone/>
              </a:pPr>
              <a:t>16</a:t>
            </a:fld>
            <a:endParaRPr lang="en-US" altLang="en-US" sz="1400"/>
          </a:p>
        </p:txBody>
      </p:sp>
      <p:sp>
        <p:nvSpPr>
          <p:cNvPr id="20486" name="Text Box 7">
            <a:extLst>
              <a:ext uri="{FF2B5EF4-FFF2-40B4-BE49-F238E27FC236}">
                <a16:creationId xmlns:a16="http://schemas.microsoft.com/office/drawing/2014/main" id="{CF9F49DA-F971-4933-B31C-B0802726ED31}"/>
              </a:ext>
            </a:extLst>
          </p:cNvPr>
          <p:cNvSpPr txBox="1">
            <a:spLocks noChangeArrowheads="1"/>
          </p:cNvSpPr>
          <p:nvPr/>
        </p:nvSpPr>
        <p:spPr bwMode="auto">
          <a:xfrm>
            <a:off x="152400" y="1066800"/>
            <a:ext cx="8915400" cy="563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List&lt;ArrayList&lt;Edge&gt;&gt; neighbors = </a:t>
            </a:r>
            <a:r>
              <a:rPr lang="en-US" altLang="en-US" sz="2400" b="1"/>
              <a:t>new</a:t>
            </a:r>
            <a:r>
              <a:rPr lang="en-US" altLang="en-US" sz="2400"/>
              <a:t> ArrayList&lt;&gt;();</a:t>
            </a:r>
          </a:p>
          <a:p>
            <a:pPr>
              <a:spcBef>
                <a:spcPct val="0"/>
              </a:spcBef>
              <a:buClrTx/>
              <a:buSzTx/>
              <a:buFontTx/>
              <a:buNone/>
            </a:pPr>
            <a:r>
              <a:rPr lang="en-US" altLang="en-US" sz="2400"/>
              <a:t>neighbors.add(</a:t>
            </a:r>
            <a:r>
              <a:rPr lang="en-US" altLang="en-US" sz="2400" b="1"/>
              <a:t>new</a:t>
            </a:r>
            <a:r>
              <a:rPr lang="en-US" altLang="en-US" sz="2400"/>
              <a:t> ArrayList&lt;Edge&gt;());</a:t>
            </a:r>
          </a:p>
          <a:p>
            <a:pPr>
              <a:spcBef>
                <a:spcPct val="0"/>
              </a:spcBef>
              <a:buClrTx/>
              <a:buSzTx/>
              <a:buFontTx/>
              <a:buNone/>
            </a:pPr>
            <a:r>
              <a:rPr lang="en-US" altLang="en-US" sz="2400"/>
              <a:t>neighbors.get(</a:t>
            </a:r>
            <a:r>
              <a:rPr lang="en-US" altLang="en-US" sz="2400" b="1"/>
              <a:t>0</a:t>
            </a:r>
            <a:r>
              <a:rPr lang="en-US" altLang="en-US" sz="2400"/>
              <a:t>).add(</a:t>
            </a:r>
            <a:r>
              <a:rPr lang="en-US" altLang="en-US" sz="2400" b="1"/>
              <a:t>new</a:t>
            </a:r>
            <a:r>
              <a:rPr lang="en-US" altLang="en-US" sz="2400"/>
              <a:t> Edge(</a:t>
            </a:r>
            <a:r>
              <a:rPr lang="en-US" altLang="en-US" sz="2400" b="1"/>
              <a:t>0</a:t>
            </a:r>
            <a:r>
              <a:rPr lang="en-US" altLang="en-US" sz="2400"/>
              <a:t>, </a:t>
            </a:r>
            <a:r>
              <a:rPr lang="en-US" altLang="en-US" sz="2400" b="1"/>
              <a:t>1</a:t>
            </a:r>
            <a:r>
              <a:rPr lang="en-US" altLang="en-US" sz="2400"/>
              <a:t>)); </a:t>
            </a:r>
          </a:p>
          <a:p>
            <a:pPr>
              <a:spcBef>
                <a:spcPct val="0"/>
              </a:spcBef>
              <a:buClrTx/>
              <a:buSzTx/>
              <a:buFontTx/>
              <a:buNone/>
            </a:pPr>
            <a:r>
              <a:rPr lang="en-US" altLang="en-US" sz="2400"/>
              <a:t>neighbors.get(</a:t>
            </a:r>
            <a:r>
              <a:rPr lang="en-US" altLang="en-US" sz="2400" b="1"/>
              <a:t>0</a:t>
            </a:r>
            <a:r>
              <a:rPr lang="en-US" altLang="en-US" sz="2400"/>
              <a:t>).add(</a:t>
            </a:r>
            <a:r>
              <a:rPr lang="en-US" altLang="en-US" sz="2400" b="1"/>
              <a:t>new</a:t>
            </a:r>
            <a:r>
              <a:rPr lang="en-US" altLang="en-US" sz="2400"/>
              <a:t> Edge(</a:t>
            </a:r>
            <a:r>
              <a:rPr lang="en-US" altLang="en-US" sz="2400" b="1"/>
              <a:t>0</a:t>
            </a:r>
            <a:r>
              <a:rPr lang="en-US" altLang="en-US" sz="2400"/>
              <a:t>, </a:t>
            </a:r>
            <a:r>
              <a:rPr lang="en-US" altLang="en-US" sz="2400" b="1"/>
              <a:t>3</a:t>
            </a:r>
            <a:r>
              <a:rPr lang="en-US" altLang="en-US" sz="2400"/>
              <a:t>)); </a:t>
            </a:r>
          </a:p>
          <a:p>
            <a:pPr>
              <a:spcBef>
                <a:spcPct val="0"/>
              </a:spcBef>
              <a:buClrTx/>
              <a:buSzTx/>
              <a:buFontTx/>
              <a:buNone/>
            </a:pPr>
            <a:r>
              <a:rPr lang="en-US" altLang="en-US" sz="2400"/>
              <a:t>neighbors.get(</a:t>
            </a:r>
            <a:r>
              <a:rPr lang="en-US" altLang="en-US" sz="2400" b="1"/>
              <a:t>0</a:t>
            </a:r>
            <a:r>
              <a:rPr lang="en-US" altLang="en-US" sz="2400"/>
              <a:t>).add(</a:t>
            </a:r>
            <a:r>
              <a:rPr lang="en-US" altLang="en-US" sz="2400" b="1"/>
              <a:t>new</a:t>
            </a:r>
            <a:r>
              <a:rPr lang="en-US" altLang="en-US" sz="2400"/>
              <a:t> Edge(</a:t>
            </a:r>
            <a:r>
              <a:rPr lang="en-US" altLang="en-US" sz="2400" b="1"/>
              <a:t>0</a:t>
            </a:r>
            <a:r>
              <a:rPr lang="en-US" altLang="en-US" sz="2400"/>
              <a:t>, </a:t>
            </a:r>
            <a:r>
              <a:rPr lang="en-US" altLang="en-US" sz="2400" b="1"/>
              <a:t>5</a:t>
            </a:r>
            <a:r>
              <a:rPr lang="en-US" altLang="en-US" sz="2400"/>
              <a:t>)); </a:t>
            </a:r>
          </a:p>
          <a:p>
            <a:pPr>
              <a:spcBef>
                <a:spcPct val="0"/>
              </a:spcBef>
              <a:buClrTx/>
              <a:buSzTx/>
              <a:buFontTx/>
              <a:buNone/>
            </a:pPr>
            <a:r>
              <a:rPr lang="en-US" altLang="en-US" sz="2400"/>
              <a:t>neighbors.add(</a:t>
            </a:r>
            <a:r>
              <a:rPr lang="en-US" altLang="en-US" sz="2400" b="1"/>
              <a:t>new</a:t>
            </a:r>
            <a:r>
              <a:rPr lang="en-US" altLang="en-US" sz="2400"/>
              <a:t> ArrayList&lt;Edge&gt;());</a:t>
            </a:r>
          </a:p>
          <a:p>
            <a:pPr>
              <a:spcBef>
                <a:spcPct val="0"/>
              </a:spcBef>
              <a:buClrTx/>
              <a:buSzTx/>
              <a:buFontTx/>
              <a:buNone/>
            </a:pPr>
            <a:r>
              <a:rPr lang="en-US" altLang="en-US" sz="2400"/>
              <a:t>neighbors.get(</a:t>
            </a:r>
            <a:r>
              <a:rPr lang="en-US" altLang="en-US" sz="2400" b="1"/>
              <a:t>1</a:t>
            </a:r>
            <a:r>
              <a:rPr lang="en-US" altLang="en-US" sz="2400"/>
              <a:t>).add(</a:t>
            </a:r>
            <a:r>
              <a:rPr lang="en-US" altLang="en-US" sz="2400" b="1"/>
              <a:t>new</a:t>
            </a:r>
            <a:r>
              <a:rPr lang="en-US" altLang="en-US" sz="2400"/>
              <a:t> Edge(</a:t>
            </a:r>
            <a:r>
              <a:rPr lang="en-US" altLang="en-US" sz="2400" b="1"/>
              <a:t>1</a:t>
            </a:r>
            <a:r>
              <a:rPr lang="en-US" altLang="en-US" sz="2400"/>
              <a:t>, </a:t>
            </a:r>
            <a:r>
              <a:rPr lang="en-US" altLang="en-US" sz="2400" b="1"/>
              <a:t>0</a:t>
            </a:r>
            <a:r>
              <a:rPr lang="en-US" altLang="en-US" sz="2400"/>
              <a:t>)); </a:t>
            </a:r>
          </a:p>
          <a:p>
            <a:pPr>
              <a:spcBef>
                <a:spcPct val="0"/>
              </a:spcBef>
              <a:buClrTx/>
              <a:buSzTx/>
              <a:buFontTx/>
              <a:buNone/>
            </a:pPr>
            <a:r>
              <a:rPr lang="en-US" altLang="en-US" sz="2400"/>
              <a:t>neighbors.get(</a:t>
            </a:r>
            <a:r>
              <a:rPr lang="en-US" altLang="en-US" sz="2400" b="1"/>
              <a:t>1</a:t>
            </a:r>
            <a:r>
              <a:rPr lang="en-US" altLang="en-US" sz="2400"/>
              <a:t>).add(</a:t>
            </a:r>
            <a:r>
              <a:rPr lang="en-US" altLang="en-US" sz="2400" b="1"/>
              <a:t>new</a:t>
            </a:r>
            <a:r>
              <a:rPr lang="en-US" altLang="en-US" sz="2400"/>
              <a:t> Edge(</a:t>
            </a:r>
            <a:r>
              <a:rPr lang="en-US" altLang="en-US" sz="2400" b="1"/>
              <a:t>1</a:t>
            </a:r>
            <a:r>
              <a:rPr lang="en-US" altLang="en-US" sz="2400"/>
              <a:t>, </a:t>
            </a:r>
            <a:r>
              <a:rPr lang="en-US" altLang="en-US" sz="2400" b="1"/>
              <a:t>2</a:t>
            </a:r>
            <a:r>
              <a:rPr lang="en-US" altLang="en-US" sz="2400"/>
              <a:t>)); </a:t>
            </a:r>
          </a:p>
          <a:p>
            <a:pPr>
              <a:spcBef>
                <a:spcPct val="0"/>
              </a:spcBef>
              <a:buClrTx/>
              <a:buSzTx/>
              <a:buFontTx/>
              <a:buNone/>
            </a:pPr>
            <a:r>
              <a:rPr lang="en-US" altLang="en-US" sz="2400"/>
              <a:t>neighbors.get(</a:t>
            </a:r>
            <a:r>
              <a:rPr lang="en-US" altLang="en-US" sz="2400" b="1"/>
              <a:t>1</a:t>
            </a:r>
            <a:r>
              <a:rPr lang="en-US" altLang="en-US" sz="2400"/>
              <a:t>).add(</a:t>
            </a:r>
            <a:r>
              <a:rPr lang="en-US" altLang="en-US" sz="2400" b="1"/>
              <a:t>new</a:t>
            </a:r>
            <a:r>
              <a:rPr lang="en-US" altLang="en-US" sz="2400"/>
              <a:t> Edge(</a:t>
            </a:r>
            <a:r>
              <a:rPr lang="en-US" altLang="en-US" sz="2400" b="1"/>
              <a:t>1</a:t>
            </a:r>
            <a:r>
              <a:rPr lang="en-US" altLang="en-US" sz="2400"/>
              <a:t>, </a:t>
            </a:r>
            <a:r>
              <a:rPr lang="en-US" altLang="en-US" sz="2400" b="1"/>
              <a:t>3</a:t>
            </a:r>
            <a:r>
              <a:rPr lang="en-US" altLang="en-US" sz="2400"/>
              <a:t>)); </a:t>
            </a:r>
          </a:p>
          <a:p>
            <a:pPr>
              <a:spcBef>
                <a:spcPct val="0"/>
              </a:spcBef>
              <a:buClrTx/>
              <a:buSzTx/>
              <a:buFontTx/>
              <a:buNone/>
            </a:pPr>
            <a:r>
              <a:rPr lang="en-US" altLang="en-US" sz="2400"/>
              <a:t>...</a:t>
            </a:r>
          </a:p>
          <a:p>
            <a:pPr>
              <a:spcBef>
                <a:spcPct val="0"/>
              </a:spcBef>
              <a:buClrTx/>
              <a:buSzTx/>
              <a:buFontTx/>
              <a:buNone/>
            </a:pPr>
            <a:r>
              <a:rPr lang="en-US" altLang="en-US" sz="2400"/>
              <a:t>...</a:t>
            </a:r>
          </a:p>
          <a:p>
            <a:pPr>
              <a:spcBef>
                <a:spcPct val="0"/>
              </a:spcBef>
              <a:buClrTx/>
              <a:buSzTx/>
              <a:buFontTx/>
              <a:buNone/>
            </a:pPr>
            <a:r>
              <a:rPr lang="en-US" altLang="en-US" sz="2400"/>
              <a:t>neighbors.get(</a:t>
            </a:r>
            <a:r>
              <a:rPr lang="en-US" altLang="en-US" sz="2400" b="1"/>
              <a:t>11</a:t>
            </a:r>
            <a:r>
              <a:rPr lang="en-US" altLang="en-US" sz="2400"/>
              <a:t>).add(</a:t>
            </a:r>
            <a:r>
              <a:rPr lang="en-US" altLang="en-US" sz="2400" b="1"/>
              <a:t>new</a:t>
            </a:r>
            <a:r>
              <a:rPr lang="en-US" altLang="en-US" sz="2400"/>
              <a:t> Edge(</a:t>
            </a:r>
            <a:r>
              <a:rPr lang="en-US" altLang="en-US" sz="2400" b="1"/>
              <a:t>11</a:t>
            </a:r>
            <a:r>
              <a:rPr lang="en-US" altLang="en-US" sz="2400"/>
              <a:t>, </a:t>
            </a:r>
            <a:r>
              <a:rPr lang="en-US" altLang="en-US" sz="2400" b="1"/>
              <a:t>8</a:t>
            </a:r>
            <a:r>
              <a:rPr lang="en-US" altLang="en-US" sz="2400"/>
              <a:t>)); </a:t>
            </a:r>
          </a:p>
          <a:p>
            <a:pPr>
              <a:spcBef>
                <a:spcPct val="0"/>
              </a:spcBef>
              <a:buClrTx/>
              <a:buSzTx/>
              <a:buFontTx/>
              <a:buNone/>
            </a:pPr>
            <a:r>
              <a:rPr lang="en-US" altLang="en-US" sz="2400"/>
              <a:t>neighbors.get(</a:t>
            </a:r>
            <a:r>
              <a:rPr lang="en-US" altLang="en-US" sz="2400" b="1"/>
              <a:t>11</a:t>
            </a:r>
            <a:r>
              <a:rPr lang="en-US" altLang="en-US" sz="2400"/>
              <a:t>).add(</a:t>
            </a:r>
            <a:r>
              <a:rPr lang="en-US" altLang="en-US" sz="2400" b="1"/>
              <a:t>new</a:t>
            </a:r>
            <a:r>
              <a:rPr lang="en-US" altLang="en-US" sz="2400"/>
              <a:t> Edge(</a:t>
            </a:r>
            <a:r>
              <a:rPr lang="en-US" altLang="en-US" sz="2400" b="1"/>
              <a:t>11</a:t>
            </a:r>
            <a:r>
              <a:rPr lang="en-US" altLang="en-US" sz="2400"/>
              <a:t>, </a:t>
            </a:r>
            <a:r>
              <a:rPr lang="en-US" altLang="en-US" sz="2400" b="1"/>
              <a:t>9</a:t>
            </a:r>
            <a:r>
              <a:rPr lang="en-US" altLang="en-US" sz="2400"/>
              <a:t>)); </a:t>
            </a:r>
          </a:p>
          <a:p>
            <a:pPr>
              <a:spcBef>
                <a:spcPct val="0"/>
              </a:spcBef>
              <a:buClrTx/>
              <a:buSzTx/>
              <a:buFontTx/>
              <a:buNone/>
            </a:pPr>
            <a:r>
              <a:rPr lang="en-US" altLang="en-US" sz="2400"/>
              <a:t>neighbors.get(</a:t>
            </a:r>
            <a:r>
              <a:rPr lang="en-US" altLang="en-US" sz="2400" b="1"/>
              <a:t>11</a:t>
            </a:r>
            <a:r>
              <a:rPr lang="en-US" altLang="en-US" sz="2400"/>
              <a:t>).add(</a:t>
            </a:r>
            <a:r>
              <a:rPr lang="en-US" altLang="en-US" sz="2400" b="1"/>
              <a:t>new</a:t>
            </a:r>
            <a:r>
              <a:rPr lang="en-US" altLang="en-US" sz="2400"/>
              <a:t> Edge(</a:t>
            </a:r>
            <a:r>
              <a:rPr lang="en-US" altLang="en-US" sz="2400" b="1"/>
              <a:t>11</a:t>
            </a:r>
            <a:r>
              <a:rPr lang="en-US" altLang="en-US" sz="2400"/>
              <a:t>, </a:t>
            </a:r>
            <a:r>
              <a:rPr lang="en-US" altLang="en-US" sz="2400" b="1"/>
              <a:t>10</a:t>
            </a:r>
            <a:r>
              <a:rPr lang="en-US" altLang="en-US" sz="2400"/>
              <a:t>)); </a:t>
            </a:r>
          </a:p>
          <a:p>
            <a:pPr>
              <a:spcBef>
                <a:spcPct val="0"/>
              </a:spcBef>
              <a:buClrTx/>
              <a:buSzTx/>
              <a:buFontTx/>
              <a:buNone/>
            </a:pPr>
            <a:endParaRPr lang="en-US" alt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5B674AD1-F984-4EFD-B926-8B448D19FF2A}"/>
              </a:ext>
            </a:extLst>
          </p:cNvPr>
          <p:cNvSpPr>
            <a:spLocks noGrp="1" noChangeArrowheads="1"/>
          </p:cNvSpPr>
          <p:nvPr>
            <p:ph type="title"/>
          </p:nvPr>
        </p:nvSpPr>
        <p:spPr>
          <a:xfrm>
            <a:off x="685800" y="0"/>
            <a:ext cx="7772400" cy="1428750"/>
          </a:xfrm>
        </p:spPr>
        <p:txBody>
          <a:bodyPr/>
          <a:lstStyle/>
          <a:p>
            <a:r>
              <a:rPr lang="en-US" altLang="en-US"/>
              <a:t>Modeling Graphs </a:t>
            </a:r>
          </a:p>
        </p:txBody>
      </p:sp>
      <p:sp>
        <p:nvSpPr>
          <p:cNvPr id="21506" name="Slide Number Placeholder 4">
            <a:extLst>
              <a:ext uri="{FF2B5EF4-FFF2-40B4-BE49-F238E27FC236}">
                <a16:creationId xmlns:a16="http://schemas.microsoft.com/office/drawing/2014/main" id="{27FD8F6B-3DCE-4AAF-BCF4-4D6AFCDE82B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7391C1D-3045-4A75-87E8-02AE977DDC77}" type="slidenum">
              <a:rPr lang="en-US" altLang="en-US" sz="1400"/>
              <a:pPr>
                <a:spcBef>
                  <a:spcPct val="0"/>
                </a:spcBef>
                <a:buClrTx/>
                <a:buSzTx/>
                <a:buFontTx/>
                <a:buNone/>
              </a:pPr>
              <a:t>17</a:t>
            </a:fld>
            <a:endParaRPr lang="en-US" altLang="en-US" sz="1400"/>
          </a:p>
        </p:txBody>
      </p:sp>
      <p:graphicFrame>
        <p:nvGraphicFramePr>
          <p:cNvPr id="21510" name="Object 2">
            <a:extLst>
              <a:ext uri="{FF2B5EF4-FFF2-40B4-BE49-F238E27FC236}">
                <a16:creationId xmlns:a16="http://schemas.microsoft.com/office/drawing/2014/main" id="{A7398555-0318-4FB2-88B9-67A6D4608C9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624615128"/>
              </p:ext>
            </p:extLst>
          </p:nvPr>
        </p:nvGraphicFramePr>
        <p:xfrm>
          <a:off x="381000" y="2209800"/>
          <a:ext cx="8399463" cy="914400"/>
        </p:xfrm>
        <a:graphic>
          <a:graphicData uri="http://schemas.openxmlformats.org/presentationml/2006/ole">
            <mc:AlternateContent xmlns:mc="http://schemas.openxmlformats.org/markup-compatibility/2006">
              <mc:Choice xmlns:v="urn:schemas-microsoft-com:vml" Requires="v">
                <p:oleObj name="Picture" r:id="rId2" imgW="3654552" imgH="400812" progId="Word.Picture.8">
                  <p:embed/>
                </p:oleObj>
              </mc:Choice>
              <mc:Fallback>
                <p:oleObj name="Picture" r:id="rId2" imgW="3654552" imgH="400812" progId="Word.Picture.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09800"/>
                        <a:ext cx="839946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4">
            <a:extLst>
              <a:ext uri="{FF2B5EF4-FFF2-40B4-BE49-F238E27FC236}">
                <a16:creationId xmlns:a16="http://schemas.microsoft.com/office/drawing/2014/main" id="{13290651-6BD0-4D0B-A035-36A749BD7A0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7BF97D2-A3C8-48E7-A18E-F36695E81298}" type="slidenum">
              <a:rPr lang="en-US" altLang="en-US" sz="1400"/>
              <a:pPr>
                <a:spcBef>
                  <a:spcPct val="0"/>
                </a:spcBef>
                <a:buClrTx/>
                <a:buSzTx/>
                <a:buFontTx/>
                <a:buNone/>
              </a:pPr>
              <a:t>18</a:t>
            </a:fld>
            <a:endParaRPr lang="en-US" altLang="en-US" sz="1400"/>
          </a:p>
        </p:txBody>
      </p:sp>
      <p:graphicFrame>
        <p:nvGraphicFramePr>
          <p:cNvPr id="22536" name="Object 2">
            <a:extLst>
              <a:ext uri="{FF2B5EF4-FFF2-40B4-BE49-F238E27FC236}">
                <a16:creationId xmlns:a16="http://schemas.microsoft.com/office/drawing/2014/main" id="{E0EC9607-EAFF-49FE-83C9-7729909CFA9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97989255"/>
              </p:ext>
            </p:extLst>
          </p:nvPr>
        </p:nvGraphicFramePr>
        <p:xfrm>
          <a:off x="195263" y="50800"/>
          <a:ext cx="6105525" cy="6448425"/>
        </p:xfrm>
        <a:graphic>
          <a:graphicData uri="http://schemas.openxmlformats.org/presentationml/2006/ole">
            <mc:AlternateContent xmlns:mc="http://schemas.openxmlformats.org/markup-compatibility/2006">
              <mc:Choice xmlns:v="urn:schemas-microsoft-com:vml" Requires="v">
                <p:oleObj name="Picture" r:id="rId2" imgW="5089498" imgH="5374962" progId="Word.Picture.8">
                  <p:embed/>
                </p:oleObj>
              </mc:Choice>
              <mc:Fallback>
                <p:oleObj name="Picture" r:id="rId2" imgW="5089498" imgH="5374962" progId="Word.Picture.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63" y="50800"/>
                        <a:ext cx="6105525" cy="644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7" name="Rectangle 16">
            <a:hlinkClick r:id="rId4"/>
            <a:extLst>
              <a:ext uri="{FF2B5EF4-FFF2-40B4-BE49-F238E27FC236}">
                <a16:creationId xmlns:a16="http://schemas.microsoft.com/office/drawing/2014/main" id="{5B51E4BB-E165-4E0B-AF63-3D1C8ADE1927}"/>
              </a:ext>
            </a:extLst>
          </p:cNvPr>
          <p:cNvSpPr>
            <a:spLocks noChangeArrowheads="1"/>
          </p:cNvSpPr>
          <p:nvPr/>
        </p:nvSpPr>
        <p:spPr bwMode="auto">
          <a:xfrm>
            <a:off x="6934200" y="5510213"/>
            <a:ext cx="19637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TestGraph</a:t>
            </a:r>
          </a:p>
        </p:txBody>
      </p:sp>
      <p:sp>
        <p:nvSpPr>
          <p:cNvPr id="22538" name="Rectangle 18">
            <a:hlinkClick r:id="rId5"/>
            <a:extLst>
              <a:ext uri="{FF2B5EF4-FFF2-40B4-BE49-F238E27FC236}">
                <a16:creationId xmlns:a16="http://schemas.microsoft.com/office/drawing/2014/main" id="{EFC0B048-0731-43F0-AF3C-8B3FCA210AD9}"/>
              </a:ext>
            </a:extLst>
          </p:cNvPr>
          <p:cNvSpPr>
            <a:spLocks noChangeArrowheads="1"/>
          </p:cNvSpPr>
          <p:nvPr/>
        </p:nvSpPr>
        <p:spPr bwMode="auto">
          <a:xfrm>
            <a:off x="6858000" y="4267200"/>
            <a:ext cx="20653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UnweightedGraph</a:t>
            </a:r>
          </a:p>
        </p:txBody>
      </p:sp>
      <p:sp>
        <p:nvSpPr>
          <p:cNvPr id="22539" name="Rectangle 20">
            <a:hlinkClick r:id="rId6"/>
            <a:extLst>
              <a:ext uri="{FF2B5EF4-FFF2-40B4-BE49-F238E27FC236}">
                <a16:creationId xmlns:a16="http://schemas.microsoft.com/office/drawing/2014/main" id="{B1F17673-E428-43F2-B359-4FD59A7909EB}"/>
              </a:ext>
            </a:extLst>
          </p:cNvPr>
          <p:cNvSpPr>
            <a:spLocks noGrp="1" noChangeArrowheads="1"/>
          </p:cNvSpPr>
          <p:nvPr>
            <p:ph type="title" idx="4294967295"/>
          </p:nvPr>
        </p:nvSpPr>
        <p:spPr bwMode="auto">
          <a:xfrm>
            <a:off x="6858000" y="342900"/>
            <a:ext cx="1989138" cy="381000"/>
          </a:xfrm>
          <a:prstGeom prst="rect">
            <a:avLst/>
          </a:prstGeom>
          <a:solidFill>
            <a:srgbClr val="92D050"/>
          </a:solidFill>
          <a:ln>
            <a:noFill/>
            <a:prstDash/>
          </a:ln>
          <a:effectLst/>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Graph</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9DDE551D-2FFD-4183-A322-E4E2BA3ED8B0}"/>
              </a:ext>
            </a:extLst>
          </p:cNvPr>
          <p:cNvSpPr>
            <a:spLocks noGrp="1" noChangeArrowheads="1"/>
          </p:cNvSpPr>
          <p:nvPr>
            <p:ph type="title"/>
          </p:nvPr>
        </p:nvSpPr>
        <p:spPr>
          <a:xfrm>
            <a:off x="0" y="152400"/>
            <a:ext cx="9144000" cy="609600"/>
          </a:xfrm>
        </p:spPr>
        <p:txBody>
          <a:bodyPr/>
          <a:lstStyle/>
          <a:p>
            <a:r>
              <a:rPr lang="en-US" altLang="en-US" sz="4000"/>
              <a:t>Graph Visualization</a:t>
            </a:r>
          </a:p>
        </p:txBody>
      </p:sp>
      <p:sp>
        <p:nvSpPr>
          <p:cNvPr id="23554" name="Slide Number Placeholder 4">
            <a:extLst>
              <a:ext uri="{FF2B5EF4-FFF2-40B4-BE49-F238E27FC236}">
                <a16:creationId xmlns:a16="http://schemas.microsoft.com/office/drawing/2014/main" id="{C9B58EF8-58E1-4227-B9A0-77E42A2D3F7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C6D03F8-123E-4DA6-B54A-916614B8FA0B}" type="slidenum">
              <a:rPr lang="en-US" altLang="en-US" sz="1400"/>
              <a:pPr>
                <a:spcBef>
                  <a:spcPct val="0"/>
                </a:spcBef>
                <a:buClrTx/>
                <a:buSzTx/>
                <a:buFontTx/>
                <a:buNone/>
              </a:pPr>
              <a:t>19</a:t>
            </a:fld>
            <a:endParaRPr lang="en-US" altLang="en-US" sz="1400"/>
          </a:p>
        </p:txBody>
      </p:sp>
      <p:pic>
        <p:nvPicPr>
          <p:cNvPr id="23577" name="Picture 33">
            <a:extLst>
              <a:ext uri="{FF2B5EF4-FFF2-40B4-BE49-F238E27FC236}">
                <a16:creationId xmlns:a16="http://schemas.microsoft.com/office/drawing/2014/main" id="{57639D1C-B99D-47BC-84EF-2E40CEC5ABC7}"/>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143000"/>
            <a:ext cx="7080250"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23578" name="Rectangle 33">
            <a:hlinkClick r:id="rId3"/>
            <a:extLst>
              <a:ext uri="{FF2B5EF4-FFF2-40B4-BE49-F238E27FC236}">
                <a16:creationId xmlns:a16="http://schemas.microsoft.com/office/drawing/2014/main" id="{65F2ED9B-E012-4E6B-89DF-16F9965A7A08}"/>
              </a:ext>
            </a:extLst>
          </p:cNvPr>
          <p:cNvSpPr>
            <a:spLocks noChangeArrowheads="1"/>
          </p:cNvSpPr>
          <p:nvPr/>
        </p:nvSpPr>
        <p:spPr bwMode="auto">
          <a:xfrm>
            <a:off x="4860925" y="5776913"/>
            <a:ext cx="19637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DisplayUSMap</a:t>
            </a:r>
          </a:p>
        </p:txBody>
      </p:sp>
      <p:sp>
        <p:nvSpPr>
          <p:cNvPr id="23579" name="Rectangle 35">
            <a:hlinkClick r:id="rId4"/>
            <a:extLst>
              <a:ext uri="{FF2B5EF4-FFF2-40B4-BE49-F238E27FC236}">
                <a16:creationId xmlns:a16="http://schemas.microsoft.com/office/drawing/2014/main" id="{6739AD91-7C0E-4ABA-B2F7-712596DC31A3}"/>
              </a:ext>
            </a:extLst>
          </p:cNvPr>
          <p:cNvSpPr>
            <a:spLocks noChangeArrowheads="1"/>
          </p:cNvSpPr>
          <p:nvPr/>
        </p:nvSpPr>
        <p:spPr bwMode="auto">
          <a:xfrm>
            <a:off x="779463" y="5776913"/>
            <a:ext cx="1963737"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GraphView</a:t>
            </a:r>
          </a:p>
        </p:txBody>
      </p:sp>
      <p:sp>
        <p:nvSpPr>
          <p:cNvPr id="23580" name="Rectangle 37">
            <a:hlinkClick r:id="rId5"/>
            <a:extLst>
              <a:ext uri="{FF2B5EF4-FFF2-40B4-BE49-F238E27FC236}">
                <a16:creationId xmlns:a16="http://schemas.microsoft.com/office/drawing/2014/main" id="{21F5F456-CB1B-4A2F-AB69-2B20AEAC3D15}"/>
              </a:ext>
            </a:extLst>
          </p:cNvPr>
          <p:cNvSpPr>
            <a:spLocks noChangeArrowheads="1"/>
          </p:cNvSpPr>
          <p:nvPr/>
        </p:nvSpPr>
        <p:spPr bwMode="auto">
          <a:xfrm>
            <a:off x="2819400" y="5776913"/>
            <a:ext cx="19637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Displayable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8C336D-58AD-F29D-2625-6F9D74043D60}"/>
              </a:ext>
            </a:extLst>
          </p:cNvPr>
          <p:cNvSpPr>
            <a:spLocks noGrp="1"/>
          </p:cNvSpPr>
          <p:nvPr>
            <p:ph type="sldNum" sz="quarter" idx="11"/>
          </p:nvPr>
        </p:nvSpPr>
        <p:spPr/>
        <p:txBody>
          <a:bodyPr/>
          <a:lstStyle/>
          <a:p>
            <a:fld id="{B28D5714-B375-4F86-AD04-B8195B25454C}" type="slidenum">
              <a:rPr lang="en-US" altLang="en-US" smtClean="0"/>
              <a:pPr/>
              <a:t>20</a:t>
            </a:fld>
            <a:endParaRPr lang="en-US" altLang="en-US"/>
          </a:p>
        </p:txBody>
      </p:sp>
      <p:sp>
        <p:nvSpPr>
          <p:cNvPr id="5" name="Rectangle 2">
            <a:extLst>
              <a:ext uri="{FF2B5EF4-FFF2-40B4-BE49-F238E27FC236}">
                <a16:creationId xmlns:a16="http://schemas.microsoft.com/office/drawing/2014/main" id="{3B8168E2-554E-10E3-B2F9-151B6A71EC58}"/>
              </a:ext>
            </a:extLst>
          </p:cNvPr>
          <p:cNvSpPr>
            <a:spLocks noGrp="1" noChangeArrowheads="1"/>
          </p:cNvSpPr>
          <p:nvPr>
            <p:ph type="title"/>
          </p:nvPr>
        </p:nvSpPr>
        <p:spPr>
          <a:xfrm>
            <a:off x="228600" y="285750"/>
            <a:ext cx="8686800" cy="704850"/>
          </a:xfrm>
        </p:spPr>
        <p:txBody>
          <a:bodyPr/>
          <a:lstStyle/>
          <a:p>
            <a:r>
              <a:rPr lang="en-US" altLang="en-US" sz="3600" dirty="0"/>
              <a:t>Weighted Graphs</a:t>
            </a:r>
            <a:endParaRPr lang="en-US" altLang="en-US" dirty="0"/>
          </a:p>
        </p:txBody>
      </p:sp>
      <p:sp>
        <p:nvSpPr>
          <p:cNvPr id="6" name="Oval 5">
            <a:extLst>
              <a:ext uri="{FF2B5EF4-FFF2-40B4-BE49-F238E27FC236}">
                <a16:creationId xmlns:a16="http://schemas.microsoft.com/office/drawing/2014/main" id="{28F6A611-0B81-317F-F942-F6433B1F3C29}"/>
              </a:ext>
            </a:extLst>
          </p:cNvPr>
          <p:cNvSpPr/>
          <p:nvPr/>
        </p:nvSpPr>
        <p:spPr bwMode="auto">
          <a:xfrm>
            <a:off x="1447800" y="1752600"/>
            <a:ext cx="228600" cy="228600"/>
          </a:xfrm>
          <a:prstGeom prst="ellipse">
            <a:avLst/>
          </a:prstGeom>
          <a:solidFill>
            <a:schemeClr val="tx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
        <p:nvSpPr>
          <p:cNvPr id="7" name="Oval 6">
            <a:extLst>
              <a:ext uri="{FF2B5EF4-FFF2-40B4-BE49-F238E27FC236}">
                <a16:creationId xmlns:a16="http://schemas.microsoft.com/office/drawing/2014/main" id="{62F491DE-CCB8-6E4E-5CBD-7656991CA8BD}"/>
              </a:ext>
            </a:extLst>
          </p:cNvPr>
          <p:cNvSpPr/>
          <p:nvPr/>
        </p:nvSpPr>
        <p:spPr bwMode="auto">
          <a:xfrm>
            <a:off x="3886200" y="1295400"/>
            <a:ext cx="228600" cy="228600"/>
          </a:xfrm>
          <a:prstGeom prst="ellipse">
            <a:avLst/>
          </a:prstGeom>
          <a:solidFill>
            <a:schemeClr val="tx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
        <p:nvSpPr>
          <p:cNvPr id="8" name="Oval 7">
            <a:extLst>
              <a:ext uri="{FF2B5EF4-FFF2-40B4-BE49-F238E27FC236}">
                <a16:creationId xmlns:a16="http://schemas.microsoft.com/office/drawing/2014/main" id="{40168F07-3C11-AD10-5E72-A29E517BE3DE}"/>
              </a:ext>
            </a:extLst>
          </p:cNvPr>
          <p:cNvSpPr/>
          <p:nvPr/>
        </p:nvSpPr>
        <p:spPr bwMode="auto">
          <a:xfrm>
            <a:off x="1447800" y="3580606"/>
            <a:ext cx="228600" cy="228600"/>
          </a:xfrm>
          <a:prstGeom prst="ellipse">
            <a:avLst/>
          </a:prstGeom>
          <a:solidFill>
            <a:schemeClr val="tx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
        <p:nvSpPr>
          <p:cNvPr id="9" name="Oval 8">
            <a:extLst>
              <a:ext uri="{FF2B5EF4-FFF2-40B4-BE49-F238E27FC236}">
                <a16:creationId xmlns:a16="http://schemas.microsoft.com/office/drawing/2014/main" id="{DCD23FFD-AF1E-8C78-B658-5FE88694928F}"/>
              </a:ext>
            </a:extLst>
          </p:cNvPr>
          <p:cNvSpPr/>
          <p:nvPr/>
        </p:nvSpPr>
        <p:spPr bwMode="auto">
          <a:xfrm>
            <a:off x="4800600" y="2933700"/>
            <a:ext cx="228600" cy="228600"/>
          </a:xfrm>
          <a:prstGeom prst="ellipse">
            <a:avLst/>
          </a:prstGeom>
          <a:solidFill>
            <a:schemeClr val="tx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
        <p:nvSpPr>
          <p:cNvPr id="10" name="Oval 9">
            <a:extLst>
              <a:ext uri="{FF2B5EF4-FFF2-40B4-BE49-F238E27FC236}">
                <a16:creationId xmlns:a16="http://schemas.microsoft.com/office/drawing/2014/main" id="{AED02705-AB24-41B3-EEBE-DEDE8C450B5D}"/>
              </a:ext>
            </a:extLst>
          </p:cNvPr>
          <p:cNvSpPr/>
          <p:nvPr/>
        </p:nvSpPr>
        <p:spPr bwMode="auto">
          <a:xfrm>
            <a:off x="3124200" y="2514600"/>
            <a:ext cx="228600" cy="228600"/>
          </a:xfrm>
          <a:prstGeom prst="ellipse">
            <a:avLst/>
          </a:prstGeom>
          <a:solidFill>
            <a:schemeClr val="tx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
        <p:nvSpPr>
          <p:cNvPr id="11" name="Oval 10">
            <a:extLst>
              <a:ext uri="{FF2B5EF4-FFF2-40B4-BE49-F238E27FC236}">
                <a16:creationId xmlns:a16="http://schemas.microsoft.com/office/drawing/2014/main" id="{DC75C4D2-8F26-22B6-698F-7F964C3D1C29}"/>
              </a:ext>
            </a:extLst>
          </p:cNvPr>
          <p:cNvSpPr/>
          <p:nvPr/>
        </p:nvSpPr>
        <p:spPr bwMode="auto">
          <a:xfrm>
            <a:off x="2133600" y="4629150"/>
            <a:ext cx="228600" cy="228600"/>
          </a:xfrm>
          <a:prstGeom prst="ellipse">
            <a:avLst/>
          </a:prstGeom>
          <a:solidFill>
            <a:schemeClr val="tx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
        <p:nvSpPr>
          <p:cNvPr id="12" name="Oval 11">
            <a:extLst>
              <a:ext uri="{FF2B5EF4-FFF2-40B4-BE49-F238E27FC236}">
                <a16:creationId xmlns:a16="http://schemas.microsoft.com/office/drawing/2014/main" id="{5EEE5BBF-FECD-69BE-E508-597227EBEB49}"/>
              </a:ext>
            </a:extLst>
          </p:cNvPr>
          <p:cNvSpPr/>
          <p:nvPr/>
        </p:nvSpPr>
        <p:spPr bwMode="auto">
          <a:xfrm>
            <a:off x="5181600" y="4724400"/>
            <a:ext cx="228600" cy="228600"/>
          </a:xfrm>
          <a:prstGeom prst="ellipse">
            <a:avLst/>
          </a:prstGeom>
          <a:solidFill>
            <a:schemeClr val="tx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cxnSp>
        <p:nvCxnSpPr>
          <p:cNvPr id="14" name="Straight Connector 13">
            <a:extLst>
              <a:ext uri="{FF2B5EF4-FFF2-40B4-BE49-F238E27FC236}">
                <a16:creationId xmlns:a16="http://schemas.microsoft.com/office/drawing/2014/main" id="{8DC07A7D-3AD7-9208-B2B8-6531C64C5AEE}"/>
              </a:ext>
            </a:extLst>
          </p:cNvPr>
          <p:cNvCxnSpPr>
            <a:stCxn id="6" idx="5"/>
            <a:endCxn id="10" idx="1"/>
          </p:cNvCxnSpPr>
          <p:nvPr/>
        </p:nvCxnSpPr>
        <p:spPr bwMode="auto">
          <a:xfrm>
            <a:off x="1642922" y="1947722"/>
            <a:ext cx="1514756" cy="600356"/>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Connector 16">
            <a:extLst>
              <a:ext uri="{FF2B5EF4-FFF2-40B4-BE49-F238E27FC236}">
                <a16:creationId xmlns:a16="http://schemas.microsoft.com/office/drawing/2014/main" id="{B8DEFD0A-4511-E2B1-4B8D-77D61894CB49}"/>
              </a:ext>
            </a:extLst>
          </p:cNvPr>
          <p:cNvCxnSpPr>
            <a:stCxn id="7" idx="2"/>
            <a:endCxn id="10" idx="7"/>
          </p:cNvCxnSpPr>
          <p:nvPr/>
        </p:nvCxnSpPr>
        <p:spPr bwMode="auto">
          <a:xfrm flipH="1">
            <a:off x="3319322" y="1409700"/>
            <a:ext cx="566878" cy="1138378"/>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Straight Connector 19">
            <a:extLst>
              <a:ext uri="{FF2B5EF4-FFF2-40B4-BE49-F238E27FC236}">
                <a16:creationId xmlns:a16="http://schemas.microsoft.com/office/drawing/2014/main" id="{710567B8-4EA7-8983-9CA3-E807D8656094}"/>
              </a:ext>
            </a:extLst>
          </p:cNvPr>
          <p:cNvCxnSpPr>
            <a:stCxn id="7" idx="5"/>
            <a:endCxn id="9" idx="0"/>
          </p:cNvCxnSpPr>
          <p:nvPr/>
        </p:nvCxnSpPr>
        <p:spPr bwMode="auto">
          <a:xfrm>
            <a:off x="4081322" y="1490522"/>
            <a:ext cx="833578" cy="1443178"/>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a:extLst>
              <a:ext uri="{FF2B5EF4-FFF2-40B4-BE49-F238E27FC236}">
                <a16:creationId xmlns:a16="http://schemas.microsoft.com/office/drawing/2014/main" id="{9C550FEC-ED7E-FC38-1270-B228FECDF2AE}"/>
              </a:ext>
            </a:extLst>
          </p:cNvPr>
          <p:cNvCxnSpPr>
            <a:stCxn id="8" idx="0"/>
            <a:endCxn id="6" idx="4"/>
          </p:cNvCxnSpPr>
          <p:nvPr/>
        </p:nvCxnSpPr>
        <p:spPr bwMode="auto">
          <a:xfrm flipV="1">
            <a:off x="1562100" y="1981200"/>
            <a:ext cx="0" cy="1599406"/>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a:extLst>
              <a:ext uri="{FF2B5EF4-FFF2-40B4-BE49-F238E27FC236}">
                <a16:creationId xmlns:a16="http://schemas.microsoft.com/office/drawing/2014/main" id="{5FD22825-EA70-674A-1F2E-EDED0475E6E2}"/>
              </a:ext>
            </a:extLst>
          </p:cNvPr>
          <p:cNvCxnSpPr>
            <a:stCxn id="8" idx="6"/>
            <a:endCxn id="9" idx="2"/>
          </p:cNvCxnSpPr>
          <p:nvPr/>
        </p:nvCxnSpPr>
        <p:spPr bwMode="auto">
          <a:xfrm flipV="1">
            <a:off x="1676400" y="3048000"/>
            <a:ext cx="3124200" cy="646906"/>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Straight Connector 30">
            <a:extLst>
              <a:ext uri="{FF2B5EF4-FFF2-40B4-BE49-F238E27FC236}">
                <a16:creationId xmlns:a16="http://schemas.microsoft.com/office/drawing/2014/main" id="{1C82FEEA-1C11-09AA-24A9-1698C5786980}"/>
              </a:ext>
            </a:extLst>
          </p:cNvPr>
          <p:cNvCxnSpPr>
            <a:stCxn id="8" idx="5"/>
            <a:endCxn id="11" idx="1"/>
          </p:cNvCxnSpPr>
          <p:nvPr/>
        </p:nvCxnSpPr>
        <p:spPr bwMode="auto">
          <a:xfrm>
            <a:off x="1642922" y="3775728"/>
            <a:ext cx="524156" cy="88690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Connector 34">
            <a:extLst>
              <a:ext uri="{FF2B5EF4-FFF2-40B4-BE49-F238E27FC236}">
                <a16:creationId xmlns:a16="http://schemas.microsoft.com/office/drawing/2014/main" id="{815BDD21-877C-9660-E488-6A4C41F53AB1}"/>
              </a:ext>
            </a:extLst>
          </p:cNvPr>
          <p:cNvCxnSpPr>
            <a:stCxn id="11" idx="5"/>
            <a:endCxn id="12" idx="2"/>
          </p:cNvCxnSpPr>
          <p:nvPr/>
        </p:nvCxnSpPr>
        <p:spPr bwMode="auto">
          <a:xfrm>
            <a:off x="2328722" y="4824272"/>
            <a:ext cx="2852878" cy="14428"/>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TextBox 38">
            <a:extLst>
              <a:ext uri="{FF2B5EF4-FFF2-40B4-BE49-F238E27FC236}">
                <a16:creationId xmlns:a16="http://schemas.microsoft.com/office/drawing/2014/main" id="{CF2D2397-A4DB-A2A5-650A-2B86F29F74A2}"/>
              </a:ext>
            </a:extLst>
          </p:cNvPr>
          <p:cNvSpPr txBox="1"/>
          <p:nvPr/>
        </p:nvSpPr>
        <p:spPr>
          <a:xfrm>
            <a:off x="2226539" y="1899584"/>
            <a:ext cx="381000" cy="338554"/>
          </a:xfrm>
          <a:prstGeom prst="rect">
            <a:avLst/>
          </a:prstGeom>
          <a:noFill/>
        </p:spPr>
        <p:txBody>
          <a:bodyPr wrap="square" rtlCol="0">
            <a:spAutoFit/>
          </a:bodyPr>
          <a:lstStyle/>
          <a:p>
            <a:r>
              <a:rPr lang="en-US" sz="1600" dirty="0"/>
              <a:t>3</a:t>
            </a:r>
          </a:p>
        </p:txBody>
      </p:sp>
      <p:sp>
        <p:nvSpPr>
          <p:cNvPr id="40" name="TextBox 39">
            <a:extLst>
              <a:ext uri="{FF2B5EF4-FFF2-40B4-BE49-F238E27FC236}">
                <a16:creationId xmlns:a16="http://schemas.microsoft.com/office/drawing/2014/main" id="{D941B204-94D0-B5DC-5A61-927A3FD64A2C}"/>
              </a:ext>
            </a:extLst>
          </p:cNvPr>
          <p:cNvSpPr txBox="1"/>
          <p:nvPr/>
        </p:nvSpPr>
        <p:spPr>
          <a:xfrm>
            <a:off x="3398114" y="1609168"/>
            <a:ext cx="381000" cy="338554"/>
          </a:xfrm>
          <a:prstGeom prst="rect">
            <a:avLst/>
          </a:prstGeom>
          <a:noFill/>
        </p:spPr>
        <p:txBody>
          <a:bodyPr wrap="square" rtlCol="0">
            <a:spAutoFit/>
          </a:bodyPr>
          <a:lstStyle/>
          <a:p>
            <a:r>
              <a:rPr lang="en-US" sz="1600" dirty="0"/>
              <a:t>4</a:t>
            </a:r>
          </a:p>
        </p:txBody>
      </p:sp>
      <p:sp>
        <p:nvSpPr>
          <p:cNvPr id="41" name="TextBox 40">
            <a:extLst>
              <a:ext uri="{FF2B5EF4-FFF2-40B4-BE49-F238E27FC236}">
                <a16:creationId xmlns:a16="http://schemas.microsoft.com/office/drawing/2014/main" id="{40EFBBE0-91CF-3116-75E3-71986159AF38}"/>
              </a:ext>
            </a:extLst>
          </p:cNvPr>
          <p:cNvSpPr txBox="1"/>
          <p:nvPr/>
        </p:nvSpPr>
        <p:spPr>
          <a:xfrm>
            <a:off x="4541114" y="1959420"/>
            <a:ext cx="381000" cy="338554"/>
          </a:xfrm>
          <a:prstGeom prst="rect">
            <a:avLst/>
          </a:prstGeom>
          <a:noFill/>
        </p:spPr>
        <p:txBody>
          <a:bodyPr wrap="square" rtlCol="0">
            <a:spAutoFit/>
          </a:bodyPr>
          <a:lstStyle/>
          <a:p>
            <a:r>
              <a:rPr lang="en-US" sz="1600" dirty="0"/>
              <a:t>1</a:t>
            </a:r>
          </a:p>
        </p:txBody>
      </p:sp>
      <p:sp>
        <p:nvSpPr>
          <p:cNvPr id="42" name="TextBox 41">
            <a:extLst>
              <a:ext uri="{FF2B5EF4-FFF2-40B4-BE49-F238E27FC236}">
                <a16:creationId xmlns:a16="http://schemas.microsoft.com/office/drawing/2014/main" id="{2A26838A-5785-0DBC-19F1-234AC3F90BF9}"/>
              </a:ext>
            </a:extLst>
          </p:cNvPr>
          <p:cNvSpPr txBox="1"/>
          <p:nvPr/>
        </p:nvSpPr>
        <p:spPr>
          <a:xfrm>
            <a:off x="3017114" y="3073845"/>
            <a:ext cx="488086" cy="338554"/>
          </a:xfrm>
          <a:prstGeom prst="rect">
            <a:avLst/>
          </a:prstGeom>
          <a:noFill/>
        </p:spPr>
        <p:txBody>
          <a:bodyPr wrap="square" rtlCol="0">
            <a:spAutoFit/>
          </a:bodyPr>
          <a:lstStyle/>
          <a:p>
            <a:r>
              <a:rPr lang="en-US" sz="1600" dirty="0"/>
              <a:t>3</a:t>
            </a:r>
          </a:p>
        </p:txBody>
      </p:sp>
      <p:sp>
        <p:nvSpPr>
          <p:cNvPr id="43" name="TextBox 42">
            <a:extLst>
              <a:ext uri="{FF2B5EF4-FFF2-40B4-BE49-F238E27FC236}">
                <a16:creationId xmlns:a16="http://schemas.microsoft.com/office/drawing/2014/main" id="{2C4B23DF-5C9E-9E24-3B6B-C05723A9981A}"/>
              </a:ext>
            </a:extLst>
          </p:cNvPr>
          <p:cNvSpPr txBox="1"/>
          <p:nvPr/>
        </p:nvSpPr>
        <p:spPr>
          <a:xfrm>
            <a:off x="1188319" y="2595146"/>
            <a:ext cx="488081" cy="338554"/>
          </a:xfrm>
          <a:prstGeom prst="rect">
            <a:avLst/>
          </a:prstGeom>
          <a:noFill/>
        </p:spPr>
        <p:txBody>
          <a:bodyPr wrap="square" rtlCol="0">
            <a:spAutoFit/>
          </a:bodyPr>
          <a:lstStyle/>
          <a:p>
            <a:r>
              <a:rPr lang="en-US" sz="1600" dirty="0"/>
              <a:t>1.5</a:t>
            </a:r>
          </a:p>
        </p:txBody>
      </p:sp>
      <p:sp>
        <p:nvSpPr>
          <p:cNvPr id="44" name="TextBox 43">
            <a:extLst>
              <a:ext uri="{FF2B5EF4-FFF2-40B4-BE49-F238E27FC236}">
                <a16:creationId xmlns:a16="http://schemas.microsoft.com/office/drawing/2014/main" id="{25004B4F-D31B-0D19-B346-A13D750D161D}"/>
              </a:ext>
            </a:extLst>
          </p:cNvPr>
          <p:cNvSpPr txBox="1"/>
          <p:nvPr/>
        </p:nvSpPr>
        <p:spPr>
          <a:xfrm>
            <a:off x="1950314" y="4070986"/>
            <a:ext cx="381000" cy="338554"/>
          </a:xfrm>
          <a:prstGeom prst="rect">
            <a:avLst/>
          </a:prstGeom>
          <a:noFill/>
        </p:spPr>
        <p:txBody>
          <a:bodyPr wrap="square" rtlCol="0">
            <a:spAutoFit/>
          </a:bodyPr>
          <a:lstStyle/>
          <a:p>
            <a:r>
              <a:rPr lang="en-US" sz="1600" dirty="0"/>
              <a:t>1</a:t>
            </a:r>
          </a:p>
        </p:txBody>
      </p:sp>
      <p:sp>
        <p:nvSpPr>
          <p:cNvPr id="45" name="TextBox 44">
            <a:extLst>
              <a:ext uri="{FF2B5EF4-FFF2-40B4-BE49-F238E27FC236}">
                <a16:creationId xmlns:a16="http://schemas.microsoft.com/office/drawing/2014/main" id="{DA0D4275-F443-69B0-4EFB-76A8FEFE793F}"/>
              </a:ext>
            </a:extLst>
          </p:cNvPr>
          <p:cNvSpPr txBox="1"/>
          <p:nvPr/>
        </p:nvSpPr>
        <p:spPr>
          <a:xfrm>
            <a:off x="3550514" y="4447221"/>
            <a:ext cx="381000" cy="338554"/>
          </a:xfrm>
          <a:prstGeom prst="rect">
            <a:avLst/>
          </a:prstGeom>
          <a:noFill/>
        </p:spPr>
        <p:txBody>
          <a:bodyPr wrap="square" rtlCol="0">
            <a:spAutoFit/>
          </a:bodyPr>
          <a:lstStyle/>
          <a:p>
            <a:r>
              <a:rPr lang="en-US" sz="1600" dirty="0"/>
              <a:t>5</a:t>
            </a:r>
          </a:p>
        </p:txBody>
      </p:sp>
      <p:sp>
        <p:nvSpPr>
          <p:cNvPr id="25" name="TextBox 24">
            <a:extLst>
              <a:ext uri="{FF2B5EF4-FFF2-40B4-BE49-F238E27FC236}">
                <a16:creationId xmlns:a16="http://schemas.microsoft.com/office/drawing/2014/main" id="{96FC665D-0CC8-4C45-837E-5D0D5A104B7A}"/>
              </a:ext>
            </a:extLst>
          </p:cNvPr>
          <p:cNvSpPr txBox="1"/>
          <p:nvPr/>
        </p:nvSpPr>
        <p:spPr>
          <a:xfrm>
            <a:off x="1409425" y="1305733"/>
            <a:ext cx="381000" cy="338554"/>
          </a:xfrm>
          <a:prstGeom prst="rect">
            <a:avLst/>
          </a:prstGeom>
          <a:noFill/>
        </p:spPr>
        <p:txBody>
          <a:bodyPr wrap="square" rtlCol="0">
            <a:spAutoFit/>
          </a:bodyPr>
          <a:lstStyle/>
          <a:p>
            <a:r>
              <a:rPr lang="en-US" sz="1600" dirty="0"/>
              <a:t>A</a:t>
            </a:r>
          </a:p>
        </p:txBody>
      </p:sp>
      <p:sp>
        <p:nvSpPr>
          <p:cNvPr id="26" name="TextBox 25">
            <a:extLst>
              <a:ext uri="{FF2B5EF4-FFF2-40B4-BE49-F238E27FC236}">
                <a16:creationId xmlns:a16="http://schemas.microsoft.com/office/drawing/2014/main" id="{915C718C-B2AC-487F-83E8-8F0B725B6CEE}"/>
              </a:ext>
            </a:extLst>
          </p:cNvPr>
          <p:cNvSpPr txBox="1"/>
          <p:nvPr/>
        </p:nvSpPr>
        <p:spPr>
          <a:xfrm>
            <a:off x="3312944" y="2611626"/>
            <a:ext cx="381000" cy="338554"/>
          </a:xfrm>
          <a:prstGeom prst="rect">
            <a:avLst/>
          </a:prstGeom>
          <a:noFill/>
        </p:spPr>
        <p:txBody>
          <a:bodyPr wrap="square" rtlCol="0">
            <a:spAutoFit/>
          </a:bodyPr>
          <a:lstStyle/>
          <a:p>
            <a:r>
              <a:rPr lang="en-US" sz="1600" dirty="0"/>
              <a:t>B</a:t>
            </a:r>
          </a:p>
        </p:txBody>
      </p:sp>
      <p:sp>
        <p:nvSpPr>
          <p:cNvPr id="27" name="TextBox 26">
            <a:extLst>
              <a:ext uri="{FF2B5EF4-FFF2-40B4-BE49-F238E27FC236}">
                <a16:creationId xmlns:a16="http://schemas.microsoft.com/office/drawing/2014/main" id="{FA8D07EE-7FB0-4743-849B-DCD3FEE8A4BD}"/>
              </a:ext>
            </a:extLst>
          </p:cNvPr>
          <p:cNvSpPr txBox="1"/>
          <p:nvPr/>
        </p:nvSpPr>
        <p:spPr>
          <a:xfrm>
            <a:off x="4191000" y="1037828"/>
            <a:ext cx="381000" cy="338554"/>
          </a:xfrm>
          <a:prstGeom prst="rect">
            <a:avLst/>
          </a:prstGeom>
          <a:noFill/>
        </p:spPr>
        <p:txBody>
          <a:bodyPr wrap="square" rtlCol="0">
            <a:spAutoFit/>
          </a:bodyPr>
          <a:lstStyle/>
          <a:p>
            <a:r>
              <a:rPr lang="en-US" sz="1600" dirty="0"/>
              <a:t>C</a:t>
            </a:r>
          </a:p>
        </p:txBody>
      </p:sp>
      <p:sp>
        <p:nvSpPr>
          <p:cNvPr id="29" name="TextBox 28">
            <a:extLst>
              <a:ext uri="{FF2B5EF4-FFF2-40B4-BE49-F238E27FC236}">
                <a16:creationId xmlns:a16="http://schemas.microsoft.com/office/drawing/2014/main" id="{1FAFECC3-9666-4173-948C-58ECAEE98FBE}"/>
              </a:ext>
            </a:extLst>
          </p:cNvPr>
          <p:cNvSpPr txBox="1"/>
          <p:nvPr/>
        </p:nvSpPr>
        <p:spPr>
          <a:xfrm>
            <a:off x="5065543" y="2932754"/>
            <a:ext cx="381000" cy="338554"/>
          </a:xfrm>
          <a:prstGeom prst="rect">
            <a:avLst/>
          </a:prstGeom>
          <a:noFill/>
        </p:spPr>
        <p:txBody>
          <a:bodyPr wrap="square" rtlCol="0">
            <a:spAutoFit/>
          </a:bodyPr>
          <a:lstStyle/>
          <a:p>
            <a:r>
              <a:rPr lang="en-US" sz="1600" dirty="0"/>
              <a:t>D</a:t>
            </a:r>
          </a:p>
        </p:txBody>
      </p:sp>
      <p:sp>
        <p:nvSpPr>
          <p:cNvPr id="30" name="TextBox 29">
            <a:extLst>
              <a:ext uri="{FF2B5EF4-FFF2-40B4-BE49-F238E27FC236}">
                <a16:creationId xmlns:a16="http://schemas.microsoft.com/office/drawing/2014/main" id="{01595A52-E8D2-4904-924D-FEDB76DE0CB0}"/>
              </a:ext>
            </a:extLst>
          </p:cNvPr>
          <p:cNvSpPr txBox="1"/>
          <p:nvPr/>
        </p:nvSpPr>
        <p:spPr>
          <a:xfrm>
            <a:off x="1100930" y="3481148"/>
            <a:ext cx="381000" cy="338554"/>
          </a:xfrm>
          <a:prstGeom prst="rect">
            <a:avLst/>
          </a:prstGeom>
          <a:noFill/>
        </p:spPr>
        <p:txBody>
          <a:bodyPr wrap="square" rtlCol="0">
            <a:spAutoFit/>
          </a:bodyPr>
          <a:lstStyle/>
          <a:p>
            <a:r>
              <a:rPr lang="en-US" sz="1600" dirty="0"/>
              <a:t>E</a:t>
            </a:r>
          </a:p>
        </p:txBody>
      </p:sp>
      <p:sp>
        <p:nvSpPr>
          <p:cNvPr id="32" name="TextBox 31">
            <a:extLst>
              <a:ext uri="{FF2B5EF4-FFF2-40B4-BE49-F238E27FC236}">
                <a16:creationId xmlns:a16="http://schemas.microsoft.com/office/drawing/2014/main" id="{D32A5C22-8359-48EB-AA1B-6E9080ACA314}"/>
              </a:ext>
            </a:extLst>
          </p:cNvPr>
          <p:cNvSpPr txBox="1"/>
          <p:nvPr/>
        </p:nvSpPr>
        <p:spPr>
          <a:xfrm>
            <a:off x="2057400" y="4896247"/>
            <a:ext cx="381000" cy="338554"/>
          </a:xfrm>
          <a:prstGeom prst="rect">
            <a:avLst/>
          </a:prstGeom>
          <a:noFill/>
        </p:spPr>
        <p:txBody>
          <a:bodyPr wrap="square" rtlCol="0">
            <a:spAutoFit/>
          </a:bodyPr>
          <a:lstStyle/>
          <a:p>
            <a:r>
              <a:rPr lang="en-US" sz="1600" dirty="0"/>
              <a:t>F</a:t>
            </a:r>
          </a:p>
        </p:txBody>
      </p:sp>
      <p:sp>
        <p:nvSpPr>
          <p:cNvPr id="33" name="TextBox 32">
            <a:extLst>
              <a:ext uri="{FF2B5EF4-FFF2-40B4-BE49-F238E27FC236}">
                <a16:creationId xmlns:a16="http://schemas.microsoft.com/office/drawing/2014/main" id="{589D986C-665A-4D61-8CA4-4BF3FD3C838E}"/>
              </a:ext>
            </a:extLst>
          </p:cNvPr>
          <p:cNvSpPr txBox="1"/>
          <p:nvPr/>
        </p:nvSpPr>
        <p:spPr>
          <a:xfrm>
            <a:off x="5446543" y="4654995"/>
            <a:ext cx="381000" cy="338554"/>
          </a:xfrm>
          <a:prstGeom prst="rect">
            <a:avLst/>
          </a:prstGeom>
          <a:noFill/>
        </p:spPr>
        <p:txBody>
          <a:bodyPr wrap="square" rtlCol="0">
            <a:spAutoFit/>
          </a:bodyPr>
          <a:lstStyle/>
          <a:p>
            <a:r>
              <a:rPr lang="en-US" sz="1600" dirty="0"/>
              <a:t>G</a:t>
            </a:r>
          </a:p>
        </p:txBody>
      </p:sp>
    </p:spTree>
    <p:extLst>
      <p:ext uri="{BB962C8B-B14F-4D97-AF65-F5344CB8AC3E}">
        <p14:creationId xmlns:p14="http://schemas.microsoft.com/office/powerpoint/2010/main" val="1133706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9DDE551D-2FFD-4183-A322-E4E2BA3ED8B0}"/>
              </a:ext>
            </a:extLst>
          </p:cNvPr>
          <p:cNvSpPr>
            <a:spLocks noGrp="1" noChangeArrowheads="1"/>
          </p:cNvSpPr>
          <p:nvPr>
            <p:ph type="title"/>
          </p:nvPr>
        </p:nvSpPr>
        <p:spPr>
          <a:xfrm>
            <a:off x="0" y="152400"/>
            <a:ext cx="9144000" cy="609600"/>
          </a:xfrm>
        </p:spPr>
        <p:txBody>
          <a:bodyPr/>
          <a:lstStyle/>
          <a:p>
            <a:r>
              <a:rPr lang="en-US" altLang="en-US" sz="4000" dirty="0"/>
              <a:t>Weighted Graphs</a:t>
            </a:r>
          </a:p>
        </p:txBody>
      </p:sp>
      <p:sp>
        <p:nvSpPr>
          <p:cNvPr id="23554" name="Slide Number Placeholder 4">
            <a:extLst>
              <a:ext uri="{FF2B5EF4-FFF2-40B4-BE49-F238E27FC236}">
                <a16:creationId xmlns:a16="http://schemas.microsoft.com/office/drawing/2014/main" id="{C9B58EF8-58E1-4227-B9A0-77E42A2D3F7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C6D03F8-123E-4DA6-B54A-916614B8FA0B}" type="slidenum">
              <a:rPr lang="en-US" altLang="en-US" sz="1400"/>
              <a:pPr>
                <a:spcBef>
                  <a:spcPct val="0"/>
                </a:spcBef>
                <a:buClrTx/>
                <a:buSzTx/>
                <a:buFontTx/>
                <a:buNone/>
              </a:pPr>
              <a:t>21</a:t>
            </a:fld>
            <a:endParaRPr lang="en-US" altLang="en-US" sz="1400"/>
          </a:p>
        </p:txBody>
      </p:sp>
      <p:graphicFrame>
        <p:nvGraphicFramePr>
          <p:cNvPr id="5" name="Object 13">
            <a:extLst>
              <a:ext uri="{FF2B5EF4-FFF2-40B4-BE49-F238E27FC236}">
                <a16:creationId xmlns:a16="http://schemas.microsoft.com/office/drawing/2014/main" id="{3D022B5B-ED65-1BAD-325A-D342A341B77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703971027"/>
              </p:ext>
            </p:extLst>
          </p:nvPr>
        </p:nvGraphicFramePr>
        <p:xfrm>
          <a:off x="1295400" y="1066800"/>
          <a:ext cx="6858000" cy="4384675"/>
        </p:xfrm>
        <a:graphic>
          <a:graphicData uri="http://schemas.openxmlformats.org/presentationml/2006/ole">
            <mc:AlternateContent xmlns:mc="http://schemas.openxmlformats.org/markup-compatibility/2006">
              <mc:Choice xmlns:v="urn:schemas-microsoft-com:vml" Requires="v">
                <p:oleObj name="Picture" r:id="rId2" imgW="6256020" imgH="3994404" progId="Word.Picture.8">
                  <p:embed/>
                </p:oleObj>
              </mc:Choice>
              <mc:Fallback>
                <p:oleObj name="Picture" r:id="rId2" imgW="6256020" imgH="3994404" progId="Word.Picture.8">
                  <p:embed/>
                  <p:pic>
                    <p:nvPicPr>
                      <p:cNvPr id="27658" name="Object 13">
                        <a:extLst>
                          <a:ext uri="{FF2B5EF4-FFF2-40B4-BE49-F238E27FC236}">
                            <a16:creationId xmlns:a16="http://schemas.microsoft.com/office/drawing/2014/main" id="{591628A2-3D97-4999-A59F-35F54DFA5D34}"/>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066800"/>
                        <a:ext cx="6858000"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36798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5EC5B926-9B1E-425C-94C2-ED92F6726759}"/>
              </a:ext>
            </a:extLst>
          </p:cNvPr>
          <p:cNvSpPr>
            <a:spLocks noGrp="1" noChangeArrowheads="1"/>
          </p:cNvSpPr>
          <p:nvPr>
            <p:ph type="title"/>
          </p:nvPr>
        </p:nvSpPr>
        <p:spPr>
          <a:xfrm>
            <a:off x="685800" y="304800"/>
            <a:ext cx="7772400" cy="685800"/>
          </a:xfrm>
        </p:spPr>
        <p:txBody>
          <a:bodyPr/>
          <a:lstStyle/>
          <a:p>
            <a:r>
              <a:rPr lang="en-US" altLang="en-US"/>
              <a:t>Graph Traversals </a:t>
            </a:r>
          </a:p>
        </p:txBody>
      </p:sp>
      <p:sp>
        <p:nvSpPr>
          <p:cNvPr id="24580" name="Rectangle 3">
            <a:extLst>
              <a:ext uri="{FF2B5EF4-FFF2-40B4-BE49-F238E27FC236}">
                <a16:creationId xmlns:a16="http://schemas.microsoft.com/office/drawing/2014/main" id="{DB54A4D6-E5D6-428B-81F7-46BCC090BF6D}"/>
              </a:ext>
            </a:extLst>
          </p:cNvPr>
          <p:cNvSpPr>
            <a:spLocks noGrp="1" noChangeArrowheads="1"/>
          </p:cNvSpPr>
          <p:nvPr>
            <p:ph idx="1"/>
          </p:nvPr>
        </p:nvSpPr>
        <p:spPr>
          <a:xfrm>
            <a:off x="304800" y="1066800"/>
            <a:ext cx="8610600" cy="1752600"/>
          </a:xfrm>
        </p:spPr>
        <p:txBody>
          <a:bodyPr/>
          <a:lstStyle/>
          <a:p>
            <a:pPr marL="0" indent="0">
              <a:lnSpc>
                <a:spcPct val="80000"/>
              </a:lnSpc>
              <a:buFont typeface="Monotype Sorts"/>
              <a:buNone/>
            </a:pPr>
            <a:r>
              <a:rPr lang="en-US" altLang="en-US" sz="2800">
                <a:cs typeface="Times New Roman" panose="02020603050405020304" pitchFamily="18" charset="0"/>
              </a:rPr>
              <a:t>Depth-first search and breadth-first search</a:t>
            </a:r>
          </a:p>
          <a:p>
            <a:pPr marL="0" indent="0">
              <a:lnSpc>
                <a:spcPct val="80000"/>
              </a:lnSpc>
              <a:buFont typeface="Monotype Sorts"/>
              <a:buNone/>
            </a:pPr>
            <a:endParaRPr lang="en-US" altLang="en-US" sz="2800">
              <a:cs typeface="Times New Roman" panose="02020603050405020304" pitchFamily="18" charset="0"/>
            </a:endParaRPr>
          </a:p>
          <a:p>
            <a:pPr marL="0" indent="0">
              <a:lnSpc>
                <a:spcPct val="80000"/>
              </a:lnSpc>
              <a:buFont typeface="Monotype Sorts"/>
              <a:buNone/>
            </a:pPr>
            <a:r>
              <a:rPr lang="en-US" altLang="en-US" sz="2800"/>
              <a:t>Both traversals result in a spanning tree, which can be modeled using a class.</a:t>
            </a:r>
          </a:p>
        </p:txBody>
      </p:sp>
      <p:sp>
        <p:nvSpPr>
          <p:cNvPr id="24578" name="Slide Number Placeholder 4">
            <a:extLst>
              <a:ext uri="{FF2B5EF4-FFF2-40B4-BE49-F238E27FC236}">
                <a16:creationId xmlns:a16="http://schemas.microsoft.com/office/drawing/2014/main" id="{0F27926B-AE5E-4AA3-AB49-9ECB5CD267E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AAD600B-9EAD-4821-BDAE-4252A9FB55E5}" type="slidenum">
              <a:rPr lang="en-US" altLang="en-US" sz="1400"/>
              <a:pPr>
                <a:spcBef>
                  <a:spcPct val="0"/>
                </a:spcBef>
                <a:buClrTx/>
                <a:buSzTx/>
                <a:buFontTx/>
                <a:buNone/>
              </a:pPr>
              <a:t>22</a:t>
            </a:fld>
            <a:endParaRPr lang="en-US" altLang="en-US" sz="1400"/>
          </a:p>
        </p:txBody>
      </p:sp>
      <p:graphicFrame>
        <p:nvGraphicFramePr>
          <p:cNvPr id="24583" name="Object 2">
            <a:extLst>
              <a:ext uri="{FF2B5EF4-FFF2-40B4-BE49-F238E27FC236}">
                <a16:creationId xmlns:a16="http://schemas.microsoft.com/office/drawing/2014/main" id="{19D11DFD-8C28-42EE-9C95-82F61DAA061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57346096"/>
              </p:ext>
            </p:extLst>
          </p:nvPr>
        </p:nvGraphicFramePr>
        <p:xfrm>
          <a:off x="914400" y="2743200"/>
          <a:ext cx="7086600" cy="3629025"/>
        </p:xfrm>
        <a:graphic>
          <a:graphicData uri="http://schemas.openxmlformats.org/presentationml/2006/ole">
            <mc:AlternateContent xmlns:mc="http://schemas.openxmlformats.org/markup-compatibility/2006">
              <mc:Choice xmlns:v="urn:schemas-microsoft-com:vml" Requires="v">
                <p:oleObj name="Picture" r:id="rId2" imgW="4689544" imgH="2402781" progId="Word.Picture.8">
                  <p:embed/>
                </p:oleObj>
              </mc:Choice>
              <mc:Fallback>
                <p:oleObj name="Picture" r:id="rId2" imgW="4689544" imgH="2402781" progId="Word.Picture.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743200"/>
                        <a:ext cx="7086600" cy="362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4F65C673-928D-449E-90D1-EA0480CBFF2B}"/>
              </a:ext>
            </a:extLst>
          </p:cNvPr>
          <p:cNvSpPr>
            <a:spLocks noGrp="1" noChangeArrowheads="1"/>
          </p:cNvSpPr>
          <p:nvPr>
            <p:ph type="title"/>
          </p:nvPr>
        </p:nvSpPr>
        <p:spPr>
          <a:xfrm>
            <a:off x="685800" y="228600"/>
            <a:ext cx="7772400" cy="609600"/>
          </a:xfrm>
        </p:spPr>
        <p:txBody>
          <a:bodyPr/>
          <a:lstStyle/>
          <a:p>
            <a:r>
              <a:rPr lang="en-US" altLang="en-US"/>
              <a:t>Depth-First Search </a:t>
            </a:r>
          </a:p>
        </p:txBody>
      </p:sp>
      <p:sp>
        <p:nvSpPr>
          <p:cNvPr id="25604" name="Rectangle 3">
            <a:extLst>
              <a:ext uri="{FF2B5EF4-FFF2-40B4-BE49-F238E27FC236}">
                <a16:creationId xmlns:a16="http://schemas.microsoft.com/office/drawing/2014/main" id="{D339D2D4-8376-4CC5-88E1-FA8EFD3D382A}"/>
              </a:ext>
            </a:extLst>
          </p:cNvPr>
          <p:cNvSpPr>
            <a:spLocks noGrp="1" noChangeArrowheads="1"/>
          </p:cNvSpPr>
          <p:nvPr>
            <p:ph idx="1"/>
          </p:nvPr>
        </p:nvSpPr>
        <p:spPr>
          <a:xfrm>
            <a:off x="304800" y="914400"/>
            <a:ext cx="8686800" cy="1828800"/>
          </a:xfrm>
        </p:spPr>
        <p:txBody>
          <a:bodyPr/>
          <a:lstStyle/>
          <a:p>
            <a:pPr marL="0" indent="0">
              <a:spcBef>
                <a:spcPct val="0"/>
              </a:spcBef>
              <a:buFont typeface="Monotype Sorts"/>
              <a:buNone/>
            </a:pPr>
            <a:r>
              <a:rPr lang="en-US" altLang="en-US" sz="2400"/>
              <a:t>The depth-first search of a graph is like the depth-first search of a tree discussed in §25.2.3, “Tree Traversal.” In the case of a tree, the search starts from the root. In a graph, the search can start from any vertex. </a:t>
            </a:r>
          </a:p>
        </p:txBody>
      </p:sp>
      <p:sp>
        <p:nvSpPr>
          <p:cNvPr id="25602" name="Slide Number Placeholder 4">
            <a:extLst>
              <a:ext uri="{FF2B5EF4-FFF2-40B4-BE49-F238E27FC236}">
                <a16:creationId xmlns:a16="http://schemas.microsoft.com/office/drawing/2014/main" id="{08EB77F0-C1AA-41D9-80F9-4657DA260E4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16CACBD-731F-4277-B54A-3A55399A5E93}" type="slidenum">
              <a:rPr lang="en-US" altLang="en-US" sz="1400"/>
              <a:pPr>
                <a:spcBef>
                  <a:spcPct val="0"/>
                </a:spcBef>
                <a:buClrTx/>
                <a:buSzTx/>
                <a:buFontTx/>
                <a:buNone/>
              </a:pPr>
              <a:t>23</a:t>
            </a:fld>
            <a:endParaRPr lang="en-US" altLang="en-US" sz="1400"/>
          </a:p>
        </p:txBody>
      </p:sp>
      <p:sp>
        <p:nvSpPr>
          <p:cNvPr id="25606" name="Rectangle 6">
            <a:extLst>
              <a:ext uri="{FF2B5EF4-FFF2-40B4-BE49-F238E27FC236}">
                <a16:creationId xmlns:a16="http://schemas.microsoft.com/office/drawing/2014/main" id="{45CBC573-2C93-4B72-BFA3-A28123B1CE4B}"/>
              </a:ext>
            </a:extLst>
          </p:cNvPr>
          <p:cNvSpPr>
            <a:spLocks noChangeArrowheads="1"/>
          </p:cNvSpPr>
          <p:nvPr/>
        </p:nvSpPr>
        <p:spPr bwMode="auto">
          <a:xfrm>
            <a:off x="914400" y="2514600"/>
            <a:ext cx="76962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Input: G = (V, E) and a starting vertex v</a:t>
            </a:r>
            <a:endParaRPr lang="en-US" altLang="en-US" sz="2400" u="sng"/>
          </a:p>
          <a:p>
            <a:pPr>
              <a:spcBef>
                <a:spcPct val="0"/>
              </a:spcBef>
              <a:buClrTx/>
              <a:buSzTx/>
              <a:buFontTx/>
              <a:buNone/>
            </a:pPr>
            <a:r>
              <a:rPr lang="en-US" altLang="en-US" sz="2400"/>
              <a:t>Output: a DFS tree rooted at v</a:t>
            </a:r>
            <a:endParaRPr lang="en-US" altLang="en-US" sz="2400" u="sng"/>
          </a:p>
          <a:p>
            <a:pPr>
              <a:buFont typeface="Monotype Sorts"/>
              <a:buNone/>
            </a:pPr>
            <a:r>
              <a:rPr lang="en-US" altLang="en-US" sz="2400"/>
              <a:t>Tree dfs(vertex v) {</a:t>
            </a:r>
          </a:p>
          <a:p>
            <a:pPr>
              <a:buFont typeface="Monotype Sorts"/>
              <a:buNone/>
            </a:pPr>
            <a:r>
              <a:rPr lang="en-US" altLang="en-US" sz="2400"/>
              <a:t>  visit v;</a:t>
            </a:r>
          </a:p>
          <a:p>
            <a:pPr>
              <a:buFont typeface="Monotype Sorts"/>
              <a:buNone/>
            </a:pPr>
            <a:r>
              <a:rPr lang="en-US" altLang="en-US" sz="2400"/>
              <a:t>  for each neighbor w of v</a:t>
            </a:r>
          </a:p>
          <a:p>
            <a:pPr>
              <a:buFont typeface="Monotype Sorts"/>
              <a:buNone/>
            </a:pPr>
            <a:r>
              <a:rPr lang="en-US" altLang="en-US" sz="2400"/>
              <a:t>    if (w has not been visited) {</a:t>
            </a:r>
          </a:p>
          <a:p>
            <a:pPr>
              <a:buFont typeface="Monotype Sorts"/>
              <a:buNone/>
            </a:pPr>
            <a:r>
              <a:rPr lang="en-US" altLang="en-US" sz="2400"/>
              <a:t>      set v as the parent for w;</a:t>
            </a:r>
          </a:p>
          <a:p>
            <a:pPr>
              <a:buFont typeface="Monotype Sorts"/>
              <a:buNone/>
            </a:pPr>
            <a:r>
              <a:rPr lang="en-US" altLang="en-US" sz="2400"/>
              <a:t>      dfs(w);</a:t>
            </a:r>
          </a:p>
          <a:p>
            <a:pPr>
              <a:buFont typeface="Monotype Sorts"/>
              <a:buNone/>
            </a:pPr>
            <a:r>
              <a:rPr lang="en-US" altLang="en-US" sz="2400"/>
              <a:t>    }</a:t>
            </a:r>
          </a:p>
          <a:p>
            <a:pPr>
              <a:buFont typeface="Monotype Sorts"/>
              <a:buNone/>
            </a:pPr>
            <a:r>
              <a:rPr lang="en-US" altLang="en-US" sz="2400"/>
              <a:t>}</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B7FA46BE-0A05-46A2-98E0-DD9D259B07A8}"/>
              </a:ext>
            </a:extLst>
          </p:cNvPr>
          <p:cNvSpPr>
            <a:spLocks noGrp="1" noChangeArrowheads="1"/>
          </p:cNvSpPr>
          <p:nvPr>
            <p:ph type="title"/>
          </p:nvPr>
        </p:nvSpPr>
        <p:spPr>
          <a:xfrm>
            <a:off x="685800" y="285750"/>
            <a:ext cx="7772400" cy="628650"/>
          </a:xfrm>
        </p:spPr>
        <p:txBody>
          <a:bodyPr/>
          <a:lstStyle/>
          <a:p>
            <a:r>
              <a:rPr lang="en-US" altLang="en-US" sz="4000"/>
              <a:t>Depth-First Search Example</a:t>
            </a:r>
            <a:endParaRPr lang="en-US" altLang="en-US"/>
          </a:p>
        </p:txBody>
      </p:sp>
      <p:sp>
        <p:nvSpPr>
          <p:cNvPr id="26626" name="Slide Number Placeholder 4">
            <a:extLst>
              <a:ext uri="{FF2B5EF4-FFF2-40B4-BE49-F238E27FC236}">
                <a16:creationId xmlns:a16="http://schemas.microsoft.com/office/drawing/2014/main" id="{E7680F68-2AEE-43B5-B51C-FD3A0630433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FC7B7C0-6A50-461F-A4F5-FD437AA7CE10}" type="slidenum">
              <a:rPr lang="en-US" altLang="en-US" sz="1400"/>
              <a:pPr>
                <a:spcBef>
                  <a:spcPct val="0"/>
                </a:spcBef>
                <a:buClrTx/>
                <a:buSzTx/>
                <a:buFontTx/>
                <a:buNone/>
              </a:pPr>
              <a:t>24</a:t>
            </a:fld>
            <a:endParaRPr lang="en-US" altLang="en-US" sz="1400"/>
          </a:p>
        </p:txBody>
      </p:sp>
      <p:pic>
        <p:nvPicPr>
          <p:cNvPr id="26633" name="Picture 14">
            <a:extLst>
              <a:ext uri="{FF2B5EF4-FFF2-40B4-BE49-F238E27FC236}">
                <a16:creationId xmlns:a16="http://schemas.microsoft.com/office/drawing/2014/main" id="{DD15852A-F3BE-4F89-956F-00B314B7EE99}"/>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3200" y="1524000"/>
            <a:ext cx="6197600" cy="4578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C49EAAB8-C4B4-4067-B655-53E637CEA1CD}"/>
              </a:ext>
            </a:extLst>
          </p:cNvPr>
          <p:cNvSpPr>
            <a:spLocks noGrp="1" noChangeArrowheads="1"/>
          </p:cNvSpPr>
          <p:nvPr>
            <p:ph type="title"/>
          </p:nvPr>
        </p:nvSpPr>
        <p:spPr>
          <a:xfrm>
            <a:off x="685800" y="285750"/>
            <a:ext cx="7772400" cy="628650"/>
          </a:xfrm>
        </p:spPr>
        <p:txBody>
          <a:bodyPr/>
          <a:lstStyle/>
          <a:p>
            <a:r>
              <a:rPr lang="en-US" altLang="en-US" sz="4000"/>
              <a:t>Depth-First Search Example</a:t>
            </a:r>
            <a:endParaRPr lang="en-US" altLang="en-US"/>
          </a:p>
        </p:txBody>
      </p:sp>
      <p:sp>
        <p:nvSpPr>
          <p:cNvPr id="27650" name="Slide Number Placeholder 4">
            <a:extLst>
              <a:ext uri="{FF2B5EF4-FFF2-40B4-BE49-F238E27FC236}">
                <a16:creationId xmlns:a16="http://schemas.microsoft.com/office/drawing/2014/main" id="{5F237EB3-1EC6-43E4-BA89-B50C776608B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54342AD-C592-42D0-8C26-80FE1B1EE6AA}" type="slidenum">
              <a:rPr lang="en-US" altLang="en-US" sz="1400"/>
              <a:pPr>
                <a:spcBef>
                  <a:spcPct val="0"/>
                </a:spcBef>
                <a:buClrTx/>
                <a:buSzTx/>
                <a:buFontTx/>
                <a:buNone/>
              </a:pPr>
              <a:t>25</a:t>
            </a:fld>
            <a:endParaRPr lang="en-US" altLang="en-US" sz="1400"/>
          </a:p>
        </p:txBody>
      </p:sp>
      <p:graphicFrame>
        <p:nvGraphicFramePr>
          <p:cNvPr id="27658" name="Object 13">
            <a:extLst>
              <a:ext uri="{FF2B5EF4-FFF2-40B4-BE49-F238E27FC236}">
                <a16:creationId xmlns:a16="http://schemas.microsoft.com/office/drawing/2014/main" id="{591628A2-3D97-4999-A59F-35F54DFA5D3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221844434"/>
              </p:ext>
            </p:extLst>
          </p:nvPr>
        </p:nvGraphicFramePr>
        <p:xfrm>
          <a:off x="228600" y="1066800"/>
          <a:ext cx="6858000" cy="4384675"/>
        </p:xfrm>
        <a:graphic>
          <a:graphicData uri="http://schemas.openxmlformats.org/presentationml/2006/ole">
            <mc:AlternateContent xmlns:mc="http://schemas.openxmlformats.org/markup-compatibility/2006">
              <mc:Choice xmlns:v="urn:schemas-microsoft-com:vml" Requires="v">
                <p:oleObj name="Picture" r:id="rId2" imgW="6256020" imgH="3994404" progId="Word.Picture.8">
                  <p:embed/>
                </p:oleObj>
              </mc:Choice>
              <mc:Fallback>
                <p:oleObj name="Picture" r:id="rId2" imgW="6256020" imgH="3994404" progId="Word.Picture.8">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066800"/>
                        <a:ext cx="6858000"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9" name="Rectangle 14">
            <a:hlinkClick r:id="rId4"/>
            <a:extLst>
              <a:ext uri="{FF2B5EF4-FFF2-40B4-BE49-F238E27FC236}">
                <a16:creationId xmlns:a16="http://schemas.microsoft.com/office/drawing/2014/main" id="{1CD2F1C2-8C4B-4514-ACF2-7B93EFFA3E9C}"/>
              </a:ext>
            </a:extLst>
          </p:cNvPr>
          <p:cNvSpPr>
            <a:spLocks noChangeArrowheads="1"/>
          </p:cNvSpPr>
          <p:nvPr/>
        </p:nvSpPr>
        <p:spPr bwMode="auto">
          <a:xfrm>
            <a:off x="6096000" y="5967413"/>
            <a:ext cx="19637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TestDFS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a:extLst>
              <a:ext uri="{FF2B5EF4-FFF2-40B4-BE49-F238E27FC236}">
                <a16:creationId xmlns:a16="http://schemas.microsoft.com/office/drawing/2014/main" id="{9DB223B6-1710-4665-B28C-545B609E0978}"/>
              </a:ext>
            </a:extLst>
          </p:cNvPr>
          <p:cNvSpPr>
            <a:spLocks noGrp="1" noChangeArrowheads="1"/>
          </p:cNvSpPr>
          <p:nvPr>
            <p:ph type="title"/>
          </p:nvPr>
        </p:nvSpPr>
        <p:spPr>
          <a:xfrm>
            <a:off x="685800" y="228600"/>
            <a:ext cx="7772400" cy="533400"/>
          </a:xfrm>
        </p:spPr>
        <p:txBody>
          <a:bodyPr/>
          <a:lstStyle/>
          <a:p>
            <a:r>
              <a:rPr lang="en-US" altLang="en-US"/>
              <a:t>Applications of the DFS </a:t>
            </a:r>
          </a:p>
        </p:txBody>
      </p:sp>
      <p:sp>
        <p:nvSpPr>
          <p:cNvPr id="28674" name="Slide Number Placeholder 4">
            <a:extLst>
              <a:ext uri="{FF2B5EF4-FFF2-40B4-BE49-F238E27FC236}">
                <a16:creationId xmlns:a16="http://schemas.microsoft.com/office/drawing/2014/main" id="{FBAB9CEC-A202-46C9-BF3B-B3301CBAB86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3FFABA8-EF89-435F-8DAD-AA32EAC3C30A}" type="slidenum">
              <a:rPr lang="en-US" altLang="en-US" sz="1400"/>
              <a:pPr>
                <a:spcBef>
                  <a:spcPct val="0"/>
                </a:spcBef>
                <a:buClrTx/>
                <a:buSzTx/>
                <a:buFontTx/>
                <a:buNone/>
              </a:pPr>
              <a:t>26</a:t>
            </a:fld>
            <a:endParaRPr lang="en-US" altLang="en-US" sz="1400"/>
          </a:p>
        </p:txBody>
      </p:sp>
      <p:sp>
        <p:nvSpPr>
          <p:cNvPr id="28676" name="Text Box 3">
            <a:extLst>
              <a:ext uri="{FF2B5EF4-FFF2-40B4-BE49-F238E27FC236}">
                <a16:creationId xmlns:a16="http://schemas.microsoft.com/office/drawing/2014/main" id="{89EC4821-0CEA-4E48-AF19-D0BB21044236}"/>
              </a:ext>
            </a:extLst>
          </p:cNvPr>
          <p:cNvSpPr txBox="1">
            <a:spLocks noChangeArrowheads="1"/>
          </p:cNvSpPr>
          <p:nvPr/>
        </p:nvSpPr>
        <p:spPr bwMode="auto">
          <a:xfrm>
            <a:off x="228600" y="914400"/>
            <a:ext cx="8763000" cy="550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 typeface="Wingdings" panose="05000000000000000000" pitchFamily="2" charset="2"/>
              <a:buChar char="v"/>
            </a:pPr>
            <a:r>
              <a:rPr lang="en-US" altLang="en-US" sz="2200" dirty="0">
                <a:highlight>
                  <a:srgbClr val="FFFF00"/>
                </a:highlight>
              </a:rPr>
              <a:t>Detecting whether a graph is connected</a:t>
            </a:r>
            <a:r>
              <a:rPr lang="en-US" altLang="en-US" sz="2200" dirty="0"/>
              <a:t>. Search the graph starting from any vertex. If the number of vertices searched is the same as the number of vertices in the graph, the graph is connected</a:t>
            </a:r>
            <a:r>
              <a:rPr lang="en-US" altLang="en-US" sz="2200" dirty="0">
                <a:highlight>
                  <a:srgbClr val="FFFF00"/>
                </a:highlight>
              </a:rPr>
              <a:t>. Otherwise, the graph is not connected.</a:t>
            </a:r>
          </a:p>
          <a:p>
            <a:pPr>
              <a:spcBef>
                <a:spcPct val="0"/>
              </a:spcBef>
              <a:buClrTx/>
              <a:buSzTx/>
              <a:buFont typeface="Wingdings" panose="05000000000000000000" pitchFamily="2" charset="2"/>
              <a:buChar char="v"/>
            </a:pPr>
            <a:endParaRPr lang="en-US" altLang="en-US" sz="2200" dirty="0"/>
          </a:p>
          <a:p>
            <a:pPr>
              <a:spcBef>
                <a:spcPct val="0"/>
              </a:spcBef>
              <a:buClrTx/>
              <a:buSzTx/>
              <a:buFont typeface="Wingdings" panose="05000000000000000000" pitchFamily="2" charset="2"/>
              <a:buChar char="v"/>
            </a:pPr>
            <a:r>
              <a:rPr lang="en-US" altLang="en-US" sz="2200" dirty="0"/>
              <a:t>Detecting </a:t>
            </a:r>
            <a:r>
              <a:rPr lang="en-US" altLang="en-US" sz="2200" dirty="0">
                <a:highlight>
                  <a:srgbClr val="FFFF00"/>
                </a:highlight>
              </a:rPr>
              <a:t>whether there is a path between two vertices. </a:t>
            </a:r>
          </a:p>
          <a:p>
            <a:pPr>
              <a:spcBef>
                <a:spcPct val="0"/>
              </a:spcBef>
              <a:buClrTx/>
              <a:buSzTx/>
              <a:buFont typeface="Wingdings" panose="05000000000000000000" pitchFamily="2" charset="2"/>
              <a:buChar char="v"/>
            </a:pPr>
            <a:endParaRPr lang="en-US" altLang="en-US" sz="2200" dirty="0"/>
          </a:p>
          <a:p>
            <a:pPr>
              <a:spcBef>
                <a:spcPct val="0"/>
              </a:spcBef>
              <a:buClrTx/>
              <a:buSzTx/>
              <a:buFont typeface="Wingdings" panose="05000000000000000000" pitchFamily="2" charset="2"/>
              <a:buChar char="v"/>
            </a:pPr>
            <a:r>
              <a:rPr lang="en-US" altLang="en-US" sz="2200" dirty="0">
                <a:highlight>
                  <a:srgbClr val="FFFF00"/>
                </a:highlight>
              </a:rPr>
              <a:t>Finding a path between two vertices. </a:t>
            </a:r>
          </a:p>
          <a:p>
            <a:pPr>
              <a:spcBef>
                <a:spcPct val="0"/>
              </a:spcBef>
              <a:buClrTx/>
              <a:buSzTx/>
              <a:buFont typeface="Wingdings" panose="05000000000000000000" pitchFamily="2" charset="2"/>
              <a:buChar char="v"/>
            </a:pPr>
            <a:endParaRPr lang="en-US" altLang="en-US" sz="2200" dirty="0"/>
          </a:p>
          <a:p>
            <a:pPr>
              <a:spcBef>
                <a:spcPct val="0"/>
              </a:spcBef>
              <a:buClrTx/>
              <a:buSzTx/>
              <a:buFont typeface="Wingdings" panose="05000000000000000000" pitchFamily="2" charset="2"/>
              <a:buChar char="v"/>
            </a:pPr>
            <a:r>
              <a:rPr lang="en-US" altLang="en-US" sz="2200" dirty="0">
                <a:highlight>
                  <a:srgbClr val="FFFF00"/>
                </a:highlight>
              </a:rPr>
              <a:t>Finding all connected components</a:t>
            </a:r>
            <a:r>
              <a:rPr lang="en-US" altLang="en-US" sz="2200" dirty="0"/>
              <a:t>. A connected component is a maximal connected subgraph in which every pair of vertices are connected by a path. </a:t>
            </a:r>
          </a:p>
          <a:p>
            <a:pPr>
              <a:spcBef>
                <a:spcPct val="0"/>
              </a:spcBef>
              <a:buClrTx/>
              <a:buSzTx/>
              <a:buFont typeface="Wingdings" panose="05000000000000000000" pitchFamily="2" charset="2"/>
              <a:buChar char="v"/>
            </a:pPr>
            <a:endParaRPr lang="en-US" altLang="en-US" sz="2200" dirty="0"/>
          </a:p>
          <a:p>
            <a:pPr>
              <a:spcBef>
                <a:spcPct val="0"/>
              </a:spcBef>
              <a:buClrTx/>
              <a:buSzTx/>
              <a:buFont typeface="Wingdings" panose="05000000000000000000" pitchFamily="2" charset="2"/>
              <a:buChar char="v"/>
            </a:pPr>
            <a:r>
              <a:rPr lang="en-US" altLang="en-US" sz="2200" dirty="0"/>
              <a:t>Detecting whether </a:t>
            </a:r>
            <a:r>
              <a:rPr lang="en-US" altLang="en-US" sz="2200" dirty="0">
                <a:highlight>
                  <a:srgbClr val="FFFF00"/>
                </a:highlight>
              </a:rPr>
              <a:t>there is a cycle in the graph</a:t>
            </a:r>
            <a:r>
              <a:rPr lang="en-US" altLang="en-US" sz="2200" dirty="0"/>
              <a:t>.</a:t>
            </a:r>
          </a:p>
          <a:p>
            <a:pPr>
              <a:spcBef>
                <a:spcPct val="0"/>
              </a:spcBef>
              <a:buClrTx/>
              <a:buSzTx/>
              <a:buFont typeface="Wingdings" panose="05000000000000000000" pitchFamily="2" charset="2"/>
              <a:buChar char="v"/>
            </a:pPr>
            <a:endParaRPr lang="en-US" altLang="en-US" sz="2200" dirty="0"/>
          </a:p>
          <a:p>
            <a:pPr>
              <a:spcBef>
                <a:spcPct val="0"/>
              </a:spcBef>
              <a:buClrTx/>
              <a:buSzTx/>
              <a:buFont typeface="Wingdings" panose="05000000000000000000" pitchFamily="2" charset="2"/>
              <a:buChar char="v"/>
            </a:pPr>
            <a:r>
              <a:rPr lang="en-US" altLang="en-US" sz="2200" dirty="0"/>
              <a:t>Finding </a:t>
            </a:r>
            <a:r>
              <a:rPr lang="en-US" altLang="en-US" sz="2200" dirty="0">
                <a:highlight>
                  <a:srgbClr val="FFFF00"/>
                </a:highlight>
              </a:rPr>
              <a:t>a cycle in the graph.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8F12A317-8E5C-4461-B013-3FCBA64CF602}"/>
              </a:ext>
            </a:extLst>
          </p:cNvPr>
          <p:cNvSpPr>
            <a:spLocks noGrp="1" noChangeArrowheads="1"/>
          </p:cNvSpPr>
          <p:nvPr>
            <p:ph type="title"/>
          </p:nvPr>
        </p:nvSpPr>
        <p:spPr>
          <a:xfrm>
            <a:off x="0" y="152400"/>
            <a:ext cx="9144000" cy="609600"/>
          </a:xfrm>
        </p:spPr>
        <p:txBody>
          <a:bodyPr/>
          <a:lstStyle/>
          <a:p>
            <a:r>
              <a:rPr lang="en-US" altLang="en-US" sz="4000"/>
              <a:t>The Connected Circles Problem</a:t>
            </a:r>
          </a:p>
        </p:txBody>
      </p:sp>
      <p:sp>
        <p:nvSpPr>
          <p:cNvPr id="29698" name="Slide Number Placeholder 4">
            <a:extLst>
              <a:ext uri="{FF2B5EF4-FFF2-40B4-BE49-F238E27FC236}">
                <a16:creationId xmlns:a16="http://schemas.microsoft.com/office/drawing/2014/main" id="{501AC7AB-89ED-4FF1-B780-C27934BCE1B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C9B8EAA-CB07-4E54-BCCA-2A046CA21353}" type="slidenum">
              <a:rPr lang="en-US" altLang="en-US" sz="1400"/>
              <a:pPr>
                <a:spcBef>
                  <a:spcPct val="0"/>
                </a:spcBef>
                <a:buClrTx/>
                <a:buSzTx/>
                <a:buFontTx/>
                <a:buNone/>
              </a:pPr>
              <a:t>27</a:t>
            </a:fld>
            <a:endParaRPr lang="en-US" altLang="en-US" sz="1400"/>
          </a:p>
        </p:txBody>
      </p:sp>
      <p:pic>
        <p:nvPicPr>
          <p:cNvPr id="29721" name="Picture 1">
            <a:extLst>
              <a:ext uri="{FF2B5EF4-FFF2-40B4-BE49-F238E27FC236}">
                <a16:creationId xmlns:a16="http://schemas.microsoft.com/office/drawing/2014/main" id="{C9500FCA-3B2B-47FC-8F19-06523574B93B}"/>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563" y="1670050"/>
            <a:ext cx="3724275" cy="303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22" name="Picture 1">
            <a:extLst>
              <a:ext uri="{FF2B5EF4-FFF2-40B4-BE49-F238E27FC236}">
                <a16:creationId xmlns:a16="http://schemas.microsoft.com/office/drawing/2014/main" id="{DE672483-8041-42A7-B252-2C379EF6F726}"/>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5013" y="1639888"/>
            <a:ext cx="3751262"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23" name="Rectangle 30">
            <a:hlinkClick r:id="rId4"/>
            <a:extLst>
              <a:ext uri="{FF2B5EF4-FFF2-40B4-BE49-F238E27FC236}">
                <a16:creationId xmlns:a16="http://schemas.microsoft.com/office/drawing/2014/main" id="{9A957654-92D5-400A-8826-C801289E089D}"/>
              </a:ext>
            </a:extLst>
          </p:cNvPr>
          <p:cNvSpPr>
            <a:spLocks noChangeArrowheads="1"/>
          </p:cNvSpPr>
          <p:nvPr/>
        </p:nvSpPr>
        <p:spPr bwMode="auto">
          <a:xfrm>
            <a:off x="5486400" y="5870575"/>
            <a:ext cx="21161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ConnectedCircles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a:extLst>
              <a:ext uri="{FF2B5EF4-FFF2-40B4-BE49-F238E27FC236}">
                <a16:creationId xmlns:a16="http://schemas.microsoft.com/office/drawing/2014/main" id="{68CAEF94-FFA7-48BF-B0DA-03A8E5BCC766}"/>
              </a:ext>
            </a:extLst>
          </p:cNvPr>
          <p:cNvSpPr>
            <a:spLocks noGrp="1" noChangeArrowheads="1"/>
          </p:cNvSpPr>
          <p:nvPr>
            <p:ph type="title"/>
          </p:nvPr>
        </p:nvSpPr>
        <p:spPr>
          <a:xfrm>
            <a:off x="685800" y="228600"/>
            <a:ext cx="7772400" cy="609600"/>
          </a:xfrm>
        </p:spPr>
        <p:txBody>
          <a:bodyPr/>
          <a:lstStyle/>
          <a:p>
            <a:r>
              <a:rPr lang="en-US" altLang="en-US"/>
              <a:t>Breadth-First Search </a:t>
            </a:r>
          </a:p>
        </p:txBody>
      </p:sp>
      <p:sp>
        <p:nvSpPr>
          <p:cNvPr id="30724" name="Rectangle 3">
            <a:extLst>
              <a:ext uri="{FF2B5EF4-FFF2-40B4-BE49-F238E27FC236}">
                <a16:creationId xmlns:a16="http://schemas.microsoft.com/office/drawing/2014/main" id="{877461C0-E18E-4418-BDB9-C11158C8A9E4}"/>
              </a:ext>
            </a:extLst>
          </p:cNvPr>
          <p:cNvSpPr>
            <a:spLocks noGrp="1" noChangeArrowheads="1"/>
          </p:cNvSpPr>
          <p:nvPr>
            <p:ph idx="1"/>
          </p:nvPr>
        </p:nvSpPr>
        <p:spPr>
          <a:xfrm>
            <a:off x="304800" y="1066800"/>
            <a:ext cx="8458200" cy="5029200"/>
          </a:xfrm>
        </p:spPr>
        <p:txBody>
          <a:bodyPr/>
          <a:lstStyle/>
          <a:p>
            <a:pPr marL="0" indent="0">
              <a:spcBef>
                <a:spcPct val="0"/>
              </a:spcBef>
              <a:buFont typeface="Monotype Sorts"/>
              <a:buNone/>
            </a:pPr>
            <a:r>
              <a:rPr lang="en-US" altLang="en-US" sz="2800"/>
              <a:t>The breadth-first traversal of a graph is like the breadth-first traversal of a tree discussed in §25.2.3, “Tree Traversal.” With breadth-first traversal of a tree, the nodes are visited level by level. First the root is visited, then all the children of the root, then the grandchildren of the root from left to right, and so on.</a:t>
            </a:r>
            <a:r>
              <a:rPr lang="en-US" altLang="en-US" sz="2000"/>
              <a:t> </a:t>
            </a:r>
          </a:p>
        </p:txBody>
      </p:sp>
      <p:sp>
        <p:nvSpPr>
          <p:cNvPr id="30722" name="Slide Number Placeholder 4">
            <a:extLst>
              <a:ext uri="{FF2B5EF4-FFF2-40B4-BE49-F238E27FC236}">
                <a16:creationId xmlns:a16="http://schemas.microsoft.com/office/drawing/2014/main" id="{E6D25E3F-64E5-4D8A-8DA5-CA10C13FB8B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F010169-476A-4285-850E-943EDF892893}" type="slidenum">
              <a:rPr lang="en-US" altLang="en-US" sz="1400"/>
              <a:pPr>
                <a:spcBef>
                  <a:spcPct val="0"/>
                </a:spcBef>
                <a:buClrTx/>
                <a:buSzTx/>
                <a:buFontTx/>
                <a:buNone/>
              </a:pPr>
              <a:t>28</a:t>
            </a:fld>
            <a:endParaRPr lang="en-US" altLang="en-US" sz="140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a:extLst>
              <a:ext uri="{FF2B5EF4-FFF2-40B4-BE49-F238E27FC236}">
                <a16:creationId xmlns:a16="http://schemas.microsoft.com/office/drawing/2014/main" id="{F79183AD-5946-412C-A9C6-AA1EEFEC90FA}"/>
              </a:ext>
            </a:extLst>
          </p:cNvPr>
          <p:cNvSpPr>
            <a:spLocks noGrp="1" noChangeArrowheads="1"/>
          </p:cNvSpPr>
          <p:nvPr>
            <p:ph type="title"/>
          </p:nvPr>
        </p:nvSpPr>
        <p:spPr>
          <a:xfrm>
            <a:off x="685800" y="152400"/>
            <a:ext cx="7772400" cy="533400"/>
          </a:xfrm>
        </p:spPr>
        <p:txBody>
          <a:bodyPr/>
          <a:lstStyle/>
          <a:p>
            <a:r>
              <a:rPr lang="en-US" altLang="en-US"/>
              <a:t>Breadth-First Search Algorithm</a:t>
            </a:r>
          </a:p>
        </p:txBody>
      </p:sp>
      <p:sp>
        <p:nvSpPr>
          <p:cNvPr id="31746" name="Slide Number Placeholder 4">
            <a:extLst>
              <a:ext uri="{FF2B5EF4-FFF2-40B4-BE49-F238E27FC236}">
                <a16:creationId xmlns:a16="http://schemas.microsoft.com/office/drawing/2014/main" id="{540E7F2C-3DE1-4E39-BAEC-5B2B104AADE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E343889-B9E1-4AD2-966D-A8E253865154}" type="slidenum">
              <a:rPr lang="en-US" altLang="en-US" sz="1400"/>
              <a:pPr>
                <a:spcBef>
                  <a:spcPct val="0"/>
                </a:spcBef>
                <a:buClrTx/>
                <a:buSzTx/>
                <a:buFontTx/>
                <a:buNone/>
              </a:pPr>
              <a:t>29</a:t>
            </a:fld>
            <a:endParaRPr lang="en-US" altLang="en-US" sz="1400"/>
          </a:p>
        </p:txBody>
      </p:sp>
      <p:sp>
        <p:nvSpPr>
          <p:cNvPr id="31749" name="Rectangle 5">
            <a:extLst>
              <a:ext uri="{FF2B5EF4-FFF2-40B4-BE49-F238E27FC236}">
                <a16:creationId xmlns:a16="http://schemas.microsoft.com/office/drawing/2014/main" id="{7071ACAB-BE4B-4256-8978-AA9223346BB0}"/>
              </a:ext>
            </a:extLst>
          </p:cNvPr>
          <p:cNvSpPr>
            <a:spLocks noChangeArrowheads="1"/>
          </p:cNvSpPr>
          <p:nvPr/>
        </p:nvSpPr>
        <p:spPr bwMode="auto">
          <a:xfrm>
            <a:off x="512763" y="685800"/>
            <a:ext cx="670560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t>Input: G = (V, E) and a starting vertex v</a:t>
            </a:r>
            <a:endParaRPr lang="en-US" altLang="en-US" sz="2000" u="sng"/>
          </a:p>
          <a:p>
            <a:pPr>
              <a:spcBef>
                <a:spcPct val="0"/>
              </a:spcBef>
              <a:buClrTx/>
              <a:buSzTx/>
              <a:buFontTx/>
              <a:buNone/>
            </a:pPr>
            <a:r>
              <a:rPr lang="en-US" altLang="en-US" sz="2000"/>
              <a:t>Output: a BFS tree rooted at v</a:t>
            </a:r>
            <a:endParaRPr lang="en-US" altLang="en-US" sz="2000" u="sng"/>
          </a:p>
          <a:p>
            <a:pPr>
              <a:buFont typeface="Monotype Sorts"/>
              <a:buNone/>
            </a:pPr>
            <a:r>
              <a:rPr lang="en-US" altLang="en-US" sz="2000"/>
              <a:t>bfs(vertex v) {</a:t>
            </a:r>
          </a:p>
          <a:p>
            <a:pPr>
              <a:buFont typeface="Monotype Sorts"/>
              <a:buNone/>
            </a:pPr>
            <a:r>
              <a:rPr lang="en-US" altLang="en-US" sz="2000"/>
              <a:t>  create an empty queue for storing vertices to be visited;</a:t>
            </a:r>
          </a:p>
          <a:p>
            <a:pPr>
              <a:buFont typeface="Monotype Sorts"/>
              <a:buNone/>
            </a:pPr>
            <a:r>
              <a:rPr lang="en-US" altLang="en-US" sz="2000"/>
              <a:t>  add v into the queue;</a:t>
            </a:r>
          </a:p>
          <a:p>
            <a:pPr>
              <a:buFont typeface="Monotype Sorts"/>
              <a:buNone/>
            </a:pPr>
            <a:r>
              <a:rPr lang="en-US" altLang="en-US" sz="2000"/>
              <a:t>  mark v visited;</a:t>
            </a:r>
          </a:p>
          <a:p>
            <a:pPr>
              <a:buFont typeface="Monotype Sorts"/>
              <a:buNone/>
            </a:pPr>
            <a:r>
              <a:rPr lang="en-US" altLang="en-US" sz="2000"/>
              <a:t>  while the queue is not empty {</a:t>
            </a:r>
          </a:p>
          <a:p>
            <a:pPr>
              <a:buFont typeface="Monotype Sorts"/>
              <a:buNone/>
            </a:pPr>
            <a:r>
              <a:rPr lang="en-US" altLang="en-US" sz="2000"/>
              <a:t>    dequeue a vertex, say u, from the queue</a:t>
            </a:r>
          </a:p>
          <a:p>
            <a:pPr>
              <a:buFont typeface="Monotype Sorts"/>
              <a:buNone/>
            </a:pPr>
            <a:r>
              <a:rPr lang="en-US" altLang="en-US" sz="2000"/>
              <a:t>    process u;</a:t>
            </a:r>
          </a:p>
          <a:p>
            <a:pPr>
              <a:buFont typeface="Monotype Sorts"/>
              <a:buNone/>
            </a:pPr>
            <a:r>
              <a:rPr lang="en-US" altLang="en-US" sz="2000"/>
              <a:t>    for each neighbor w of u</a:t>
            </a:r>
          </a:p>
          <a:p>
            <a:pPr>
              <a:buFont typeface="Monotype Sorts"/>
              <a:buNone/>
            </a:pPr>
            <a:r>
              <a:rPr lang="en-US" altLang="en-US" sz="2000"/>
              <a:t>      if w has not been visited {</a:t>
            </a:r>
          </a:p>
          <a:p>
            <a:pPr>
              <a:buFont typeface="Monotype Sorts"/>
              <a:buNone/>
            </a:pPr>
            <a:r>
              <a:rPr lang="en-US" altLang="en-US" sz="2000"/>
              <a:t>        add w into the queue;</a:t>
            </a:r>
          </a:p>
          <a:p>
            <a:pPr>
              <a:buFont typeface="Monotype Sorts"/>
              <a:buNone/>
            </a:pPr>
            <a:r>
              <a:rPr lang="en-US" altLang="en-US" sz="2000"/>
              <a:t>        set u as the parent for w; </a:t>
            </a:r>
          </a:p>
          <a:p>
            <a:pPr>
              <a:buFont typeface="Monotype Sorts"/>
              <a:buNone/>
            </a:pPr>
            <a:r>
              <a:rPr lang="en-US" altLang="en-US" sz="2000"/>
              <a:t>        mark w visited;</a:t>
            </a:r>
          </a:p>
          <a:p>
            <a:pPr>
              <a:buFont typeface="Monotype Sorts"/>
              <a:buNone/>
            </a:pPr>
            <a:r>
              <a:rPr lang="en-US" altLang="en-US" sz="2000"/>
              <a:t>      }</a:t>
            </a:r>
          </a:p>
          <a:p>
            <a:pPr>
              <a:buFont typeface="Monotype Sorts"/>
              <a:buNone/>
            </a:pPr>
            <a:r>
              <a:rPr lang="en-US" altLang="en-US" sz="2000"/>
              <a:t>  }</a:t>
            </a:r>
          </a:p>
          <a:p>
            <a:pPr>
              <a:buFont typeface="Monotype Sorts"/>
              <a:buNone/>
            </a:pPr>
            <a:r>
              <a:rPr lang="en-US" altLang="en-US" sz="2000"/>
              <a:t>}</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a:extLst>
              <a:ext uri="{FF2B5EF4-FFF2-40B4-BE49-F238E27FC236}">
                <a16:creationId xmlns:a16="http://schemas.microsoft.com/office/drawing/2014/main" id="{2CF92ACF-7C9E-488C-930E-E4B90C4823D1}"/>
              </a:ext>
            </a:extLst>
          </p:cNvPr>
          <p:cNvSpPr>
            <a:spLocks noGrp="1" noChangeArrowheads="1"/>
          </p:cNvSpPr>
          <p:nvPr>
            <p:ph type="title"/>
          </p:nvPr>
        </p:nvSpPr>
        <p:spPr>
          <a:xfrm>
            <a:off x="685800" y="285750"/>
            <a:ext cx="7772400" cy="628650"/>
          </a:xfrm>
        </p:spPr>
        <p:txBody>
          <a:bodyPr/>
          <a:lstStyle/>
          <a:p>
            <a:r>
              <a:rPr lang="en-US" altLang="en-US" sz="4000"/>
              <a:t>Breadth-First Search Example</a:t>
            </a:r>
            <a:endParaRPr lang="en-US" altLang="en-US"/>
          </a:p>
        </p:txBody>
      </p:sp>
      <p:sp>
        <p:nvSpPr>
          <p:cNvPr id="32770" name="Slide Number Placeholder 4">
            <a:extLst>
              <a:ext uri="{FF2B5EF4-FFF2-40B4-BE49-F238E27FC236}">
                <a16:creationId xmlns:a16="http://schemas.microsoft.com/office/drawing/2014/main" id="{6435B417-A12C-405C-A05E-B5E42A2A0F7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83E8722-706E-4FE1-B6A6-BF7CFEFF26D0}" type="slidenum">
              <a:rPr lang="en-US" altLang="en-US" sz="1400"/>
              <a:pPr>
                <a:spcBef>
                  <a:spcPct val="0"/>
                </a:spcBef>
                <a:buClrTx/>
                <a:buSzTx/>
                <a:buFontTx/>
                <a:buNone/>
              </a:pPr>
              <a:t>30</a:t>
            </a:fld>
            <a:endParaRPr lang="en-US" altLang="en-US" sz="1400"/>
          </a:p>
        </p:txBody>
      </p:sp>
      <p:sp>
        <p:nvSpPr>
          <p:cNvPr id="32776" name="Text Box 18">
            <a:extLst>
              <a:ext uri="{FF2B5EF4-FFF2-40B4-BE49-F238E27FC236}">
                <a16:creationId xmlns:a16="http://schemas.microsoft.com/office/drawing/2014/main" id="{739E3DA3-0566-4881-997A-86E8E1C9A3D7}"/>
              </a:ext>
            </a:extLst>
          </p:cNvPr>
          <p:cNvSpPr txBox="1">
            <a:spLocks noChangeArrowheads="1"/>
          </p:cNvSpPr>
          <p:nvPr/>
        </p:nvSpPr>
        <p:spPr bwMode="auto">
          <a:xfrm>
            <a:off x="381000" y="3962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 Queue: 0</a:t>
            </a:r>
          </a:p>
        </p:txBody>
      </p:sp>
      <p:sp>
        <p:nvSpPr>
          <p:cNvPr id="32777" name="Text Box 19">
            <a:extLst>
              <a:ext uri="{FF2B5EF4-FFF2-40B4-BE49-F238E27FC236}">
                <a16:creationId xmlns:a16="http://schemas.microsoft.com/office/drawing/2014/main" id="{44442F05-CFFD-433E-A126-6EDB2F98B4A6}"/>
              </a:ext>
            </a:extLst>
          </p:cNvPr>
          <p:cNvSpPr txBox="1">
            <a:spLocks noChangeArrowheads="1"/>
          </p:cNvSpPr>
          <p:nvPr/>
        </p:nvSpPr>
        <p:spPr bwMode="auto">
          <a:xfrm>
            <a:off x="457200" y="4572000"/>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Queue: 1 2 3</a:t>
            </a:r>
          </a:p>
        </p:txBody>
      </p:sp>
      <p:sp>
        <p:nvSpPr>
          <p:cNvPr id="32778" name="Text Box 20">
            <a:extLst>
              <a:ext uri="{FF2B5EF4-FFF2-40B4-BE49-F238E27FC236}">
                <a16:creationId xmlns:a16="http://schemas.microsoft.com/office/drawing/2014/main" id="{0FF4732D-61A7-42D0-BD5F-73DBF15274B9}"/>
              </a:ext>
            </a:extLst>
          </p:cNvPr>
          <p:cNvSpPr txBox="1">
            <a:spLocks noChangeArrowheads="1"/>
          </p:cNvSpPr>
          <p:nvPr/>
        </p:nvSpPr>
        <p:spPr bwMode="auto">
          <a:xfrm>
            <a:off x="457200" y="5181600"/>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Queue: 2 3 4</a:t>
            </a:r>
          </a:p>
        </p:txBody>
      </p:sp>
      <p:sp>
        <p:nvSpPr>
          <p:cNvPr id="32779" name="Text Box 21">
            <a:extLst>
              <a:ext uri="{FF2B5EF4-FFF2-40B4-BE49-F238E27FC236}">
                <a16:creationId xmlns:a16="http://schemas.microsoft.com/office/drawing/2014/main" id="{1CE4BA62-2DCA-4988-80E7-18E4BC82E919}"/>
              </a:ext>
            </a:extLst>
          </p:cNvPr>
          <p:cNvSpPr txBox="1">
            <a:spLocks noChangeArrowheads="1"/>
          </p:cNvSpPr>
          <p:nvPr/>
        </p:nvSpPr>
        <p:spPr bwMode="auto">
          <a:xfrm>
            <a:off x="2819400" y="4038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isVisited[0] = true</a:t>
            </a:r>
          </a:p>
        </p:txBody>
      </p:sp>
      <p:sp>
        <p:nvSpPr>
          <p:cNvPr id="32780" name="Text Box 22">
            <a:extLst>
              <a:ext uri="{FF2B5EF4-FFF2-40B4-BE49-F238E27FC236}">
                <a16:creationId xmlns:a16="http://schemas.microsoft.com/office/drawing/2014/main" id="{5934278C-F711-4511-8E1B-B15025096023}"/>
              </a:ext>
            </a:extLst>
          </p:cNvPr>
          <p:cNvSpPr txBox="1">
            <a:spLocks noChangeArrowheads="1"/>
          </p:cNvSpPr>
          <p:nvPr/>
        </p:nvSpPr>
        <p:spPr bwMode="auto">
          <a:xfrm>
            <a:off x="2819400" y="4572000"/>
            <a:ext cx="5638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isVisited[1] = true, isVisited[2] = true, isVisited[3] = true</a:t>
            </a:r>
          </a:p>
        </p:txBody>
      </p:sp>
      <p:sp>
        <p:nvSpPr>
          <p:cNvPr id="32781" name="Text Box 23">
            <a:extLst>
              <a:ext uri="{FF2B5EF4-FFF2-40B4-BE49-F238E27FC236}">
                <a16:creationId xmlns:a16="http://schemas.microsoft.com/office/drawing/2014/main" id="{B68CC6B5-12E9-491E-8ABD-BDA1F7AE8175}"/>
              </a:ext>
            </a:extLst>
          </p:cNvPr>
          <p:cNvSpPr txBox="1">
            <a:spLocks noChangeArrowheads="1"/>
          </p:cNvSpPr>
          <p:nvPr/>
        </p:nvSpPr>
        <p:spPr bwMode="auto">
          <a:xfrm>
            <a:off x="2819400" y="548640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isVisited[4] = true</a:t>
            </a:r>
          </a:p>
        </p:txBody>
      </p:sp>
      <p:pic>
        <p:nvPicPr>
          <p:cNvPr id="32782" name="Picture 17">
            <a:extLst>
              <a:ext uri="{FF2B5EF4-FFF2-40B4-BE49-F238E27FC236}">
                <a16:creationId xmlns:a16="http://schemas.microsoft.com/office/drawing/2014/main" id="{C8073127-10DF-431E-AE25-CE49934C858F}"/>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0" y="1066800"/>
            <a:ext cx="7981950" cy="2905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3438567D-F7DE-49D7-9531-9F5FC4B40A93}"/>
              </a:ext>
            </a:extLst>
          </p:cNvPr>
          <p:cNvSpPr>
            <a:spLocks noGrp="1" noChangeArrowheads="1"/>
          </p:cNvSpPr>
          <p:nvPr>
            <p:ph type="title"/>
          </p:nvPr>
        </p:nvSpPr>
        <p:spPr>
          <a:xfrm>
            <a:off x="685800" y="285750"/>
            <a:ext cx="7772400" cy="628650"/>
          </a:xfrm>
        </p:spPr>
        <p:txBody>
          <a:bodyPr/>
          <a:lstStyle/>
          <a:p>
            <a:r>
              <a:rPr lang="en-US" altLang="en-US" sz="4000"/>
              <a:t>Breadth-First Search Example</a:t>
            </a:r>
            <a:endParaRPr lang="en-US" altLang="en-US"/>
          </a:p>
        </p:txBody>
      </p:sp>
      <p:sp>
        <p:nvSpPr>
          <p:cNvPr id="33794" name="Slide Number Placeholder 4">
            <a:extLst>
              <a:ext uri="{FF2B5EF4-FFF2-40B4-BE49-F238E27FC236}">
                <a16:creationId xmlns:a16="http://schemas.microsoft.com/office/drawing/2014/main" id="{DB2E8BDD-4716-4566-998D-1157B1638D3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2FD9AA8-1A9D-4E03-B14F-C5BE39E2992B}" type="slidenum">
              <a:rPr lang="en-US" altLang="en-US" sz="1400"/>
              <a:pPr>
                <a:spcBef>
                  <a:spcPct val="0"/>
                </a:spcBef>
                <a:buClrTx/>
                <a:buSzTx/>
                <a:buFontTx/>
                <a:buNone/>
              </a:pPr>
              <a:t>31</a:t>
            </a:fld>
            <a:endParaRPr lang="en-US" altLang="en-US" sz="1400"/>
          </a:p>
        </p:txBody>
      </p:sp>
      <p:graphicFrame>
        <p:nvGraphicFramePr>
          <p:cNvPr id="33803" name="Object 12">
            <a:extLst>
              <a:ext uri="{FF2B5EF4-FFF2-40B4-BE49-F238E27FC236}">
                <a16:creationId xmlns:a16="http://schemas.microsoft.com/office/drawing/2014/main" id="{DA316BF0-820F-4AD5-872C-F673C5BFDE7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276421245"/>
              </p:ext>
            </p:extLst>
          </p:nvPr>
        </p:nvGraphicFramePr>
        <p:xfrm>
          <a:off x="152400" y="1143000"/>
          <a:ext cx="6858000" cy="4384675"/>
        </p:xfrm>
        <a:graphic>
          <a:graphicData uri="http://schemas.openxmlformats.org/presentationml/2006/ole">
            <mc:AlternateContent xmlns:mc="http://schemas.openxmlformats.org/markup-compatibility/2006">
              <mc:Choice xmlns:v="urn:schemas-microsoft-com:vml" Requires="v">
                <p:oleObj name="Picture" r:id="rId2" imgW="6256020" imgH="3994404" progId="Word.Picture.8">
                  <p:embed/>
                </p:oleObj>
              </mc:Choice>
              <mc:Fallback>
                <p:oleObj name="Picture" r:id="rId2" imgW="6256020" imgH="3994404" progId="Word.Picture.8">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143000"/>
                        <a:ext cx="6858000"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4" name="Rectangle 15">
            <a:hlinkClick r:id="rId4"/>
            <a:extLst>
              <a:ext uri="{FF2B5EF4-FFF2-40B4-BE49-F238E27FC236}">
                <a16:creationId xmlns:a16="http://schemas.microsoft.com/office/drawing/2014/main" id="{C885E9B2-083B-4571-93FE-7683440185B6}"/>
              </a:ext>
            </a:extLst>
          </p:cNvPr>
          <p:cNvSpPr>
            <a:spLocks noChangeArrowheads="1"/>
          </p:cNvSpPr>
          <p:nvPr/>
        </p:nvSpPr>
        <p:spPr bwMode="auto">
          <a:xfrm>
            <a:off x="5867400" y="5891213"/>
            <a:ext cx="19637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TestBFS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BA394220-9098-4FAD-9131-49FEEF6B5770}"/>
              </a:ext>
            </a:extLst>
          </p:cNvPr>
          <p:cNvSpPr>
            <a:spLocks noGrp="1" noChangeArrowheads="1"/>
          </p:cNvSpPr>
          <p:nvPr>
            <p:ph type="title"/>
          </p:nvPr>
        </p:nvSpPr>
        <p:spPr>
          <a:xfrm>
            <a:off x="685800" y="228600"/>
            <a:ext cx="7772400" cy="533400"/>
          </a:xfrm>
        </p:spPr>
        <p:txBody>
          <a:bodyPr/>
          <a:lstStyle/>
          <a:p>
            <a:r>
              <a:rPr lang="en-US" altLang="en-US"/>
              <a:t>Applications of the BFS </a:t>
            </a:r>
          </a:p>
        </p:txBody>
      </p:sp>
      <p:sp>
        <p:nvSpPr>
          <p:cNvPr id="34818" name="Slide Number Placeholder 4">
            <a:extLst>
              <a:ext uri="{FF2B5EF4-FFF2-40B4-BE49-F238E27FC236}">
                <a16:creationId xmlns:a16="http://schemas.microsoft.com/office/drawing/2014/main" id="{80090AB1-29E0-488B-9990-32AC30EFD13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4BF0B4A-0F6A-4834-8AFA-6457E46F7C61}" type="slidenum">
              <a:rPr lang="en-US" altLang="en-US" sz="1400"/>
              <a:pPr>
                <a:spcBef>
                  <a:spcPct val="0"/>
                </a:spcBef>
                <a:buClrTx/>
                <a:buSzTx/>
                <a:buFontTx/>
                <a:buNone/>
              </a:pPr>
              <a:t>32</a:t>
            </a:fld>
            <a:endParaRPr lang="en-US" altLang="en-US" sz="1400"/>
          </a:p>
        </p:txBody>
      </p:sp>
      <p:sp>
        <p:nvSpPr>
          <p:cNvPr id="34820" name="Text Box 3">
            <a:extLst>
              <a:ext uri="{FF2B5EF4-FFF2-40B4-BE49-F238E27FC236}">
                <a16:creationId xmlns:a16="http://schemas.microsoft.com/office/drawing/2014/main" id="{39F9BC84-7CFF-4296-8C72-E788750BEFE3}"/>
              </a:ext>
            </a:extLst>
          </p:cNvPr>
          <p:cNvSpPr txBox="1">
            <a:spLocks noChangeArrowheads="1"/>
          </p:cNvSpPr>
          <p:nvPr/>
        </p:nvSpPr>
        <p:spPr bwMode="auto">
          <a:xfrm>
            <a:off x="228600" y="838200"/>
            <a:ext cx="8915400" cy="594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 typeface="Wingdings" panose="05000000000000000000" pitchFamily="2" charset="2"/>
              <a:buChar char="v"/>
            </a:pPr>
            <a:r>
              <a:rPr lang="en-US" altLang="en-US" sz="2000" dirty="0"/>
              <a:t>Detecting </a:t>
            </a:r>
            <a:r>
              <a:rPr lang="en-US" altLang="en-US" sz="2000" dirty="0">
                <a:highlight>
                  <a:srgbClr val="FFFF00"/>
                </a:highlight>
              </a:rPr>
              <a:t>whether a graph is connected</a:t>
            </a:r>
            <a:r>
              <a:rPr lang="en-US" altLang="en-US" sz="2000" dirty="0"/>
              <a:t>. A graph is connected if there is a path between any two vertices in the graph. </a:t>
            </a:r>
          </a:p>
          <a:p>
            <a:pPr>
              <a:spcBef>
                <a:spcPct val="0"/>
              </a:spcBef>
              <a:buClrTx/>
              <a:buSzTx/>
              <a:buFont typeface="Wingdings" panose="05000000000000000000" pitchFamily="2" charset="2"/>
              <a:buChar char="v"/>
            </a:pPr>
            <a:endParaRPr lang="en-US" altLang="en-US" sz="2000" dirty="0"/>
          </a:p>
          <a:p>
            <a:pPr>
              <a:spcBef>
                <a:spcPct val="0"/>
              </a:spcBef>
              <a:buClrTx/>
              <a:buSzTx/>
              <a:buFont typeface="Wingdings" panose="05000000000000000000" pitchFamily="2" charset="2"/>
              <a:buChar char="v"/>
            </a:pPr>
            <a:r>
              <a:rPr lang="en-US" altLang="en-US" sz="2000" dirty="0"/>
              <a:t>Detecting whether </a:t>
            </a:r>
            <a:r>
              <a:rPr lang="en-US" altLang="en-US" sz="2000" dirty="0">
                <a:highlight>
                  <a:srgbClr val="FFFF00"/>
                </a:highlight>
              </a:rPr>
              <a:t>there is a path between </a:t>
            </a:r>
            <a:r>
              <a:rPr lang="en-US" altLang="en-US" sz="2000" dirty="0"/>
              <a:t>two vertices. </a:t>
            </a:r>
          </a:p>
          <a:p>
            <a:pPr>
              <a:spcBef>
                <a:spcPct val="0"/>
              </a:spcBef>
              <a:buClrTx/>
              <a:buSzTx/>
              <a:buFont typeface="Wingdings" panose="05000000000000000000" pitchFamily="2" charset="2"/>
              <a:buChar char="v"/>
            </a:pPr>
            <a:endParaRPr lang="en-US" altLang="en-US" sz="2000" dirty="0"/>
          </a:p>
          <a:p>
            <a:pPr>
              <a:spcBef>
                <a:spcPct val="0"/>
              </a:spcBef>
              <a:buClrTx/>
              <a:buSzTx/>
              <a:buFont typeface="Wingdings" panose="05000000000000000000" pitchFamily="2" charset="2"/>
              <a:buChar char="v"/>
            </a:pPr>
            <a:r>
              <a:rPr lang="en-US" altLang="en-US" sz="2000" dirty="0"/>
              <a:t>Finding </a:t>
            </a:r>
            <a:r>
              <a:rPr lang="en-US" altLang="en-US" sz="2000" dirty="0">
                <a:highlight>
                  <a:srgbClr val="FFFF00"/>
                </a:highlight>
              </a:rPr>
              <a:t>a shortest path between two vertices</a:t>
            </a:r>
            <a:r>
              <a:rPr lang="en-US" altLang="en-US" sz="2000" dirty="0"/>
              <a:t>. You can prove that the path between the root and any node in the BFS tree is the shortest path between the root and the node.</a:t>
            </a:r>
          </a:p>
          <a:p>
            <a:pPr>
              <a:spcBef>
                <a:spcPct val="0"/>
              </a:spcBef>
              <a:buClrTx/>
              <a:buSzTx/>
              <a:buFont typeface="Wingdings" panose="05000000000000000000" pitchFamily="2" charset="2"/>
              <a:buChar char="v"/>
            </a:pPr>
            <a:endParaRPr lang="en-US" altLang="en-US" sz="2000" dirty="0"/>
          </a:p>
          <a:p>
            <a:pPr>
              <a:spcBef>
                <a:spcPct val="0"/>
              </a:spcBef>
              <a:buClrTx/>
              <a:buSzTx/>
              <a:buFont typeface="Wingdings" panose="05000000000000000000" pitchFamily="2" charset="2"/>
              <a:buChar char="v"/>
            </a:pPr>
            <a:r>
              <a:rPr lang="en-US" altLang="en-US" sz="2000" dirty="0">
                <a:highlight>
                  <a:srgbClr val="FFFF00"/>
                </a:highlight>
              </a:rPr>
              <a:t>Finding all connected components</a:t>
            </a:r>
            <a:r>
              <a:rPr lang="en-US" altLang="en-US" sz="2000" dirty="0"/>
              <a:t>. A connected component is a maximal connected subgraph in which every pair of vertices are connected by a path. </a:t>
            </a:r>
          </a:p>
          <a:p>
            <a:pPr>
              <a:spcBef>
                <a:spcPct val="0"/>
              </a:spcBef>
              <a:buClrTx/>
              <a:buSzTx/>
              <a:buFont typeface="Wingdings" panose="05000000000000000000" pitchFamily="2" charset="2"/>
              <a:buChar char="v"/>
            </a:pPr>
            <a:endParaRPr lang="en-US" altLang="en-US" sz="2000" dirty="0"/>
          </a:p>
          <a:p>
            <a:pPr>
              <a:spcBef>
                <a:spcPct val="0"/>
              </a:spcBef>
              <a:buClrTx/>
              <a:buSzTx/>
              <a:buFont typeface="Wingdings" panose="05000000000000000000" pitchFamily="2" charset="2"/>
              <a:buChar char="v"/>
            </a:pPr>
            <a:r>
              <a:rPr lang="en-US" altLang="en-US" sz="2000" dirty="0"/>
              <a:t>Detecting whether there is a cycle in the graph. </a:t>
            </a:r>
          </a:p>
          <a:p>
            <a:pPr>
              <a:spcBef>
                <a:spcPct val="0"/>
              </a:spcBef>
              <a:buClrTx/>
              <a:buSzTx/>
              <a:buFont typeface="Wingdings" panose="05000000000000000000" pitchFamily="2" charset="2"/>
              <a:buChar char="v"/>
            </a:pPr>
            <a:endParaRPr lang="en-US" altLang="en-US" sz="2000" dirty="0"/>
          </a:p>
          <a:p>
            <a:pPr>
              <a:spcBef>
                <a:spcPct val="0"/>
              </a:spcBef>
              <a:buClrTx/>
              <a:buSzTx/>
              <a:buFont typeface="Wingdings" panose="05000000000000000000" pitchFamily="2" charset="2"/>
              <a:buChar char="v"/>
            </a:pPr>
            <a:r>
              <a:rPr lang="en-US" altLang="en-US" sz="2000" dirty="0">
                <a:highlight>
                  <a:srgbClr val="FFFF00"/>
                </a:highlight>
              </a:rPr>
              <a:t>Finding a cycle in the graph</a:t>
            </a:r>
            <a:r>
              <a:rPr lang="en-US" altLang="en-US" sz="2000" dirty="0"/>
              <a:t>. </a:t>
            </a:r>
          </a:p>
          <a:p>
            <a:pPr>
              <a:spcBef>
                <a:spcPct val="0"/>
              </a:spcBef>
              <a:buClrTx/>
              <a:buSzTx/>
              <a:buFont typeface="Wingdings" panose="05000000000000000000" pitchFamily="2" charset="2"/>
              <a:buChar char="v"/>
            </a:pPr>
            <a:endParaRPr lang="en-US" altLang="en-US" sz="2000" dirty="0"/>
          </a:p>
          <a:p>
            <a:pPr>
              <a:spcBef>
                <a:spcPct val="0"/>
              </a:spcBef>
              <a:buClrTx/>
              <a:buSzTx/>
              <a:buFont typeface="Wingdings" panose="05000000000000000000" pitchFamily="2" charset="2"/>
              <a:buChar char="v"/>
            </a:pPr>
            <a:r>
              <a:rPr lang="en-US" altLang="en-US" sz="2000" dirty="0">
                <a:highlight>
                  <a:srgbClr val="FFFF00"/>
                </a:highlight>
              </a:rPr>
              <a:t>Testing whether a graph is bipartite</a:t>
            </a:r>
            <a:r>
              <a:rPr lang="en-US" altLang="en-US" sz="2000" dirty="0"/>
              <a:t>. A graph is bipartite if the vertices of the graph can be divided into two disjoint sets such that no edges exist between vertices in the same set.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a:extLst>
              <a:ext uri="{FF2B5EF4-FFF2-40B4-BE49-F238E27FC236}">
                <a16:creationId xmlns:a16="http://schemas.microsoft.com/office/drawing/2014/main" id="{8993E92B-4A42-4F9E-9FA4-5DD6AEEF0B98}"/>
              </a:ext>
            </a:extLst>
          </p:cNvPr>
          <p:cNvSpPr>
            <a:spLocks noGrp="1" noChangeArrowheads="1"/>
          </p:cNvSpPr>
          <p:nvPr>
            <p:ph type="title"/>
          </p:nvPr>
        </p:nvSpPr>
        <p:spPr>
          <a:xfrm>
            <a:off x="685800" y="285750"/>
            <a:ext cx="7772400" cy="704850"/>
          </a:xfrm>
        </p:spPr>
        <p:txBody>
          <a:bodyPr/>
          <a:lstStyle/>
          <a:p>
            <a:r>
              <a:rPr lang="en-US" altLang="en-US"/>
              <a:t>The Nine Tail Problem </a:t>
            </a:r>
          </a:p>
        </p:txBody>
      </p:sp>
      <p:sp>
        <p:nvSpPr>
          <p:cNvPr id="35844" name="Rectangle 5">
            <a:extLst>
              <a:ext uri="{FF2B5EF4-FFF2-40B4-BE49-F238E27FC236}">
                <a16:creationId xmlns:a16="http://schemas.microsoft.com/office/drawing/2014/main" id="{4577B3DC-EE0E-4142-ACF1-D1B98F1FFBCA}"/>
              </a:ext>
            </a:extLst>
          </p:cNvPr>
          <p:cNvSpPr>
            <a:spLocks noGrp="1" noChangeArrowheads="1"/>
          </p:cNvSpPr>
          <p:nvPr>
            <p:ph idx="1"/>
          </p:nvPr>
        </p:nvSpPr>
        <p:spPr>
          <a:xfrm>
            <a:off x="228600" y="1143000"/>
            <a:ext cx="8686800" cy="2895600"/>
          </a:xfrm>
        </p:spPr>
        <p:txBody>
          <a:bodyPr/>
          <a:lstStyle/>
          <a:p>
            <a:pPr marL="0" indent="0">
              <a:lnSpc>
                <a:spcPct val="90000"/>
              </a:lnSpc>
              <a:spcBef>
                <a:spcPts val="500"/>
              </a:spcBef>
              <a:spcAft>
                <a:spcPts val="500"/>
              </a:spcAft>
              <a:buFont typeface="Monotype Sorts"/>
              <a:buNone/>
            </a:pPr>
            <a:r>
              <a:rPr lang="en-US" altLang="en-US" sz="2800"/>
              <a:t>The problem is stated as follows. Nine coins are placed in a three by three matrix with some face up and some face down. A legal move is to take any coin that is face up and reverse it, together with the coins adjacent to it (this does not include coins that are diagonally adjacent). Your task is to find the minimum number of the moves that lead to all coins face down. </a:t>
            </a:r>
          </a:p>
        </p:txBody>
      </p:sp>
      <p:sp>
        <p:nvSpPr>
          <p:cNvPr id="35842" name="Slide Number Placeholder 4">
            <a:extLst>
              <a:ext uri="{FF2B5EF4-FFF2-40B4-BE49-F238E27FC236}">
                <a16:creationId xmlns:a16="http://schemas.microsoft.com/office/drawing/2014/main" id="{E803B610-6E49-4367-AB18-E2C3DEAC173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6EAC41D-2F81-4124-B4A5-17E32EB6ACEE}" type="slidenum">
              <a:rPr lang="en-US" altLang="en-US" sz="1400"/>
              <a:pPr>
                <a:spcBef>
                  <a:spcPct val="0"/>
                </a:spcBef>
                <a:buClrTx/>
                <a:buSzTx/>
                <a:buFontTx/>
                <a:buNone/>
              </a:pPr>
              <a:t>33</a:t>
            </a:fld>
            <a:endParaRPr lang="en-US" altLang="en-US" sz="1400"/>
          </a:p>
        </p:txBody>
      </p:sp>
      <p:pic>
        <p:nvPicPr>
          <p:cNvPr id="35848" name="Picture 11">
            <a:extLst>
              <a:ext uri="{FF2B5EF4-FFF2-40B4-BE49-F238E27FC236}">
                <a16:creationId xmlns:a16="http://schemas.microsoft.com/office/drawing/2014/main" id="{630F78A3-1519-496F-B45D-CDC42B8664E7}"/>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4114800"/>
            <a:ext cx="6086475" cy="1790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a:extLst>
              <a:ext uri="{FF2B5EF4-FFF2-40B4-BE49-F238E27FC236}">
                <a16:creationId xmlns:a16="http://schemas.microsoft.com/office/drawing/2014/main" id="{CDFAB11E-CB98-4C7B-A18F-B66E979D495A}"/>
              </a:ext>
            </a:extLst>
          </p:cNvPr>
          <p:cNvSpPr>
            <a:spLocks noGrp="1" noChangeArrowheads="1"/>
          </p:cNvSpPr>
          <p:nvPr>
            <p:ph type="title"/>
          </p:nvPr>
        </p:nvSpPr>
        <p:spPr>
          <a:xfrm>
            <a:off x="685800" y="228600"/>
            <a:ext cx="7772400" cy="552450"/>
          </a:xfrm>
        </p:spPr>
        <p:txBody>
          <a:bodyPr/>
          <a:lstStyle/>
          <a:p>
            <a:r>
              <a:rPr lang="en-US" altLang="en-US"/>
              <a:t>Nine Tail GUI Demo</a:t>
            </a:r>
          </a:p>
        </p:txBody>
      </p:sp>
      <p:sp>
        <p:nvSpPr>
          <p:cNvPr id="36866" name="Slide Number Placeholder 4">
            <a:extLst>
              <a:ext uri="{FF2B5EF4-FFF2-40B4-BE49-F238E27FC236}">
                <a16:creationId xmlns:a16="http://schemas.microsoft.com/office/drawing/2014/main" id="{6024873E-EB54-48F3-B1B9-C9139272DF1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ED9B581-4804-4443-AD8C-0F02F25D3298}" type="slidenum">
              <a:rPr lang="en-US" altLang="en-US" sz="1400"/>
              <a:pPr>
                <a:spcBef>
                  <a:spcPct val="0"/>
                </a:spcBef>
                <a:buClrTx/>
                <a:buSzTx/>
                <a:buFontTx/>
                <a:buNone/>
              </a:pPr>
              <a:t>34</a:t>
            </a:fld>
            <a:endParaRPr lang="en-US" altLang="en-US" sz="1400"/>
          </a:p>
        </p:txBody>
      </p:sp>
      <p:pic>
        <p:nvPicPr>
          <p:cNvPr id="36873" name="Picture 4">
            <a:extLst>
              <a:ext uri="{FF2B5EF4-FFF2-40B4-BE49-F238E27FC236}">
                <a16:creationId xmlns:a16="http://schemas.microsoft.com/office/drawing/2014/main" id="{02D3B706-05E3-409C-9916-2AF706D902A4}"/>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 y="1006475"/>
            <a:ext cx="4652963"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36874" name="Picture 5">
            <a:extLst>
              <a:ext uri="{FF2B5EF4-FFF2-40B4-BE49-F238E27FC236}">
                <a16:creationId xmlns:a16="http://schemas.microsoft.com/office/drawing/2014/main" id="{00F25AA5-F916-4227-A451-36ED61EE15E6}"/>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3357563"/>
            <a:ext cx="4972050"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a:extLst>
              <a:ext uri="{FF2B5EF4-FFF2-40B4-BE49-F238E27FC236}">
                <a16:creationId xmlns:a16="http://schemas.microsoft.com/office/drawing/2014/main" id="{DAFDC4CA-1BA8-47A5-BF1F-55AE31E97835}"/>
              </a:ext>
            </a:extLst>
          </p:cNvPr>
          <p:cNvSpPr>
            <a:spLocks noGrp="1" noChangeArrowheads="1"/>
          </p:cNvSpPr>
          <p:nvPr>
            <p:ph type="title"/>
          </p:nvPr>
        </p:nvSpPr>
        <p:spPr>
          <a:xfrm>
            <a:off x="609600" y="228600"/>
            <a:ext cx="7772400" cy="476250"/>
          </a:xfrm>
        </p:spPr>
        <p:txBody>
          <a:bodyPr/>
          <a:lstStyle/>
          <a:p>
            <a:r>
              <a:rPr lang="en-US" altLang="en-US"/>
              <a:t>Representing Nine Coins</a:t>
            </a:r>
          </a:p>
        </p:txBody>
      </p:sp>
      <p:sp>
        <p:nvSpPr>
          <p:cNvPr id="37890" name="Slide Number Placeholder 4">
            <a:extLst>
              <a:ext uri="{FF2B5EF4-FFF2-40B4-BE49-F238E27FC236}">
                <a16:creationId xmlns:a16="http://schemas.microsoft.com/office/drawing/2014/main" id="{6549B507-6952-49E5-8D8E-48B5275F0D1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4D206D7-6B16-4E26-991A-B187B8249B85}" type="slidenum">
              <a:rPr lang="en-US" altLang="en-US" sz="1400"/>
              <a:pPr>
                <a:spcBef>
                  <a:spcPct val="0"/>
                </a:spcBef>
                <a:buClrTx/>
                <a:buSzTx/>
                <a:buFontTx/>
                <a:buNone/>
              </a:pPr>
              <a:t>35</a:t>
            </a:fld>
            <a:endParaRPr lang="en-US" altLang="en-US" sz="1400"/>
          </a:p>
        </p:txBody>
      </p:sp>
      <p:pic>
        <p:nvPicPr>
          <p:cNvPr id="37897" name="Picture 55">
            <a:extLst>
              <a:ext uri="{FF2B5EF4-FFF2-40B4-BE49-F238E27FC236}">
                <a16:creationId xmlns:a16="http://schemas.microsoft.com/office/drawing/2014/main" id="{0B904A80-AC8A-4DC5-95DB-1AB948D6C70E}"/>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752600"/>
            <a:ext cx="8869363" cy="175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a:extLst>
              <a:ext uri="{FF2B5EF4-FFF2-40B4-BE49-F238E27FC236}">
                <a16:creationId xmlns:a16="http://schemas.microsoft.com/office/drawing/2014/main" id="{A86C9AEC-D04D-4E63-87E3-236B167C879F}"/>
              </a:ext>
            </a:extLst>
          </p:cNvPr>
          <p:cNvSpPr>
            <a:spLocks noGrp="1" noChangeArrowheads="1"/>
          </p:cNvSpPr>
          <p:nvPr>
            <p:ph type="title"/>
          </p:nvPr>
        </p:nvSpPr>
        <p:spPr>
          <a:xfrm>
            <a:off x="609600" y="228600"/>
            <a:ext cx="7772400" cy="476250"/>
          </a:xfrm>
        </p:spPr>
        <p:txBody>
          <a:bodyPr/>
          <a:lstStyle/>
          <a:p>
            <a:r>
              <a:rPr lang="en-US" altLang="en-US"/>
              <a:t>Model the Nine Tail Problem </a:t>
            </a:r>
          </a:p>
        </p:txBody>
      </p:sp>
      <p:sp>
        <p:nvSpPr>
          <p:cNvPr id="38914" name="Slide Number Placeholder 4">
            <a:extLst>
              <a:ext uri="{FF2B5EF4-FFF2-40B4-BE49-F238E27FC236}">
                <a16:creationId xmlns:a16="http://schemas.microsoft.com/office/drawing/2014/main" id="{7428427A-3E4F-4484-9D9F-059D1566F6E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E3B6F5E-6900-4799-A39A-537B7BCE8C1D}" type="slidenum">
              <a:rPr lang="en-US" altLang="en-US" sz="1400"/>
              <a:pPr>
                <a:spcBef>
                  <a:spcPct val="0"/>
                </a:spcBef>
                <a:buClrTx/>
                <a:buSzTx/>
                <a:buFontTx/>
                <a:buNone/>
              </a:pPr>
              <a:t>36</a:t>
            </a:fld>
            <a:endParaRPr lang="en-US" altLang="en-US" sz="1400"/>
          </a:p>
        </p:txBody>
      </p:sp>
      <p:graphicFrame>
        <p:nvGraphicFramePr>
          <p:cNvPr id="38919" name="Object 15">
            <a:extLst>
              <a:ext uri="{FF2B5EF4-FFF2-40B4-BE49-F238E27FC236}">
                <a16:creationId xmlns:a16="http://schemas.microsoft.com/office/drawing/2014/main" id="{CCF9D969-C01C-4922-B9E1-9ED9290EA33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965222032"/>
              </p:ext>
            </p:extLst>
          </p:nvPr>
        </p:nvGraphicFramePr>
        <p:xfrm>
          <a:off x="609600" y="1371600"/>
          <a:ext cx="1066800" cy="889000"/>
        </p:xfrm>
        <a:graphic>
          <a:graphicData uri="http://schemas.openxmlformats.org/presentationml/2006/ole">
            <mc:AlternateContent xmlns:mc="http://schemas.openxmlformats.org/markup-compatibility/2006">
              <mc:Choice xmlns:v="urn:schemas-microsoft-com:vml" Requires="v">
                <p:oleObj name="Picture" r:id="rId2" imgW="902228" imgH="748560" progId="Word.Picture.8">
                  <p:embed/>
                </p:oleObj>
              </mc:Choice>
              <mc:Fallback>
                <p:oleObj name="Picture" r:id="rId2" imgW="902228" imgH="748560" progId="Word.Picture.8">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371600"/>
                        <a:ext cx="1066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0" name="Object 14">
            <a:extLst>
              <a:ext uri="{FF2B5EF4-FFF2-40B4-BE49-F238E27FC236}">
                <a16:creationId xmlns:a16="http://schemas.microsoft.com/office/drawing/2014/main" id="{D7D39899-947F-4B78-8B97-B031DFB382D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224299187"/>
              </p:ext>
            </p:extLst>
          </p:nvPr>
        </p:nvGraphicFramePr>
        <p:xfrm>
          <a:off x="1676400" y="1371600"/>
          <a:ext cx="1066800" cy="889000"/>
        </p:xfrm>
        <a:graphic>
          <a:graphicData uri="http://schemas.openxmlformats.org/presentationml/2006/ole">
            <mc:AlternateContent xmlns:mc="http://schemas.openxmlformats.org/markup-compatibility/2006">
              <mc:Choice xmlns:v="urn:schemas-microsoft-com:vml" Requires="v">
                <p:oleObj name="Picture" r:id="rId4" imgW="902228" imgH="748560" progId="Word.Picture.8">
                  <p:embed/>
                </p:oleObj>
              </mc:Choice>
              <mc:Fallback>
                <p:oleObj name="Picture" r:id="rId4" imgW="902228" imgH="748560" progId="Word.Picture.8">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1371600"/>
                        <a:ext cx="1066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1" name="Object 13">
            <a:extLst>
              <a:ext uri="{FF2B5EF4-FFF2-40B4-BE49-F238E27FC236}">
                <a16:creationId xmlns:a16="http://schemas.microsoft.com/office/drawing/2014/main" id="{BB30295A-568E-4F9A-BC30-E809BB3B823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69331789"/>
              </p:ext>
            </p:extLst>
          </p:nvPr>
        </p:nvGraphicFramePr>
        <p:xfrm>
          <a:off x="2743200" y="1371600"/>
          <a:ext cx="1066800" cy="889000"/>
        </p:xfrm>
        <a:graphic>
          <a:graphicData uri="http://schemas.openxmlformats.org/presentationml/2006/ole">
            <mc:AlternateContent xmlns:mc="http://schemas.openxmlformats.org/markup-compatibility/2006">
              <mc:Choice xmlns:v="urn:schemas-microsoft-com:vml" Requires="v">
                <p:oleObj name="Picture" r:id="rId6" imgW="902228" imgH="748560" progId="Word.Picture.8">
                  <p:embed/>
                </p:oleObj>
              </mc:Choice>
              <mc:Fallback>
                <p:oleObj name="Picture" r:id="rId6" imgW="902228" imgH="748560" progId="Word.Picture.8">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3200" y="1371600"/>
                        <a:ext cx="1066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2" name="Object 12">
            <a:extLst>
              <a:ext uri="{FF2B5EF4-FFF2-40B4-BE49-F238E27FC236}">
                <a16:creationId xmlns:a16="http://schemas.microsoft.com/office/drawing/2014/main" id="{A273E74A-1D2B-4823-9893-D3DA16C619D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702833743"/>
              </p:ext>
            </p:extLst>
          </p:nvPr>
        </p:nvGraphicFramePr>
        <p:xfrm>
          <a:off x="3810000" y="1371600"/>
          <a:ext cx="1066800" cy="889000"/>
        </p:xfrm>
        <a:graphic>
          <a:graphicData uri="http://schemas.openxmlformats.org/presentationml/2006/ole">
            <mc:AlternateContent xmlns:mc="http://schemas.openxmlformats.org/markup-compatibility/2006">
              <mc:Choice xmlns:v="urn:schemas-microsoft-com:vml" Requires="v">
                <p:oleObj name="Picture" r:id="rId8" imgW="902228" imgH="748560" progId="Word.Picture.8">
                  <p:embed/>
                </p:oleObj>
              </mc:Choice>
              <mc:Fallback>
                <p:oleObj name="Picture" r:id="rId8" imgW="902228" imgH="748560" progId="Word.Picture.8">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0000" y="1371600"/>
                        <a:ext cx="1066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3" name="Object 11">
            <a:extLst>
              <a:ext uri="{FF2B5EF4-FFF2-40B4-BE49-F238E27FC236}">
                <a16:creationId xmlns:a16="http://schemas.microsoft.com/office/drawing/2014/main" id="{807C8C12-220C-43AD-B069-139A52E2FAA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623103088"/>
              </p:ext>
            </p:extLst>
          </p:nvPr>
        </p:nvGraphicFramePr>
        <p:xfrm>
          <a:off x="4876800" y="1371600"/>
          <a:ext cx="1066800" cy="889000"/>
        </p:xfrm>
        <a:graphic>
          <a:graphicData uri="http://schemas.openxmlformats.org/presentationml/2006/ole">
            <mc:AlternateContent xmlns:mc="http://schemas.openxmlformats.org/markup-compatibility/2006">
              <mc:Choice xmlns:v="urn:schemas-microsoft-com:vml" Requires="v">
                <p:oleObj name="Picture" r:id="rId10" imgW="902228" imgH="748560" progId="Word.Picture.8">
                  <p:embed/>
                </p:oleObj>
              </mc:Choice>
              <mc:Fallback>
                <p:oleObj name="Picture" r:id="rId10" imgW="902228" imgH="748560" progId="Word.Picture.8">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76800" y="1371600"/>
                        <a:ext cx="1066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4" name="Object 10">
            <a:extLst>
              <a:ext uri="{FF2B5EF4-FFF2-40B4-BE49-F238E27FC236}">
                <a16:creationId xmlns:a16="http://schemas.microsoft.com/office/drawing/2014/main" id="{DD586BC8-BFE2-450E-B083-4D23697858D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689829275"/>
              </p:ext>
            </p:extLst>
          </p:nvPr>
        </p:nvGraphicFramePr>
        <p:xfrm>
          <a:off x="5943600" y="1371600"/>
          <a:ext cx="1066800" cy="889000"/>
        </p:xfrm>
        <a:graphic>
          <a:graphicData uri="http://schemas.openxmlformats.org/presentationml/2006/ole">
            <mc:AlternateContent xmlns:mc="http://schemas.openxmlformats.org/markup-compatibility/2006">
              <mc:Choice xmlns:v="urn:schemas-microsoft-com:vml" Requires="v">
                <p:oleObj name="Picture" r:id="rId12" imgW="902228" imgH="748560" progId="Word.Picture.8">
                  <p:embed/>
                </p:oleObj>
              </mc:Choice>
              <mc:Fallback>
                <p:oleObj name="Picture" r:id="rId12" imgW="902228" imgH="748560" progId="Word.Picture.8">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43600" y="1371600"/>
                        <a:ext cx="1066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5" name="Rectangle 17">
            <a:extLst>
              <a:ext uri="{FF2B5EF4-FFF2-40B4-BE49-F238E27FC236}">
                <a16:creationId xmlns:a16="http://schemas.microsoft.com/office/drawing/2014/main" id="{7CFE0381-8553-420B-B68C-4169DECE5F13}"/>
              </a:ext>
            </a:extLst>
          </p:cNvPr>
          <p:cNvSpPr>
            <a:spLocks noChangeArrowheads="1"/>
          </p:cNvSpPr>
          <p:nvPr/>
        </p:nvSpPr>
        <p:spPr bwMode="auto">
          <a:xfrm>
            <a:off x="990600" y="9906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0</a:t>
            </a:r>
            <a:endParaRPr lang="en-US" altLang="en-US" sz="1200"/>
          </a:p>
        </p:txBody>
      </p:sp>
      <p:sp>
        <p:nvSpPr>
          <p:cNvPr id="38926" name="Rectangle 21">
            <a:extLst>
              <a:ext uri="{FF2B5EF4-FFF2-40B4-BE49-F238E27FC236}">
                <a16:creationId xmlns:a16="http://schemas.microsoft.com/office/drawing/2014/main" id="{10189E0D-02B1-40A9-BF24-EF506EFB63CE}"/>
              </a:ext>
            </a:extLst>
          </p:cNvPr>
          <p:cNvSpPr>
            <a:spLocks noChangeArrowheads="1"/>
          </p:cNvSpPr>
          <p:nvPr/>
        </p:nvSpPr>
        <p:spPr bwMode="auto">
          <a:xfrm>
            <a:off x="2057400" y="9906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1</a:t>
            </a:r>
            <a:endParaRPr lang="en-US" altLang="en-US" sz="1200"/>
          </a:p>
        </p:txBody>
      </p:sp>
      <p:sp>
        <p:nvSpPr>
          <p:cNvPr id="38927" name="Rectangle 22">
            <a:extLst>
              <a:ext uri="{FF2B5EF4-FFF2-40B4-BE49-F238E27FC236}">
                <a16:creationId xmlns:a16="http://schemas.microsoft.com/office/drawing/2014/main" id="{50244D56-A278-4F65-8CE5-FAA6173F820E}"/>
              </a:ext>
            </a:extLst>
          </p:cNvPr>
          <p:cNvSpPr>
            <a:spLocks noChangeArrowheads="1"/>
          </p:cNvSpPr>
          <p:nvPr/>
        </p:nvSpPr>
        <p:spPr bwMode="auto">
          <a:xfrm>
            <a:off x="3124200" y="9906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2</a:t>
            </a:r>
            <a:endParaRPr lang="en-US" altLang="en-US" sz="1200"/>
          </a:p>
        </p:txBody>
      </p:sp>
      <p:sp>
        <p:nvSpPr>
          <p:cNvPr id="38928" name="Rectangle 23">
            <a:extLst>
              <a:ext uri="{FF2B5EF4-FFF2-40B4-BE49-F238E27FC236}">
                <a16:creationId xmlns:a16="http://schemas.microsoft.com/office/drawing/2014/main" id="{4DFBCF3D-C2DF-49C6-9C3B-611EA9FE8BDF}"/>
              </a:ext>
            </a:extLst>
          </p:cNvPr>
          <p:cNvSpPr>
            <a:spLocks noChangeArrowheads="1"/>
          </p:cNvSpPr>
          <p:nvPr/>
        </p:nvSpPr>
        <p:spPr bwMode="auto">
          <a:xfrm>
            <a:off x="4191000" y="9906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3</a:t>
            </a:r>
            <a:endParaRPr lang="en-US" altLang="en-US" sz="1200"/>
          </a:p>
        </p:txBody>
      </p:sp>
      <p:sp>
        <p:nvSpPr>
          <p:cNvPr id="38929" name="Rectangle 24">
            <a:extLst>
              <a:ext uri="{FF2B5EF4-FFF2-40B4-BE49-F238E27FC236}">
                <a16:creationId xmlns:a16="http://schemas.microsoft.com/office/drawing/2014/main" id="{00BF84A5-ACA4-4D0D-BC47-01BF2EB831F3}"/>
              </a:ext>
            </a:extLst>
          </p:cNvPr>
          <p:cNvSpPr>
            <a:spLocks noChangeArrowheads="1"/>
          </p:cNvSpPr>
          <p:nvPr/>
        </p:nvSpPr>
        <p:spPr bwMode="auto">
          <a:xfrm>
            <a:off x="6096000" y="9906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511</a:t>
            </a:r>
            <a:endParaRPr lang="en-US" altLang="en-US" sz="1200"/>
          </a:p>
        </p:txBody>
      </p:sp>
      <p:graphicFrame>
        <p:nvGraphicFramePr>
          <p:cNvPr id="38930" name="Object 30">
            <a:extLst>
              <a:ext uri="{FF2B5EF4-FFF2-40B4-BE49-F238E27FC236}">
                <a16:creationId xmlns:a16="http://schemas.microsoft.com/office/drawing/2014/main" id="{1A722603-2470-43BD-B82A-6576893A5E4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83023981"/>
              </p:ext>
            </p:extLst>
          </p:nvPr>
        </p:nvGraphicFramePr>
        <p:xfrm>
          <a:off x="609600" y="3200400"/>
          <a:ext cx="990600" cy="825500"/>
        </p:xfrm>
        <a:graphic>
          <a:graphicData uri="http://schemas.openxmlformats.org/presentationml/2006/ole">
            <mc:AlternateContent xmlns:mc="http://schemas.openxmlformats.org/markup-compatibility/2006">
              <mc:Choice xmlns:v="urn:schemas-microsoft-com:vml" Requires="v">
                <p:oleObj name="Picture" r:id="rId14" imgW="900695" imgH="749945" progId="Word.Picture.8">
                  <p:embed/>
                </p:oleObj>
              </mc:Choice>
              <mc:Fallback>
                <p:oleObj name="Picture" r:id="rId14" imgW="900695" imgH="749945" progId="Word.Picture.8">
                  <p:embed/>
                  <p:pic>
                    <p:nvPicPr>
                      <p:cNvPr id="0" name="Object 3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9600" y="3200400"/>
                        <a:ext cx="990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31" name="Object 29">
            <a:extLst>
              <a:ext uri="{FF2B5EF4-FFF2-40B4-BE49-F238E27FC236}">
                <a16:creationId xmlns:a16="http://schemas.microsoft.com/office/drawing/2014/main" id="{17C74201-1FAB-471D-BDE7-01B1392FED8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78206596"/>
              </p:ext>
            </p:extLst>
          </p:nvPr>
        </p:nvGraphicFramePr>
        <p:xfrm>
          <a:off x="1828800" y="3200400"/>
          <a:ext cx="990600" cy="825500"/>
        </p:xfrm>
        <a:graphic>
          <a:graphicData uri="http://schemas.openxmlformats.org/presentationml/2006/ole">
            <mc:AlternateContent xmlns:mc="http://schemas.openxmlformats.org/markup-compatibility/2006">
              <mc:Choice xmlns:v="urn:schemas-microsoft-com:vml" Requires="v">
                <p:oleObj name="Picture" r:id="rId16" imgW="900695" imgH="749945" progId="Word.Picture.8">
                  <p:embed/>
                </p:oleObj>
              </mc:Choice>
              <mc:Fallback>
                <p:oleObj name="Picture" r:id="rId16" imgW="900695" imgH="749945" progId="Word.Picture.8">
                  <p:embed/>
                  <p:pic>
                    <p:nvPicPr>
                      <p:cNvPr id="0" name="Object 2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28800" y="3200400"/>
                        <a:ext cx="990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32" name="Object 28">
            <a:extLst>
              <a:ext uri="{FF2B5EF4-FFF2-40B4-BE49-F238E27FC236}">
                <a16:creationId xmlns:a16="http://schemas.microsoft.com/office/drawing/2014/main" id="{BAF13488-9C0A-4D29-BF5F-2281681A552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608341322"/>
              </p:ext>
            </p:extLst>
          </p:nvPr>
        </p:nvGraphicFramePr>
        <p:xfrm>
          <a:off x="3200400" y="3200400"/>
          <a:ext cx="990600" cy="825500"/>
        </p:xfrm>
        <a:graphic>
          <a:graphicData uri="http://schemas.openxmlformats.org/presentationml/2006/ole">
            <mc:AlternateContent xmlns:mc="http://schemas.openxmlformats.org/markup-compatibility/2006">
              <mc:Choice xmlns:v="urn:schemas-microsoft-com:vml" Requires="v">
                <p:oleObj name="Picture" r:id="rId18" imgW="900695" imgH="749945" progId="Word.Picture.8">
                  <p:embed/>
                </p:oleObj>
              </mc:Choice>
              <mc:Fallback>
                <p:oleObj name="Picture" r:id="rId18" imgW="900695" imgH="749945" progId="Word.Picture.8">
                  <p:embed/>
                  <p:pic>
                    <p:nvPicPr>
                      <p:cNvPr id="0" name="Object 2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00400" y="3200400"/>
                        <a:ext cx="990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33" name="Object 27">
            <a:extLst>
              <a:ext uri="{FF2B5EF4-FFF2-40B4-BE49-F238E27FC236}">
                <a16:creationId xmlns:a16="http://schemas.microsoft.com/office/drawing/2014/main" id="{8C569BF9-E81A-4E98-AD82-6B53BF467AE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767662107"/>
              </p:ext>
            </p:extLst>
          </p:nvPr>
        </p:nvGraphicFramePr>
        <p:xfrm>
          <a:off x="4419600" y="3200400"/>
          <a:ext cx="990600" cy="825500"/>
        </p:xfrm>
        <a:graphic>
          <a:graphicData uri="http://schemas.openxmlformats.org/presentationml/2006/ole">
            <mc:AlternateContent xmlns:mc="http://schemas.openxmlformats.org/markup-compatibility/2006">
              <mc:Choice xmlns:v="urn:schemas-microsoft-com:vml" Requires="v">
                <p:oleObj name="Picture" r:id="rId20" imgW="900695" imgH="749945" progId="Word.Picture.8">
                  <p:embed/>
                </p:oleObj>
              </mc:Choice>
              <mc:Fallback>
                <p:oleObj name="Picture" r:id="rId20" imgW="900695" imgH="749945" progId="Word.Picture.8">
                  <p:embed/>
                  <p:pic>
                    <p:nvPicPr>
                      <p:cNvPr id="0" name="Object 2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419600" y="3200400"/>
                        <a:ext cx="990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34" name="Object 26">
            <a:extLst>
              <a:ext uri="{FF2B5EF4-FFF2-40B4-BE49-F238E27FC236}">
                <a16:creationId xmlns:a16="http://schemas.microsoft.com/office/drawing/2014/main" id="{5D912CDF-997D-43B6-B651-CBA2AEFD60F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987908362"/>
              </p:ext>
            </p:extLst>
          </p:nvPr>
        </p:nvGraphicFramePr>
        <p:xfrm>
          <a:off x="5715000" y="3200400"/>
          <a:ext cx="990600" cy="825500"/>
        </p:xfrm>
        <a:graphic>
          <a:graphicData uri="http://schemas.openxmlformats.org/presentationml/2006/ole">
            <mc:AlternateContent xmlns:mc="http://schemas.openxmlformats.org/markup-compatibility/2006">
              <mc:Choice xmlns:v="urn:schemas-microsoft-com:vml" Requires="v">
                <p:oleObj name="Picture" r:id="rId22" imgW="900695" imgH="749945" progId="Word.Picture.8">
                  <p:embed/>
                </p:oleObj>
              </mc:Choice>
              <mc:Fallback>
                <p:oleObj name="Picture" r:id="rId22" imgW="900695" imgH="749945" progId="Word.Picture.8">
                  <p:embed/>
                  <p:pic>
                    <p:nvPicPr>
                      <p:cNvPr id="0" name="Object 2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715000" y="3200400"/>
                        <a:ext cx="990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35" name="Object 25">
            <a:extLst>
              <a:ext uri="{FF2B5EF4-FFF2-40B4-BE49-F238E27FC236}">
                <a16:creationId xmlns:a16="http://schemas.microsoft.com/office/drawing/2014/main" id="{64E2507C-7B9C-4026-8621-13A1987C193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796390237"/>
              </p:ext>
            </p:extLst>
          </p:nvPr>
        </p:nvGraphicFramePr>
        <p:xfrm>
          <a:off x="7010400" y="3200400"/>
          <a:ext cx="971550" cy="809625"/>
        </p:xfrm>
        <a:graphic>
          <a:graphicData uri="http://schemas.openxmlformats.org/presentationml/2006/ole">
            <mc:AlternateContent xmlns:mc="http://schemas.openxmlformats.org/markup-compatibility/2006">
              <mc:Choice xmlns:v="urn:schemas-microsoft-com:vml" Requires="v">
                <p:oleObj name="Picture" r:id="rId24" imgW="900695" imgH="749945" progId="Word.Picture.8">
                  <p:embed/>
                </p:oleObj>
              </mc:Choice>
              <mc:Fallback>
                <p:oleObj name="Picture" r:id="rId24" imgW="900695" imgH="749945" progId="Word.Picture.8">
                  <p:embed/>
                  <p:pic>
                    <p:nvPicPr>
                      <p:cNvPr id="0" name="Object 2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010400" y="3200400"/>
                        <a:ext cx="9715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38" name="Object 32">
            <a:extLst>
              <a:ext uri="{FF2B5EF4-FFF2-40B4-BE49-F238E27FC236}">
                <a16:creationId xmlns:a16="http://schemas.microsoft.com/office/drawing/2014/main" id="{19519BAF-1578-4E28-B7B7-6B3259D98F9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253542164"/>
              </p:ext>
            </p:extLst>
          </p:nvPr>
        </p:nvGraphicFramePr>
        <p:xfrm>
          <a:off x="3810000" y="4724400"/>
          <a:ext cx="1143000" cy="952500"/>
        </p:xfrm>
        <a:graphic>
          <a:graphicData uri="http://schemas.openxmlformats.org/presentationml/2006/ole">
            <mc:AlternateContent xmlns:mc="http://schemas.openxmlformats.org/markup-compatibility/2006">
              <mc:Choice xmlns:v="urn:schemas-microsoft-com:vml" Requires="v">
                <p:oleObj name="Picture" r:id="rId26" imgW="900695" imgH="749945" progId="Word.Picture.8">
                  <p:embed/>
                </p:oleObj>
              </mc:Choice>
              <mc:Fallback>
                <p:oleObj name="Picture" r:id="rId26" imgW="900695" imgH="749945" progId="Word.Picture.8">
                  <p:embed/>
                  <p:pic>
                    <p:nvPicPr>
                      <p:cNvPr id="0" name="Object 3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810000" y="4724400"/>
                        <a:ext cx="11430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39" name="Line 34">
            <a:extLst>
              <a:ext uri="{FF2B5EF4-FFF2-40B4-BE49-F238E27FC236}">
                <a16:creationId xmlns:a16="http://schemas.microsoft.com/office/drawing/2014/main" id="{F7534404-E939-4F8A-8E03-B370D64E09D9}"/>
              </a:ext>
              <a:ext uri="{C183D7F6-B498-43B3-948B-1728B52AA6E4}">
                <adec:decorative xmlns:adec="http://schemas.microsoft.com/office/drawing/2017/decorative" val="1"/>
              </a:ext>
            </a:extLst>
          </p:cNvPr>
          <p:cNvSpPr>
            <a:spLocks noChangeShapeType="1"/>
          </p:cNvSpPr>
          <p:nvPr/>
        </p:nvSpPr>
        <p:spPr bwMode="auto">
          <a:xfrm>
            <a:off x="1219200" y="4038600"/>
            <a:ext cx="2590800" cy="9906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8940" name="Line 35">
            <a:extLst>
              <a:ext uri="{FF2B5EF4-FFF2-40B4-BE49-F238E27FC236}">
                <a16:creationId xmlns:a16="http://schemas.microsoft.com/office/drawing/2014/main" id="{A3143EE4-6009-42F4-A55C-20F59E57F058}"/>
              </a:ext>
              <a:ext uri="{C183D7F6-B498-43B3-948B-1728B52AA6E4}">
                <adec:decorative xmlns:adec="http://schemas.microsoft.com/office/drawing/2017/decorative" val="1"/>
              </a:ext>
            </a:extLst>
          </p:cNvPr>
          <p:cNvSpPr>
            <a:spLocks noChangeShapeType="1"/>
          </p:cNvSpPr>
          <p:nvPr/>
        </p:nvSpPr>
        <p:spPr bwMode="auto">
          <a:xfrm>
            <a:off x="2362200" y="3962400"/>
            <a:ext cx="1600200" cy="8382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8941" name="Line 36">
            <a:extLst>
              <a:ext uri="{FF2B5EF4-FFF2-40B4-BE49-F238E27FC236}">
                <a16:creationId xmlns:a16="http://schemas.microsoft.com/office/drawing/2014/main" id="{FBD3C822-9FE1-4422-8239-52FBCC648352}"/>
              </a:ext>
              <a:ext uri="{C183D7F6-B498-43B3-948B-1728B52AA6E4}">
                <adec:decorative xmlns:adec="http://schemas.microsoft.com/office/drawing/2017/decorative" val="1"/>
              </a:ext>
            </a:extLst>
          </p:cNvPr>
          <p:cNvSpPr>
            <a:spLocks noChangeShapeType="1"/>
          </p:cNvSpPr>
          <p:nvPr/>
        </p:nvSpPr>
        <p:spPr bwMode="auto">
          <a:xfrm>
            <a:off x="3733800" y="3962400"/>
            <a:ext cx="457200" cy="7620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8942" name="Line 37">
            <a:extLst>
              <a:ext uri="{FF2B5EF4-FFF2-40B4-BE49-F238E27FC236}">
                <a16:creationId xmlns:a16="http://schemas.microsoft.com/office/drawing/2014/main" id="{27690032-236D-4ABF-9A4E-D50A9DA88F55}"/>
              </a:ext>
              <a:ext uri="{C183D7F6-B498-43B3-948B-1728B52AA6E4}">
                <adec:decorative xmlns:adec="http://schemas.microsoft.com/office/drawing/2017/decorative" val="1"/>
              </a:ext>
            </a:extLst>
          </p:cNvPr>
          <p:cNvSpPr>
            <a:spLocks noChangeShapeType="1"/>
          </p:cNvSpPr>
          <p:nvPr/>
        </p:nvSpPr>
        <p:spPr bwMode="auto">
          <a:xfrm flipH="1">
            <a:off x="4572000" y="4038600"/>
            <a:ext cx="381000" cy="6096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8943" name="Line 38">
            <a:extLst>
              <a:ext uri="{FF2B5EF4-FFF2-40B4-BE49-F238E27FC236}">
                <a16:creationId xmlns:a16="http://schemas.microsoft.com/office/drawing/2014/main" id="{FD8183E9-EE25-44EC-A5E0-BD1A7EEBFAE7}"/>
              </a:ext>
              <a:ext uri="{C183D7F6-B498-43B3-948B-1728B52AA6E4}">
                <adec:decorative xmlns:adec="http://schemas.microsoft.com/office/drawing/2017/decorative" val="1"/>
              </a:ext>
            </a:extLst>
          </p:cNvPr>
          <p:cNvSpPr>
            <a:spLocks noChangeShapeType="1"/>
          </p:cNvSpPr>
          <p:nvPr/>
        </p:nvSpPr>
        <p:spPr bwMode="auto">
          <a:xfrm flipH="1">
            <a:off x="4800600" y="4038600"/>
            <a:ext cx="1371600" cy="6858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8944" name="Line 39">
            <a:extLst>
              <a:ext uri="{FF2B5EF4-FFF2-40B4-BE49-F238E27FC236}">
                <a16:creationId xmlns:a16="http://schemas.microsoft.com/office/drawing/2014/main" id="{6CFE369E-A774-40B0-83DB-C6D358CB7FEB}"/>
              </a:ext>
              <a:ext uri="{C183D7F6-B498-43B3-948B-1728B52AA6E4}">
                <adec:decorative xmlns:adec="http://schemas.microsoft.com/office/drawing/2017/decorative" val="1"/>
              </a:ext>
            </a:extLst>
          </p:cNvPr>
          <p:cNvSpPr>
            <a:spLocks noChangeShapeType="1"/>
          </p:cNvSpPr>
          <p:nvPr/>
        </p:nvSpPr>
        <p:spPr bwMode="auto">
          <a:xfrm flipH="1">
            <a:off x="5029200" y="3962400"/>
            <a:ext cx="2438400" cy="9906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8945" name="Rectangle 41">
            <a:extLst>
              <a:ext uri="{FF2B5EF4-FFF2-40B4-BE49-F238E27FC236}">
                <a16:creationId xmlns:a16="http://schemas.microsoft.com/office/drawing/2014/main" id="{AF86C3AC-68E6-4D5A-B503-13497DD2C136}"/>
              </a:ext>
            </a:extLst>
          </p:cNvPr>
          <p:cNvSpPr>
            <a:spLocks noChangeArrowheads="1"/>
          </p:cNvSpPr>
          <p:nvPr/>
        </p:nvSpPr>
        <p:spPr bwMode="auto">
          <a:xfrm>
            <a:off x="685800" y="2819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408</a:t>
            </a:r>
            <a:endParaRPr lang="en-US" altLang="en-US" sz="1200"/>
          </a:p>
        </p:txBody>
      </p:sp>
      <p:sp>
        <p:nvSpPr>
          <p:cNvPr id="38946" name="Rectangle 42">
            <a:extLst>
              <a:ext uri="{FF2B5EF4-FFF2-40B4-BE49-F238E27FC236}">
                <a16:creationId xmlns:a16="http://schemas.microsoft.com/office/drawing/2014/main" id="{E317EF87-7A34-4E27-A63D-49DC33AE6BD1}"/>
              </a:ext>
            </a:extLst>
          </p:cNvPr>
          <p:cNvSpPr>
            <a:spLocks noChangeArrowheads="1"/>
          </p:cNvSpPr>
          <p:nvPr/>
        </p:nvSpPr>
        <p:spPr bwMode="auto">
          <a:xfrm>
            <a:off x="1828800" y="2819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488</a:t>
            </a:r>
            <a:endParaRPr lang="en-US" altLang="en-US" sz="1200"/>
          </a:p>
        </p:txBody>
      </p:sp>
      <p:sp>
        <p:nvSpPr>
          <p:cNvPr id="38947" name="Rectangle 43">
            <a:extLst>
              <a:ext uri="{FF2B5EF4-FFF2-40B4-BE49-F238E27FC236}">
                <a16:creationId xmlns:a16="http://schemas.microsoft.com/office/drawing/2014/main" id="{D8518D9B-5476-47E8-8AC6-D5AA74E2B263}"/>
              </a:ext>
            </a:extLst>
          </p:cNvPr>
          <p:cNvSpPr>
            <a:spLocks noChangeArrowheads="1"/>
          </p:cNvSpPr>
          <p:nvPr/>
        </p:nvSpPr>
        <p:spPr bwMode="auto">
          <a:xfrm>
            <a:off x="3200400" y="2819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240</a:t>
            </a:r>
            <a:endParaRPr lang="en-US" altLang="en-US" sz="1200"/>
          </a:p>
        </p:txBody>
      </p:sp>
      <p:sp>
        <p:nvSpPr>
          <p:cNvPr id="38948" name="Rectangle 44">
            <a:extLst>
              <a:ext uri="{FF2B5EF4-FFF2-40B4-BE49-F238E27FC236}">
                <a16:creationId xmlns:a16="http://schemas.microsoft.com/office/drawing/2014/main" id="{B6187BA8-C7E4-453D-B1A2-37A913CB8AAE}"/>
              </a:ext>
            </a:extLst>
          </p:cNvPr>
          <p:cNvSpPr>
            <a:spLocks noChangeArrowheads="1"/>
          </p:cNvSpPr>
          <p:nvPr/>
        </p:nvSpPr>
        <p:spPr bwMode="auto">
          <a:xfrm>
            <a:off x="4419600" y="2819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30</a:t>
            </a:r>
            <a:endParaRPr lang="en-US" altLang="en-US" sz="1200"/>
          </a:p>
        </p:txBody>
      </p:sp>
      <p:sp>
        <p:nvSpPr>
          <p:cNvPr id="38949" name="Rectangle 45">
            <a:extLst>
              <a:ext uri="{FF2B5EF4-FFF2-40B4-BE49-F238E27FC236}">
                <a16:creationId xmlns:a16="http://schemas.microsoft.com/office/drawing/2014/main" id="{87D66EB3-787F-4D30-B5F3-2731935C8516}"/>
              </a:ext>
            </a:extLst>
          </p:cNvPr>
          <p:cNvSpPr>
            <a:spLocks noChangeArrowheads="1"/>
          </p:cNvSpPr>
          <p:nvPr/>
        </p:nvSpPr>
        <p:spPr bwMode="auto">
          <a:xfrm>
            <a:off x="5715000" y="2819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47</a:t>
            </a:r>
            <a:endParaRPr lang="en-US" altLang="en-US" sz="1200"/>
          </a:p>
        </p:txBody>
      </p:sp>
      <p:sp>
        <p:nvSpPr>
          <p:cNvPr id="38950" name="Rectangle 46">
            <a:extLst>
              <a:ext uri="{FF2B5EF4-FFF2-40B4-BE49-F238E27FC236}">
                <a16:creationId xmlns:a16="http://schemas.microsoft.com/office/drawing/2014/main" id="{27C3979A-0B27-497A-B0FF-629F38F4AFC0}"/>
              </a:ext>
            </a:extLst>
          </p:cNvPr>
          <p:cNvSpPr>
            <a:spLocks noChangeArrowheads="1"/>
          </p:cNvSpPr>
          <p:nvPr/>
        </p:nvSpPr>
        <p:spPr bwMode="auto">
          <a:xfrm>
            <a:off x="7086600" y="2819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51</a:t>
            </a:r>
            <a:endParaRPr lang="en-US" altLang="en-US" sz="1200"/>
          </a:p>
        </p:txBody>
      </p:sp>
      <p:sp>
        <p:nvSpPr>
          <p:cNvPr id="38951" name="Rectangle 47">
            <a:extLst>
              <a:ext uri="{FF2B5EF4-FFF2-40B4-BE49-F238E27FC236}">
                <a16:creationId xmlns:a16="http://schemas.microsoft.com/office/drawing/2014/main" id="{04D1CF7A-3DAC-4D91-BF7E-589C69811F76}"/>
              </a:ext>
            </a:extLst>
          </p:cNvPr>
          <p:cNvSpPr>
            <a:spLocks noChangeArrowheads="1"/>
          </p:cNvSpPr>
          <p:nvPr/>
        </p:nvSpPr>
        <p:spPr bwMode="auto">
          <a:xfrm>
            <a:off x="5029200" y="52578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56</a:t>
            </a:r>
            <a:endParaRPr lang="en-US" altLang="en-US" sz="1200"/>
          </a:p>
        </p:txBody>
      </p:sp>
      <p:sp>
        <p:nvSpPr>
          <p:cNvPr id="38952" name="Line 48">
            <a:extLst>
              <a:ext uri="{FF2B5EF4-FFF2-40B4-BE49-F238E27FC236}">
                <a16:creationId xmlns:a16="http://schemas.microsoft.com/office/drawing/2014/main" id="{59205B9A-CFBE-469D-80FC-3088FE99AABC}"/>
              </a:ext>
              <a:ext uri="{C183D7F6-B498-43B3-948B-1728B52AA6E4}">
                <adec:decorative xmlns:adec="http://schemas.microsoft.com/office/drawing/2017/decorative" val="1"/>
              </a:ext>
            </a:extLst>
          </p:cNvPr>
          <p:cNvSpPr>
            <a:spLocks noChangeShapeType="1"/>
          </p:cNvSpPr>
          <p:nvPr/>
        </p:nvSpPr>
        <p:spPr bwMode="auto">
          <a:xfrm flipH="1">
            <a:off x="6400800" y="2209800"/>
            <a:ext cx="152400" cy="7620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8953" name="Line 49">
            <a:extLst>
              <a:ext uri="{FF2B5EF4-FFF2-40B4-BE49-F238E27FC236}">
                <a16:creationId xmlns:a16="http://schemas.microsoft.com/office/drawing/2014/main" id="{E7F905AD-2B27-42A8-BCF0-191844AA432A}"/>
              </a:ext>
              <a:ext uri="{C183D7F6-B498-43B3-948B-1728B52AA6E4}">
                <adec:decorative xmlns:adec="http://schemas.microsoft.com/office/drawing/2017/decorative" val="1"/>
              </a:ext>
            </a:extLst>
          </p:cNvPr>
          <p:cNvSpPr>
            <a:spLocks noChangeShapeType="1"/>
          </p:cNvSpPr>
          <p:nvPr/>
        </p:nvSpPr>
        <p:spPr bwMode="auto">
          <a:xfrm flipH="1">
            <a:off x="2590800" y="2209800"/>
            <a:ext cx="3657600" cy="9144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a:extLst>
              <a:ext uri="{FF2B5EF4-FFF2-40B4-BE49-F238E27FC236}">
                <a16:creationId xmlns:a16="http://schemas.microsoft.com/office/drawing/2014/main" id="{DCE35B27-2B93-4D52-8F36-1216B6D73EEB}"/>
              </a:ext>
            </a:extLst>
          </p:cNvPr>
          <p:cNvSpPr>
            <a:spLocks noGrp="1" noChangeArrowheads="1"/>
          </p:cNvSpPr>
          <p:nvPr>
            <p:ph type="title"/>
          </p:nvPr>
        </p:nvSpPr>
        <p:spPr>
          <a:xfrm>
            <a:off x="685800" y="228600"/>
            <a:ext cx="7772400" cy="552450"/>
          </a:xfrm>
        </p:spPr>
        <p:txBody>
          <a:bodyPr/>
          <a:lstStyle/>
          <a:p>
            <a:r>
              <a:rPr lang="en-US" altLang="en-US" dirty="0" err="1"/>
              <a:t>NineTailModel</a:t>
            </a:r>
            <a:r>
              <a:rPr lang="en-US" altLang="en-US" dirty="0"/>
              <a:t> </a:t>
            </a:r>
          </a:p>
        </p:txBody>
      </p:sp>
      <p:sp>
        <p:nvSpPr>
          <p:cNvPr id="39938" name="Slide Number Placeholder 4">
            <a:extLst>
              <a:ext uri="{FF2B5EF4-FFF2-40B4-BE49-F238E27FC236}">
                <a16:creationId xmlns:a16="http://schemas.microsoft.com/office/drawing/2014/main" id="{97980CDF-2016-4060-96B8-2EFC5135067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8847CD8-38DD-44D9-9F61-D53B8B44448F}" type="slidenum">
              <a:rPr lang="en-US" altLang="en-US" sz="1400"/>
              <a:pPr>
                <a:spcBef>
                  <a:spcPct val="0"/>
                </a:spcBef>
                <a:buClrTx/>
                <a:buSzTx/>
                <a:buFontTx/>
                <a:buNone/>
              </a:pPr>
              <a:t>37</a:t>
            </a:fld>
            <a:endParaRPr lang="en-US" altLang="en-US" sz="1400"/>
          </a:p>
        </p:txBody>
      </p:sp>
      <p:graphicFrame>
        <p:nvGraphicFramePr>
          <p:cNvPr id="39946" name="Object 2">
            <a:extLst>
              <a:ext uri="{FF2B5EF4-FFF2-40B4-BE49-F238E27FC236}">
                <a16:creationId xmlns:a16="http://schemas.microsoft.com/office/drawing/2014/main" id="{841165DD-6AF3-4F89-B030-9FC80222858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508852757"/>
              </p:ext>
            </p:extLst>
          </p:nvPr>
        </p:nvGraphicFramePr>
        <p:xfrm>
          <a:off x="0" y="1143000"/>
          <a:ext cx="9144000" cy="4114800"/>
        </p:xfrm>
        <a:graphic>
          <a:graphicData uri="http://schemas.openxmlformats.org/presentationml/2006/ole">
            <mc:AlternateContent xmlns:mc="http://schemas.openxmlformats.org/markup-compatibility/2006">
              <mc:Choice xmlns:v="urn:schemas-microsoft-com:vml" Requires="v">
                <p:oleObj name="Picture" r:id="rId2" imgW="4572000" imgH="2057400" progId="Word.Picture.8">
                  <p:embed/>
                </p:oleObj>
              </mc:Choice>
              <mc:Fallback>
                <p:oleObj name="Picture" r:id="rId2" imgW="4572000" imgH="2057400" progId="Word.Picture.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9144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8" name="Rectangle 17">
            <a:hlinkClick r:id="rId4"/>
            <a:extLst>
              <a:ext uri="{FF2B5EF4-FFF2-40B4-BE49-F238E27FC236}">
                <a16:creationId xmlns:a16="http://schemas.microsoft.com/office/drawing/2014/main" id="{A31CA97D-4847-4200-8458-3FD3963C3B45}"/>
              </a:ext>
            </a:extLst>
          </p:cNvPr>
          <p:cNvSpPr>
            <a:spLocks noChangeArrowheads="1"/>
          </p:cNvSpPr>
          <p:nvPr/>
        </p:nvSpPr>
        <p:spPr bwMode="auto">
          <a:xfrm>
            <a:off x="6592888" y="5803900"/>
            <a:ext cx="13716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NineTail</a:t>
            </a:r>
          </a:p>
        </p:txBody>
      </p:sp>
      <p:sp>
        <p:nvSpPr>
          <p:cNvPr id="39949" name="Rectangle 19">
            <a:hlinkClick r:id="rId5"/>
            <a:extLst>
              <a:ext uri="{FF2B5EF4-FFF2-40B4-BE49-F238E27FC236}">
                <a16:creationId xmlns:a16="http://schemas.microsoft.com/office/drawing/2014/main" id="{71CA0696-51F3-4A20-8289-32F3FA6CE31A}"/>
              </a:ext>
            </a:extLst>
          </p:cNvPr>
          <p:cNvSpPr>
            <a:spLocks noChangeArrowheads="1"/>
          </p:cNvSpPr>
          <p:nvPr/>
        </p:nvSpPr>
        <p:spPr bwMode="auto">
          <a:xfrm>
            <a:off x="4494213" y="5803900"/>
            <a:ext cx="1963737"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NineTailModel</a:t>
            </a:r>
          </a:p>
        </p:txBody>
      </p:sp>
    </p:spTree>
  </p:cSld>
  <p:clrMapOvr>
    <a:masterClrMapping/>
  </p:clrMapOvr>
</p:sld>
</file>

<file path=ppt/theme/theme1.xml><?xml version="1.0" encoding="utf-8"?>
<a:theme xmlns:a="http://schemas.openxmlformats.org/drawingml/2006/main" name="Internation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Chapter 25 - Binary Search Trees</Template>
  <TotalTime>49149</TotalTime>
  <Words>1938</Words>
  <Application>Microsoft Office PowerPoint</Application>
  <PresentationFormat>On-screen Show (4:3)</PresentationFormat>
  <Paragraphs>254</Paragraphs>
  <Slides>37</Slides>
  <Notes>4</Notes>
  <HiddenSlides>1</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3" baseType="lpstr">
      <vt:lpstr>Arial</vt:lpstr>
      <vt:lpstr>Monotype Sorts</vt:lpstr>
      <vt:lpstr>Times New Roman</vt:lpstr>
      <vt:lpstr>Wingdings</vt:lpstr>
      <vt:lpstr>International</vt:lpstr>
      <vt:lpstr>Picture</vt:lpstr>
      <vt:lpstr>Chapter 28 Graphs and Applications</vt:lpstr>
      <vt:lpstr>Objectives</vt:lpstr>
      <vt:lpstr>Modeling Using Graphs</vt:lpstr>
      <vt:lpstr>Graph Animation</vt:lpstr>
      <vt:lpstr>Seven Bridges of Königsberg </vt:lpstr>
      <vt:lpstr>Basic Graph Terminologies </vt:lpstr>
      <vt:lpstr>Directed vs Undirected Graph </vt:lpstr>
      <vt:lpstr>Basic Graph Terminologies </vt:lpstr>
      <vt:lpstr>Representing Graphs </vt:lpstr>
      <vt:lpstr>Representing Vertices </vt:lpstr>
      <vt:lpstr>Representing Edges: Edge Array </vt:lpstr>
      <vt:lpstr>Representing Edges: Edge Object </vt:lpstr>
      <vt:lpstr>Representing Edges: Adjacency Matrix </vt:lpstr>
      <vt:lpstr>Representing Edges: Adjacency Vertex List </vt:lpstr>
      <vt:lpstr>Representing Edges: Adjacency Edge List </vt:lpstr>
      <vt:lpstr>Representing Adjacency Edge List Using ArrayList </vt:lpstr>
      <vt:lpstr>Modeling Graphs </vt:lpstr>
      <vt:lpstr>Graph</vt:lpstr>
      <vt:lpstr>Graph Visualization</vt:lpstr>
      <vt:lpstr>Weighted Graphs</vt:lpstr>
      <vt:lpstr>Weighted Graphs</vt:lpstr>
      <vt:lpstr>Graph Traversals </vt:lpstr>
      <vt:lpstr>Depth-First Search </vt:lpstr>
      <vt:lpstr>Depth-First Search Example</vt:lpstr>
      <vt:lpstr>Depth-First Search Example</vt:lpstr>
      <vt:lpstr>Applications of the DFS </vt:lpstr>
      <vt:lpstr>The Connected Circles Problem</vt:lpstr>
      <vt:lpstr>Breadth-First Search </vt:lpstr>
      <vt:lpstr>Breadth-First Search Algorithm</vt:lpstr>
      <vt:lpstr>Breadth-First Search Example</vt:lpstr>
      <vt:lpstr>Breadth-First Search Example</vt:lpstr>
      <vt:lpstr>Applications of the BFS </vt:lpstr>
      <vt:lpstr>The Nine Tail Problem </vt:lpstr>
      <vt:lpstr>Nine Tail GUI Demo</vt:lpstr>
      <vt:lpstr>Representing Nine Coins</vt:lpstr>
      <vt:lpstr>Model the Nine Tail Problem </vt:lpstr>
      <vt:lpstr>NineTailModel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Objects and Classes</dc:title>
  <dc:creator>Y. Daniel Liang</dc:creator>
  <cp:lastModifiedBy>Nguyen, Phuong Tran Lan</cp:lastModifiedBy>
  <cp:revision>281</cp:revision>
  <dcterms:created xsi:type="dcterms:W3CDTF">1995-06-10T17:31:50Z</dcterms:created>
  <dcterms:modified xsi:type="dcterms:W3CDTF">2025-11-25T17:12:36Z</dcterms:modified>
</cp:coreProperties>
</file>