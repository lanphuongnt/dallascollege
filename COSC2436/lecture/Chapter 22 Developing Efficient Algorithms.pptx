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60" r:id="rId1"/>
  </p:sldMasterIdLst>
  <p:notesMasterIdLst>
    <p:notesMasterId r:id="rId55"/>
  </p:notesMasterIdLst>
  <p:handoutMasterIdLst>
    <p:handoutMasterId r:id="rId56"/>
  </p:handoutMasterIdLst>
  <p:sldIdLst>
    <p:sldId id="413" r:id="rId2"/>
    <p:sldId id="478" r:id="rId3"/>
    <p:sldId id="482" r:id="rId4"/>
    <p:sldId id="483" r:id="rId5"/>
    <p:sldId id="484" r:id="rId6"/>
    <p:sldId id="485" r:id="rId7"/>
    <p:sldId id="486" r:id="rId8"/>
    <p:sldId id="488" r:id="rId9"/>
    <p:sldId id="534" r:id="rId10"/>
    <p:sldId id="490" r:id="rId11"/>
    <p:sldId id="524" r:id="rId12"/>
    <p:sldId id="525" r:id="rId13"/>
    <p:sldId id="526" r:id="rId14"/>
    <p:sldId id="527" r:id="rId15"/>
    <p:sldId id="528" r:id="rId16"/>
    <p:sldId id="529" r:id="rId17"/>
    <p:sldId id="489" r:id="rId18"/>
    <p:sldId id="546" r:id="rId19"/>
    <p:sldId id="547" r:id="rId20"/>
    <p:sldId id="522" r:id="rId21"/>
    <p:sldId id="491" r:id="rId22"/>
    <p:sldId id="548" r:id="rId23"/>
    <p:sldId id="492" r:id="rId24"/>
    <p:sldId id="493" r:id="rId25"/>
    <p:sldId id="555" r:id="rId26"/>
    <p:sldId id="499" r:id="rId27"/>
    <p:sldId id="544" r:id="rId28"/>
    <p:sldId id="531" r:id="rId29"/>
    <p:sldId id="532" r:id="rId30"/>
    <p:sldId id="533" r:id="rId31"/>
    <p:sldId id="543" r:id="rId32"/>
    <p:sldId id="535" r:id="rId33"/>
    <p:sldId id="556" r:id="rId34"/>
    <p:sldId id="562" r:id="rId35"/>
    <p:sldId id="536" r:id="rId36"/>
    <p:sldId id="537" r:id="rId37"/>
    <p:sldId id="539" r:id="rId38"/>
    <p:sldId id="540" r:id="rId39"/>
    <p:sldId id="541" r:id="rId40"/>
    <p:sldId id="557" r:id="rId41"/>
    <p:sldId id="542" r:id="rId42"/>
    <p:sldId id="563" r:id="rId43"/>
    <p:sldId id="561" r:id="rId44"/>
    <p:sldId id="558" r:id="rId45"/>
    <p:sldId id="560" r:id="rId46"/>
    <p:sldId id="559" r:id="rId47"/>
    <p:sldId id="550" r:id="rId48"/>
    <p:sldId id="545" r:id="rId49"/>
    <p:sldId id="551" r:id="rId50"/>
    <p:sldId id="553" r:id="rId51"/>
    <p:sldId id="552" r:id="rId52"/>
    <p:sldId id="554" r:id="rId53"/>
    <p:sldId id="538" r:id="rId5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728">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51" autoAdjust="0"/>
    <p:restoredTop sz="92280" autoAdjust="0"/>
  </p:normalViewPr>
  <p:slideViewPr>
    <p:cSldViewPr>
      <p:cViewPr varScale="1">
        <p:scale>
          <a:sx n="54" d="100"/>
          <a:sy n="54" d="100"/>
        </p:scale>
        <p:origin x="33" y="384"/>
      </p:cViewPr>
      <p:guideLst>
        <p:guide orient="horz" pos="1728"/>
        <p:guide pos="576"/>
      </p:guideLst>
    </p:cSldViewPr>
  </p:slideViewPr>
  <p:outlineViewPr>
    <p:cViewPr>
      <p:scale>
        <a:sx n="33" d="100"/>
        <a:sy n="33" d="100"/>
      </p:scale>
      <p:origin x="0" y="-25350"/>
    </p:cViewPr>
  </p:outlineViewPr>
  <p:notesTextViewPr>
    <p:cViewPr>
      <p:scale>
        <a:sx n="100" d="100"/>
        <a:sy n="100" d="100"/>
      </p:scale>
      <p:origin x="0" y="0"/>
    </p:cViewPr>
  </p:notesTextViewPr>
  <p:sorterViewPr>
    <p:cViewPr>
      <p:scale>
        <a:sx n="100" d="100"/>
        <a:sy n="100" d="100"/>
      </p:scale>
      <p:origin x="0" y="-6990"/>
    </p:cViewPr>
  </p:sorterViewPr>
  <p:notesViewPr>
    <p:cSldViewPr>
      <p:cViewPr varScale="1">
        <p:scale>
          <a:sx n="43" d="100"/>
          <a:sy n="43" d="100"/>
        </p:scale>
        <p:origin x="-1422" y="-8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7E62B72-21A9-4697-A95B-57FB7590A6A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45760D0D-F34D-4BD6-B332-76ACBD4627C0}"/>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3076" name="Rectangle 4">
            <a:extLst>
              <a:ext uri="{FF2B5EF4-FFF2-40B4-BE49-F238E27FC236}">
                <a16:creationId xmlns:a16="http://schemas.microsoft.com/office/drawing/2014/main" id="{65DDBE46-84F3-4677-8AC2-A9AD41C43FE3}"/>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9FB425DD-A134-4FFD-9226-311E9F6A16D2}"/>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66575D49-1CB0-481F-8B76-1FC77EF655EA}"/>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77E3352E-F902-441B-8673-9FFCF10FBB4D}"/>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1D03DAE7-28BA-45A3-BDE7-604E43459F9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dirty="0"/>
              <a:t>O(n): linear</a:t>
            </a:r>
          </a:p>
          <a:p>
            <a:r>
              <a:rPr lang="en-US" dirty="0"/>
              <a:t>O(n^2): quadratic</a:t>
            </a:r>
          </a:p>
          <a:p>
            <a:r>
              <a:rPr lang="en-US" dirty="0"/>
              <a:t>O(1): constant</a:t>
            </a:r>
          </a:p>
          <a:p>
            <a:r>
              <a:rPr lang="en-US" dirty="0"/>
              <a:t>O(</a:t>
            </a:r>
            <a:r>
              <a:rPr lang="en-US" dirty="0" err="1"/>
              <a:t>logn</a:t>
            </a:r>
            <a:r>
              <a:rPr lang="en-US" dirty="0"/>
              <a:t>): logarithmic</a:t>
            </a:r>
            <a:endParaRPr lang="vi-VN" dirty="0"/>
          </a:p>
        </p:txBody>
      </p:sp>
      <p:sp>
        <p:nvSpPr>
          <p:cNvPr id="4" name="Slide Number Placeholder 3"/>
          <p:cNvSpPr>
            <a:spLocks noGrp="1"/>
          </p:cNvSpPr>
          <p:nvPr>
            <p:ph type="sldNum" sz="quarter" idx="5"/>
          </p:nvPr>
        </p:nvSpPr>
        <p:spPr/>
        <p:txBody>
          <a:bodyPr/>
          <a:lstStyle/>
          <a:p>
            <a:fld id="{1D03DAE7-28BA-45A3-BDE7-604E43459F92}" type="slidenum">
              <a:rPr lang="en-US" altLang="en-US" smtClean="0"/>
              <a:pPr/>
              <a:t>17</a:t>
            </a:fld>
            <a:endParaRPr lang="en-US" altLang="en-US"/>
          </a:p>
        </p:txBody>
      </p:sp>
    </p:spTree>
    <p:extLst>
      <p:ext uri="{BB962C8B-B14F-4D97-AF65-F5344CB8AC3E}">
        <p14:creationId xmlns:p14="http://schemas.microsoft.com/office/powerpoint/2010/main" val="3213322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DE2019F-57BE-4FC0-BA3C-98A9AC6C8EF5}"/>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55BF490-80D5-468B-B29C-1412397C747B}" type="slidenum">
              <a:rPr lang="en-US" altLang="en-US" sz="1000"/>
              <a:pPr/>
              <a:t>38</a:t>
            </a:fld>
            <a:endParaRPr lang="en-US" altLang="en-US" sz="1000"/>
          </a:p>
        </p:txBody>
      </p:sp>
      <p:sp>
        <p:nvSpPr>
          <p:cNvPr id="43011" name="Rectangle 2">
            <a:extLst>
              <a:ext uri="{FF2B5EF4-FFF2-40B4-BE49-F238E27FC236}">
                <a16:creationId xmlns:a16="http://schemas.microsoft.com/office/drawing/2014/main" id="{0DCD36A1-E66F-41FE-B65D-FF40FED1976B}"/>
              </a:ext>
            </a:extLst>
          </p:cNvPr>
          <p:cNvSpPr>
            <a:spLocks noGrp="1" noRot="1" noChangeAspect="1" noChangeArrowheads="1" noTextEdit="1"/>
          </p:cNvSpPr>
          <p:nvPr>
            <p:ph type="sldImg"/>
          </p:nvPr>
        </p:nvSpPr>
        <p:spPr>
          <a:xfrm>
            <a:off x="1143000" y="685800"/>
            <a:ext cx="4572000" cy="3429000"/>
          </a:xfrm>
          <a:ln/>
        </p:spPr>
      </p:sp>
      <p:sp>
        <p:nvSpPr>
          <p:cNvPr id="43012" name="Rectangle 3">
            <a:extLst>
              <a:ext uri="{FF2B5EF4-FFF2-40B4-BE49-F238E27FC236}">
                <a16:creationId xmlns:a16="http://schemas.microsoft.com/office/drawing/2014/main" id="{4653812C-EEEB-44A7-A2EC-38BF827BE096}"/>
              </a:ext>
            </a:extLst>
          </p:cNvPr>
          <p:cNvSpPr>
            <a:spLocks noGrp="1" noChangeArrowheads="1"/>
          </p:cNvSpPr>
          <p:nvPr>
            <p:ph type="body" idx="1"/>
          </p:nvPr>
        </p:nvSpPr>
        <p:spPr>
          <a:noFill/>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307BBD64-98DE-4A28-AE95-FD50E1E83F9B}"/>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B1526A4-17F4-4AC9-90B1-9AEB475A032A}" type="slidenum">
              <a:rPr lang="en-US" altLang="en-US" sz="1000"/>
              <a:pPr/>
              <a:t>44</a:t>
            </a:fld>
            <a:endParaRPr lang="en-US" altLang="en-US" sz="1000"/>
          </a:p>
        </p:txBody>
      </p:sp>
      <p:sp>
        <p:nvSpPr>
          <p:cNvPr id="49155" name="Rectangle 2">
            <a:extLst>
              <a:ext uri="{FF2B5EF4-FFF2-40B4-BE49-F238E27FC236}">
                <a16:creationId xmlns:a16="http://schemas.microsoft.com/office/drawing/2014/main" id="{ADD6904A-5E47-4A9A-986B-7BA82B8D0F03}"/>
              </a:ext>
            </a:extLst>
          </p:cNvPr>
          <p:cNvSpPr>
            <a:spLocks noGrp="1" noRot="1" noChangeAspect="1" noChangeArrowheads="1" noTextEdit="1"/>
          </p:cNvSpPr>
          <p:nvPr>
            <p:ph type="sldImg"/>
          </p:nvPr>
        </p:nvSpPr>
        <p:spPr>
          <a:xfrm>
            <a:off x="1143000" y="685800"/>
            <a:ext cx="4572000" cy="3429000"/>
          </a:xfrm>
          <a:ln/>
        </p:spPr>
      </p:sp>
      <p:sp>
        <p:nvSpPr>
          <p:cNvPr id="49156" name="Rectangle 3">
            <a:extLst>
              <a:ext uri="{FF2B5EF4-FFF2-40B4-BE49-F238E27FC236}">
                <a16:creationId xmlns:a16="http://schemas.microsoft.com/office/drawing/2014/main" id="{79C130F8-15CA-4D9C-9DAC-E44933FC6F32}"/>
              </a:ext>
            </a:extLst>
          </p:cNvPr>
          <p:cNvSpPr>
            <a:spLocks noGrp="1" noChangeArrowheads="1"/>
          </p:cNvSpPr>
          <p:nvPr>
            <p:ph type="body" idx="1"/>
          </p:nvPr>
        </p:nvSpPr>
        <p:spPr>
          <a:noFill/>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87A573A-B2DC-41DE-B017-9DC66085137B}"/>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B9D6E35-FE13-4533-8505-3CD7BD09DBB4}" type="slidenum">
              <a:rPr lang="en-US" altLang="en-US" sz="1000"/>
              <a:pPr/>
              <a:t>46</a:t>
            </a:fld>
            <a:endParaRPr lang="en-US" altLang="en-US" sz="1000"/>
          </a:p>
        </p:txBody>
      </p:sp>
      <p:sp>
        <p:nvSpPr>
          <p:cNvPr id="52227" name="Rectangle 2">
            <a:extLst>
              <a:ext uri="{FF2B5EF4-FFF2-40B4-BE49-F238E27FC236}">
                <a16:creationId xmlns:a16="http://schemas.microsoft.com/office/drawing/2014/main" id="{454FFD14-2578-48AD-B792-538997A2E843}"/>
              </a:ext>
            </a:extLst>
          </p:cNvPr>
          <p:cNvSpPr>
            <a:spLocks noGrp="1" noRot="1" noChangeAspect="1" noChangeArrowheads="1" noTextEdit="1"/>
          </p:cNvSpPr>
          <p:nvPr>
            <p:ph type="sldImg"/>
          </p:nvPr>
        </p:nvSpPr>
        <p:spPr>
          <a:xfrm>
            <a:off x="1143000" y="685800"/>
            <a:ext cx="4572000" cy="3429000"/>
          </a:xfrm>
          <a:ln/>
        </p:spPr>
      </p:sp>
      <p:sp>
        <p:nvSpPr>
          <p:cNvPr id="52228" name="Rectangle 3">
            <a:extLst>
              <a:ext uri="{FF2B5EF4-FFF2-40B4-BE49-F238E27FC236}">
                <a16:creationId xmlns:a16="http://schemas.microsoft.com/office/drawing/2014/main" id="{E082E83F-B191-44E1-9429-03240995E3D5}"/>
              </a:ext>
            </a:extLst>
          </p:cNvPr>
          <p:cNvSpPr>
            <a:spLocks noGrp="1" noChangeArrowheads="1"/>
          </p:cNvSpPr>
          <p:nvPr>
            <p:ph type="body" idx="1"/>
          </p:nvPr>
        </p:nvSpPr>
        <p:spPr>
          <a:noFill/>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a:extLst>
              <a:ext uri="{FF2B5EF4-FFF2-40B4-BE49-F238E27FC236}">
                <a16:creationId xmlns:a16="http://schemas.microsoft.com/office/drawing/2014/main" id="{61FC91DB-7ADF-4F5A-BE25-54B5E3D6A24C}"/>
              </a:ext>
            </a:extLst>
          </p:cNvPr>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71927960-2F8B-4333-9003-3DB92F56F481}"/>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a:extLst>
                <a:ext uri="{FF2B5EF4-FFF2-40B4-BE49-F238E27FC236}">
                  <a16:creationId xmlns:a16="http://schemas.microsoft.com/office/drawing/2014/main" id="{40FC582F-6612-4C14-99AD-1BEEABB34391}"/>
                </a:ext>
              </a:extLst>
            </p:cNvPr>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A42B4868-8E85-4E67-9A7E-0EA85A096585}"/>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a:extLst>
                  <a:ext uri="{FF2B5EF4-FFF2-40B4-BE49-F238E27FC236}">
                    <a16:creationId xmlns:a16="http://schemas.microsoft.com/office/drawing/2014/main" id="{BDD480BE-E0B8-4DCC-9F8D-21628FAF588C}"/>
                  </a:ext>
                </a:extLst>
              </p:cNvPr>
              <p:cNvGrpSpPr>
                <a:grpSpLocks/>
              </p:cNvGrpSpPr>
              <p:nvPr/>
            </p:nvGrpSpPr>
            <p:grpSpPr bwMode="auto">
              <a:xfrm>
                <a:off x="2289" y="72"/>
                <a:ext cx="1440" cy="1984"/>
                <a:chOff x="2289" y="72"/>
                <a:chExt cx="1440" cy="1984"/>
              </a:xfrm>
            </p:grpSpPr>
            <p:sp>
              <p:nvSpPr>
                <p:cNvPr id="29" name="Freeform 4">
                  <a:extLst>
                    <a:ext uri="{FF2B5EF4-FFF2-40B4-BE49-F238E27FC236}">
                      <a16:creationId xmlns:a16="http://schemas.microsoft.com/office/drawing/2014/main" id="{168EE059-6BB5-42C5-96E3-66D90C9B9F3D}"/>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a:extLst>
                    <a:ext uri="{FF2B5EF4-FFF2-40B4-BE49-F238E27FC236}">
                      <a16:creationId xmlns:a16="http://schemas.microsoft.com/office/drawing/2014/main" id="{9E5D42EF-22AB-4645-BBFD-4F6971CB4700}"/>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a:extLst>
                    <a:ext uri="{FF2B5EF4-FFF2-40B4-BE49-F238E27FC236}">
                      <a16:creationId xmlns:a16="http://schemas.microsoft.com/office/drawing/2014/main" id="{897446EE-2740-42A8-9EEB-118C99368CAF}"/>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a:extLst>
                    <a:ext uri="{FF2B5EF4-FFF2-40B4-BE49-F238E27FC236}">
                      <a16:creationId xmlns:a16="http://schemas.microsoft.com/office/drawing/2014/main" id="{D28D7690-CB0B-4620-8A92-57BCA6DA968E}"/>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a:extLst>
                    <a:ext uri="{FF2B5EF4-FFF2-40B4-BE49-F238E27FC236}">
                      <a16:creationId xmlns:a16="http://schemas.microsoft.com/office/drawing/2014/main" id="{5765BC86-DECA-4DEA-B069-2914D53EAEF9}"/>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09888EB4-3B26-49B0-9054-3F442DFD260B}"/>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a:extLst>
                  <a:ext uri="{FF2B5EF4-FFF2-40B4-BE49-F238E27FC236}">
                    <a16:creationId xmlns:a16="http://schemas.microsoft.com/office/drawing/2014/main" id="{B9D4BEEF-5BB3-4E90-9095-AE08BE9896A9}"/>
                  </a:ext>
                </a:extLst>
              </p:cNvPr>
              <p:cNvGrpSpPr>
                <a:grpSpLocks/>
              </p:cNvGrpSpPr>
              <p:nvPr/>
            </p:nvGrpSpPr>
            <p:grpSpPr bwMode="auto">
              <a:xfrm>
                <a:off x="2071" y="406"/>
                <a:ext cx="1392" cy="1109"/>
                <a:chOff x="2071" y="406"/>
                <a:chExt cx="1392" cy="1109"/>
              </a:xfrm>
            </p:grpSpPr>
            <p:sp>
              <p:nvSpPr>
                <p:cNvPr id="11" name="Freeform 11">
                  <a:extLst>
                    <a:ext uri="{FF2B5EF4-FFF2-40B4-BE49-F238E27FC236}">
                      <a16:creationId xmlns:a16="http://schemas.microsoft.com/office/drawing/2014/main" id="{59EF1FB1-AEFF-4676-AD82-C39B502E736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a:extLst>
                    <a:ext uri="{FF2B5EF4-FFF2-40B4-BE49-F238E27FC236}">
                      <a16:creationId xmlns:a16="http://schemas.microsoft.com/office/drawing/2014/main" id="{6C75F2F0-4B08-40AC-8E73-2B8D8891CD6F}"/>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a:extLst>
                    <a:ext uri="{FF2B5EF4-FFF2-40B4-BE49-F238E27FC236}">
                      <a16:creationId xmlns:a16="http://schemas.microsoft.com/office/drawing/2014/main" id="{A2D58DBB-835B-4D45-BE27-3DF11D0E8FA0}"/>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a:extLst>
                    <a:ext uri="{FF2B5EF4-FFF2-40B4-BE49-F238E27FC236}">
                      <a16:creationId xmlns:a16="http://schemas.microsoft.com/office/drawing/2014/main" id="{437C4EB7-F055-4001-A409-0D3789A09CCA}"/>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a:extLst>
                    <a:ext uri="{FF2B5EF4-FFF2-40B4-BE49-F238E27FC236}">
                      <a16:creationId xmlns:a16="http://schemas.microsoft.com/office/drawing/2014/main" id="{A3A9430C-E256-41E4-8B42-D8AEF67883F2}"/>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a:extLst>
                    <a:ext uri="{FF2B5EF4-FFF2-40B4-BE49-F238E27FC236}">
                      <a16:creationId xmlns:a16="http://schemas.microsoft.com/office/drawing/2014/main" id="{49630AAD-236C-42D4-8D0B-AFA88CAC1DAA}"/>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a:extLst>
                    <a:ext uri="{FF2B5EF4-FFF2-40B4-BE49-F238E27FC236}">
                      <a16:creationId xmlns:a16="http://schemas.microsoft.com/office/drawing/2014/main" id="{41CB7C81-78CF-4FC3-BB43-86D7CBD86D0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a:extLst>
                    <a:ext uri="{FF2B5EF4-FFF2-40B4-BE49-F238E27FC236}">
                      <a16:creationId xmlns:a16="http://schemas.microsoft.com/office/drawing/2014/main" id="{4887CB1A-7B48-42EC-8EF9-958FA9F7EDA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a:extLst>
                    <a:ext uri="{FF2B5EF4-FFF2-40B4-BE49-F238E27FC236}">
                      <a16:creationId xmlns:a16="http://schemas.microsoft.com/office/drawing/2014/main" id="{3D576805-FD94-4E3A-A504-AA3284929A8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a:extLst>
                    <a:ext uri="{FF2B5EF4-FFF2-40B4-BE49-F238E27FC236}">
                      <a16:creationId xmlns:a16="http://schemas.microsoft.com/office/drawing/2014/main" id="{9A7D591C-25D2-47D8-9E77-26523B70EB70}"/>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a:extLst>
                    <a:ext uri="{FF2B5EF4-FFF2-40B4-BE49-F238E27FC236}">
                      <a16:creationId xmlns:a16="http://schemas.microsoft.com/office/drawing/2014/main" id="{444B6402-191B-411F-B107-16522A1671B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a:extLst>
                    <a:ext uri="{FF2B5EF4-FFF2-40B4-BE49-F238E27FC236}">
                      <a16:creationId xmlns:a16="http://schemas.microsoft.com/office/drawing/2014/main" id="{35E915C1-8462-4C34-8587-DF5E6C68EB62}"/>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a:extLst>
                    <a:ext uri="{FF2B5EF4-FFF2-40B4-BE49-F238E27FC236}">
                      <a16:creationId xmlns:a16="http://schemas.microsoft.com/office/drawing/2014/main" id="{980DC663-7CCB-4F15-BA5D-6DE0D251F96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a:extLst>
                    <a:ext uri="{FF2B5EF4-FFF2-40B4-BE49-F238E27FC236}">
                      <a16:creationId xmlns:a16="http://schemas.microsoft.com/office/drawing/2014/main" id="{9E29EFC0-9E25-4A72-A0E4-77E4F9ABFEA7}"/>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a:extLst>
                    <a:ext uri="{FF2B5EF4-FFF2-40B4-BE49-F238E27FC236}">
                      <a16:creationId xmlns:a16="http://schemas.microsoft.com/office/drawing/2014/main" id="{F753A5FB-8918-4B2A-8F58-FD5C09DFC447}"/>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a:extLst>
                    <a:ext uri="{FF2B5EF4-FFF2-40B4-BE49-F238E27FC236}">
                      <a16:creationId xmlns:a16="http://schemas.microsoft.com/office/drawing/2014/main" id="{FE3649D4-B83D-4B05-91BE-D908C3764247}"/>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a:extLst>
                    <a:ext uri="{FF2B5EF4-FFF2-40B4-BE49-F238E27FC236}">
                      <a16:creationId xmlns:a16="http://schemas.microsoft.com/office/drawing/2014/main" id="{8ECC7FBC-6EC0-4D53-9EBE-5ED45CBDD82E}"/>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a:extLst>
                    <a:ext uri="{FF2B5EF4-FFF2-40B4-BE49-F238E27FC236}">
                      <a16:creationId xmlns:a16="http://schemas.microsoft.com/office/drawing/2014/main" id="{359AF7C1-C766-45D7-A86F-28F8AB04C41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8F400BA4-6A40-46F1-B7AC-59CB57C74BDC}"/>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5">
            <a:extLst>
              <a:ext uri="{FF2B5EF4-FFF2-40B4-BE49-F238E27FC236}">
                <a16:creationId xmlns:a16="http://schemas.microsoft.com/office/drawing/2014/main" id="{530FE8AD-9622-4D9C-87BB-64811E0DEC1F}"/>
              </a:ext>
            </a:extLst>
          </p:cNvPr>
          <p:cNvSpPr>
            <a:spLocks noGrp="1" noChangeArrowheads="1"/>
          </p:cNvSpPr>
          <p:nvPr>
            <p:ph type="ftr" sz="quarter" idx="11"/>
          </p:nvPr>
        </p:nvSpPr>
        <p:spPr bwMode="auto">
          <a:xfrm>
            <a:off x="3124200" y="6400800"/>
            <a:ext cx="2895600" cy="457200"/>
          </a:xfrm>
          <a:prstGeom prst="rect">
            <a:avLst/>
          </a:prstGeom>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and Data Structures, Twelfth Edition, (c) 2020  Pearson Education, Inc. All rights reserved. </a:t>
            </a:r>
          </a:p>
        </p:txBody>
      </p:sp>
      <p:sp>
        <p:nvSpPr>
          <p:cNvPr id="36" name="Rectangle 36">
            <a:extLst>
              <a:ext uri="{FF2B5EF4-FFF2-40B4-BE49-F238E27FC236}">
                <a16:creationId xmlns:a16="http://schemas.microsoft.com/office/drawing/2014/main" id="{FD20E48A-B6FB-4B76-95F8-3BCC5E596D21}"/>
              </a:ext>
            </a:extLst>
          </p:cNvPr>
          <p:cNvSpPr>
            <a:spLocks noGrp="1" noChangeArrowheads="1"/>
          </p:cNvSpPr>
          <p:nvPr>
            <p:ph type="sldNum" sz="quarter" idx="12"/>
          </p:nvPr>
        </p:nvSpPr>
        <p:spPr>
          <a:xfrm>
            <a:off x="6553200" y="6400800"/>
            <a:ext cx="1905000" cy="457200"/>
          </a:xfrm>
        </p:spPr>
        <p:txBody>
          <a:bodyPr/>
          <a:lstStyle>
            <a:lvl1pPr>
              <a:defRPr/>
            </a:lvl1pPr>
          </a:lstStyle>
          <a:p>
            <a:fld id="{C011D2AC-BFF0-4191-9456-F849855FFE6B}" type="slidenum">
              <a:rPr lang="en-US" altLang="en-US" smtClean="0"/>
              <a:pPr/>
              <a:t>‹#›</a:t>
            </a:fld>
            <a:endParaRPr lang="en-US" altLang="en-US"/>
          </a:p>
        </p:txBody>
      </p:sp>
    </p:spTree>
    <p:extLst>
      <p:ext uri="{BB962C8B-B14F-4D97-AF65-F5344CB8AC3E}">
        <p14:creationId xmlns:p14="http://schemas.microsoft.com/office/powerpoint/2010/main" val="255914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7A1450D0-5C6B-4A7D-9DD3-12ABC6CE74D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77C3EC62-E8ED-4B3A-A7A4-D2AC4B0772FA}"/>
              </a:ext>
            </a:extLst>
          </p:cNvPr>
          <p:cNvSpPr>
            <a:spLocks noGrp="1" noChangeArrowheads="1"/>
          </p:cNvSpPr>
          <p:nvPr>
            <p:ph type="sldNum" sz="quarter" idx="11"/>
          </p:nvPr>
        </p:nvSpPr>
        <p:spPr>
          <a:ln/>
        </p:spPr>
        <p:txBody>
          <a:bodyPr/>
          <a:lstStyle>
            <a:lvl1pPr>
              <a:defRPr/>
            </a:lvl1pPr>
          </a:lstStyle>
          <a:p>
            <a:fld id="{C5C70C26-EC15-4396-839E-50B1CCFAA104}" type="slidenum">
              <a:rPr lang="en-US" altLang="en-US" smtClean="0"/>
              <a:pPr/>
              <a:t>‹#›</a:t>
            </a:fld>
            <a:endParaRPr lang="en-US" altLang="en-US"/>
          </a:p>
        </p:txBody>
      </p:sp>
    </p:spTree>
    <p:extLst>
      <p:ext uri="{BB962C8B-B14F-4D97-AF65-F5344CB8AC3E}">
        <p14:creationId xmlns:p14="http://schemas.microsoft.com/office/powerpoint/2010/main" val="1191637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4D14C60-F19C-4EB2-AD48-30730C45662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7531466-45D1-4A3D-AD82-112BB8F64248}"/>
              </a:ext>
            </a:extLst>
          </p:cNvPr>
          <p:cNvSpPr>
            <a:spLocks noGrp="1" noChangeArrowheads="1"/>
          </p:cNvSpPr>
          <p:nvPr>
            <p:ph type="sldNum" sz="quarter" idx="11"/>
          </p:nvPr>
        </p:nvSpPr>
        <p:spPr>
          <a:ln/>
        </p:spPr>
        <p:txBody>
          <a:bodyPr/>
          <a:lstStyle>
            <a:lvl1pPr>
              <a:defRPr/>
            </a:lvl1pPr>
          </a:lstStyle>
          <a:p>
            <a:fld id="{20700686-0294-4B03-A498-1E31407060FF}" type="slidenum">
              <a:rPr lang="en-US" altLang="en-US" smtClean="0"/>
              <a:pPr/>
              <a:t>‹#›</a:t>
            </a:fld>
            <a:endParaRPr lang="en-US" altLang="en-US"/>
          </a:p>
        </p:txBody>
      </p:sp>
    </p:spTree>
    <p:extLst>
      <p:ext uri="{BB962C8B-B14F-4D97-AF65-F5344CB8AC3E}">
        <p14:creationId xmlns:p14="http://schemas.microsoft.com/office/powerpoint/2010/main" val="31484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068F10D1-1835-4088-AD0B-6C7BADD595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9AAEAB9-5939-47B3-869D-BB65143F9100}"/>
              </a:ext>
            </a:extLst>
          </p:cNvPr>
          <p:cNvSpPr>
            <a:spLocks noGrp="1" noChangeArrowheads="1"/>
          </p:cNvSpPr>
          <p:nvPr>
            <p:ph type="sldNum" sz="quarter" idx="11"/>
          </p:nvPr>
        </p:nvSpPr>
        <p:spPr>
          <a:ln/>
        </p:spPr>
        <p:txBody>
          <a:bodyPr/>
          <a:lstStyle>
            <a:lvl1pPr>
              <a:defRPr/>
            </a:lvl1pPr>
          </a:lstStyle>
          <a:p>
            <a:fld id="{31D423B5-6D87-4FBC-A873-2D2FD9E98EA0}" type="slidenum">
              <a:rPr lang="en-US" altLang="en-US" smtClean="0"/>
              <a:pPr/>
              <a:t>‹#›</a:t>
            </a:fld>
            <a:endParaRPr lang="en-US" altLang="en-US"/>
          </a:p>
        </p:txBody>
      </p:sp>
    </p:spTree>
    <p:extLst>
      <p:ext uri="{BB962C8B-B14F-4D97-AF65-F5344CB8AC3E}">
        <p14:creationId xmlns:p14="http://schemas.microsoft.com/office/powerpoint/2010/main" val="3840916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09A7E37-3E64-47AD-9ADC-4BD16748DDF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694643A-125A-4E28-A1E6-1B4FDDA66662}"/>
              </a:ext>
            </a:extLst>
          </p:cNvPr>
          <p:cNvSpPr>
            <a:spLocks noGrp="1" noChangeArrowheads="1"/>
          </p:cNvSpPr>
          <p:nvPr>
            <p:ph type="sldNum" sz="quarter" idx="11"/>
          </p:nvPr>
        </p:nvSpPr>
        <p:spPr>
          <a:ln/>
        </p:spPr>
        <p:txBody>
          <a:bodyPr/>
          <a:lstStyle>
            <a:lvl1pPr>
              <a:defRPr/>
            </a:lvl1pPr>
          </a:lstStyle>
          <a:p>
            <a:fld id="{434DEC86-80EA-41BA-9380-AB77A5412DFE}" type="slidenum">
              <a:rPr lang="en-US" altLang="en-US" smtClean="0"/>
              <a:pPr/>
              <a:t>‹#›</a:t>
            </a:fld>
            <a:endParaRPr lang="en-US" altLang="en-US"/>
          </a:p>
        </p:txBody>
      </p:sp>
    </p:spTree>
    <p:extLst>
      <p:ext uri="{BB962C8B-B14F-4D97-AF65-F5344CB8AC3E}">
        <p14:creationId xmlns:p14="http://schemas.microsoft.com/office/powerpoint/2010/main" val="1130871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391C5B43-3D44-4A5D-BB40-26F113E38ED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2094C956-0F22-4D91-B62A-26663564D2FB}"/>
              </a:ext>
            </a:extLst>
          </p:cNvPr>
          <p:cNvSpPr>
            <a:spLocks noGrp="1" noChangeArrowheads="1"/>
          </p:cNvSpPr>
          <p:nvPr>
            <p:ph type="sldNum" sz="quarter" idx="11"/>
          </p:nvPr>
        </p:nvSpPr>
        <p:spPr>
          <a:ln/>
        </p:spPr>
        <p:txBody>
          <a:bodyPr/>
          <a:lstStyle>
            <a:lvl1pPr>
              <a:defRPr/>
            </a:lvl1pPr>
          </a:lstStyle>
          <a:p>
            <a:fld id="{F5E73763-A7A6-4B95-AE41-0F6BBC66C7E9}" type="slidenum">
              <a:rPr lang="en-US" altLang="en-US" smtClean="0"/>
              <a:pPr/>
              <a:t>‹#›</a:t>
            </a:fld>
            <a:endParaRPr lang="en-US" altLang="en-US"/>
          </a:p>
        </p:txBody>
      </p:sp>
    </p:spTree>
    <p:extLst>
      <p:ext uri="{BB962C8B-B14F-4D97-AF65-F5344CB8AC3E}">
        <p14:creationId xmlns:p14="http://schemas.microsoft.com/office/powerpoint/2010/main" val="2852495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C947A72-855F-404F-9E57-C8FFAA973EB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F121E76E-222C-4DD0-B702-E2DEE761CE89}"/>
              </a:ext>
            </a:extLst>
          </p:cNvPr>
          <p:cNvSpPr>
            <a:spLocks noGrp="1" noChangeArrowheads="1"/>
          </p:cNvSpPr>
          <p:nvPr>
            <p:ph type="sldNum" sz="quarter" idx="11"/>
          </p:nvPr>
        </p:nvSpPr>
        <p:spPr>
          <a:ln/>
        </p:spPr>
        <p:txBody>
          <a:bodyPr/>
          <a:lstStyle>
            <a:lvl1pPr>
              <a:defRPr/>
            </a:lvl1pPr>
          </a:lstStyle>
          <a:p>
            <a:fld id="{04612D36-8BFA-4A6A-9AE3-760E171DD64C}" type="slidenum">
              <a:rPr lang="en-US" altLang="en-US" smtClean="0"/>
              <a:pPr/>
              <a:t>‹#›</a:t>
            </a:fld>
            <a:endParaRPr lang="en-US" altLang="en-US"/>
          </a:p>
        </p:txBody>
      </p:sp>
    </p:spTree>
    <p:extLst>
      <p:ext uri="{BB962C8B-B14F-4D97-AF65-F5344CB8AC3E}">
        <p14:creationId xmlns:p14="http://schemas.microsoft.com/office/powerpoint/2010/main" val="751927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B25BBF2-0F2C-4F7A-A9C7-E1BA50459B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80CB4D2C-1260-4158-8D07-953D305F2001}"/>
              </a:ext>
            </a:extLst>
          </p:cNvPr>
          <p:cNvSpPr>
            <a:spLocks noGrp="1" noChangeArrowheads="1"/>
          </p:cNvSpPr>
          <p:nvPr>
            <p:ph type="sldNum" sz="quarter" idx="11"/>
          </p:nvPr>
        </p:nvSpPr>
        <p:spPr>
          <a:ln/>
        </p:spPr>
        <p:txBody>
          <a:bodyPr/>
          <a:lstStyle>
            <a:lvl1pPr>
              <a:defRPr/>
            </a:lvl1pPr>
          </a:lstStyle>
          <a:p>
            <a:fld id="{DD6682B5-E2CA-4934-A034-0C6E61CF14D2}" type="slidenum">
              <a:rPr lang="en-US" altLang="en-US" smtClean="0"/>
              <a:pPr/>
              <a:t>‹#›</a:t>
            </a:fld>
            <a:endParaRPr lang="en-US" altLang="en-US"/>
          </a:p>
        </p:txBody>
      </p:sp>
    </p:spTree>
    <p:extLst>
      <p:ext uri="{BB962C8B-B14F-4D97-AF65-F5344CB8AC3E}">
        <p14:creationId xmlns:p14="http://schemas.microsoft.com/office/powerpoint/2010/main" val="2791232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B6E36BF-FAC7-4094-AC32-501A1DB4DD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B0E6CA6-653C-48AC-AC21-4339465C6A72}"/>
              </a:ext>
            </a:extLst>
          </p:cNvPr>
          <p:cNvSpPr>
            <a:spLocks noGrp="1" noChangeArrowheads="1"/>
          </p:cNvSpPr>
          <p:nvPr>
            <p:ph type="sldNum" sz="quarter" idx="11"/>
          </p:nvPr>
        </p:nvSpPr>
        <p:spPr>
          <a:ln/>
        </p:spPr>
        <p:txBody>
          <a:bodyPr/>
          <a:lstStyle>
            <a:lvl1pPr>
              <a:defRPr/>
            </a:lvl1pPr>
          </a:lstStyle>
          <a:p>
            <a:fld id="{4AA202C5-CE5B-4C1D-845B-F6A5421EAF2D}" type="slidenum">
              <a:rPr lang="en-US" altLang="en-US" smtClean="0"/>
              <a:pPr/>
              <a:t>‹#›</a:t>
            </a:fld>
            <a:endParaRPr lang="en-US" altLang="en-US"/>
          </a:p>
        </p:txBody>
      </p:sp>
    </p:spTree>
    <p:extLst>
      <p:ext uri="{BB962C8B-B14F-4D97-AF65-F5344CB8AC3E}">
        <p14:creationId xmlns:p14="http://schemas.microsoft.com/office/powerpoint/2010/main" val="1371530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6254852-8B45-4626-BCE8-A641E68898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BE0E510-CD38-4382-89DE-C76584A1A7F4}"/>
              </a:ext>
            </a:extLst>
          </p:cNvPr>
          <p:cNvSpPr>
            <a:spLocks noGrp="1" noChangeArrowheads="1"/>
          </p:cNvSpPr>
          <p:nvPr>
            <p:ph type="sldNum" sz="quarter" idx="11"/>
          </p:nvPr>
        </p:nvSpPr>
        <p:spPr>
          <a:ln/>
        </p:spPr>
        <p:txBody>
          <a:bodyPr/>
          <a:lstStyle>
            <a:lvl1pPr>
              <a:defRPr/>
            </a:lvl1pPr>
          </a:lstStyle>
          <a:p>
            <a:fld id="{41EAA9AF-5536-475C-97B3-482570BD59C5}" type="slidenum">
              <a:rPr lang="en-US" altLang="en-US" smtClean="0"/>
              <a:pPr/>
              <a:t>‹#›</a:t>
            </a:fld>
            <a:endParaRPr lang="en-US" altLang="en-US"/>
          </a:p>
        </p:txBody>
      </p:sp>
    </p:spTree>
    <p:extLst>
      <p:ext uri="{BB962C8B-B14F-4D97-AF65-F5344CB8AC3E}">
        <p14:creationId xmlns:p14="http://schemas.microsoft.com/office/powerpoint/2010/main" val="114940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D7007F0-B9D5-4051-892C-827B841066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B930A4-2CF8-45C1-83CE-984693168F27}"/>
              </a:ext>
            </a:extLst>
          </p:cNvPr>
          <p:cNvSpPr>
            <a:spLocks noGrp="1" noChangeArrowheads="1"/>
          </p:cNvSpPr>
          <p:nvPr>
            <p:ph type="sldNum" sz="quarter" idx="11"/>
          </p:nvPr>
        </p:nvSpPr>
        <p:spPr>
          <a:ln/>
        </p:spPr>
        <p:txBody>
          <a:bodyPr/>
          <a:lstStyle>
            <a:lvl1pPr>
              <a:defRPr/>
            </a:lvl1pPr>
          </a:lstStyle>
          <a:p>
            <a:fld id="{7CB28C81-2A90-46E7-9BC3-5996B46A952E}" type="slidenum">
              <a:rPr lang="en-US" altLang="en-US" smtClean="0"/>
              <a:pPr/>
              <a:t>‹#›</a:t>
            </a:fld>
            <a:endParaRPr lang="en-US" altLang="en-US"/>
          </a:p>
        </p:txBody>
      </p:sp>
    </p:spTree>
    <p:extLst>
      <p:ext uri="{BB962C8B-B14F-4D97-AF65-F5344CB8AC3E}">
        <p14:creationId xmlns:p14="http://schemas.microsoft.com/office/powerpoint/2010/main" val="413268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712761A-9C89-4D5B-9404-D6576D290AD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588E4D5C-8884-4A84-A016-83EEE4093CD3}"/>
              </a:ext>
            </a:extLst>
          </p:cNvPr>
          <p:cNvSpPr>
            <a:spLocks noGrp="1" noChangeArrowheads="1"/>
          </p:cNvSpPr>
          <p:nvPr>
            <p:ph type="sldNum" sz="quarter" idx="11"/>
          </p:nvPr>
        </p:nvSpPr>
        <p:spPr>
          <a:ln/>
        </p:spPr>
        <p:txBody>
          <a:bodyPr/>
          <a:lstStyle>
            <a:lvl1pPr>
              <a:defRPr/>
            </a:lvl1pPr>
          </a:lstStyle>
          <a:p>
            <a:fld id="{BA851494-033F-43CA-A016-A5B5BA9EB807}" type="slidenum">
              <a:rPr lang="en-US" altLang="en-US"/>
              <a:pPr/>
              <a:t>‹#›</a:t>
            </a:fld>
            <a:endParaRPr lang="en-US" altLang="en-US"/>
          </a:p>
        </p:txBody>
      </p:sp>
    </p:spTree>
    <p:extLst>
      <p:ext uri="{BB962C8B-B14F-4D97-AF65-F5344CB8AC3E}">
        <p14:creationId xmlns:p14="http://schemas.microsoft.com/office/powerpoint/2010/main" val="872365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C3EC5D4F-7241-4D48-A4A7-0981C8FB188A}"/>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EBFA5783-58D9-4D35-9CD0-554773E52F0B}"/>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4" name="Group 28">
              <a:extLst>
                <a:ext uri="{FF2B5EF4-FFF2-40B4-BE49-F238E27FC236}">
                  <a16:creationId xmlns:a16="http://schemas.microsoft.com/office/drawing/2014/main" id="{1739EB3B-E772-4FC7-BDBA-76ED5FAF222B}"/>
                </a:ext>
              </a:extLst>
            </p:cNvPr>
            <p:cNvGrpSpPr>
              <a:grpSpLocks/>
            </p:cNvGrpSpPr>
            <p:nvPr/>
          </p:nvGrpSpPr>
          <p:grpSpPr bwMode="auto">
            <a:xfrm>
              <a:off x="4458" y="2751"/>
              <a:ext cx="1190" cy="1426"/>
              <a:chOff x="4458" y="2751"/>
              <a:chExt cx="1190" cy="1426"/>
            </a:xfrm>
          </p:grpSpPr>
          <p:sp>
            <p:nvSpPr>
              <p:cNvPr id="1035" name="Freeform 3">
                <a:extLst>
                  <a:ext uri="{FF2B5EF4-FFF2-40B4-BE49-F238E27FC236}">
                    <a16:creationId xmlns:a16="http://schemas.microsoft.com/office/drawing/2014/main" id="{E390AD0B-045C-45AF-B2EA-4FD6A8679676}"/>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Line 4">
                <a:extLst>
                  <a:ext uri="{FF2B5EF4-FFF2-40B4-BE49-F238E27FC236}">
                    <a16:creationId xmlns:a16="http://schemas.microsoft.com/office/drawing/2014/main" id="{29DDE5CF-6ED8-4BEC-A2AB-A210289ACA45}"/>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5">
                <a:extLst>
                  <a:ext uri="{FF2B5EF4-FFF2-40B4-BE49-F238E27FC236}">
                    <a16:creationId xmlns:a16="http://schemas.microsoft.com/office/drawing/2014/main" id="{EA4D0DE6-A17E-4CD0-909A-7835D04A2F27}"/>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6">
                <a:extLst>
                  <a:ext uri="{FF2B5EF4-FFF2-40B4-BE49-F238E27FC236}">
                    <a16:creationId xmlns:a16="http://schemas.microsoft.com/office/drawing/2014/main" id="{B0C4E214-2BC7-4E89-9C34-E60765C9C33E}"/>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Freeform 7">
                <a:extLst>
                  <a:ext uri="{FF2B5EF4-FFF2-40B4-BE49-F238E27FC236}">
                    <a16:creationId xmlns:a16="http://schemas.microsoft.com/office/drawing/2014/main" id="{4EBC01BC-C4AC-4FBE-A8D9-67FBD691B2C3}"/>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Oval 8">
                <a:extLst>
                  <a:ext uri="{FF2B5EF4-FFF2-40B4-BE49-F238E27FC236}">
                    <a16:creationId xmlns:a16="http://schemas.microsoft.com/office/drawing/2014/main" id="{B5EFB3FB-0C0E-4A82-A156-B8549CFB8D8E}"/>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1" name="Group 27">
                <a:extLst>
                  <a:ext uri="{FF2B5EF4-FFF2-40B4-BE49-F238E27FC236}">
                    <a16:creationId xmlns:a16="http://schemas.microsoft.com/office/drawing/2014/main" id="{7DAA45A8-E4FF-4B83-876D-31C506D7FA9D}"/>
                  </a:ext>
                </a:extLst>
              </p:cNvPr>
              <p:cNvGrpSpPr>
                <a:grpSpLocks/>
              </p:cNvGrpSpPr>
              <p:nvPr/>
            </p:nvGrpSpPr>
            <p:grpSpPr bwMode="auto">
              <a:xfrm>
                <a:off x="4458" y="2991"/>
                <a:ext cx="999" cy="797"/>
                <a:chOff x="4458" y="2991"/>
                <a:chExt cx="999" cy="797"/>
              </a:xfrm>
            </p:grpSpPr>
            <p:sp>
              <p:nvSpPr>
                <p:cNvPr id="1042" name="Freeform 9">
                  <a:extLst>
                    <a:ext uri="{FF2B5EF4-FFF2-40B4-BE49-F238E27FC236}">
                      <a16:creationId xmlns:a16="http://schemas.microsoft.com/office/drawing/2014/main" id="{10AF373A-5478-4732-8B93-C7FA2214DC06}"/>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0">
                  <a:extLst>
                    <a:ext uri="{FF2B5EF4-FFF2-40B4-BE49-F238E27FC236}">
                      <a16:creationId xmlns:a16="http://schemas.microsoft.com/office/drawing/2014/main" id="{18C3FF5F-1087-4A14-B05C-EF93FED535E3}"/>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1">
                  <a:extLst>
                    <a:ext uri="{FF2B5EF4-FFF2-40B4-BE49-F238E27FC236}">
                      <a16:creationId xmlns:a16="http://schemas.microsoft.com/office/drawing/2014/main" id="{768B6B30-DD10-4951-9D6F-0FE59F9AEC7A}"/>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2">
                  <a:extLst>
                    <a:ext uri="{FF2B5EF4-FFF2-40B4-BE49-F238E27FC236}">
                      <a16:creationId xmlns:a16="http://schemas.microsoft.com/office/drawing/2014/main" id="{F59CCDAA-0C06-4A12-A642-F7BE4F4AB7B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3">
                  <a:extLst>
                    <a:ext uri="{FF2B5EF4-FFF2-40B4-BE49-F238E27FC236}">
                      <a16:creationId xmlns:a16="http://schemas.microsoft.com/office/drawing/2014/main" id="{088C8B6F-F05E-44F8-9265-BBB3EDA55A4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4">
                  <a:extLst>
                    <a:ext uri="{FF2B5EF4-FFF2-40B4-BE49-F238E27FC236}">
                      <a16:creationId xmlns:a16="http://schemas.microsoft.com/office/drawing/2014/main" id="{E48D41F2-F24F-45D4-842F-BD116865DBE1}"/>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5">
                  <a:extLst>
                    <a:ext uri="{FF2B5EF4-FFF2-40B4-BE49-F238E27FC236}">
                      <a16:creationId xmlns:a16="http://schemas.microsoft.com/office/drawing/2014/main" id="{6E3BF754-3A1F-40DB-A2B5-41FCE932A98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6">
                  <a:extLst>
                    <a:ext uri="{FF2B5EF4-FFF2-40B4-BE49-F238E27FC236}">
                      <a16:creationId xmlns:a16="http://schemas.microsoft.com/office/drawing/2014/main" id="{318B4698-4323-4853-8C17-9F1F9E9F3D45}"/>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7">
                  <a:extLst>
                    <a:ext uri="{FF2B5EF4-FFF2-40B4-BE49-F238E27FC236}">
                      <a16:creationId xmlns:a16="http://schemas.microsoft.com/office/drawing/2014/main" id="{28585D53-7679-4221-AB50-808FA417F754}"/>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8">
                  <a:extLst>
                    <a:ext uri="{FF2B5EF4-FFF2-40B4-BE49-F238E27FC236}">
                      <a16:creationId xmlns:a16="http://schemas.microsoft.com/office/drawing/2014/main" id="{CAEDA6BB-ABDC-44FF-B8F1-57AF8920E62B}"/>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19">
                  <a:extLst>
                    <a:ext uri="{FF2B5EF4-FFF2-40B4-BE49-F238E27FC236}">
                      <a16:creationId xmlns:a16="http://schemas.microsoft.com/office/drawing/2014/main" id="{B52588C3-F7A7-4750-8958-9E46DC30128D}"/>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0">
                  <a:extLst>
                    <a:ext uri="{FF2B5EF4-FFF2-40B4-BE49-F238E27FC236}">
                      <a16:creationId xmlns:a16="http://schemas.microsoft.com/office/drawing/2014/main" id="{1B242CA3-251C-49A8-9F8B-3C36D19DAF99}"/>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1">
                  <a:extLst>
                    <a:ext uri="{FF2B5EF4-FFF2-40B4-BE49-F238E27FC236}">
                      <a16:creationId xmlns:a16="http://schemas.microsoft.com/office/drawing/2014/main" id="{934A00C5-C8F2-4AB7-9F6D-983AF931C1BD}"/>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2">
                  <a:extLst>
                    <a:ext uri="{FF2B5EF4-FFF2-40B4-BE49-F238E27FC236}">
                      <a16:creationId xmlns:a16="http://schemas.microsoft.com/office/drawing/2014/main" id="{56A807CD-D73B-4E85-BD9C-E48E63EFE8A6}"/>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3">
                  <a:extLst>
                    <a:ext uri="{FF2B5EF4-FFF2-40B4-BE49-F238E27FC236}">
                      <a16:creationId xmlns:a16="http://schemas.microsoft.com/office/drawing/2014/main" id="{E7FCF25E-43F2-47F9-84CA-88DA94BC6C9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4">
                  <a:extLst>
                    <a:ext uri="{FF2B5EF4-FFF2-40B4-BE49-F238E27FC236}">
                      <a16:creationId xmlns:a16="http://schemas.microsoft.com/office/drawing/2014/main" id="{941BF1B0-B0FC-4B26-87D2-8E92F0B923BB}"/>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Freeform 25">
                  <a:extLst>
                    <a:ext uri="{FF2B5EF4-FFF2-40B4-BE49-F238E27FC236}">
                      <a16:creationId xmlns:a16="http://schemas.microsoft.com/office/drawing/2014/main" id="{58386E5A-8831-41BF-A518-26785185183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9" name="Freeform 26">
                  <a:extLst>
                    <a:ext uri="{FF2B5EF4-FFF2-40B4-BE49-F238E27FC236}">
                      <a16:creationId xmlns:a16="http://schemas.microsoft.com/office/drawing/2014/main" id="{42A36C76-0897-4DBC-8C24-F1DE13438B11}"/>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0C33E6C5-337F-4255-A1DA-43C86CD19DD8}"/>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299F587-A84B-44B9-8C48-AC1437FF5217}"/>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039852B9-9585-4786-86B9-2B6A70406C43}"/>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21C8707-69C6-4ACD-BD95-09F063A7B00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fld id="{AD077B4C-A87F-4284-A11F-38D682E7965F}" type="slidenum">
              <a:rPr lang="en-US" altLang="en-US" smtClean="0"/>
              <a:pPr/>
              <a:t>‹#›</a:t>
            </a:fld>
            <a:endParaRPr lang="en-US" altLang="en-US"/>
          </a:p>
        </p:txBody>
      </p:sp>
      <p:sp>
        <p:nvSpPr>
          <p:cNvPr id="1031" name="Rectangle 35">
            <a:extLst>
              <a:ext uri="{FF2B5EF4-FFF2-40B4-BE49-F238E27FC236}">
                <a16:creationId xmlns:a16="http://schemas.microsoft.com/office/drawing/2014/main" id="{C1639140-DF82-447C-8940-97C93664B7A5}"/>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5" name="Rectangle 35">
            <a:extLst>
              <a:ext uri="{FF2B5EF4-FFF2-40B4-BE49-F238E27FC236}">
                <a16:creationId xmlns:a16="http://schemas.microsoft.com/office/drawing/2014/main" id="{B16DA2B3-3106-4A65-A620-A5451B6A92B9}"/>
              </a:ext>
            </a:extLst>
          </p:cNvPr>
          <p:cNvSpPr>
            <a:spLocks noChangeArrowheads="1"/>
          </p:cNvSpPr>
          <p:nvPr/>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dirty="0">
                <a:latin typeface="Arial" pitchFamily="34" charset="0"/>
              </a:rPr>
              <a:t>Liang, Introduction to Java Programming and Data Structures, Twelfth Edition, (c) 2020  Pearson Education, Inc. All rights reserved. </a:t>
            </a:r>
          </a:p>
        </p:txBody>
      </p:sp>
      <p:sp>
        <p:nvSpPr>
          <p:cNvPr id="36" name="Rectangle 35">
            <a:extLst>
              <a:ext uri="{FF2B5EF4-FFF2-40B4-BE49-F238E27FC236}">
                <a16:creationId xmlns:a16="http://schemas.microsoft.com/office/drawing/2014/main" id="{65AC703D-15C9-428A-8C4D-DE5F49AD1368}"/>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and Data Structures, Twelfth Edition, (c) 2020  Pearson Education, Inc. All rights reserved. </a:t>
            </a:r>
          </a:p>
        </p:txBody>
      </p:sp>
    </p:spTree>
    <p:extLst>
      <p:ext uri="{BB962C8B-B14F-4D97-AF65-F5344CB8AC3E}">
        <p14:creationId xmlns:p14="http://schemas.microsoft.com/office/powerpoint/2010/main" val="3991691112"/>
      </p:ext>
    </p:extLst>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liveexample.pearsoncmg.com/html/PerformanceTest.html" TargetMode="Externa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s://liveexample.pearsoncmg.com/dsanimation/LinearSearcheBook.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s://liveexample.pearsoncmg.com/dsanimation/BinarySearcheBook.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6.w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s://liveexample.pearsoncmg.com/dsanimation/SelectionSortNew.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3.bin"/><Relationship Id="rId17" Type="http://schemas.openxmlformats.org/officeDocument/2006/relationships/image" Target="../media/image18.wmf"/><Relationship Id="rId2" Type="http://schemas.openxmlformats.org/officeDocument/2006/relationships/oleObject" Target="../embeddings/oleObject8.bin"/><Relationship Id="rId16"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4.wmf"/><Relationship Id="rId14"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hyperlink" Target="https://liveexample.pearsoncmg.com/html/ComputeFibonacci.html" TargetMode="External"/><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1.wmf"/><Relationship Id="rId4" Type="http://schemas.openxmlformats.org/officeDocument/2006/relationships/oleObject" Target="../embeddings/oleObject18.bin"/></Relationships>
</file>

<file path=ppt/slides/_rels/slide3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 Id="rId4" Type="http://schemas.openxmlformats.org/officeDocument/2006/relationships/hyperlink" Target="https://liveexample.pearsoncmg.com/html/ImprovedFibonacci.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liveexample.pearsoncmg.com/html/PrimeNumbers.html" TargetMode="External"/><Relationship Id="rId2" Type="http://schemas.openxmlformats.org/officeDocument/2006/relationships/hyperlink" Target="https://liveexample.pearsoncmg.com/html/PrimeNumber.html" TargetMode="External"/><Relationship Id="rId1" Type="http://schemas.openxmlformats.org/officeDocument/2006/relationships/slideLayout" Target="../slideLayouts/slideLayout2.xml"/><Relationship Id="rId5" Type="http://schemas.openxmlformats.org/officeDocument/2006/relationships/hyperlink" Target="https://liveexample.pearsoncmg.com/html/SieveOfEratosthenes.html" TargetMode="External"/><Relationship Id="rId4" Type="http://schemas.openxmlformats.org/officeDocument/2006/relationships/hyperlink" Target="https://liveexample.pearsoncmg.com/html/EfficientPrimeNumbers.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25.wmf"/><Relationship Id="rId10" Type="http://schemas.openxmlformats.org/officeDocument/2006/relationships/hyperlink" Target="http://www.cs.armstrong.edu/liang/animation/web/ClosestPair.html" TargetMode="External"/><Relationship Id="rId4" Type="http://schemas.openxmlformats.org/officeDocument/2006/relationships/oleObject" Target="../embeddings/oleObject23.bin"/><Relationship Id="rId9" Type="http://schemas.openxmlformats.org/officeDocument/2006/relationships/image" Target="../media/image27.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25.wmf"/><Relationship Id="rId10" Type="http://schemas.openxmlformats.org/officeDocument/2006/relationships/hyperlink" Target="http://www.cs.armstrong.edu/liang/animation/web/ClosestPair.html" TargetMode="External"/><Relationship Id="rId4" Type="http://schemas.openxmlformats.org/officeDocument/2006/relationships/oleObject" Target="../embeddings/oleObject23.bin"/><Relationship Id="rId9" Type="http://schemas.openxmlformats.org/officeDocument/2006/relationships/image" Target="../media/image27.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25.wmf"/><Relationship Id="rId4" Type="http://schemas.openxmlformats.org/officeDocument/2006/relationships/oleObject" Target="../embeddings/oleObject23.bin"/><Relationship Id="rId9" Type="http://schemas.openxmlformats.org/officeDocument/2006/relationships/image" Target="../media/image27.wmf"/></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hyperlink" Target="https://liveexample.pearsoncmg.com/html/EightQueen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liveexample.pearsoncmg.com/dsanimation/EightQueenseBook.html" TargetMode="External"/><Relationship Id="rId5" Type="http://schemas.openxmlformats.org/officeDocument/2006/relationships/image" Target="../media/image29.emf"/><Relationship Id="rId4" Type="http://schemas.openxmlformats.org/officeDocument/2006/relationships/oleObject" Target="../embeddings/oleObject26.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s://liveexample.pearsoncmg.com/dsanimation/ConvexHull.html"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28.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35.wmf"/><Relationship Id="rId4" Type="http://schemas.openxmlformats.org/officeDocument/2006/relationships/oleObject" Target="../embeddings/oleObject30.bin"/><Relationship Id="rId9" Type="http://schemas.openxmlformats.org/officeDocument/2006/relationships/image" Target="../media/image37.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oleObject" Target="../embeddings/oleObject35.bin"/><Relationship Id="rId5" Type="http://schemas.openxmlformats.org/officeDocument/2006/relationships/image" Target="../media/image39.wmf"/><Relationship Id="rId4" Type="http://schemas.openxmlformats.org/officeDocument/2006/relationships/oleObject" Target="../embeddings/oleObject34.bin"/><Relationship Id="rId9" Type="http://schemas.openxmlformats.org/officeDocument/2006/relationships/image" Target="../media/image41.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D663EFEA-7403-407A-8968-C6099A2DDFEF}"/>
              </a:ext>
            </a:extLst>
          </p:cNvPr>
          <p:cNvSpPr>
            <a:spLocks noGrp="1" noChangeArrowheads="1"/>
          </p:cNvSpPr>
          <p:nvPr>
            <p:ph type="title"/>
          </p:nvPr>
        </p:nvSpPr>
        <p:spPr>
          <a:xfrm>
            <a:off x="685800" y="1143000"/>
            <a:ext cx="7772400" cy="1428750"/>
          </a:xfrm>
          <a:noFill/>
        </p:spPr>
        <p:txBody>
          <a:bodyPr/>
          <a:lstStyle/>
          <a:p>
            <a:r>
              <a:rPr lang="en-US" altLang="en-US" sz="4000" dirty="0"/>
              <a:t>Chapter 22 Developing Efficient Algorithms</a:t>
            </a:r>
          </a:p>
        </p:txBody>
      </p:sp>
      <p:sp>
        <p:nvSpPr>
          <p:cNvPr id="4098" name="Slide Number Placeholder 4">
            <a:extLst>
              <a:ext uri="{FF2B5EF4-FFF2-40B4-BE49-F238E27FC236}">
                <a16:creationId xmlns:a16="http://schemas.microsoft.com/office/drawing/2014/main" id="{78AF6763-F5D2-4EC1-B605-9181DBC6AC5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13BACA9-EB70-4A1A-A89E-F74C70067A67}" type="slidenum">
              <a:rPr lang="en-US" altLang="en-US" sz="1400"/>
              <a:pPr>
                <a:spcBef>
                  <a:spcPct val="0"/>
                </a:spcBef>
                <a:buClrTx/>
                <a:buSzTx/>
                <a:buFontTx/>
                <a:buNone/>
              </a:pPr>
              <a:t>1</a:t>
            </a:fld>
            <a:endParaRPr lang="en-US" alt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7DE357D0-2D36-41D6-B1E0-390D6A08C1B1}"/>
              </a:ext>
            </a:extLst>
          </p:cNvPr>
          <p:cNvSpPr>
            <a:spLocks noGrp="1" noChangeArrowheads="1"/>
          </p:cNvSpPr>
          <p:nvPr>
            <p:ph type="title"/>
          </p:nvPr>
        </p:nvSpPr>
        <p:spPr>
          <a:xfrm>
            <a:off x="685800" y="152400"/>
            <a:ext cx="7772400" cy="457200"/>
          </a:xfrm>
          <a:noFill/>
        </p:spPr>
        <p:txBody>
          <a:bodyPr/>
          <a:lstStyle/>
          <a:p>
            <a:r>
              <a:rPr lang="en-US" altLang="en-US"/>
              <a:t>Objectives</a:t>
            </a:r>
          </a:p>
        </p:txBody>
      </p:sp>
      <p:sp>
        <p:nvSpPr>
          <p:cNvPr id="5124" name="Rectangle 3">
            <a:extLst>
              <a:ext uri="{FF2B5EF4-FFF2-40B4-BE49-F238E27FC236}">
                <a16:creationId xmlns:a16="http://schemas.microsoft.com/office/drawing/2014/main" id="{D91FC571-A72D-41E1-AE5F-8B17D3A3EBF2}"/>
              </a:ext>
            </a:extLst>
          </p:cNvPr>
          <p:cNvSpPr>
            <a:spLocks noGrp="1" noChangeArrowheads="1"/>
          </p:cNvSpPr>
          <p:nvPr>
            <p:ph idx="1"/>
          </p:nvPr>
        </p:nvSpPr>
        <p:spPr>
          <a:xfrm>
            <a:off x="0" y="685800"/>
            <a:ext cx="8991600" cy="5562600"/>
          </a:xfrm>
          <a:noFill/>
        </p:spPr>
        <p:txBody>
          <a:bodyPr/>
          <a:lstStyle/>
          <a:p>
            <a:pPr>
              <a:buFont typeface="Wingdings" panose="05000000000000000000" pitchFamily="2" charset="2"/>
              <a:buChar char="§"/>
            </a:pPr>
            <a:r>
              <a:rPr lang="en-US" altLang="en-US" sz="1800" dirty="0"/>
              <a:t>To estimate algorithm efficiency using the Big  notation (§22.2).</a:t>
            </a:r>
          </a:p>
          <a:p>
            <a:pPr>
              <a:buFont typeface="Wingdings" panose="05000000000000000000" pitchFamily="2" charset="2"/>
              <a:buChar char="§"/>
            </a:pPr>
            <a:r>
              <a:rPr lang="en-US" altLang="en-US" sz="1800" dirty="0"/>
              <a:t>To explain growth rates and why constants and </a:t>
            </a:r>
            <a:r>
              <a:rPr lang="en-US" altLang="en-US" sz="1800" dirty="0" err="1"/>
              <a:t>nondominating</a:t>
            </a:r>
            <a:r>
              <a:rPr lang="en-US" altLang="en-US" sz="1800" dirty="0"/>
              <a:t> terms can be ignored in the estimation (§22.2).</a:t>
            </a:r>
          </a:p>
          <a:p>
            <a:pPr>
              <a:buFont typeface="Wingdings" panose="05000000000000000000" pitchFamily="2" charset="2"/>
              <a:buChar char="§"/>
            </a:pPr>
            <a:r>
              <a:rPr lang="en-US" altLang="en-US" sz="1800" dirty="0"/>
              <a:t>To determine the complexity of various types of algorithms (§22.3).</a:t>
            </a:r>
          </a:p>
          <a:p>
            <a:pPr>
              <a:buFont typeface="Wingdings" panose="05000000000000000000" pitchFamily="2" charset="2"/>
              <a:buChar char="§"/>
            </a:pPr>
            <a:r>
              <a:rPr lang="en-US" altLang="en-US" sz="1800" dirty="0"/>
              <a:t>To analyze the binary search algorithm (§22.4.1).</a:t>
            </a:r>
          </a:p>
          <a:p>
            <a:pPr>
              <a:buFont typeface="Wingdings" panose="05000000000000000000" pitchFamily="2" charset="2"/>
              <a:buChar char="§"/>
            </a:pPr>
            <a:r>
              <a:rPr lang="en-US" altLang="en-US" sz="1800" dirty="0"/>
              <a:t>To analyze the selection sort algorithm (§22.4.2).</a:t>
            </a:r>
          </a:p>
          <a:p>
            <a:pPr>
              <a:buFont typeface="Wingdings" panose="05000000000000000000" pitchFamily="2" charset="2"/>
              <a:buChar char="§"/>
            </a:pPr>
            <a:r>
              <a:rPr lang="en-US" altLang="en-US" sz="1800" dirty="0"/>
              <a:t>To analyze the insertion sort algorithm (§22.4.3).</a:t>
            </a:r>
          </a:p>
          <a:p>
            <a:pPr>
              <a:buFont typeface="Wingdings" panose="05000000000000000000" pitchFamily="2" charset="2"/>
              <a:buChar char="§"/>
            </a:pPr>
            <a:r>
              <a:rPr lang="en-US" altLang="en-US" sz="1800" dirty="0"/>
              <a:t>To analyze the Tower of Hanoi algorithm (§22.4.4).</a:t>
            </a:r>
          </a:p>
          <a:p>
            <a:pPr>
              <a:buFont typeface="Wingdings" panose="05000000000000000000" pitchFamily="2" charset="2"/>
              <a:buChar char="§"/>
            </a:pPr>
            <a:r>
              <a:rPr lang="en-US" altLang="en-US" sz="1800" dirty="0"/>
              <a:t>To describe common growth functions (constant, logarithmic, log-linear, quadratic, cubic, exponential) (§22.4.5).</a:t>
            </a:r>
          </a:p>
          <a:p>
            <a:pPr>
              <a:buFont typeface="Wingdings" panose="05000000000000000000" pitchFamily="2" charset="2"/>
              <a:buChar char="§"/>
            </a:pPr>
            <a:r>
              <a:rPr lang="en-US" altLang="en-US" sz="1800" dirty="0"/>
              <a:t>To design efficient algorithms for finding Fibonacci numbers using dynamic programming (§22.5).</a:t>
            </a:r>
          </a:p>
          <a:p>
            <a:pPr>
              <a:buFont typeface="Wingdings" panose="05000000000000000000" pitchFamily="2" charset="2"/>
              <a:buChar char="§"/>
            </a:pPr>
            <a:r>
              <a:rPr lang="en-US" altLang="en-US" sz="1800" dirty="0"/>
              <a:t>To find the GCD using Euclid’s algorithm (§22.6).</a:t>
            </a:r>
          </a:p>
          <a:p>
            <a:pPr>
              <a:buFont typeface="Wingdings" panose="05000000000000000000" pitchFamily="2" charset="2"/>
              <a:buChar char="§"/>
            </a:pPr>
            <a:r>
              <a:rPr lang="en-US" altLang="en-US" sz="1800" dirty="0"/>
              <a:t>To finding prime numbers using the sieve of Eratosthenes (§22.7).</a:t>
            </a:r>
          </a:p>
          <a:p>
            <a:pPr>
              <a:buFont typeface="Wingdings" panose="05000000000000000000" pitchFamily="2" charset="2"/>
              <a:buChar char="§"/>
            </a:pPr>
            <a:r>
              <a:rPr lang="en-US" altLang="en-US" sz="1800" dirty="0"/>
              <a:t>To design efficient algorithms for finding the closest pair of points using the divide-and-conquer approach (§22.8).</a:t>
            </a:r>
          </a:p>
          <a:p>
            <a:pPr>
              <a:buFont typeface="Wingdings" panose="05000000000000000000" pitchFamily="2" charset="2"/>
              <a:buChar char="§"/>
            </a:pPr>
            <a:r>
              <a:rPr lang="en-US" altLang="en-US" sz="1800" dirty="0"/>
              <a:t>To solve the Eight Queens problem using the backtracking approach (§22.9).</a:t>
            </a:r>
          </a:p>
          <a:p>
            <a:pPr>
              <a:buFont typeface="Wingdings" panose="05000000000000000000" pitchFamily="2" charset="2"/>
              <a:buChar char="§"/>
            </a:pPr>
            <a:r>
              <a:rPr lang="en-US" altLang="en-US" sz="1800" dirty="0"/>
              <a:t>To design efficient algorithms for finding a convex hull for a set of points (§22.10).</a:t>
            </a:r>
          </a:p>
        </p:txBody>
      </p:sp>
      <p:sp>
        <p:nvSpPr>
          <p:cNvPr id="5122" name="Slide Number Placeholder 4">
            <a:extLst>
              <a:ext uri="{FF2B5EF4-FFF2-40B4-BE49-F238E27FC236}">
                <a16:creationId xmlns:a16="http://schemas.microsoft.com/office/drawing/2014/main" id="{F2E9EBAC-A42F-4978-83E3-2DD197ABED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2C72586-9F27-41AF-BFD3-8ED7A7346535}" type="slidenum">
              <a:rPr lang="en-US" altLang="en-US" sz="1400"/>
              <a:pPr>
                <a:spcBef>
                  <a:spcPct val="0"/>
                </a:spcBef>
                <a:buClrTx/>
                <a:buSzTx/>
                <a:buFontTx/>
                <a:buNone/>
              </a:pPr>
              <a:t>2</a:t>
            </a:fld>
            <a:endParaRPr lang="en-US"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538B6FA9-6F50-4735-98BF-1884A9804B1C}"/>
              </a:ext>
            </a:extLst>
          </p:cNvPr>
          <p:cNvSpPr>
            <a:spLocks noGrp="1" noChangeArrowheads="1"/>
          </p:cNvSpPr>
          <p:nvPr>
            <p:ph type="title"/>
          </p:nvPr>
        </p:nvSpPr>
        <p:spPr>
          <a:xfrm>
            <a:off x="685800" y="381000"/>
            <a:ext cx="7772400" cy="533400"/>
          </a:xfrm>
          <a:noFill/>
        </p:spPr>
        <p:txBody>
          <a:bodyPr/>
          <a:lstStyle/>
          <a:p>
            <a:r>
              <a:rPr lang="en-US" altLang="en-US"/>
              <a:t>Executing Time </a:t>
            </a:r>
          </a:p>
        </p:txBody>
      </p:sp>
      <p:sp>
        <p:nvSpPr>
          <p:cNvPr id="6148" name="Rectangle 3">
            <a:extLst>
              <a:ext uri="{FF2B5EF4-FFF2-40B4-BE49-F238E27FC236}">
                <a16:creationId xmlns:a16="http://schemas.microsoft.com/office/drawing/2014/main" id="{7C55E2E8-7EA3-4C36-8483-A40C26A6FDD0}"/>
              </a:ext>
            </a:extLst>
          </p:cNvPr>
          <p:cNvSpPr>
            <a:spLocks noGrp="1" noChangeArrowheads="1"/>
          </p:cNvSpPr>
          <p:nvPr>
            <p:ph idx="1"/>
          </p:nvPr>
        </p:nvSpPr>
        <p:spPr>
          <a:xfrm>
            <a:off x="228600" y="1066800"/>
            <a:ext cx="8686800" cy="5334000"/>
          </a:xfrm>
          <a:noFill/>
        </p:spPr>
        <p:txBody>
          <a:bodyPr/>
          <a:lstStyle/>
          <a:p>
            <a:pPr marL="442913" indent="-358775">
              <a:spcBef>
                <a:spcPct val="0"/>
              </a:spcBef>
              <a:buFont typeface="Monotype Sorts"/>
              <a:buNone/>
            </a:pPr>
            <a:r>
              <a:rPr lang="en-US" altLang="en-US" sz="2400" dirty="0"/>
              <a:t>	Suppose two algorithms perform the same task such as search (linear search vs. binary search). Which one is better? One possible approach to answer this question is to write these algorithms in Java and run the programs to get execution time. But there are two problems for this approach:</a:t>
            </a:r>
          </a:p>
          <a:p>
            <a:pPr marL="442913" indent="-358775">
              <a:spcBef>
                <a:spcPct val="0"/>
              </a:spcBef>
              <a:buFont typeface="Monotype Sorts"/>
              <a:buNone/>
            </a:pPr>
            <a:endParaRPr lang="en-US" altLang="en-US" sz="2400" dirty="0"/>
          </a:p>
          <a:p>
            <a:pPr marL="442913" indent="-358775">
              <a:lnSpc>
                <a:spcPct val="90000"/>
              </a:lnSpc>
              <a:buFont typeface="Wingdings" panose="05000000000000000000" pitchFamily="2" charset="2"/>
              <a:buChar char="§"/>
            </a:pPr>
            <a:r>
              <a:rPr lang="en-US" altLang="en-US" sz="2400" dirty="0"/>
              <a:t>First, there are many tasks running concurrently on a computer. The execution time of a particular program is dependent on the system load.  </a:t>
            </a:r>
          </a:p>
          <a:p>
            <a:pPr marL="442913" indent="-358775">
              <a:lnSpc>
                <a:spcPct val="90000"/>
              </a:lnSpc>
              <a:buFont typeface="Wingdings" panose="05000000000000000000" pitchFamily="2" charset="2"/>
              <a:buChar char="§"/>
            </a:pPr>
            <a:r>
              <a:rPr lang="en-US" altLang="en-US" sz="2400" dirty="0"/>
              <a:t>Second, the execution time is dependent on specific input. Consider linear search and binary search for example. If an element to be searched happens to be the first in the list, linear search will find the element quicker than binary search. </a:t>
            </a:r>
          </a:p>
        </p:txBody>
      </p:sp>
      <p:sp>
        <p:nvSpPr>
          <p:cNvPr id="6146" name="Slide Number Placeholder 4">
            <a:extLst>
              <a:ext uri="{FF2B5EF4-FFF2-40B4-BE49-F238E27FC236}">
                <a16:creationId xmlns:a16="http://schemas.microsoft.com/office/drawing/2014/main" id="{552AC964-1566-46D6-BECF-F2F720F3883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4DDC00A-C8D5-404B-8B9C-A6B1D9C2DD58}" type="slidenum">
              <a:rPr lang="en-US" altLang="en-US" sz="1400"/>
              <a:pPr>
                <a:spcBef>
                  <a:spcPct val="0"/>
                </a:spcBef>
                <a:buClrTx/>
                <a:buSzTx/>
                <a:buFontTx/>
                <a:buNone/>
              </a:pPr>
              <a:t>3</a:t>
            </a:fld>
            <a:endParaRPr lang="en-US" altLang="en-US"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F9B96E27-88EE-433A-85C0-F72C1345E6E5}"/>
              </a:ext>
            </a:extLst>
          </p:cNvPr>
          <p:cNvSpPr>
            <a:spLocks noGrp="1" noChangeArrowheads="1"/>
          </p:cNvSpPr>
          <p:nvPr>
            <p:ph type="title"/>
          </p:nvPr>
        </p:nvSpPr>
        <p:spPr>
          <a:xfrm>
            <a:off x="685800" y="228600"/>
            <a:ext cx="7772400" cy="533400"/>
          </a:xfrm>
          <a:noFill/>
        </p:spPr>
        <p:txBody>
          <a:bodyPr/>
          <a:lstStyle/>
          <a:p>
            <a:r>
              <a:rPr lang="en-US" altLang="en-US"/>
              <a:t>Growth Rate </a:t>
            </a:r>
          </a:p>
        </p:txBody>
      </p:sp>
      <p:sp>
        <p:nvSpPr>
          <p:cNvPr id="7172" name="Rectangle 3">
            <a:extLst>
              <a:ext uri="{FF2B5EF4-FFF2-40B4-BE49-F238E27FC236}">
                <a16:creationId xmlns:a16="http://schemas.microsoft.com/office/drawing/2014/main" id="{81CB4A27-0440-4FF0-B974-4AEE0A8C14D4}"/>
              </a:ext>
            </a:extLst>
          </p:cNvPr>
          <p:cNvSpPr>
            <a:spLocks noGrp="1" noChangeArrowheads="1"/>
          </p:cNvSpPr>
          <p:nvPr>
            <p:ph idx="1"/>
          </p:nvPr>
        </p:nvSpPr>
        <p:spPr>
          <a:xfrm>
            <a:off x="228600" y="1143000"/>
            <a:ext cx="8610600" cy="5029200"/>
          </a:xfrm>
          <a:noFill/>
        </p:spPr>
        <p:txBody>
          <a:bodyPr/>
          <a:lstStyle/>
          <a:p>
            <a:pPr marL="541337" indent="-457200">
              <a:spcBef>
                <a:spcPct val="0"/>
              </a:spcBef>
              <a:buFont typeface="Wingdings" panose="05000000000000000000" pitchFamily="2" charset="2"/>
              <a:buChar char="§"/>
            </a:pPr>
            <a:r>
              <a:rPr lang="en-US" altLang="en-US" sz="2800" dirty="0"/>
              <a:t>It is very difficult to compare algorithms by measuring their execution time. </a:t>
            </a:r>
          </a:p>
          <a:p>
            <a:pPr marL="541337" indent="-457200">
              <a:spcBef>
                <a:spcPct val="0"/>
              </a:spcBef>
              <a:buFont typeface="Wingdings" panose="05000000000000000000" pitchFamily="2" charset="2"/>
              <a:buChar char="§"/>
            </a:pPr>
            <a:r>
              <a:rPr lang="en-US" altLang="en-US" sz="2800" dirty="0"/>
              <a:t>To overcome these problems, a theoretical approach was developed to analyze algorithms independent of computers and specific input. </a:t>
            </a:r>
          </a:p>
          <a:p>
            <a:pPr marL="541337" indent="-457200">
              <a:spcBef>
                <a:spcPct val="0"/>
              </a:spcBef>
              <a:buFont typeface="Wingdings" panose="05000000000000000000" pitchFamily="2" charset="2"/>
              <a:buChar char="§"/>
            </a:pPr>
            <a:r>
              <a:rPr lang="en-US" altLang="en-US" sz="2800" dirty="0"/>
              <a:t>This approach approximates the effect of a change on the size of the input. </a:t>
            </a:r>
          </a:p>
          <a:p>
            <a:pPr marL="541337" indent="-457200">
              <a:spcBef>
                <a:spcPct val="0"/>
              </a:spcBef>
              <a:buFont typeface="Wingdings" panose="05000000000000000000" pitchFamily="2" charset="2"/>
              <a:buChar char="§"/>
            </a:pPr>
            <a:r>
              <a:rPr lang="en-US" altLang="en-US" sz="2800" dirty="0"/>
              <a:t>In this way, you can see how fast an algorithm’s execution time increases as the input size increases, so you can compare two algorithms by examining their </a:t>
            </a:r>
            <a:r>
              <a:rPr lang="en-US" altLang="en-US" sz="2800" b="1" dirty="0"/>
              <a:t>growth rates</a:t>
            </a:r>
            <a:r>
              <a:rPr lang="en-US" altLang="en-US" sz="2800" dirty="0"/>
              <a:t>.</a:t>
            </a:r>
          </a:p>
        </p:txBody>
      </p:sp>
      <p:sp>
        <p:nvSpPr>
          <p:cNvPr id="7170" name="Slide Number Placeholder 4">
            <a:extLst>
              <a:ext uri="{FF2B5EF4-FFF2-40B4-BE49-F238E27FC236}">
                <a16:creationId xmlns:a16="http://schemas.microsoft.com/office/drawing/2014/main" id="{2C33D57F-547B-47CE-AE73-E13055E33F6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D9A3B49-3774-4F93-9F71-66BFF841EA5A}" type="slidenum">
              <a:rPr lang="en-US" altLang="en-US" sz="1400"/>
              <a:pPr>
                <a:spcBef>
                  <a:spcPct val="0"/>
                </a:spcBef>
                <a:buClrTx/>
                <a:buSzTx/>
                <a:buFontTx/>
                <a:buNone/>
              </a:pPr>
              <a:t>4</a:t>
            </a:fld>
            <a:endParaRPr lang="en-US"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959878D1-D94B-4FF2-B70E-9F47BD01DC28}"/>
              </a:ext>
            </a:extLst>
          </p:cNvPr>
          <p:cNvSpPr>
            <a:spLocks noGrp="1" noChangeArrowheads="1"/>
          </p:cNvSpPr>
          <p:nvPr>
            <p:ph type="title"/>
          </p:nvPr>
        </p:nvSpPr>
        <p:spPr>
          <a:xfrm>
            <a:off x="685800" y="228600"/>
            <a:ext cx="7772400" cy="685800"/>
          </a:xfrm>
          <a:noFill/>
        </p:spPr>
        <p:txBody>
          <a:bodyPr/>
          <a:lstStyle/>
          <a:p>
            <a:r>
              <a:rPr lang="en-US" altLang="en-US"/>
              <a:t>Big O Notation </a:t>
            </a:r>
          </a:p>
        </p:txBody>
      </p:sp>
      <p:sp>
        <p:nvSpPr>
          <p:cNvPr id="8196" name="Rectangle 3">
            <a:extLst>
              <a:ext uri="{FF2B5EF4-FFF2-40B4-BE49-F238E27FC236}">
                <a16:creationId xmlns:a16="http://schemas.microsoft.com/office/drawing/2014/main" id="{7553296E-24EA-469F-9887-3833FD0E5BF2}"/>
              </a:ext>
            </a:extLst>
          </p:cNvPr>
          <p:cNvSpPr>
            <a:spLocks noGrp="1" noChangeArrowheads="1"/>
          </p:cNvSpPr>
          <p:nvPr>
            <p:ph idx="1"/>
          </p:nvPr>
        </p:nvSpPr>
        <p:spPr>
          <a:xfrm>
            <a:off x="228600" y="1066800"/>
            <a:ext cx="8763000" cy="5105400"/>
          </a:xfrm>
          <a:noFill/>
        </p:spPr>
        <p:txBody>
          <a:bodyPr/>
          <a:lstStyle/>
          <a:p>
            <a:pPr>
              <a:spcBef>
                <a:spcPct val="0"/>
              </a:spcBef>
              <a:spcAft>
                <a:spcPts val="600"/>
              </a:spcAft>
              <a:buFont typeface="Wingdings" panose="05000000000000000000" pitchFamily="2" charset="2"/>
              <a:buChar char="§"/>
            </a:pPr>
            <a:r>
              <a:rPr lang="en-US" altLang="en-US" sz="2000" dirty="0"/>
              <a:t>Consider linear search. The linear search algorithm compares the key with the elements in the array sequentially until the key is found or the array is exhausted. </a:t>
            </a:r>
          </a:p>
          <a:p>
            <a:pPr>
              <a:spcBef>
                <a:spcPct val="0"/>
              </a:spcBef>
              <a:spcAft>
                <a:spcPts val="600"/>
              </a:spcAft>
              <a:buFont typeface="Wingdings" panose="05000000000000000000" pitchFamily="2" charset="2"/>
              <a:buChar char="§"/>
            </a:pPr>
            <a:r>
              <a:rPr lang="en-US" altLang="en-US" sz="2000" dirty="0"/>
              <a:t>If the key is not in the array, it requires </a:t>
            </a:r>
            <a:r>
              <a:rPr lang="en-US" altLang="en-US" sz="2000" i="1" dirty="0"/>
              <a:t>n</a:t>
            </a:r>
            <a:r>
              <a:rPr lang="en-US" altLang="en-US" sz="2000" dirty="0"/>
              <a:t> comparisons for an array of size </a:t>
            </a:r>
            <a:r>
              <a:rPr lang="en-US" altLang="en-US" sz="2000" i="1" dirty="0"/>
              <a:t>n</a:t>
            </a:r>
            <a:r>
              <a:rPr lang="en-US" altLang="en-US" sz="2000" dirty="0"/>
              <a:t>. </a:t>
            </a:r>
          </a:p>
          <a:p>
            <a:pPr>
              <a:spcBef>
                <a:spcPct val="0"/>
              </a:spcBef>
              <a:spcAft>
                <a:spcPts val="600"/>
              </a:spcAft>
              <a:buFont typeface="Wingdings" panose="05000000000000000000" pitchFamily="2" charset="2"/>
              <a:buChar char="§"/>
            </a:pPr>
            <a:r>
              <a:rPr lang="en-US" altLang="en-US" sz="2000" dirty="0"/>
              <a:t>If the key is in the array, it requires </a:t>
            </a:r>
            <a:r>
              <a:rPr lang="en-US" altLang="en-US" sz="2000" i="1" dirty="0"/>
              <a:t>n/2</a:t>
            </a:r>
            <a:r>
              <a:rPr lang="en-US" altLang="en-US" sz="2000" dirty="0"/>
              <a:t> comparisons on average.</a:t>
            </a:r>
          </a:p>
          <a:p>
            <a:pPr>
              <a:spcBef>
                <a:spcPct val="0"/>
              </a:spcBef>
              <a:spcAft>
                <a:spcPts val="600"/>
              </a:spcAft>
              <a:buFont typeface="Wingdings" panose="05000000000000000000" pitchFamily="2" charset="2"/>
              <a:buChar char="§"/>
            </a:pPr>
            <a:r>
              <a:rPr lang="en-US" altLang="en-US" sz="2000" dirty="0"/>
              <a:t> The algorithm’s execution time is proportional to the size of the array. If you double the size of the array, you will expect the number of comparisons to double. </a:t>
            </a:r>
          </a:p>
          <a:p>
            <a:pPr>
              <a:spcBef>
                <a:spcPct val="0"/>
              </a:spcBef>
              <a:spcAft>
                <a:spcPts val="600"/>
              </a:spcAft>
              <a:buFont typeface="Wingdings" panose="05000000000000000000" pitchFamily="2" charset="2"/>
              <a:buChar char="§"/>
            </a:pPr>
            <a:r>
              <a:rPr lang="en-US" altLang="en-US" sz="2000" dirty="0"/>
              <a:t>The algorithm grows at a linear rate. </a:t>
            </a:r>
          </a:p>
          <a:p>
            <a:pPr>
              <a:spcBef>
                <a:spcPct val="0"/>
              </a:spcBef>
              <a:spcAft>
                <a:spcPts val="600"/>
              </a:spcAft>
              <a:buFont typeface="Wingdings" panose="05000000000000000000" pitchFamily="2" charset="2"/>
              <a:buChar char="§"/>
            </a:pPr>
            <a:r>
              <a:rPr lang="en-US" altLang="en-US" sz="2000" dirty="0"/>
              <a:t>The growth rate has an order of magnitude of </a:t>
            </a:r>
            <a:r>
              <a:rPr lang="en-US" altLang="en-US" sz="2000" i="1" dirty="0"/>
              <a:t>n</a:t>
            </a:r>
            <a:r>
              <a:rPr lang="en-US" altLang="en-US" sz="2000" dirty="0"/>
              <a:t>. </a:t>
            </a:r>
          </a:p>
          <a:p>
            <a:pPr>
              <a:spcBef>
                <a:spcPct val="0"/>
              </a:spcBef>
              <a:spcAft>
                <a:spcPts val="600"/>
              </a:spcAft>
              <a:buFont typeface="Wingdings" panose="05000000000000000000" pitchFamily="2" charset="2"/>
              <a:buChar char="§"/>
            </a:pPr>
            <a:r>
              <a:rPr lang="en-US" altLang="en-US" sz="2000" dirty="0"/>
              <a:t>Computer scientists use the Big </a:t>
            </a:r>
            <a:r>
              <a:rPr lang="en-US" altLang="en-US" sz="2000" i="1" dirty="0"/>
              <a:t>O</a:t>
            </a:r>
            <a:r>
              <a:rPr lang="en-US" altLang="en-US" sz="2000" dirty="0"/>
              <a:t> notation to abbreviate for “order of magnitude.” </a:t>
            </a:r>
          </a:p>
          <a:p>
            <a:pPr>
              <a:spcBef>
                <a:spcPct val="0"/>
              </a:spcBef>
              <a:spcAft>
                <a:spcPts val="600"/>
              </a:spcAft>
              <a:buFont typeface="Wingdings" panose="05000000000000000000" pitchFamily="2" charset="2"/>
              <a:buChar char="§"/>
            </a:pPr>
            <a:r>
              <a:rPr lang="en-US" altLang="en-US" sz="2000" dirty="0"/>
              <a:t>Using this notation, the complexity of the linear search algorithm is </a:t>
            </a:r>
            <a:r>
              <a:rPr lang="en-US" altLang="en-US" sz="2000" b="1" dirty="0"/>
              <a:t>O(n), </a:t>
            </a:r>
            <a:r>
              <a:rPr lang="en-US" altLang="en-US" sz="2000" dirty="0"/>
              <a:t>pronounced as “</a:t>
            </a:r>
            <a:r>
              <a:rPr lang="en-US" altLang="en-US" sz="2000" b="1" dirty="0"/>
              <a:t>order of  n</a:t>
            </a:r>
            <a:r>
              <a:rPr lang="en-US" altLang="en-US" sz="2000" dirty="0"/>
              <a:t>.”</a:t>
            </a:r>
          </a:p>
        </p:txBody>
      </p:sp>
      <p:sp>
        <p:nvSpPr>
          <p:cNvPr id="8194" name="Slide Number Placeholder 4">
            <a:extLst>
              <a:ext uri="{FF2B5EF4-FFF2-40B4-BE49-F238E27FC236}">
                <a16:creationId xmlns:a16="http://schemas.microsoft.com/office/drawing/2014/main" id="{0BA5A761-CB21-40EA-ADF4-AAC4F93B565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A4A9AE4-5189-4BCF-A428-EE4AA22FAC9B}" type="slidenum">
              <a:rPr lang="en-US" altLang="en-US" sz="1400"/>
              <a:pPr>
                <a:spcBef>
                  <a:spcPct val="0"/>
                </a:spcBef>
                <a:buClrTx/>
                <a:buSzTx/>
                <a:buFontTx/>
                <a:buNone/>
              </a:pPr>
              <a:t>5</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88941F67-2E02-4858-AA51-88574B8D22A5}"/>
              </a:ext>
            </a:extLst>
          </p:cNvPr>
          <p:cNvSpPr>
            <a:spLocks noGrp="1" noChangeArrowheads="1"/>
          </p:cNvSpPr>
          <p:nvPr>
            <p:ph type="title"/>
          </p:nvPr>
        </p:nvSpPr>
        <p:spPr>
          <a:xfrm>
            <a:off x="685800" y="228600"/>
            <a:ext cx="7772400" cy="685800"/>
          </a:xfrm>
          <a:noFill/>
        </p:spPr>
        <p:txBody>
          <a:bodyPr/>
          <a:lstStyle/>
          <a:p>
            <a:r>
              <a:rPr lang="en-US" altLang="en-US"/>
              <a:t>Best, Worst, and Average Cases </a:t>
            </a:r>
          </a:p>
        </p:txBody>
      </p:sp>
      <p:sp>
        <p:nvSpPr>
          <p:cNvPr id="9220" name="Rectangle 3">
            <a:extLst>
              <a:ext uri="{FF2B5EF4-FFF2-40B4-BE49-F238E27FC236}">
                <a16:creationId xmlns:a16="http://schemas.microsoft.com/office/drawing/2014/main" id="{CC9DF352-0966-40DB-9F7D-700BE9282ACC}"/>
              </a:ext>
            </a:extLst>
          </p:cNvPr>
          <p:cNvSpPr>
            <a:spLocks noGrp="1" noChangeArrowheads="1"/>
          </p:cNvSpPr>
          <p:nvPr>
            <p:ph idx="1"/>
          </p:nvPr>
        </p:nvSpPr>
        <p:spPr>
          <a:xfrm>
            <a:off x="228600" y="1066800"/>
            <a:ext cx="8763000" cy="5105400"/>
          </a:xfrm>
          <a:noFill/>
        </p:spPr>
        <p:txBody>
          <a:bodyPr/>
          <a:lstStyle/>
          <a:p>
            <a:pPr>
              <a:spcBef>
                <a:spcPct val="0"/>
              </a:spcBef>
              <a:buFont typeface="Wingdings" panose="05000000000000000000" pitchFamily="2" charset="2"/>
              <a:buChar char="§"/>
            </a:pPr>
            <a:r>
              <a:rPr lang="en-US" altLang="en-US" sz="2000" dirty="0"/>
              <a:t>For the same input size, an algorithm’s execution time may vary, depending on the input. </a:t>
            </a:r>
          </a:p>
          <a:p>
            <a:pPr>
              <a:spcBef>
                <a:spcPct val="0"/>
              </a:spcBef>
              <a:buFont typeface="Wingdings" panose="05000000000000000000" pitchFamily="2" charset="2"/>
              <a:buChar char="§"/>
            </a:pPr>
            <a:r>
              <a:rPr lang="en-US" altLang="en-US" sz="2000" dirty="0"/>
              <a:t>An input that results in the shortest execution time is called the </a:t>
            </a:r>
            <a:r>
              <a:rPr lang="en-US" altLang="en-US" sz="2000" b="1" dirty="0"/>
              <a:t>best-case</a:t>
            </a:r>
            <a:r>
              <a:rPr lang="en-US" altLang="en-US" sz="2000" dirty="0"/>
              <a:t> input and an input that results in the longest execution time is called the </a:t>
            </a:r>
            <a:r>
              <a:rPr lang="en-US" altLang="en-US" sz="2000" b="1" dirty="0"/>
              <a:t>worst-case</a:t>
            </a:r>
            <a:r>
              <a:rPr lang="en-US" altLang="en-US" sz="2000" dirty="0"/>
              <a:t> input. </a:t>
            </a:r>
          </a:p>
          <a:p>
            <a:pPr>
              <a:spcBef>
                <a:spcPct val="0"/>
              </a:spcBef>
              <a:buFont typeface="Wingdings" panose="05000000000000000000" pitchFamily="2" charset="2"/>
              <a:buChar char="§"/>
            </a:pPr>
            <a:r>
              <a:rPr lang="en-US" altLang="en-US" sz="2000" dirty="0"/>
              <a:t>Best-case and worst-case are not representative, but worst-case analysis is very useful. You can show that the algorithm will never be slower than the worst-case. </a:t>
            </a:r>
          </a:p>
          <a:p>
            <a:pPr>
              <a:spcBef>
                <a:spcPct val="0"/>
              </a:spcBef>
              <a:buFont typeface="Wingdings" panose="05000000000000000000" pitchFamily="2" charset="2"/>
              <a:buChar char="§"/>
            </a:pPr>
            <a:r>
              <a:rPr lang="en-US" altLang="en-US" sz="2000" dirty="0"/>
              <a:t>An average-case analysis attempts to determine the average amount of time among all possible input of the same size. </a:t>
            </a:r>
          </a:p>
          <a:p>
            <a:pPr>
              <a:spcBef>
                <a:spcPct val="0"/>
              </a:spcBef>
              <a:buFont typeface="Wingdings" panose="05000000000000000000" pitchFamily="2" charset="2"/>
              <a:buChar char="§"/>
            </a:pPr>
            <a:r>
              <a:rPr lang="en-US" altLang="en-US" sz="2000" dirty="0">
                <a:highlight>
                  <a:srgbClr val="FFFF00"/>
                </a:highlight>
              </a:rPr>
              <a:t>Average-case analysis is ideal, but difficult to perform, because it is hard to determine the relative probabilities and distributions of various input instances for many problems. </a:t>
            </a:r>
          </a:p>
          <a:p>
            <a:pPr>
              <a:spcBef>
                <a:spcPct val="0"/>
              </a:spcBef>
              <a:buFont typeface="Wingdings" panose="05000000000000000000" pitchFamily="2" charset="2"/>
              <a:buChar char="§"/>
            </a:pPr>
            <a:r>
              <a:rPr lang="en-US" altLang="en-US" sz="2000" dirty="0">
                <a:highlight>
                  <a:srgbClr val="FFFF00"/>
                </a:highlight>
              </a:rPr>
              <a:t>Worst-case analysis is easier to obtain and is thus common. So, the analysis is generally conducted for the worst-case.</a:t>
            </a:r>
          </a:p>
        </p:txBody>
      </p:sp>
      <p:sp>
        <p:nvSpPr>
          <p:cNvPr id="9218" name="Slide Number Placeholder 4">
            <a:extLst>
              <a:ext uri="{FF2B5EF4-FFF2-40B4-BE49-F238E27FC236}">
                <a16:creationId xmlns:a16="http://schemas.microsoft.com/office/drawing/2014/main" id="{116973C2-58E0-4523-8FB9-BDC3DB31EA5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50BFDB2-E16F-466E-B9ED-DF4EFFEB8B68}" type="slidenum">
              <a:rPr lang="en-US" altLang="en-US" sz="1400"/>
              <a:pPr>
                <a:spcBef>
                  <a:spcPct val="0"/>
                </a:spcBef>
                <a:buClrTx/>
                <a:buSzTx/>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3935CAEB-0EDC-4628-807E-18FB6075C7D6}"/>
              </a:ext>
            </a:extLst>
          </p:cNvPr>
          <p:cNvSpPr>
            <a:spLocks noGrp="1" noChangeArrowheads="1"/>
          </p:cNvSpPr>
          <p:nvPr>
            <p:ph type="title"/>
          </p:nvPr>
        </p:nvSpPr>
        <p:spPr>
          <a:xfrm>
            <a:off x="685800" y="228600"/>
            <a:ext cx="7772400" cy="685800"/>
          </a:xfrm>
          <a:noFill/>
        </p:spPr>
        <p:txBody>
          <a:bodyPr/>
          <a:lstStyle/>
          <a:p>
            <a:r>
              <a:rPr lang="en-US" altLang="en-US"/>
              <a:t>Ignoring Multiplicative Constants </a:t>
            </a:r>
          </a:p>
        </p:txBody>
      </p:sp>
      <p:sp>
        <p:nvSpPr>
          <p:cNvPr id="10244" name="Rectangle 3">
            <a:extLst>
              <a:ext uri="{FF2B5EF4-FFF2-40B4-BE49-F238E27FC236}">
                <a16:creationId xmlns:a16="http://schemas.microsoft.com/office/drawing/2014/main" id="{1F54B704-6BB4-4B71-93E1-9690379BF8FE}"/>
              </a:ext>
            </a:extLst>
          </p:cNvPr>
          <p:cNvSpPr>
            <a:spLocks noGrp="1" noChangeArrowheads="1"/>
          </p:cNvSpPr>
          <p:nvPr>
            <p:ph idx="1"/>
          </p:nvPr>
        </p:nvSpPr>
        <p:spPr>
          <a:xfrm>
            <a:off x="228600" y="1066800"/>
            <a:ext cx="8763000" cy="2286000"/>
          </a:xfrm>
          <a:noFill/>
        </p:spPr>
        <p:txBody>
          <a:bodyPr/>
          <a:lstStyle/>
          <a:p>
            <a:pPr>
              <a:spcBef>
                <a:spcPct val="0"/>
              </a:spcBef>
              <a:spcAft>
                <a:spcPts val="600"/>
              </a:spcAft>
              <a:buFont typeface="Wingdings" panose="05000000000000000000" pitchFamily="2" charset="2"/>
              <a:buChar char="§"/>
            </a:pPr>
            <a:r>
              <a:rPr lang="en-US" altLang="en-US" sz="2000" dirty="0"/>
              <a:t>The linear search algorithm requires </a:t>
            </a:r>
            <a:r>
              <a:rPr lang="en-US" altLang="en-US" sz="2000" i="1" dirty="0"/>
              <a:t>n</a:t>
            </a:r>
            <a:r>
              <a:rPr lang="en-US" altLang="en-US" sz="2000" dirty="0"/>
              <a:t> comparisons in the worst-case and  </a:t>
            </a:r>
            <a:r>
              <a:rPr lang="en-US" altLang="en-US" sz="2000" i="1" dirty="0"/>
              <a:t>n/2</a:t>
            </a:r>
            <a:r>
              <a:rPr lang="en-US" altLang="en-US" sz="2000" dirty="0"/>
              <a:t> comparisons in the average-case. </a:t>
            </a:r>
          </a:p>
          <a:p>
            <a:pPr>
              <a:spcBef>
                <a:spcPct val="0"/>
              </a:spcBef>
              <a:spcAft>
                <a:spcPts val="600"/>
              </a:spcAft>
              <a:buFont typeface="Wingdings" panose="05000000000000000000" pitchFamily="2" charset="2"/>
              <a:buChar char="§"/>
            </a:pPr>
            <a:r>
              <a:rPr lang="en-US" altLang="en-US" sz="2000" dirty="0"/>
              <a:t>Using the Big  </a:t>
            </a:r>
            <a:r>
              <a:rPr lang="en-US" altLang="en-US" sz="2000" i="1" dirty="0"/>
              <a:t>O</a:t>
            </a:r>
            <a:r>
              <a:rPr lang="en-US" altLang="en-US" sz="2000" dirty="0"/>
              <a:t> notation, both cases require  </a:t>
            </a:r>
            <a:r>
              <a:rPr lang="en-US" altLang="en-US" sz="2000" i="1" dirty="0"/>
              <a:t>O(n)</a:t>
            </a:r>
            <a:r>
              <a:rPr lang="en-US" altLang="en-US" sz="2000" dirty="0"/>
              <a:t> time. The multiplicative constant (1/2) can be omitted. </a:t>
            </a:r>
          </a:p>
          <a:p>
            <a:pPr>
              <a:spcBef>
                <a:spcPct val="0"/>
              </a:spcBef>
              <a:spcAft>
                <a:spcPts val="600"/>
              </a:spcAft>
              <a:buFont typeface="Wingdings" panose="05000000000000000000" pitchFamily="2" charset="2"/>
              <a:buChar char="§"/>
            </a:pPr>
            <a:r>
              <a:rPr lang="en-US" altLang="en-US" sz="2000" dirty="0"/>
              <a:t>Algorithm analysis is focused on growth rate. The multiplicative constants have no impact on growth rates. The growth rate for  n/2 or 100n is the same as n, i.e., O(n) = O(n/2) = O(100n).</a:t>
            </a:r>
          </a:p>
        </p:txBody>
      </p:sp>
      <p:sp>
        <p:nvSpPr>
          <p:cNvPr id="10242" name="Slide Number Placeholder 4">
            <a:extLst>
              <a:ext uri="{FF2B5EF4-FFF2-40B4-BE49-F238E27FC236}">
                <a16:creationId xmlns:a16="http://schemas.microsoft.com/office/drawing/2014/main" id="{5FED18EB-B5DC-455A-9104-72249200F8F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1F2F285-C5BE-4F9F-8661-8F755EFB57C6}" type="slidenum">
              <a:rPr lang="en-US" altLang="en-US" sz="1400"/>
              <a:pPr>
                <a:spcBef>
                  <a:spcPct val="0"/>
                </a:spcBef>
                <a:buClrTx/>
                <a:buSzTx/>
                <a:buFontTx/>
                <a:buNone/>
              </a:pPr>
              <a:t>7</a:t>
            </a:fld>
            <a:endParaRPr lang="en-US" altLang="en-US" sz="1400"/>
          </a:p>
        </p:txBody>
      </p:sp>
      <p:graphicFrame>
        <p:nvGraphicFramePr>
          <p:cNvPr id="10248" name="Object 8">
            <a:extLst>
              <a:ext uri="{FF2B5EF4-FFF2-40B4-BE49-F238E27FC236}">
                <a16:creationId xmlns:a16="http://schemas.microsoft.com/office/drawing/2014/main" id="{2C2F6910-D1ED-4869-8A47-12CFB3A7DF7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95245528"/>
              </p:ext>
            </p:extLst>
          </p:nvPr>
        </p:nvGraphicFramePr>
        <p:xfrm>
          <a:off x="304800" y="3429000"/>
          <a:ext cx="7620000" cy="2867025"/>
        </p:xfrm>
        <a:graphic>
          <a:graphicData uri="http://schemas.openxmlformats.org/presentationml/2006/ole">
            <mc:AlternateContent xmlns:mc="http://schemas.openxmlformats.org/markup-compatibility/2006">
              <mc:Choice xmlns:v="urn:schemas-microsoft-com:vml" Requires="v">
                <p:oleObj name="Picture" r:id="rId2" imgW="5262620" imgH="1980233" progId="Word.Picture.8">
                  <p:embed/>
                </p:oleObj>
              </mc:Choice>
              <mc:Fallback>
                <p:oleObj name="Picture" r:id="rId2" imgW="5262620" imgH="1980233" progId="Word.Picture.8">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429000"/>
                        <a:ext cx="76200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1541B69F-8FA6-441E-A49F-E146172AD3D4}"/>
              </a:ext>
            </a:extLst>
          </p:cNvPr>
          <p:cNvSpPr>
            <a:spLocks noGrp="1" noChangeArrowheads="1"/>
          </p:cNvSpPr>
          <p:nvPr>
            <p:ph type="title"/>
          </p:nvPr>
        </p:nvSpPr>
        <p:spPr>
          <a:xfrm>
            <a:off x="685800" y="228600"/>
            <a:ext cx="7772400" cy="685800"/>
          </a:xfrm>
          <a:noFill/>
        </p:spPr>
        <p:txBody>
          <a:bodyPr/>
          <a:lstStyle/>
          <a:p>
            <a:r>
              <a:rPr lang="en-US" altLang="en-US"/>
              <a:t>Ignoring Non-Dominating Terms</a:t>
            </a:r>
          </a:p>
        </p:txBody>
      </p:sp>
      <p:sp>
        <p:nvSpPr>
          <p:cNvPr id="11268" name="Rectangle 3">
            <a:extLst>
              <a:ext uri="{FF2B5EF4-FFF2-40B4-BE49-F238E27FC236}">
                <a16:creationId xmlns:a16="http://schemas.microsoft.com/office/drawing/2014/main" id="{CFCBD105-413F-476F-BEBF-A975CE98BFCE}"/>
              </a:ext>
            </a:extLst>
          </p:cNvPr>
          <p:cNvSpPr>
            <a:spLocks noGrp="1" noChangeArrowheads="1"/>
          </p:cNvSpPr>
          <p:nvPr>
            <p:ph idx="1"/>
          </p:nvPr>
        </p:nvSpPr>
        <p:spPr>
          <a:xfrm>
            <a:off x="228600" y="1066800"/>
            <a:ext cx="8763000" cy="5105400"/>
          </a:xfrm>
          <a:noFill/>
        </p:spPr>
        <p:txBody>
          <a:bodyPr/>
          <a:lstStyle/>
          <a:p>
            <a:pPr>
              <a:lnSpc>
                <a:spcPct val="90000"/>
              </a:lnSpc>
              <a:spcBef>
                <a:spcPct val="0"/>
              </a:spcBef>
              <a:spcAft>
                <a:spcPts val="600"/>
              </a:spcAft>
              <a:buFont typeface="Wingdings" panose="05000000000000000000" pitchFamily="2" charset="2"/>
              <a:buChar char="§"/>
            </a:pPr>
            <a:r>
              <a:rPr lang="en-US" altLang="en-US" sz="2200" dirty="0"/>
              <a:t>Consider the algorithm for finding the maximum number in an array of </a:t>
            </a:r>
            <a:r>
              <a:rPr lang="en-US" altLang="en-US" sz="2200" i="1" dirty="0"/>
              <a:t>n</a:t>
            </a:r>
            <a:r>
              <a:rPr lang="en-US" altLang="en-US" sz="2200" dirty="0"/>
              <a:t> elements. </a:t>
            </a:r>
          </a:p>
          <a:p>
            <a:pPr>
              <a:lnSpc>
                <a:spcPct val="90000"/>
              </a:lnSpc>
              <a:spcBef>
                <a:spcPct val="0"/>
              </a:spcBef>
              <a:spcAft>
                <a:spcPts val="600"/>
              </a:spcAft>
              <a:buFont typeface="Wingdings" panose="05000000000000000000" pitchFamily="2" charset="2"/>
              <a:buChar char="§"/>
            </a:pPr>
            <a:r>
              <a:rPr lang="en-US" altLang="en-US" sz="2200" dirty="0"/>
              <a:t>If  </a:t>
            </a:r>
            <a:r>
              <a:rPr lang="en-US" altLang="en-US" sz="2200" i="1" dirty="0"/>
              <a:t>n</a:t>
            </a:r>
            <a:r>
              <a:rPr lang="en-US" altLang="en-US" sz="2200" dirty="0"/>
              <a:t> is 2, it takes one comparison to find the maximum number. If </a:t>
            </a:r>
            <a:r>
              <a:rPr lang="en-US" altLang="en-US" sz="2200" i="1" dirty="0"/>
              <a:t>n</a:t>
            </a:r>
            <a:r>
              <a:rPr lang="en-US" altLang="en-US" sz="2200" dirty="0"/>
              <a:t> is 3, it takes two comparisons to find the maximum number. </a:t>
            </a:r>
          </a:p>
          <a:p>
            <a:pPr>
              <a:lnSpc>
                <a:spcPct val="90000"/>
              </a:lnSpc>
              <a:spcBef>
                <a:spcPct val="0"/>
              </a:spcBef>
              <a:spcAft>
                <a:spcPts val="600"/>
              </a:spcAft>
              <a:buFont typeface="Wingdings" panose="05000000000000000000" pitchFamily="2" charset="2"/>
              <a:buChar char="§"/>
            </a:pPr>
            <a:r>
              <a:rPr lang="en-US" altLang="en-US" sz="2200" dirty="0"/>
              <a:t>In general, it takes </a:t>
            </a:r>
            <a:r>
              <a:rPr lang="en-US" altLang="en-US" sz="2200" i="1" dirty="0"/>
              <a:t>n-1</a:t>
            </a:r>
            <a:r>
              <a:rPr lang="en-US" altLang="en-US" sz="2200" dirty="0"/>
              <a:t> times of comparisons to find maximum number in a list of  </a:t>
            </a:r>
            <a:r>
              <a:rPr lang="en-US" altLang="en-US" sz="2200" i="1" dirty="0"/>
              <a:t>n</a:t>
            </a:r>
            <a:r>
              <a:rPr lang="en-US" altLang="en-US" sz="2200" dirty="0"/>
              <a:t> elements. </a:t>
            </a:r>
          </a:p>
          <a:p>
            <a:pPr>
              <a:lnSpc>
                <a:spcPct val="90000"/>
              </a:lnSpc>
              <a:spcBef>
                <a:spcPct val="0"/>
              </a:spcBef>
              <a:spcAft>
                <a:spcPts val="600"/>
              </a:spcAft>
              <a:buFont typeface="Wingdings" panose="05000000000000000000" pitchFamily="2" charset="2"/>
              <a:buChar char="§"/>
            </a:pPr>
            <a:r>
              <a:rPr lang="en-US" altLang="en-US" sz="2200" dirty="0"/>
              <a:t>Algorithm analysis is for </a:t>
            </a:r>
            <a:r>
              <a:rPr lang="en-US" altLang="en-US" sz="2200" u="sng" dirty="0"/>
              <a:t>large input size</a:t>
            </a:r>
            <a:r>
              <a:rPr lang="en-US" altLang="en-US" sz="2200" dirty="0"/>
              <a:t>. </a:t>
            </a:r>
          </a:p>
          <a:p>
            <a:pPr>
              <a:lnSpc>
                <a:spcPct val="90000"/>
              </a:lnSpc>
              <a:spcBef>
                <a:spcPct val="0"/>
              </a:spcBef>
              <a:spcAft>
                <a:spcPts val="600"/>
              </a:spcAft>
              <a:buFont typeface="Wingdings" panose="05000000000000000000" pitchFamily="2" charset="2"/>
              <a:buChar char="§"/>
            </a:pPr>
            <a:r>
              <a:rPr lang="en-US" altLang="en-US" sz="2200" dirty="0"/>
              <a:t>If the input size is small, there is no significance to estimate an algorithm’s efficiency. </a:t>
            </a:r>
          </a:p>
          <a:p>
            <a:pPr>
              <a:lnSpc>
                <a:spcPct val="90000"/>
              </a:lnSpc>
              <a:spcBef>
                <a:spcPct val="0"/>
              </a:spcBef>
              <a:spcAft>
                <a:spcPts val="600"/>
              </a:spcAft>
              <a:buFont typeface="Wingdings" panose="05000000000000000000" pitchFamily="2" charset="2"/>
              <a:buChar char="§"/>
            </a:pPr>
            <a:r>
              <a:rPr lang="en-US" altLang="en-US" sz="2200" dirty="0"/>
              <a:t>As </a:t>
            </a:r>
            <a:r>
              <a:rPr lang="en-US" altLang="en-US" sz="2200" i="1" dirty="0"/>
              <a:t>n</a:t>
            </a:r>
            <a:r>
              <a:rPr lang="en-US" altLang="en-US" sz="2200" dirty="0"/>
              <a:t> grows larger, the </a:t>
            </a:r>
            <a:r>
              <a:rPr lang="en-US" altLang="en-US" sz="2200" i="1" dirty="0"/>
              <a:t>n</a:t>
            </a:r>
            <a:r>
              <a:rPr lang="en-US" altLang="en-US" sz="2200" dirty="0"/>
              <a:t> part in the expression </a:t>
            </a:r>
            <a:r>
              <a:rPr lang="en-US" altLang="en-US" sz="2200" i="1" dirty="0"/>
              <a:t>n-1 </a:t>
            </a:r>
            <a:r>
              <a:rPr lang="en-US" altLang="en-US" sz="2200" dirty="0"/>
              <a:t>dominates the complexity. </a:t>
            </a:r>
          </a:p>
          <a:p>
            <a:pPr>
              <a:lnSpc>
                <a:spcPct val="90000"/>
              </a:lnSpc>
              <a:spcBef>
                <a:spcPct val="0"/>
              </a:spcBef>
              <a:spcAft>
                <a:spcPts val="600"/>
              </a:spcAft>
              <a:buFont typeface="Wingdings" panose="05000000000000000000" pitchFamily="2" charset="2"/>
              <a:buChar char="§"/>
            </a:pPr>
            <a:r>
              <a:rPr lang="en-US" altLang="en-US" sz="2200" dirty="0"/>
              <a:t>The Big  </a:t>
            </a:r>
            <a:r>
              <a:rPr lang="en-US" altLang="en-US" sz="2200" i="1" dirty="0"/>
              <a:t>O</a:t>
            </a:r>
            <a:r>
              <a:rPr lang="en-US" altLang="en-US" sz="2200" dirty="0"/>
              <a:t> notation allows you to ignore the non-dominating part (e.g., -1 in the expression </a:t>
            </a:r>
            <a:r>
              <a:rPr lang="en-US" altLang="en-US" sz="2200" i="1" dirty="0"/>
              <a:t>n-1</a:t>
            </a:r>
            <a:r>
              <a:rPr lang="en-US" altLang="en-US" sz="2200" dirty="0"/>
              <a:t>) and highlight the important part (e.g., </a:t>
            </a:r>
            <a:r>
              <a:rPr lang="en-US" altLang="en-US" sz="2200" i="1" dirty="0"/>
              <a:t>n</a:t>
            </a:r>
            <a:r>
              <a:rPr lang="en-US" altLang="en-US" sz="2200" dirty="0"/>
              <a:t> in the expression </a:t>
            </a:r>
            <a:r>
              <a:rPr lang="en-US" altLang="en-US" sz="2200" i="1" dirty="0"/>
              <a:t>n-1</a:t>
            </a:r>
            <a:r>
              <a:rPr lang="en-US" altLang="en-US" sz="2200" dirty="0"/>
              <a:t>). </a:t>
            </a:r>
          </a:p>
          <a:p>
            <a:pPr>
              <a:lnSpc>
                <a:spcPct val="90000"/>
              </a:lnSpc>
              <a:spcBef>
                <a:spcPct val="0"/>
              </a:spcBef>
              <a:spcAft>
                <a:spcPts val="600"/>
              </a:spcAft>
              <a:buFont typeface="Wingdings" panose="05000000000000000000" pitchFamily="2" charset="2"/>
              <a:buChar char="§"/>
            </a:pPr>
            <a:r>
              <a:rPr lang="en-US" altLang="en-US" sz="2200" dirty="0"/>
              <a:t>So, the complexity of this algorithm is </a:t>
            </a:r>
            <a:r>
              <a:rPr lang="en-US" altLang="en-US" sz="2200" i="1" dirty="0"/>
              <a:t>O(n)</a:t>
            </a:r>
            <a:r>
              <a:rPr lang="en-US" altLang="en-US" sz="2200" dirty="0"/>
              <a:t>.</a:t>
            </a:r>
          </a:p>
        </p:txBody>
      </p:sp>
      <p:sp>
        <p:nvSpPr>
          <p:cNvPr id="11266" name="Slide Number Placeholder 4">
            <a:extLst>
              <a:ext uri="{FF2B5EF4-FFF2-40B4-BE49-F238E27FC236}">
                <a16:creationId xmlns:a16="http://schemas.microsoft.com/office/drawing/2014/main" id="{3A0AB4B7-89D9-4B37-BC2C-A3B3E0DA3C2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2AF3157-A511-4E06-BB70-5CD18DFACB10}" type="slidenum">
              <a:rPr lang="en-US" altLang="en-US" sz="1400"/>
              <a:pPr>
                <a:spcBef>
                  <a:spcPct val="0"/>
                </a:spcBef>
                <a:buClrTx/>
                <a:buSzTx/>
                <a:buFontTx/>
                <a:buNone/>
              </a:pPr>
              <a:t>8</a:t>
            </a:fld>
            <a:endParaRPr lang="en-US"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644B5A72-EB29-456B-891F-FBB73B6CB63C}"/>
              </a:ext>
            </a:extLst>
          </p:cNvPr>
          <p:cNvSpPr>
            <a:spLocks noGrp="1" noChangeArrowheads="1"/>
          </p:cNvSpPr>
          <p:nvPr>
            <p:ph type="title"/>
          </p:nvPr>
        </p:nvSpPr>
        <p:spPr>
          <a:xfrm>
            <a:off x="685800" y="228600"/>
            <a:ext cx="7772400" cy="685800"/>
          </a:xfrm>
          <a:noFill/>
        </p:spPr>
        <p:txBody>
          <a:bodyPr/>
          <a:lstStyle/>
          <a:p>
            <a:r>
              <a:rPr lang="en-US" altLang="en-US"/>
              <a:t>Useful Mathematic Summations</a:t>
            </a:r>
          </a:p>
        </p:txBody>
      </p:sp>
      <p:sp>
        <p:nvSpPr>
          <p:cNvPr id="12290" name="Slide Number Placeholder 4">
            <a:extLst>
              <a:ext uri="{FF2B5EF4-FFF2-40B4-BE49-F238E27FC236}">
                <a16:creationId xmlns:a16="http://schemas.microsoft.com/office/drawing/2014/main" id="{DE2FACF2-7F15-48C9-AADD-A62FE5C5A06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B5FBD51-AEF9-4AAC-87BF-0595A1865622}" type="slidenum">
              <a:rPr lang="en-US" altLang="en-US" sz="1400"/>
              <a:pPr>
                <a:spcBef>
                  <a:spcPct val="0"/>
                </a:spcBef>
                <a:buClrTx/>
                <a:buSzTx/>
                <a:buFontTx/>
                <a:buNone/>
              </a:pPr>
              <a:t>9</a:t>
            </a:fld>
            <a:endParaRPr lang="en-US" altLang="en-US" sz="1400"/>
          </a:p>
        </p:txBody>
      </p:sp>
      <p:graphicFrame>
        <p:nvGraphicFramePr>
          <p:cNvPr id="12295" name="Object 6">
            <a:extLst>
              <a:ext uri="{FF2B5EF4-FFF2-40B4-BE49-F238E27FC236}">
                <a16:creationId xmlns:a16="http://schemas.microsoft.com/office/drawing/2014/main" id="{F31B74F7-3D8E-49A2-8FFF-C57959CFBD7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060631078"/>
              </p:ext>
            </p:extLst>
          </p:nvPr>
        </p:nvGraphicFramePr>
        <p:xfrm>
          <a:off x="777875" y="1871663"/>
          <a:ext cx="7739063" cy="3713162"/>
        </p:xfrm>
        <a:graphic>
          <a:graphicData uri="http://schemas.openxmlformats.org/presentationml/2006/ole">
            <mc:AlternateContent xmlns:mc="http://schemas.openxmlformats.org/markup-compatibility/2006">
              <mc:Choice xmlns:v="urn:schemas-microsoft-com:vml" Requires="v">
                <p:oleObj name="Equation" r:id="rId2" imgW="2654300" imgH="1244600" progId="Equation.3">
                  <p:embed/>
                </p:oleObj>
              </mc:Choice>
              <mc:Fallback>
                <p:oleObj name="Equation" r:id="rId2" imgW="2654300" imgH="1244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 y="1871663"/>
                        <a:ext cx="7739063" cy="371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A451B9B2-F6D0-4F58-B137-EBF99C8195FF}"/>
              </a:ext>
            </a:extLst>
          </p:cNvPr>
          <p:cNvSpPr>
            <a:spLocks noGrp="1" noChangeArrowheads="1"/>
          </p:cNvSpPr>
          <p:nvPr>
            <p:ph type="title"/>
          </p:nvPr>
        </p:nvSpPr>
        <p:spPr>
          <a:xfrm>
            <a:off x="685800" y="228600"/>
            <a:ext cx="7772400" cy="685800"/>
          </a:xfrm>
          <a:noFill/>
        </p:spPr>
        <p:txBody>
          <a:bodyPr/>
          <a:lstStyle/>
          <a:p>
            <a:r>
              <a:rPr lang="en-US" altLang="en-US"/>
              <a:t>Examples: Determining Big-O</a:t>
            </a:r>
          </a:p>
        </p:txBody>
      </p:sp>
      <p:sp>
        <p:nvSpPr>
          <p:cNvPr id="12292" name="Rectangle 3">
            <a:extLst>
              <a:ext uri="{FF2B5EF4-FFF2-40B4-BE49-F238E27FC236}">
                <a16:creationId xmlns:a16="http://schemas.microsoft.com/office/drawing/2014/main" id="{CA2534BB-0EAC-4434-AE59-001185D412CB}"/>
              </a:ext>
            </a:extLst>
          </p:cNvPr>
          <p:cNvSpPr>
            <a:spLocks noGrp="1" noChangeArrowheads="1"/>
          </p:cNvSpPr>
          <p:nvPr>
            <p:ph idx="1"/>
          </p:nvPr>
        </p:nvSpPr>
        <p:spPr>
          <a:xfrm>
            <a:off x="914400" y="1447800"/>
            <a:ext cx="7086600" cy="3124200"/>
          </a:xfrm>
        </p:spPr>
        <p:txBody>
          <a:bodyPr/>
          <a:lstStyle/>
          <a:p>
            <a:pPr>
              <a:lnSpc>
                <a:spcPct val="150000"/>
              </a:lnSpc>
              <a:spcBef>
                <a:spcPct val="0"/>
              </a:spcBef>
              <a:buFont typeface="Wingdings" pitchFamily="2" charset="2"/>
              <a:buChar char="§"/>
              <a:defRPr/>
            </a:pPr>
            <a:r>
              <a:rPr lang="en-US" sz="3000" dirty="0"/>
              <a:t>Repetition</a:t>
            </a:r>
          </a:p>
          <a:p>
            <a:pPr>
              <a:lnSpc>
                <a:spcPct val="150000"/>
              </a:lnSpc>
              <a:spcBef>
                <a:spcPct val="0"/>
              </a:spcBef>
              <a:buFont typeface="Wingdings" pitchFamily="2" charset="2"/>
              <a:buChar char="§"/>
              <a:defRPr/>
            </a:pPr>
            <a:r>
              <a:rPr lang="en-US" sz="3000" dirty="0"/>
              <a:t>Sequence </a:t>
            </a:r>
          </a:p>
          <a:p>
            <a:pPr>
              <a:lnSpc>
                <a:spcPct val="150000"/>
              </a:lnSpc>
              <a:spcBef>
                <a:spcPct val="0"/>
              </a:spcBef>
              <a:buFont typeface="Wingdings" pitchFamily="2" charset="2"/>
              <a:buChar char="§"/>
              <a:defRPr/>
            </a:pPr>
            <a:r>
              <a:rPr lang="en-US" sz="3000" dirty="0"/>
              <a:t>Selection</a:t>
            </a:r>
          </a:p>
          <a:p>
            <a:pPr>
              <a:lnSpc>
                <a:spcPct val="150000"/>
              </a:lnSpc>
              <a:spcBef>
                <a:spcPct val="0"/>
              </a:spcBef>
              <a:buFont typeface="Wingdings" pitchFamily="2" charset="2"/>
              <a:buChar char="§"/>
              <a:defRPr/>
            </a:pPr>
            <a:r>
              <a:rPr lang="en-US" sz="3000" dirty="0"/>
              <a:t>Logarithm</a:t>
            </a:r>
          </a:p>
          <a:p>
            <a:pPr marL="0" indent="0">
              <a:spcBef>
                <a:spcPct val="0"/>
              </a:spcBef>
              <a:buFont typeface="Monotype Sorts"/>
              <a:buNone/>
              <a:defRPr/>
            </a:pPr>
            <a:endParaRPr lang="en-US" sz="3000" dirty="0"/>
          </a:p>
        </p:txBody>
      </p:sp>
      <p:sp>
        <p:nvSpPr>
          <p:cNvPr id="13314" name="Slide Number Placeholder 4">
            <a:extLst>
              <a:ext uri="{FF2B5EF4-FFF2-40B4-BE49-F238E27FC236}">
                <a16:creationId xmlns:a16="http://schemas.microsoft.com/office/drawing/2014/main" id="{4EBA9FB6-EB7D-44EA-8558-0CCE1D828EC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40F1774-92A6-495A-B58F-F01CC19CFE1E}" type="slidenum">
              <a:rPr lang="en-US" altLang="en-US" sz="1400"/>
              <a:pPr>
                <a:spcBef>
                  <a:spcPct val="0"/>
                </a:spcBef>
                <a:buClrTx/>
                <a:buSzTx/>
                <a:buFontTx/>
                <a:buNone/>
              </a:pPr>
              <a:t>10</a:t>
            </a:fld>
            <a:endParaRPr lang="en-US" alt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04EC1894-B44E-44C9-82A5-A0B76A4C7A3E}"/>
              </a:ext>
            </a:extLst>
          </p:cNvPr>
          <p:cNvSpPr>
            <a:spLocks noGrp="1" noChangeArrowheads="1"/>
          </p:cNvSpPr>
          <p:nvPr>
            <p:ph type="title"/>
          </p:nvPr>
        </p:nvSpPr>
        <p:spPr>
          <a:xfrm>
            <a:off x="685800" y="285750"/>
            <a:ext cx="7772400" cy="933450"/>
          </a:xfrm>
          <a:noFill/>
        </p:spPr>
        <p:txBody>
          <a:bodyPr/>
          <a:lstStyle/>
          <a:p>
            <a:r>
              <a:rPr lang="en-US" altLang="en-US"/>
              <a:t>Repetition: Simple Loops</a:t>
            </a:r>
          </a:p>
        </p:txBody>
      </p:sp>
      <p:sp>
        <p:nvSpPr>
          <p:cNvPr id="14344" name="Rectangle 17">
            <a:extLst>
              <a:ext uri="{FF2B5EF4-FFF2-40B4-BE49-F238E27FC236}">
                <a16:creationId xmlns:a16="http://schemas.microsoft.com/office/drawing/2014/main" id="{DEBE40E1-7D56-40C1-A8E5-C30221DEC602}"/>
              </a:ext>
            </a:extLst>
          </p:cNvPr>
          <p:cNvSpPr>
            <a:spLocks noGrp="1" noChangeArrowheads="1"/>
          </p:cNvSpPr>
          <p:nvPr>
            <p:ph type="body" sz="half" idx="1"/>
          </p:nvPr>
        </p:nvSpPr>
        <p:spPr>
          <a:xfrm>
            <a:off x="2170846" y="1335087"/>
            <a:ext cx="5830154" cy="1600200"/>
          </a:xfrm>
          <a:solidFill>
            <a:schemeClr val="bg1"/>
          </a:solidFill>
        </p:spPr>
        <p:txBody>
          <a:bodyPr/>
          <a:lstStyle/>
          <a:p>
            <a:pPr marL="0" indent="0">
              <a:lnSpc>
                <a:spcPct val="90000"/>
              </a:lnSpc>
              <a:buFont typeface="Monotype Sorts"/>
              <a:buNone/>
            </a:pPr>
            <a:r>
              <a:rPr lang="en-US" altLang="en-US" sz="2400" dirty="0">
                <a:latin typeface="Courier New" panose="02070309020205020404" pitchFamily="49" charset="0"/>
              </a:rPr>
              <a:t>for (</a:t>
            </a:r>
            <a:r>
              <a:rPr lang="en-US" altLang="en-US" sz="2400" dirty="0" err="1">
                <a:latin typeface="Courier New" panose="02070309020205020404" pitchFamily="49" charset="0"/>
              </a:rPr>
              <a:t>i</a:t>
            </a:r>
            <a:r>
              <a:rPr lang="en-US" altLang="en-US" sz="2400" dirty="0">
                <a:latin typeface="Courier New" panose="02070309020205020404" pitchFamily="49" charset="0"/>
              </a:rPr>
              <a:t> = 1; </a:t>
            </a:r>
            <a:r>
              <a:rPr lang="en-US" altLang="en-US" sz="2400" dirty="0" err="1">
                <a:latin typeface="Courier New" panose="02070309020205020404" pitchFamily="49" charset="0"/>
              </a:rPr>
              <a:t>i</a:t>
            </a:r>
            <a:r>
              <a:rPr lang="en-US" altLang="en-US" sz="2400" dirty="0">
                <a:latin typeface="Courier New" panose="02070309020205020404" pitchFamily="49" charset="0"/>
              </a:rPr>
              <a:t> &lt;= n; </a:t>
            </a:r>
            <a:r>
              <a:rPr lang="en-US" altLang="en-US" sz="2400" dirty="0" err="1">
                <a:latin typeface="Courier New" panose="02070309020205020404" pitchFamily="49" charset="0"/>
              </a:rPr>
              <a:t>i</a:t>
            </a:r>
            <a:r>
              <a:rPr lang="en-US" altLang="en-US" sz="2400" dirty="0">
                <a:latin typeface="Courier New" panose="02070309020205020404" pitchFamily="49" charset="0"/>
              </a:rPr>
              <a:t>++) {</a:t>
            </a:r>
          </a:p>
          <a:p>
            <a:pPr marL="0" indent="0">
              <a:lnSpc>
                <a:spcPct val="90000"/>
              </a:lnSpc>
              <a:buFont typeface="Monotype Sorts"/>
              <a:buNone/>
            </a:pPr>
            <a:r>
              <a:rPr lang="en-US" altLang="en-US" sz="2400" dirty="0">
                <a:latin typeface="Courier New" panose="02070309020205020404" pitchFamily="49" charset="0"/>
              </a:rPr>
              <a:t>  k = k + 5;</a:t>
            </a:r>
          </a:p>
          <a:p>
            <a:pPr marL="0" indent="0">
              <a:lnSpc>
                <a:spcPct val="90000"/>
              </a:lnSpc>
              <a:buFont typeface="Monotype Sorts"/>
              <a:buNone/>
            </a:pPr>
            <a:r>
              <a:rPr lang="en-US" altLang="en-US" sz="2400" dirty="0">
                <a:latin typeface="Courier New" panose="02070309020205020404" pitchFamily="49" charset="0"/>
              </a:rPr>
              <a:t>}</a:t>
            </a:r>
          </a:p>
          <a:p>
            <a:pPr marL="0" indent="0">
              <a:lnSpc>
                <a:spcPct val="90000"/>
              </a:lnSpc>
              <a:buFont typeface="Monotype Sorts"/>
              <a:buNone/>
            </a:pPr>
            <a:r>
              <a:rPr lang="en-US" altLang="en-US" sz="1600" dirty="0">
                <a:latin typeface="Arial" panose="020B0604020202020204" pitchFamily="34" charset="0"/>
                <a:cs typeface="Arial" panose="020B0604020202020204" pitchFamily="34" charset="0"/>
              </a:rPr>
              <a:t>(imagine </a:t>
            </a:r>
            <a:r>
              <a:rPr lang="en-US" altLang="en-US" sz="1600" b="1" dirty="0">
                <a:latin typeface="Arial" panose="020B0604020202020204" pitchFamily="34" charset="0"/>
                <a:cs typeface="Arial" panose="020B0604020202020204" pitchFamily="34" charset="0"/>
              </a:rPr>
              <a:t>c</a:t>
            </a:r>
            <a:r>
              <a:rPr lang="en-US" altLang="en-US" sz="1600" dirty="0">
                <a:latin typeface="Arial" panose="020B0604020202020204" pitchFamily="34" charset="0"/>
                <a:cs typeface="Arial" panose="020B0604020202020204" pitchFamily="34" charset="0"/>
              </a:rPr>
              <a:t> is the amount of time it takes to calculate k + 5)</a:t>
            </a:r>
          </a:p>
        </p:txBody>
      </p:sp>
      <p:sp>
        <p:nvSpPr>
          <p:cNvPr id="14338" name="Slide Number Placeholder 5">
            <a:extLst>
              <a:ext uri="{FF2B5EF4-FFF2-40B4-BE49-F238E27FC236}">
                <a16:creationId xmlns:a16="http://schemas.microsoft.com/office/drawing/2014/main" id="{99664909-E1B5-4509-B27C-9423E752AAD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734AAB2-6C75-4DC1-89C1-58A2D119ABC6}" type="slidenum">
              <a:rPr lang="en-US" altLang="en-US" sz="1400"/>
              <a:pPr>
                <a:spcBef>
                  <a:spcPct val="0"/>
                </a:spcBef>
                <a:buClrTx/>
                <a:buSzTx/>
                <a:buFontTx/>
                <a:buNone/>
              </a:pPr>
              <a:t>11</a:t>
            </a:fld>
            <a:endParaRPr lang="en-US" altLang="en-US" sz="1400"/>
          </a:p>
        </p:txBody>
      </p:sp>
      <p:sp>
        <p:nvSpPr>
          <p:cNvPr id="382989" name="Text Box 13">
            <a:extLst>
              <a:ext uri="{FF2B5EF4-FFF2-40B4-BE49-F238E27FC236}">
                <a16:creationId xmlns:a16="http://schemas.microsoft.com/office/drawing/2014/main" id="{43C06260-E879-44CE-9D6A-AAC6B077327C}"/>
              </a:ext>
            </a:extLst>
          </p:cNvPr>
          <p:cNvSpPr txBox="1">
            <a:spLocks noChangeArrowheads="1"/>
          </p:cNvSpPr>
          <p:nvPr/>
        </p:nvSpPr>
        <p:spPr bwMode="auto">
          <a:xfrm>
            <a:off x="2459038" y="4038600"/>
            <a:ext cx="5313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latin typeface="Arial" panose="020B0604020202020204" pitchFamily="34" charset="0"/>
              </a:rPr>
              <a:t>T(n) = c * n = </a:t>
            </a:r>
            <a:r>
              <a:rPr lang="en-US" altLang="en-US" sz="2400" b="1" dirty="0">
                <a:highlight>
                  <a:srgbClr val="FFFF00"/>
                </a:highlight>
                <a:latin typeface="Arial" panose="020B0604020202020204" pitchFamily="34" charset="0"/>
              </a:rPr>
              <a:t>O(n)</a:t>
            </a:r>
            <a:endParaRPr lang="en-US" altLang="en-US" sz="2400" dirty="0">
              <a:highlight>
                <a:srgbClr val="FFFF00"/>
              </a:highlight>
              <a:latin typeface="Arial" panose="020B0604020202020204" pitchFamily="34" charset="0"/>
            </a:endParaRPr>
          </a:p>
        </p:txBody>
      </p:sp>
      <p:grpSp>
        <p:nvGrpSpPr>
          <p:cNvPr id="382997" name="Group 21">
            <a:extLst>
              <a:ext uri="{FF2B5EF4-FFF2-40B4-BE49-F238E27FC236}">
                <a16:creationId xmlns:a16="http://schemas.microsoft.com/office/drawing/2014/main" id="{7D66594C-E3A6-41FC-9644-CA479DA1D16E}"/>
              </a:ext>
              <a:ext uri="{C183D7F6-B498-43B3-948B-1728B52AA6E4}">
                <adec:decorative xmlns:adec="http://schemas.microsoft.com/office/drawing/2017/decorative" val="1"/>
              </a:ext>
            </a:extLst>
          </p:cNvPr>
          <p:cNvGrpSpPr>
            <a:grpSpLocks/>
          </p:cNvGrpSpPr>
          <p:nvPr/>
        </p:nvGrpSpPr>
        <p:grpSpPr bwMode="auto">
          <a:xfrm>
            <a:off x="762000" y="1332745"/>
            <a:ext cx="1630363" cy="1366242"/>
            <a:chOff x="509" y="2288"/>
            <a:chExt cx="1027" cy="918"/>
          </a:xfrm>
        </p:grpSpPr>
        <p:sp>
          <p:nvSpPr>
            <p:cNvPr id="14350" name="Text Box 22">
              <a:extLst>
                <a:ext uri="{FF2B5EF4-FFF2-40B4-BE49-F238E27FC236}">
                  <a16:creationId xmlns:a16="http://schemas.microsoft.com/office/drawing/2014/main" id="{32A869F3-C056-478F-BEF9-D0CDD7C47F6C}"/>
                </a:ext>
              </a:extLst>
            </p:cNvPr>
            <p:cNvSpPr txBox="1">
              <a:spLocks noChangeArrowheads="1"/>
            </p:cNvSpPr>
            <p:nvPr/>
          </p:nvSpPr>
          <p:spPr bwMode="auto">
            <a:xfrm>
              <a:off x="509" y="2288"/>
              <a:ext cx="804"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t>executed</a:t>
              </a:r>
            </a:p>
            <a:p>
              <a:pPr>
                <a:spcBef>
                  <a:spcPct val="0"/>
                </a:spcBef>
                <a:buClrTx/>
                <a:buSzTx/>
                <a:buFontTx/>
                <a:buNone/>
              </a:pPr>
              <a:r>
                <a:rPr lang="en-US" altLang="en-US" sz="2400" i="1" dirty="0">
                  <a:highlight>
                    <a:srgbClr val="FFFF00"/>
                  </a:highlight>
                </a:rPr>
                <a:t>n</a:t>
              </a:r>
              <a:r>
                <a:rPr lang="en-US" altLang="en-US" sz="2400" dirty="0"/>
                <a:t> times</a:t>
              </a:r>
            </a:p>
          </p:txBody>
        </p:sp>
        <p:sp>
          <p:nvSpPr>
            <p:cNvPr id="14351" name="AutoShape 23">
              <a:extLst>
                <a:ext uri="{FF2B5EF4-FFF2-40B4-BE49-F238E27FC236}">
                  <a16:creationId xmlns:a16="http://schemas.microsoft.com/office/drawing/2014/main" id="{E4C120BC-7813-487D-931D-F5DD4B24833A}"/>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3001" name="AutoShape 25">
            <a:extLst>
              <a:ext uri="{FF2B5EF4-FFF2-40B4-BE49-F238E27FC236}">
                <a16:creationId xmlns:a16="http://schemas.microsoft.com/office/drawing/2014/main" id="{23C03BB0-EB34-45DF-8F1F-AA34A2743E4A}"/>
              </a:ext>
            </a:extLst>
          </p:cNvPr>
          <p:cNvSpPr>
            <a:spLocks/>
          </p:cNvSpPr>
          <p:nvPr/>
        </p:nvSpPr>
        <p:spPr bwMode="auto">
          <a:xfrm>
            <a:off x="1066800" y="4800600"/>
            <a:ext cx="4953000" cy="381000"/>
          </a:xfrm>
          <a:prstGeom prst="accentCallout2">
            <a:avLst>
              <a:gd name="adj1" fmla="val 30000"/>
              <a:gd name="adj2" fmla="val 101537"/>
              <a:gd name="adj3" fmla="val 30000"/>
              <a:gd name="adj4" fmla="val 102694"/>
              <a:gd name="adj5" fmla="val -88750"/>
              <a:gd name="adj6" fmla="val 103880"/>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i="1">
                <a:latin typeface="Arial" panose="020B0604020202020204" pitchFamily="34" charset="0"/>
              </a:rPr>
              <a:t>Ignore multiplicative constants (e.g., “c”).</a:t>
            </a:r>
          </a:p>
        </p:txBody>
      </p:sp>
      <p:sp>
        <p:nvSpPr>
          <p:cNvPr id="383002" name="Text Box 26">
            <a:extLst>
              <a:ext uri="{FF2B5EF4-FFF2-40B4-BE49-F238E27FC236}">
                <a16:creationId xmlns:a16="http://schemas.microsoft.com/office/drawing/2014/main" id="{1DFE1F42-ECA7-4129-916E-ED50DAB4038B}"/>
              </a:ext>
            </a:extLst>
          </p:cNvPr>
          <p:cNvSpPr txBox="1">
            <a:spLocks noChangeArrowheads="1"/>
          </p:cNvSpPr>
          <p:nvPr/>
        </p:nvSpPr>
        <p:spPr bwMode="auto">
          <a:xfrm>
            <a:off x="762000" y="35814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latin typeface="Arial" panose="020B0604020202020204" pitchFamily="34" charset="0"/>
              </a:rPr>
              <a:t>Time Complexity</a:t>
            </a:r>
          </a:p>
        </p:txBody>
      </p:sp>
      <p:sp>
        <p:nvSpPr>
          <p:cNvPr id="14349" name="Rectangle 8">
            <a:hlinkClick r:id="rId2"/>
            <a:extLst>
              <a:ext uri="{FF2B5EF4-FFF2-40B4-BE49-F238E27FC236}">
                <a16:creationId xmlns:a16="http://schemas.microsoft.com/office/drawing/2014/main" id="{0794F890-D956-4D8A-B42D-81FBD0552BF0}"/>
              </a:ext>
            </a:extLst>
          </p:cNvPr>
          <p:cNvSpPr>
            <a:spLocks noChangeArrowheads="1"/>
          </p:cNvSpPr>
          <p:nvPr/>
        </p:nvSpPr>
        <p:spPr bwMode="auto">
          <a:xfrm>
            <a:off x="4918075" y="5653088"/>
            <a:ext cx="21764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PerformanceTest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29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30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298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3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9" grpId="0"/>
      <p:bldP spid="383001" grpId="0" animBg="1"/>
      <p:bldP spid="38300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3A7C7A46-B4EF-4011-8B7B-41B4D587A095}"/>
              </a:ext>
            </a:extLst>
          </p:cNvPr>
          <p:cNvSpPr>
            <a:spLocks noGrp="1" noChangeArrowheads="1"/>
          </p:cNvSpPr>
          <p:nvPr>
            <p:ph type="title"/>
          </p:nvPr>
        </p:nvSpPr>
        <p:spPr>
          <a:xfrm>
            <a:off x="685800" y="285750"/>
            <a:ext cx="7772400" cy="933450"/>
          </a:xfrm>
          <a:noFill/>
        </p:spPr>
        <p:txBody>
          <a:bodyPr/>
          <a:lstStyle/>
          <a:p>
            <a:r>
              <a:rPr lang="en-US" altLang="en-US"/>
              <a:t>Repetition: Nested Loops</a:t>
            </a:r>
          </a:p>
        </p:txBody>
      </p:sp>
      <p:sp>
        <p:nvSpPr>
          <p:cNvPr id="15368" name="Rectangle 7">
            <a:extLst>
              <a:ext uri="{FF2B5EF4-FFF2-40B4-BE49-F238E27FC236}">
                <a16:creationId xmlns:a16="http://schemas.microsoft.com/office/drawing/2014/main" id="{77D59F04-1B6E-426A-94F3-274BC32B2E0F}"/>
              </a:ext>
            </a:extLst>
          </p:cNvPr>
          <p:cNvSpPr>
            <a:spLocks noGrp="1" noChangeArrowheads="1"/>
          </p:cNvSpPr>
          <p:nvPr>
            <p:ph type="body" sz="half" idx="1"/>
          </p:nvPr>
        </p:nvSpPr>
        <p:spPr>
          <a:xfrm>
            <a:off x="1828800" y="1600200"/>
            <a:ext cx="5486400" cy="2057400"/>
          </a:xfrm>
          <a:solidFill>
            <a:schemeClr val="bg1"/>
          </a:solidFill>
        </p:spPr>
        <p:txBody>
          <a:bodyPr/>
          <a:lstStyle/>
          <a:p>
            <a:pPr marL="0" indent="0">
              <a:lnSpc>
                <a:spcPct val="90000"/>
              </a:lnSpc>
              <a:buFont typeface="Monotype Sorts"/>
              <a:buNone/>
            </a:pPr>
            <a:r>
              <a:rPr lang="en-US" altLang="en-US" sz="2400">
                <a:latin typeface="Courier New" panose="02070309020205020404" pitchFamily="49" charset="0"/>
              </a:rPr>
              <a:t>for (i = 1; i &lt;= n; i++) {</a:t>
            </a:r>
          </a:p>
          <a:p>
            <a:pPr marL="0" indent="0">
              <a:lnSpc>
                <a:spcPct val="90000"/>
              </a:lnSpc>
              <a:buFont typeface="Monotype Sorts"/>
              <a:buNone/>
            </a:pPr>
            <a:r>
              <a:rPr lang="en-US" altLang="en-US" sz="2400">
                <a:latin typeface="Courier New" panose="02070309020205020404" pitchFamily="49" charset="0"/>
              </a:rPr>
              <a:t>  for (j = 1; j &lt;= n; j++) {</a:t>
            </a:r>
          </a:p>
          <a:p>
            <a:pPr marL="0" indent="0">
              <a:lnSpc>
                <a:spcPct val="90000"/>
              </a:lnSpc>
              <a:buFont typeface="Monotype Sorts"/>
              <a:buNone/>
            </a:pPr>
            <a:r>
              <a:rPr lang="en-US" altLang="en-US" sz="2400">
                <a:latin typeface="Courier New" panose="02070309020205020404" pitchFamily="49" charset="0"/>
              </a:rPr>
              <a:t>    k = k + i + j;</a:t>
            </a:r>
          </a:p>
          <a:p>
            <a:pPr marL="0" indent="0">
              <a:lnSpc>
                <a:spcPct val="90000"/>
              </a:lnSpc>
              <a:buFont typeface="Monotype Sorts"/>
              <a:buNone/>
            </a:pPr>
            <a:r>
              <a:rPr lang="en-US" altLang="en-US" sz="2400">
                <a:latin typeface="Courier New" panose="02070309020205020404" pitchFamily="49" charset="0"/>
              </a:rPr>
              <a:t>  }</a:t>
            </a:r>
          </a:p>
          <a:p>
            <a:pPr marL="0" indent="0">
              <a:lnSpc>
                <a:spcPct val="90000"/>
              </a:lnSpc>
              <a:buFont typeface="Monotype Sorts"/>
              <a:buNone/>
            </a:pPr>
            <a:r>
              <a:rPr lang="en-US" altLang="en-US" sz="2400">
                <a:latin typeface="Courier New" panose="02070309020205020404" pitchFamily="49" charset="0"/>
              </a:rPr>
              <a:t>}</a:t>
            </a:r>
          </a:p>
        </p:txBody>
      </p:sp>
      <p:sp>
        <p:nvSpPr>
          <p:cNvPr id="15362" name="Slide Number Placeholder 5">
            <a:extLst>
              <a:ext uri="{FF2B5EF4-FFF2-40B4-BE49-F238E27FC236}">
                <a16:creationId xmlns:a16="http://schemas.microsoft.com/office/drawing/2014/main" id="{84D9EFC4-3C49-4D0D-8266-DD647864743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02909FB-5AF8-435C-A6A0-86AD1D6539C9}" type="slidenum">
              <a:rPr lang="en-US" altLang="en-US" sz="1400"/>
              <a:pPr>
                <a:spcBef>
                  <a:spcPct val="0"/>
                </a:spcBef>
                <a:buClrTx/>
                <a:buSzTx/>
                <a:buFontTx/>
                <a:buNone/>
              </a:pPr>
              <a:t>12</a:t>
            </a:fld>
            <a:endParaRPr lang="en-US" altLang="en-US" sz="1400"/>
          </a:p>
        </p:txBody>
      </p:sp>
      <p:sp>
        <p:nvSpPr>
          <p:cNvPr id="385030" name="Text Box 6">
            <a:extLst>
              <a:ext uri="{FF2B5EF4-FFF2-40B4-BE49-F238E27FC236}">
                <a16:creationId xmlns:a16="http://schemas.microsoft.com/office/drawing/2014/main" id="{ADB43CE8-924B-4A65-BEC0-5D1E69D27C58}"/>
              </a:ext>
            </a:extLst>
          </p:cNvPr>
          <p:cNvSpPr txBox="1">
            <a:spLocks noChangeArrowheads="1"/>
          </p:cNvSpPr>
          <p:nvPr/>
        </p:nvSpPr>
        <p:spPr bwMode="auto">
          <a:xfrm>
            <a:off x="2209800" y="5029200"/>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latin typeface="Arial" panose="020B0604020202020204" pitchFamily="34" charset="0"/>
              </a:rPr>
              <a:t>T(n) = c * n * n = c</a:t>
            </a:r>
            <a:r>
              <a:rPr lang="en-US" altLang="en-US" sz="2400" dirty="0"/>
              <a:t>n</a:t>
            </a:r>
            <a:r>
              <a:rPr lang="en-US" altLang="en-US" sz="2400" baseline="30000" dirty="0"/>
              <a:t>2</a:t>
            </a:r>
            <a:r>
              <a:rPr lang="en-US" altLang="en-US" sz="2400" dirty="0">
                <a:latin typeface="Arial" panose="020B0604020202020204" pitchFamily="34" charset="0"/>
              </a:rPr>
              <a:t> = </a:t>
            </a:r>
            <a:r>
              <a:rPr lang="en-US" altLang="en-US" sz="2400" dirty="0">
                <a:highlight>
                  <a:srgbClr val="FFFF00"/>
                </a:highlight>
              </a:rPr>
              <a:t>O(n</a:t>
            </a:r>
            <a:r>
              <a:rPr lang="en-US" altLang="en-US" sz="2400" baseline="30000" dirty="0">
                <a:highlight>
                  <a:srgbClr val="FFFF00"/>
                </a:highlight>
              </a:rPr>
              <a:t>2</a:t>
            </a:r>
            <a:r>
              <a:rPr lang="en-US" altLang="en-US" sz="2400" dirty="0">
                <a:highlight>
                  <a:srgbClr val="FFFF00"/>
                </a:highlight>
              </a:rPr>
              <a:t>)</a:t>
            </a:r>
            <a:endParaRPr lang="en-US" altLang="en-US" sz="2400" b="1" dirty="0">
              <a:highlight>
                <a:srgbClr val="FFFF00"/>
              </a:highlight>
              <a:latin typeface="Arial" panose="020B0604020202020204" pitchFamily="34" charset="0"/>
            </a:endParaRPr>
          </a:p>
        </p:txBody>
      </p:sp>
      <p:grpSp>
        <p:nvGrpSpPr>
          <p:cNvPr id="385043" name="Group 19">
            <a:extLst>
              <a:ext uri="{FF2B5EF4-FFF2-40B4-BE49-F238E27FC236}">
                <a16:creationId xmlns:a16="http://schemas.microsoft.com/office/drawing/2014/main" id="{D7EA5839-22EE-4660-859A-E78A1D8AABC8}"/>
              </a:ext>
              <a:ext uri="{C183D7F6-B498-43B3-948B-1728B52AA6E4}">
                <adec:decorative xmlns:adec="http://schemas.microsoft.com/office/drawing/2017/decorative" val="1"/>
              </a:ext>
            </a:extLst>
          </p:cNvPr>
          <p:cNvGrpSpPr>
            <a:grpSpLocks/>
          </p:cNvGrpSpPr>
          <p:nvPr/>
        </p:nvGrpSpPr>
        <p:grpSpPr bwMode="auto">
          <a:xfrm>
            <a:off x="5029200" y="2819400"/>
            <a:ext cx="1890713" cy="1143000"/>
            <a:chOff x="2688" y="1728"/>
            <a:chExt cx="1191" cy="720"/>
          </a:xfrm>
        </p:grpSpPr>
        <p:sp>
          <p:nvSpPr>
            <p:cNvPr id="15378" name="Text Box 9">
              <a:extLst>
                <a:ext uri="{FF2B5EF4-FFF2-40B4-BE49-F238E27FC236}">
                  <a16:creationId xmlns:a16="http://schemas.microsoft.com/office/drawing/2014/main" id="{95D81ABF-3A47-45F7-899E-A45389416A94}"/>
                </a:ext>
              </a:extLst>
            </p:cNvPr>
            <p:cNvSpPr txBox="1">
              <a:spLocks noChangeArrowheads="1"/>
            </p:cNvSpPr>
            <p:nvPr/>
          </p:nvSpPr>
          <p:spPr bwMode="auto">
            <a:xfrm>
              <a:off x="2736" y="2160"/>
              <a:ext cx="11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solidFill>
                    <a:srgbClr val="800000"/>
                  </a:solidFill>
                </a:rPr>
                <a:t>constant time</a:t>
              </a:r>
            </a:p>
          </p:txBody>
        </p:sp>
        <p:sp>
          <p:nvSpPr>
            <p:cNvPr id="15379" name="Line 10">
              <a:extLst>
                <a:ext uri="{FF2B5EF4-FFF2-40B4-BE49-F238E27FC236}">
                  <a16:creationId xmlns:a16="http://schemas.microsoft.com/office/drawing/2014/main" id="{2F80541B-E8E6-4A6A-8971-A3750513B594}"/>
                </a:ext>
              </a:extLst>
            </p:cNvPr>
            <p:cNvSpPr>
              <a:spLocks noChangeShapeType="1"/>
            </p:cNvSpPr>
            <p:nvPr/>
          </p:nvSpPr>
          <p:spPr bwMode="auto">
            <a:xfrm flipH="1" flipV="1">
              <a:off x="2688" y="1728"/>
              <a:ext cx="288" cy="384"/>
            </a:xfrm>
            <a:prstGeom prst="line">
              <a:avLst/>
            </a:prstGeom>
            <a:noFill/>
            <a:ln w="12700">
              <a:solidFill>
                <a:srgbClr val="800000"/>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5035" name="Group 11">
            <a:extLst>
              <a:ext uri="{FF2B5EF4-FFF2-40B4-BE49-F238E27FC236}">
                <a16:creationId xmlns:a16="http://schemas.microsoft.com/office/drawing/2014/main" id="{041E3557-BA15-4AD2-BC18-42C471786850}"/>
              </a:ext>
              <a:ext uri="{C183D7F6-B498-43B3-948B-1728B52AA6E4}">
                <adec:decorative xmlns:adec="http://schemas.microsoft.com/office/drawing/2017/decorative" val="1"/>
              </a:ext>
            </a:extLst>
          </p:cNvPr>
          <p:cNvGrpSpPr>
            <a:grpSpLocks/>
          </p:cNvGrpSpPr>
          <p:nvPr/>
        </p:nvGrpSpPr>
        <p:grpSpPr bwMode="auto">
          <a:xfrm>
            <a:off x="152400" y="1676400"/>
            <a:ext cx="1676400" cy="1828800"/>
            <a:chOff x="480" y="2438"/>
            <a:chExt cx="1056" cy="768"/>
          </a:xfrm>
        </p:grpSpPr>
        <p:sp>
          <p:nvSpPr>
            <p:cNvPr id="15376" name="Text Box 12">
              <a:extLst>
                <a:ext uri="{FF2B5EF4-FFF2-40B4-BE49-F238E27FC236}">
                  <a16:creationId xmlns:a16="http://schemas.microsoft.com/office/drawing/2014/main" id="{C4C92D43-CC1D-429E-8944-2410E72C77B6}"/>
                </a:ext>
              </a:extLst>
            </p:cNvPr>
            <p:cNvSpPr txBox="1">
              <a:spLocks noChangeArrowheads="1"/>
            </p:cNvSpPr>
            <p:nvPr/>
          </p:nvSpPr>
          <p:spPr bwMode="auto">
            <a:xfrm>
              <a:off x="480" y="2544"/>
              <a:ext cx="797"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5377" name="AutoShape 13">
              <a:extLst>
                <a:ext uri="{FF2B5EF4-FFF2-40B4-BE49-F238E27FC236}">
                  <a16:creationId xmlns:a16="http://schemas.microsoft.com/office/drawing/2014/main" id="{8FBCABB2-4108-4D1D-9446-F0BCDB73FCBF}"/>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5038" name="AutoShape 14">
            <a:extLst>
              <a:ext uri="{FF2B5EF4-FFF2-40B4-BE49-F238E27FC236}">
                <a16:creationId xmlns:a16="http://schemas.microsoft.com/office/drawing/2014/main" id="{D2D6F319-3F51-41E7-998F-E8A0F1E52C04}"/>
              </a:ext>
            </a:extLst>
          </p:cNvPr>
          <p:cNvSpPr>
            <a:spLocks/>
          </p:cNvSpPr>
          <p:nvPr/>
        </p:nvSpPr>
        <p:spPr bwMode="auto">
          <a:xfrm>
            <a:off x="1066800" y="5791200"/>
            <a:ext cx="4953000" cy="381000"/>
          </a:xfrm>
          <a:prstGeom prst="accentCallout2">
            <a:avLst>
              <a:gd name="adj1" fmla="val 30000"/>
              <a:gd name="adj2" fmla="val 101537"/>
              <a:gd name="adj3" fmla="val 30000"/>
              <a:gd name="adj4" fmla="val 104454"/>
              <a:gd name="adj5" fmla="val -104167"/>
              <a:gd name="adj6" fmla="val 107468"/>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i="1">
                <a:latin typeface="Arial" panose="020B0604020202020204" pitchFamily="34" charset="0"/>
              </a:rPr>
              <a:t>Ignore multiplicative constants (e.g., “c”).</a:t>
            </a:r>
          </a:p>
        </p:txBody>
      </p:sp>
      <p:sp>
        <p:nvSpPr>
          <p:cNvPr id="385039" name="Text Box 15">
            <a:extLst>
              <a:ext uri="{FF2B5EF4-FFF2-40B4-BE49-F238E27FC236}">
                <a16:creationId xmlns:a16="http://schemas.microsoft.com/office/drawing/2014/main" id="{08756AFE-532C-4348-B37D-BB8EC0062A42}"/>
              </a:ext>
            </a:extLst>
          </p:cNvPr>
          <p:cNvSpPr txBox="1">
            <a:spLocks noChangeArrowheads="1"/>
          </p:cNvSpPr>
          <p:nvPr/>
        </p:nvSpPr>
        <p:spPr bwMode="auto">
          <a:xfrm>
            <a:off x="762000" y="4572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5040" name="Group 16">
            <a:extLst>
              <a:ext uri="{FF2B5EF4-FFF2-40B4-BE49-F238E27FC236}">
                <a16:creationId xmlns:a16="http://schemas.microsoft.com/office/drawing/2014/main" id="{EACDFAAD-96E0-4B5D-A772-BB730EEF9150}"/>
              </a:ext>
              <a:ext uri="{C183D7F6-B498-43B3-948B-1728B52AA6E4}">
                <adec:decorative xmlns:adec="http://schemas.microsoft.com/office/drawing/2017/decorative" val="1"/>
              </a:ext>
            </a:extLst>
          </p:cNvPr>
          <p:cNvGrpSpPr>
            <a:grpSpLocks/>
          </p:cNvGrpSpPr>
          <p:nvPr/>
        </p:nvGrpSpPr>
        <p:grpSpPr bwMode="auto">
          <a:xfrm>
            <a:off x="7086600" y="2057400"/>
            <a:ext cx="1855788" cy="1187450"/>
            <a:chOff x="3504" y="2256"/>
            <a:chExt cx="1122" cy="972"/>
          </a:xfrm>
        </p:grpSpPr>
        <p:sp>
          <p:nvSpPr>
            <p:cNvPr id="15374" name="AutoShape 17">
              <a:extLst>
                <a:ext uri="{FF2B5EF4-FFF2-40B4-BE49-F238E27FC236}">
                  <a16:creationId xmlns:a16="http://schemas.microsoft.com/office/drawing/2014/main" id="{323047EE-FA20-4656-B7F2-7BDF91DCA973}"/>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5" name="Text Box 18">
              <a:extLst>
                <a:ext uri="{FF2B5EF4-FFF2-40B4-BE49-F238E27FC236}">
                  <a16:creationId xmlns:a16="http://schemas.microsoft.com/office/drawing/2014/main" id="{4712DF54-3940-4C94-8DD3-D32BAF7F8C46}"/>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50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50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50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50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503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5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0" grpId="0"/>
      <p:bldP spid="385038" grpId="0" animBg="1"/>
      <p:bldP spid="3850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D1A75B0E-336F-4902-BFA0-C01993AF8395}"/>
              </a:ext>
            </a:extLst>
          </p:cNvPr>
          <p:cNvSpPr>
            <a:spLocks noGrp="1" noChangeArrowheads="1"/>
          </p:cNvSpPr>
          <p:nvPr>
            <p:ph type="title"/>
          </p:nvPr>
        </p:nvSpPr>
        <p:spPr>
          <a:xfrm>
            <a:off x="685800" y="285750"/>
            <a:ext cx="7772400" cy="933450"/>
          </a:xfrm>
          <a:noFill/>
        </p:spPr>
        <p:txBody>
          <a:bodyPr/>
          <a:lstStyle/>
          <a:p>
            <a:r>
              <a:rPr lang="en-US" altLang="en-US"/>
              <a:t>Repetition: Nested Loops</a:t>
            </a:r>
          </a:p>
        </p:txBody>
      </p:sp>
      <p:sp>
        <p:nvSpPr>
          <p:cNvPr id="16392" name="Rectangle 7">
            <a:extLst>
              <a:ext uri="{FF2B5EF4-FFF2-40B4-BE49-F238E27FC236}">
                <a16:creationId xmlns:a16="http://schemas.microsoft.com/office/drawing/2014/main" id="{897860A6-F11B-4198-8341-4F4E64AB875D}"/>
              </a:ext>
            </a:extLst>
          </p:cNvPr>
          <p:cNvSpPr>
            <a:spLocks noGrp="1" noChangeArrowheads="1"/>
          </p:cNvSpPr>
          <p:nvPr>
            <p:ph type="body" sz="half" idx="1"/>
          </p:nvPr>
        </p:nvSpPr>
        <p:spPr>
          <a:xfrm>
            <a:off x="1828800" y="1600200"/>
            <a:ext cx="5486400" cy="2057400"/>
          </a:xfrm>
          <a:solidFill>
            <a:schemeClr val="bg1"/>
          </a:solidFill>
        </p:spPr>
        <p:txBody>
          <a:bodyPr/>
          <a:lstStyle/>
          <a:p>
            <a:pPr marL="0" indent="0">
              <a:lnSpc>
                <a:spcPct val="90000"/>
              </a:lnSpc>
              <a:buFont typeface="Monotype Sorts"/>
              <a:buNone/>
            </a:pPr>
            <a:r>
              <a:rPr lang="en-US" altLang="en-US" sz="2400">
                <a:latin typeface="Courier New" panose="02070309020205020404" pitchFamily="49" charset="0"/>
              </a:rPr>
              <a:t>for (i = 1; i &lt;= n; i++) {</a:t>
            </a:r>
          </a:p>
          <a:p>
            <a:pPr marL="0" indent="0">
              <a:lnSpc>
                <a:spcPct val="90000"/>
              </a:lnSpc>
              <a:buFont typeface="Monotype Sorts"/>
              <a:buNone/>
            </a:pPr>
            <a:r>
              <a:rPr lang="en-US" altLang="en-US" sz="2400">
                <a:latin typeface="Courier New" panose="02070309020205020404" pitchFamily="49" charset="0"/>
              </a:rPr>
              <a:t>  for (j = 1; j &lt;= i; j++) {</a:t>
            </a:r>
          </a:p>
          <a:p>
            <a:pPr marL="0" indent="0">
              <a:lnSpc>
                <a:spcPct val="90000"/>
              </a:lnSpc>
              <a:buFont typeface="Monotype Sorts"/>
              <a:buNone/>
            </a:pPr>
            <a:r>
              <a:rPr lang="en-US" altLang="en-US" sz="2400">
                <a:latin typeface="Courier New" panose="02070309020205020404" pitchFamily="49" charset="0"/>
              </a:rPr>
              <a:t>    k = k + i + j;</a:t>
            </a:r>
          </a:p>
          <a:p>
            <a:pPr marL="0" indent="0">
              <a:lnSpc>
                <a:spcPct val="90000"/>
              </a:lnSpc>
              <a:buFont typeface="Monotype Sorts"/>
              <a:buNone/>
            </a:pPr>
            <a:r>
              <a:rPr lang="en-US" altLang="en-US" sz="2400">
                <a:latin typeface="Courier New" panose="02070309020205020404" pitchFamily="49" charset="0"/>
              </a:rPr>
              <a:t>  }</a:t>
            </a:r>
          </a:p>
          <a:p>
            <a:pPr marL="0" indent="0">
              <a:lnSpc>
                <a:spcPct val="90000"/>
              </a:lnSpc>
              <a:buFont typeface="Monotype Sorts"/>
              <a:buNone/>
            </a:pPr>
            <a:r>
              <a:rPr lang="en-US" altLang="en-US" sz="2400">
                <a:latin typeface="Courier New" panose="02070309020205020404" pitchFamily="49" charset="0"/>
              </a:rPr>
              <a:t>}</a:t>
            </a:r>
          </a:p>
        </p:txBody>
      </p:sp>
      <p:sp>
        <p:nvSpPr>
          <p:cNvPr id="16386" name="Slide Number Placeholder 5">
            <a:extLst>
              <a:ext uri="{FF2B5EF4-FFF2-40B4-BE49-F238E27FC236}">
                <a16:creationId xmlns:a16="http://schemas.microsoft.com/office/drawing/2014/main" id="{51331883-4B54-4B8C-9F8E-40015E9C17A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05FEEFB-E90F-4610-ACE4-A3315F2B4EDF}" type="slidenum">
              <a:rPr lang="en-US" altLang="en-US" sz="1400"/>
              <a:pPr>
                <a:spcBef>
                  <a:spcPct val="0"/>
                </a:spcBef>
                <a:buClrTx/>
                <a:buSzTx/>
                <a:buFontTx/>
                <a:buNone/>
              </a:pPr>
              <a:t>13</a:t>
            </a:fld>
            <a:endParaRPr lang="en-US" altLang="en-US" sz="1400"/>
          </a:p>
        </p:txBody>
      </p:sp>
      <p:sp>
        <p:nvSpPr>
          <p:cNvPr id="387078" name="Text Box 6">
            <a:extLst>
              <a:ext uri="{FF2B5EF4-FFF2-40B4-BE49-F238E27FC236}">
                <a16:creationId xmlns:a16="http://schemas.microsoft.com/office/drawing/2014/main" id="{0D427133-8650-4879-A060-8F977148D9C0}"/>
              </a:ext>
            </a:extLst>
          </p:cNvPr>
          <p:cNvSpPr txBox="1">
            <a:spLocks noChangeArrowheads="1"/>
          </p:cNvSpPr>
          <p:nvPr/>
        </p:nvSpPr>
        <p:spPr bwMode="auto">
          <a:xfrm>
            <a:off x="1295400" y="4267200"/>
            <a:ext cx="6781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latin typeface="Arial" panose="020B0604020202020204" pitchFamily="34" charset="0"/>
              </a:rPr>
              <a:t>T(n) = c + 2c + 3c + 4c + … + </a:t>
            </a:r>
            <a:r>
              <a:rPr lang="en-US" altLang="en-US" sz="2400" dirty="0" err="1">
                <a:latin typeface="Arial" panose="020B0604020202020204" pitchFamily="34" charset="0"/>
              </a:rPr>
              <a:t>nc</a:t>
            </a:r>
            <a:r>
              <a:rPr lang="en-US" altLang="en-US" sz="2400" dirty="0">
                <a:latin typeface="Arial" panose="020B0604020202020204" pitchFamily="34" charset="0"/>
              </a:rPr>
              <a:t> = </a:t>
            </a:r>
            <a:r>
              <a:rPr lang="en-US" altLang="en-US" sz="2400" dirty="0" err="1">
                <a:latin typeface="Arial" panose="020B0604020202020204" pitchFamily="34" charset="0"/>
              </a:rPr>
              <a:t>c</a:t>
            </a:r>
            <a:r>
              <a:rPr lang="en-US" altLang="en-US" sz="2400" dirty="0" err="1"/>
              <a:t>n</a:t>
            </a:r>
            <a:r>
              <a:rPr lang="en-US" altLang="en-US" sz="2400" dirty="0"/>
              <a:t>(n+1)/2</a:t>
            </a:r>
            <a:r>
              <a:rPr lang="en-US" altLang="en-US" sz="2400" dirty="0">
                <a:latin typeface="Arial" panose="020B0604020202020204" pitchFamily="34" charset="0"/>
              </a:rPr>
              <a:t> = (c/2)</a:t>
            </a:r>
            <a:r>
              <a:rPr lang="en-US" altLang="en-US" sz="2400" dirty="0"/>
              <a:t>n</a:t>
            </a:r>
            <a:r>
              <a:rPr lang="en-US" altLang="en-US" sz="2400" baseline="30000" dirty="0"/>
              <a:t>2</a:t>
            </a:r>
            <a:r>
              <a:rPr lang="en-US" altLang="en-US" sz="2400" dirty="0"/>
              <a:t> + (c/2)n = </a:t>
            </a:r>
            <a:r>
              <a:rPr lang="en-US" altLang="en-US" sz="2400" dirty="0">
                <a:highlight>
                  <a:srgbClr val="FFFF00"/>
                </a:highlight>
              </a:rPr>
              <a:t>O(n</a:t>
            </a:r>
            <a:r>
              <a:rPr lang="en-US" altLang="en-US" sz="2400" baseline="30000" dirty="0">
                <a:highlight>
                  <a:srgbClr val="FFFF00"/>
                </a:highlight>
              </a:rPr>
              <a:t>2</a:t>
            </a:r>
            <a:r>
              <a:rPr lang="en-US" altLang="en-US" sz="2400" dirty="0">
                <a:highlight>
                  <a:srgbClr val="FFFF00"/>
                </a:highlight>
              </a:rPr>
              <a:t>)</a:t>
            </a:r>
            <a:endParaRPr lang="en-US" altLang="en-US" sz="2400" b="1" dirty="0">
              <a:highlight>
                <a:srgbClr val="FFFF00"/>
              </a:highlight>
              <a:latin typeface="Arial" panose="020B0604020202020204" pitchFamily="34" charset="0"/>
            </a:endParaRPr>
          </a:p>
        </p:txBody>
      </p:sp>
      <p:grpSp>
        <p:nvGrpSpPr>
          <p:cNvPr id="387080" name="Group 8">
            <a:extLst>
              <a:ext uri="{FF2B5EF4-FFF2-40B4-BE49-F238E27FC236}">
                <a16:creationId xmlns:a16="http://schemas.microsoft.com/office/drawing/2014/main" id="{7998A9FA-93FC-499E-B440-192545341B8C}"/>
              </a:ext>
              <a:ext uri="{C183D7F6-B498-43B3-948B-1728B52AA6E4}">
                <adec:decorative xmlns:adec="http://schemas.microsoft.com/office/drawing/2017/decorative" val="1"/>
              </a:ext>
            </a:extLst>
          </p:cNvPr>
          <p:cNvGrpSpPr>
            <a:grpSpLocks/>
          </p:cNvGrpSpPr>
          <p:nvPr/>
        </p:nvGrpSpPr>
        <p:grpSpPr bwMode="auto">
          <a:xfrm>
            <a:off x="5029200" y="2819400"/>
            <a:ext cx="1890713" cy="1143000"/>
            <a:chOff x="2688" y="1728"/>
            <a:chExt cx="1191" cy="720"/>
          </a:xfrm>
        </p:grpSpPr>
        <p:sp>
          <p:nvSpPr>
            <p:cNvPr id="16403" name="Text Box 9">
              <a:extLst>
                <a:ext uri="{FF2B5EF4-FFF2-40B4-BE49-F238E27FC236}">
                  <a16:creationId xmlns:a16="http://schemas.microsoft.com/office/drawing/2014/main" id="{5D8EEECA-A6B7-4D15-9B89-1FFEBA1A89DD}"/>
                </a:ext>
              </a:extLst>
            </p:cNvPr>
            <p:cNvSpPr txBox="1">
              <a:spLocks noChangeArrowheads="1"/>
            </p:cNvSpPr>
            <p:nvPr/>
          </p:nvSpPr>
          <p:spPr bwMode="auto">
            <a:xfrm>
              <a:off x="2736" y="2160"/>
              <a:ext cx="11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solidFill>
                    <a:srgbClr val="800000"/>
                  </a:solidFill>
                </a:rPr>
                <a:t>constant time</a:t>
              </a:r>
            </a:p>
          </p:txBody>
        </p:sp>
        <p:sp>
          <p:nvSpPr>
            <p:cNvPr id="16404" name="Line 10">
              <a:extLst>
                <a:ext uri="{FF2B5EF4-FFF2-40B4-BE49-F238E27FC236}">
                  <a16:creationId xmlns:a16="http://schemas.microsoft.com/office/drawing/2014/main" id="{F5415381-1920-4AA8-BD28-5EFE6FD2F244}"/>
                </a:ext>
              </a:extLst>
            </p:cNvPr>
            <p:cNvSpPr>
              <a:spLocks noChangeShapeType="1"/>
            </p:cNvSpPr>
            <p:nvPr/>
          </p:nvSpPr>
          <p:spPr bwMode="auto">
            <a:xfrm flipH="1" flipV="1">
              <a:off x="2688" y="1728"/>
              <a:ext cx="288" cy="384"/>
            </a:xfrm>
            <a:prstGeom prst="line">
              <a:avLst/>
            </a:prstGeom>
            <a:noFill/>
            <a:ln w="12700">
              <a:solidFill>
                <a:srgbClr val="800000"/>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7083" name="Group 11">
            <a:extLst>
              <a:ext uri="{FF2B5EF4-FFF2-40B4-BE49-F238E27FC236}">
                <a16:creationId xmlns:a16="http://schemas.microsoft.com/office/drawing/2014/main" id="{01DF4D26-4F2F-4878-BD2C-0A54DB03C99B}"/>
              </a:ext>
              <a:ext uri="{C183D7F6-B498-43B3-948B-1728B52AA6E4}">
                <adec:decorative xmlns:adec="http://schemas.microsoft.com/office/drawing/2017/decorative" val="1"/>
              </a:ext>
            </a:extLst>
          </p:cNvPr>
          <p:cNvGrpSpPr>
            <a:grpSpLocks/>
          </p:cNvGrpSpPr>
          <p:nvPr/>
        </p:nvGrpSpPr>
        <p:grpSpPr bwMode="auto">
          <a:xfrm>
            <a:off x="152400" y="1676400"/>
            <a:ext cx="1676400" cy="1828800"/>
            <a:chOff x="480" y="2438"/>
            <a:chExt cx="1056" cy="768"/>
          </a:xfrm>
        </p:grpSpPr>
        <p:sp>
          <p:nvSpPr>
            <p:cNvPr id="16401" name="Text Box 12">
              <a:extLst>
                <a:ext uri="{FF2B5EF4-FFF2-40B4-BE49-F238E27FC236}">
                  <a16:creationId xmlns:a16="http://schemas.microsoft.com/office/drawing/2014/main" id="{6C6C3D28-0D3F-48EA-90C3-BAC27277F549}"/>
                </a:ext>
              </a:extLst>
            </p:cNvPr>
            <p:cNvSpPr txBox="1">
              <a:spLocks noChangeArrowheads="1"/>
            </p:cNvSpPr>
            <p:nvPr/>
          </p:nvSpPr>
          <p:spPr bwMode="auto">
            <a:xfrm>
              <a:off x="480" y="2544"/>
              <a:ext cx="797"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6402" name="AutoShape 13">
              <a:extLst>
                <a:ext uri="{FF2B5EF4-FFF2-40B4-BE49-F238E27FC236}">
                  <a16:creationId xmlns:a16="http://schemas.microsoft.com/office/drawing/2014/main" id="{AD490854-0B0A-47B6-9EC0-9468C106DD1E}"/>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7086" name="AutoShape 14">
            <a:extLst>
              <a:ext uri="{FF2B5EF4-FFF2-40B4-BE49-F238E27FC236}">
                <a16:creationId xmlns:a16="http://schemas.microsoft.com/office/drawing/2014/main" id="{B143D039-242C-4BDE-A369-94A27691B024}"/>
              </a:ext>
            </a:extLst>
          </p:cNvPr>
          <p:cNvSpPr>
            <a:spLocks/>
          </p:cNvSpPr>
          <p:nvPr/>
        </p:nvSpPr>
        <p:spPr bwMode="auto">
          <a:xfrm>
            <a:off x="3733800" y="5257800"/>
            <a:ext cx="4953000" cy="381000"/>
          </a:xfrm>
          <a:prstGeom prst="accentCallout2">
            <a:avLst>
              <a:gd name="adj1" fmla="val 30000"/>
              <a:gd name="adj2" fmla="val -1537"/>
              <a:gd name="adj3" fmla="val 30000"/>
              <a:gd name="adj4" fmla="val -6889"/>
              <a:gd name="adj5" fmla="val -58750"/>
              <a:gd name="adj6" fmla="val -12532"/>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i="1">
                <a:latin typeface="Arial" panose="020B0604020202020204" pitchFamily="34" charset="0"/>
              </a:rPr>
              <a:t>Ignore non-dominating terms</a:t>
            </a:r>
          </a:p>
        </p:txBody>
      </p:sp>
      <p:sp>
        <p:nvSpPr>
          <p:cNvPr id="387087" name="Text Box 15">
            <a:extLst>
              <a:ext uri="{FF2B5EF4-FFF2-40B4-BE49-F238E27FC236}">
                <a16:creationId xmlns:a16="http://schemas.microsoft.com/office/drawing/2014/main" id="{5487B70A-AA3A-4D08-A0A5-0AF4E189E724}"/>
              </a:ext>
            </a:extLst>
          </p:cNvPr>
          <p:cNvSpPr txBox="1">
            <a:spLocks noChangeArrowheads="1"/>
          </p:cNvSpPr>
          <p:nvPr/>
        </p:nvSpPr>
        <p:spPr bwMode="auto">
          <a:xfrm>
            <a:off x="304800" y="3810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7088" name="Group 16">
            <a:extLst>
              <a:ext uri="{FF2B5EF4-FFF2-40B4-BE49-F238E27FC236}">
                <a16:creationId xmlns:a16="http://schemas.microsoft.com/office/drawing/2014/main" id="{5D401D91-A751-4332-9266-27E2865F0AEC}"/>
              </a:ext>
              <a:ext uri="{C183D7F6-B498-43B3-948B-1728B52AA6E4}">
                <adec:decorative xmlns:adec="http://schemas.microsoft.com/office/drawing/2017/decorative" val="1"/>
              </a:ext>
            </a:extLst>
          </p:cNvPr>
          <p:cNvGrpSpPr>
            <a:grpSpLocks/>
          </p:cNvGrpSpPr>
          <p:nvPr/>
        </p:nvGrpSpPr>
        <p:grpSpPr bwMode="auto">
          <a:xfrm>
            <a:off x="7086600" y="2057400"/>
            <a:ext cx="1855788" cy="1187450"/>
            <a:chOff x="3504" y="2256"/>
            <a:chExt cx="1122" cy="972"/>
          </a:xfrm>
        </p:grpSpPr>
        <p:sp>
          <p:nvSpPr>
            <p:cNvPr id="16399" name="AutoShape 17">
              <a:extLst>
                <a:ext uri="{FF2B5EF4-FFF2-40B4-BE49-F238E27FC236}">
                  <a16:creationId xmlns:a16="http://schemas.microsoft.com/office/drawing/2014/main" id="{E3F1F497-7CEE-46F0-BC39-9ADAFC10BBA2}"/>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0" name="Text Box 18">
              <a:extLst>
                <a:ext uri="{FF2B5EF4-FFF2-40B4-BE49-F238E27FC236}">
                  <a16:creationId xmlns:a16="http://schemas.microsoft.com/office/drawing/2014/main" id="{EC0FCB92-FE9F-414B-89C0-3B20A378247B}"/>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solidFill>
                    <a:srgbClr val="FF3300"/>
                  </a:solidFill>
                </a:rPr>
                <a:t>i</a:t>
              </a:r>
              <a:r>
                <a:rPr lang="en-US" altLang="en-US" sz="2400"/>
                <a:t> times</a:t>
              </a:r>
            </a:p>
          </p:txBody>
        </p:sp>
      </p:grpSp>
      <p:sp>
        <p:nvSpPr>
          <p:cNvPr id="387091" name="AutoShape 19">
            <a:extLst>
              <a:ext uri="{FF2B5EF4-FFF2-40B4-BE49-F238E27FC236}">
                <a16:creationId xmlns:a16="http://schemas.microsoft.com/office/drawing/2014/main" id="{551DEDF2-438D-4A19-A8D2-2F87319714E2}"/>
              </a:ext>
            </a:extLst>
          </p:cNvPr>
          <p:cNvSpPr>
            <a:spLocks/>
          </p:cNvSpPr>
          <p:nvPr/>
        </p:nvSpPr>
        <p:spPr bwMode="auto">
          <a:xfrm>
            <a:off x="2743200" y="5791200"/>
            <a:ext cx="4953000" cy="381000"/>
          </a:xfrm>
          <a:prstGeom prst="accentCallout2">
            <a:avLst>
              <a:gd name="adj1" fmla="val 30000"/>
              <a:gd name="adj2" fmla="val -1537"/>
              <a:gd name="adj3" fmla="val 30000"/>
              <a:gd name="adj4" fmla="val -9870"/>
              <a:gd name="adj5" fmla="val -196667"/>
              <a:gd name="adj6" fmla="val -18685"/>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2400" i="1"/>
              <a:t>Ignore multiplicative constants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70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70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708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708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707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708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7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8" grpId="0"/>
      <p:bldP spid="387086" grpId="0" animBg="1"/>
      <p:bldP spid="387087" grpId="0"/>
      <p:bldP spid="38709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CDB412C6-E448-4741-B5FD-400A9FA2F706}"/>
              </a:ext>
            </a:extLst>
          </p:cNvPr>
          <p:cNvSpPr>
            <a:spLocks noGrp="1" noChangeArrowheads="1"/>
          </p:cNvSpPr>
          <p:nvPr>
            <p:ph type="title"/>
          </p:nvPr>
        </p:nvSpPr>
        <p:spPr>
          <a:xfrm>
            <a:off x="685800" y="285750"/>
            <a:ext cx="7772400" cy="933450"/>
          </a:xfrm>
          <a:noFill/>
        </p:spPr>
        <p:txBody>
          <a:bodyPr/>
          <a:lstStyle/>
          <a:p>
            <a:r>
              <a:rPr lang="en-US" altLang="en-US"/>
              <a:t>Repetition: Nested Loops</a:t>
            </a:r>
          </a:p>
        </p:txBody>
      </p:sp>
      <p:sp>
        <p:nvSpPr>
          <p:cNvPr id="17416" name="Rectangle 7">
            <a:extLst>
              <a:ext uri="{FF2B5EF4-FFF2-40B4-BE49-F238E27FC236}">
                <a16:creationId xmlns:a16="http://schemas.microsoft.com/office/drawing/2014/main" id="{B81336EB-AC2A-4C3F-A49C-D0A540FD4313}"/>
              </a:ext>
            </a:extLst>
          </p:cNvPr>
          <p:cNvSpPr>
            <a:spLocks noGrp="1" noChangeArrowheads="1"/>
          </p:cNvSpPr>
          <p:nvPr>
            <p:ph type="body" sz="half" idx="1"/>
          </p:nvPr>
        </p:nvSpPr>
        <p:spPr>
          <a:xfrm>
            <a:off x="1828800" y="1600200"/>
            <a:ext cx="5486400" cy="2057400"/>
          </a:xfrm>
          <a:solidFill>
            <a:schemeClr val="bg1"/>
          </a:solidFill>
        </p:spPr>
        <p:txBody>
          <a:bodyPr/>
          <a:lstStyle/>
          <a:p>
            <a:pPr marL="0" indent="0">
              <a:lnSpc>
                <a:spcPct val="90000"/>
              </a:lnSpc>
              <a:buFont typeface="Monotype Sorts"/>
              <a:buNone/>
            </a:pPr>
            <a:r>
              <a:rPr lang="en-US" altLang="en-US" sz="2400">
                <a:latin typeface="Courier New" panose="02070309020205020404" pitchFamily="49" charset="0"/>
              </a:rPr>
              <a:t>for (i = 1; i &lt;= n; i++) {</a:t>
            </a:r>
          </a:p>
          <a:p>
            <a:pPr marL="0" indent="0">
              <a:lnSpc>
                <a:spcPct val="90000"/>
              </a:lnSpc>
              <a:buFont typeface="Monotype Sorts"/>
              <a:buNone/>
            </a:pPr>
            <a:r>
              <a:rPr lang="en-US" altLang="en-US" sz="2400">
                <a:latin typeface="Courier New" panose="02070309020205020404" pitchFamily="49" charset="0"/>
              </a:rPr>
              <a:t>  for (j = 1; j &lt;= </a:t>
            </a:r>
            <a:r>
              <a:rPr lang="en-US" altLang="en-US" sz="2400">
                <a:solidFill>
                  <a:srgbClr val="FF3300"/>
                </a:solidFill>
                <a:latin typeface="Courier New" panose="02070309020205020404" pitchFamily="49" charset="0"/>
              </a:rPr>
              <a:t>20</a:t>
            </a:r>
            <a:r>
              <a:rPr lang="en-US" altLang="en-US" sz="2400">
                <a:latin typeface="Courier New" panose="02070309020205020404" pitchFamily="49" charset="0"/>
              </a:rPr>
              <a:t>; j++) {</a:t>
            </a:r>
          </a:p>
          <a:p>
            <a:pPr marL="0" indent="0">
              <a:lnSpc>
                <a:spcPct val="90000"/>
              </a:lnSpc>
              <a:buFont typeface="Monotype Sorts"/>
              <a:buNone/>
            </a:pPr>
            <a:r>
              <a:rPr lang="en-US" altLang="en-US" sz="2400">
                <a:latin typeface="Courier New" panose="02070309020205020404" pitchFamily="49" charset="0"/>
              </a:rPr>
              <a:t>    k = k + i + j;</a:t>
            </a:r>
          </a:p>
          <a:p>
            <a:pPr marL="0" indent="0">
              <a:lnSpc>
                <a:spcPct val="90000"/>
              </a:lnSpc>
              <a:buFont typeface="Monotype Sorts"/>
              <a:buNone/>
            </a:pPr>
            <a:r>
              <a:rPr lang="en-US" altLang="en-US" sz="2400">
                <a:latin typeface="Courier New" panose="02070309020205020404" pitchFamily="49" charset="0"/>
              </a:rPr>
              <a:t>  }</a:t>
            </a:r>
          </a:p>
          <a:p>
            <a:pPr marL="0" indent="0">
              <a:lnSpc>
                <a:spcPct val="90000"/>
              </a:lnSpc>
              <a:buFont typeface="Monotype Sorts"/>
              <a:buNone/>
            </a:pPr>
            <a:r>
              <a:rPr lang="en-US" altLang="en-US" sz="2400">
                <a:latin typeface="Courier New" panose="02070309020205020404" pitchFamily="49" charset="0"/>
              </a:rPr>
              <a:t>}</a:t>
            </a:r>
          </a:p>
        </p:txBody>
      </p:sp>
      <p:sp>
        <p:nvSpPr>
          <p:cNvPr id="17410" name="Slide Number Placeholder 5">
            <a:extLst>
              <a:ext uri="{FF2B5EF4-FFF2-40B4-BE49-F238E27FC236}">
                <a16:creationId xmlns:a16="http://schemas.microsoft.com/office/drawing/2014/main" id="{386B2166-31D3-4C57-8541-AE303B127BC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DE7AB61-2D7F-4E46-874D-2238FEF221C0}" type="slidenum">
              <a:rPr lang="en-US" altLang="en-US" sz="1400"/>
              <a:pPr>
                <a:spcBef>
                  <a:spcPct val="0"/>
                </a:spcBef>
                <a:buClrTx/>
                <a:buSzTx/>
                <a:buFontTx/>
                <a:buNone/>
              </a:pPr>
              <a:t>14</a:t>
            </a:fld>
            <a:endParaRPr lang="en-US" altLang="en-US" sz="1400"/>
          </a:p>
        </p:txBody>
      </p:sp>
      <p:sp>
        <p:nvSpPr>
          <p:cNvPr id="388102" name="Text Box 6">
            <a:extLst>
              <a:ext uri="{FF2B5EF4-FFF2-40B4-BE49-F238E27FC236}">
                <a16:creationId xmlns:a16="http://schemas.microsoft.com/office/drawing/2014/main" id="{012E4736-C753-4484-A8EC-A9BE6938F93D}"/>
              </a:ext>
            </a:extLst>
          </p:cNvPr>
          <p:cNvSpPr txBox="1">
            <a:spLocks noChangeArrowheads="1"/>
          </p:cNvSpPr>
          <p:nvPr/>
        </p:nvSpPr>
        <p:spPr bwMode="auto">
          <a:xfrm>
            <a:off x="1295400" y="4572000"/>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latin typeface="Arial" panose="020B0604020202020204" pitchFamily="34" charset="0"/>
              </a:rPr>
              <a:t>T(n) = 20 * c * n = </a:t>
            </a:r>
            <a:r>
              <a:rPr lang="en-US" altLang="en-US" sz="2400" dirty="0">
                <a:highlight>
                  <a:srgbClr val="FFFF00"/>
                </a:highlight>
              </a:rPr>
              <a:t>O(n)</a:t>
            </a:r>
            <a:endParaRPr lang="en-US" altLang="en-US" sz="2400" b="1" dirty="0">
              <a:highlight>
                <a:srgbClr val="FFFF00"/>
              </a:highlight>
              <a:latin typeface="Arial" panose="020B0604020202020204" pitchFamily="34" charset="0"/>
            </a:endParaRPr>
          </a:p>
        </p:txBody>
      </p:sp>
      <p:grpSp>
        <p:nvGrpSpPr>
          <p:cNvPr id="388104" name="Group 8">
            <a:extLst>
              <a:ext uri="{FF2B5EF4-FFF2-40B4-BE49-F238E27FC236}">
                <a16:creationId xmlns:a16="http://schemas.microsoft.com/office/drawing/2014/main" id="{7A63DE28-B6A0-4D69-83D8-ECD34430BB4B}"/>
              </a:ext>
              <a:ext uri="{C183D7F6-B498-43B3-948B-1728B52AA6E4}">
                <adec:decorative xmlns:adec="http://schemas.microsoft.com/office/drawing/2017/decorative" val="1"/>
              </a:ext>
            </a:extLst>
          </p:cNvPr>
          <p:cNvGrpSpPr>
            <a:grpSpLocks/>
          </p:cNvGrpSpPr>
          <p:nvPr/>
        </p:nvGrpSpPr>
        <p:grpSpPr bwMode="auto">
          <a:xfrm>
            <a:off x="5029200" y="2819400"/>
            <a:ext cx="1890713" cy="1143000"/>
            <a:chOff x="2688" y="1728"/>
            <a:chExt cx="1191" cy="720"/>
          </a:xfrm>
        </p:grpSpPr>
        <p:sp>
          <p:nvSpPr>
            <p:cNvPr id="17426" name="Text Box 9">
              <a:extLst>
                <a:ext uri="{FF2B5EF4-FFF2-40B4-BE49-F238E27FC236}">
                  <a16:creationId xmlns:a16="http://schemas.microsoft.com/office/drawing/2014/main" id="{B4C21877-AD90-4733-9E7D-C4A553369C43}"/>
                </a:ext>
              </a:extLst>
            </p:cNvPr>
            <p:cNvSpPr txBox="1">
              <a:spLocks noChangeArrowheads="1"/>
            </p:cNvSpPr>
            <p:nvPr/>
          </p:nvSpPr>
          <p:spPr bwMode="auto">
            <a:xfrm>
              <a:off x="2736" y="2160"/>
              <a:ext cx="11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solidFill>
                    <a:srgbClr val="800000"/>
                  </a:solidFill>
                </a:rPr>
                <a:t>constant time</a:t>
              </a:r>
            </a:p>
          </p:txBody>
        </p:sp>
        <p:sp>
          <p:nvSpPr>
            <p:cNvPr id="17427" name="Line 10">
              <a:extLst>
                <a:ext uri="{FF2B5EF4-FFF2-40B4-BE49-F238E27FC236}">
                  <a16:creationId xmlns:a16="http://schemas.microsoft.com/office/drawing/2014/main" id="{0BBAD11F-B467-49BC-823E-69CE1DB3C88F}"/>
                </a:ext>
              </a:extLst>
            </p:cNvPr>
            <p:cNvSpPr>
              <a:spLocks noChangeShapeType="1"/>
            </p:cNvSpPr>
            <p:nvPr/>
          </p:nvSpPr>
          <p:spPr bwMode="auto">
            <a:xfrm flipH="1" flipV="1">
              <a:off x="2688" y="1728"/>
              <a:ext cx="288" cy="384"/>
            </a:xfrm>
            <a:prstGeom prst="line">
              <a:avLst/>
            </a:prstGeom>
            <a:noFill/>
            <a:ln w="12700">
              <a:solidFill>
                <a:srgbClr val="800000"/>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8107" name="Group 11">
            <a:extLst>
              <a:ext uri="{FF2B5EF4-FFF2-40B4-BE49-F238E27FC236}">
                <a16:creationId xmlns:a16="http://schemas.microsoft.com/office/drawing/2014/main" id="{8380EE4F-26B7-4985-A09C-160F762B3465}"/>
              </a:ext>
              <a:ext uri="{C183D7F6-B498-43B3-948B-1728B52AA6E4}">
                <adec:decorative xmlns:adec="http://schemas.microsoft.com/office/drawing/2017/decorative" val="1"/>
              </a:ext>
            </a:extLst>
          </p:cNvPr>
          <p:cNvGrpSpPr>
            <a:grpSpLocks/>
          </p:cNvGrpSpPr>
          <p:nvPr/>
        </p:nvGrpSpPr>
        <p:grpSpPr bwMode="auto">
          <a:xfrm>
            <a:off x="152400" y="1676400"/>
            <a:ext cx="1676400" cy="1828800"/>
            <a:chOff x="480" y="2438"/>
            <a:chExt cx="1056" cy="768"/>
          </a:xfrm>
        </p:grpSpPr>
        <p:sp>
          <p:nvSpPr>
            <p:cNvPr id="17424" name="Text Box 12">
              <a:extLst>
                <a:ext uri="{FF2B5EF4-FFF2-40B4-BE49-F238E27FC236}">
                  <a16:creationId xmlns:a16="http://schemas.microsoft.com/office/drawing/2014/main" id="{AFA93349-41E4-49C9-86A2-8681451DF0CE}"/>
                </a:ext>
              </a:extLst>
            </p:cNvPr>
            <p:cNvSpPr txBox="1">
              <a:spLocks noChangeArrowheads="1"/>
            </p:cNvSpPr>
            <p:nvPr/>
          </p:nvSpPr>
          <p:spPr bwMode="auto">
            <a:xfrm>
              <a:off x="480" y="2544"/>
              <a:ext cx="797"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7425" name="AutoShape 13">
              <a:extLst>
                <a:ext uri="{FF2B5EF4-FFF2-40B4-BE49-F238E27FC236}">
                  <a16:creationId xmlns:a16="http://schemas.microsoft.com/office/drawing/2014/main" id="{201851A2-EAFE-4B15-9947-726A51FD10AD}"/>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8111" name="Text Box 15">
            <a:extLst>
              <a:ext uri="{FF2B5EF4-FFF2-40B4-BE49-F238E27FC236}">
                <a16:creationId xmlns:a16="http://schemas.microsoft.com/office/drawing/2014/main" id="{0263EBA6-8F28-49E6-A78D-28BE4C2567C7}"/>
              </a:ext>
            </a:extLst>
          </p:cNvPr>
          <p:cNvSpPr txBox="1">
            <a:spLocks noChangeArrowheads="1"/>
          </p:cNvSpPr>
          <p:nvPr/>
        </p:nvSpPr>
        <p:spPr bwMode="auto">
          <a:xfrm>
            <a:off x="304800" y="41148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8112" name="Group 16">
            <a:extLst>
              <a:ext uri="{FF2B5EF4-FFF2-40B4-BE49-F238E27FC236}">
                <a16:creationId xmlns:a16="http://schemas.microsoft.com/office/drawing/2014/main" id="{500E580F-6D38-4442-B1DB-43FB2DC08F09}"/>
              </a:ext>
              <a:ext uri="{C183D7F6-B498-43B3-948B-1728B52AA6E4}">
                <adec:decorative xmlns:adec="http://schemas.microsoft.com/office/drawing/2017/decorative" val="1"/>
              </a:ext>
            </a:extLst>
          </p:cNvPr>
          <p:cNvGrpSpPr>
            <a:grpSpLocks/>
          </p:cNvGrpSpPr>
          <p:nvPr/>
        </p:nvGrpSpPr>
        <p:grpSpPr bwMode="auto">
          <a:xfrm>
            <a:off x="7288213" y="2057400"/>
            <a:ext cx="1855787" cy="1187450"/>
            <a:chOff x="3504" y="2256"/>
            <a:chExt cx="1122" cy="972"/>
          </a:xfrm>
        </p:grpSpPr>
        <p:sp>
          <p:nvSpPr>
            <p:cNvPr id="17422" name="AutoShape 17">
              <a:extLst>
                <a:ext uri="{FF2B5EF4-FFF2-40B4-BE49-F238E27FC236}">
                  <a16:creationId xmlns:a16="http://schemas.microsoft.com/office/drawing/2014/main" id="{6056503D-57D5-4606-86E6-656FD175B4F6}"/>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3" name="Text Box 18">
              <a:extLst>
                <a:ext uri="{FF2B5EF4-FFF2-40B4-BE49-F238E27FC236}">
                  <a16:creationId xmlns:a16="http://schemas.microsoft.com/office/drawing/2014/main" id="{2A578528-C597-4D3B-901F-09BA2B3F5D7E}"/>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solidFill>
                    <a:srgbClr val="FF3300"/>
                  </a:solidFill>
                </a:rPr>
                <a:t>20</a:t>
              </a:r>
              <a:r>
                <a:rPr lang="en-US" altLang="en-US" sz="2400"/>
                <a:t> times</a:t>
              </a:r>
            </a:p>
          </p:txBody>
        </p:sp>
      </p:grpSp>
      <p:sp>
        <p:nvSpPr>
          <p:cNvPr id="388115" name="AutoShape 19">
            <a:extLst>
              <a:ext uri="{FF2B5EF4-FFF2-40B4-BE49-F238E27FC236}">
                <a16:creationId xmlns:a16="http://schemas.microsoft.com/office/drawing/2014/main" id="{71C45250-CBBD-48BD-8492-29DF32991B91}"/>
              </a:ext>
            </a:extLst>
          </p:cNvPr>
          <p:cNvSpPr>
            <a:spLocks/>
          </p:cNvSpPr>
          <p:nvPr/>
        </p:nvSpPr>
        <p:spPr bwMode="auto">
          <a:xfrm>
            <a:off x="3048000" y="5257800"/>
            <a:ext cx="5486400" cy="457200"/>
          </a:xfrm>
          <a:prstGeom prst="accentCallout2">
            <a:avLst>
              <a:gd name="adj1" fmla="val 25000"/>
              <a:gd name="adj2" fmla="val -1389"/>
              <a:gd name="adj3" fmla="val 25000"/>
              <a:gd name="adj4" fmla="val -1389"/>
              <a:gd name="adj5" fmla="val -62847"/>
              <a:gd name="adj6" fmla="val -1417"/>
            </a:avLst>
          </a:prstGeom>
          <a:solidFill>
            <a:schemeClr val="accent1"/>
          </a:solidFill>
          <a:ln w="12700">
            <a:solidFill>
              <a:schemeClr val="tx1"/>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2400" i="1"/>
              <a:t>Ignore multiplicative constants (e.g., 20*c)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81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81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81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81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810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8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2" grpId="0"/>
      <p:bldP spid="388111" grpId="0"/>
      <p:bldP spid="3881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893B6FF2-677A-494D-9F74-6541C10C4191}"/>
              </a:ext>
            </a:extLst>
          </p:cNvPr>
          <p:cNvSpPr>
            <a:spLocks noGrp="1" noChangeArrowheads="1"/>
          </p:cNvSpPr>
          <p:nvPr>
            <p:ph type="title"/>
          </p:nvPr>
        </p:nvSpPr>
        <p:spPr>
          <a:xfrm>
            <a:off x="685800" y="285750"/>
            <a:ext cx="7772400" cy="628650"/>
          </a:xfrm>
          <a:noFill/>
        </p:spPr>
        <p:txBody>
          <a:bodyPr/>
          <a:lstStyle/>
          <a:p>
            <a:r>
              <a:rPr lang="en-US" altLang="en-US"/>
              <a:t>Sequence</a:t>
            </a:r>
          </a:p>
        </p:txBody>
      </p:sp>
      <p:sp>
        <p:nvSpPr>
          <p:cNvPr id="18440" name="Rectangle 7">
            <a:extLst>
              <a:ext uri="{FF2B5EF4-FFF2-40B4-BE49-F238E27FC236}">
                <a16:creationId xmlns:a16="http://schemas.microsoft.com/office/drawing/2014/main" id="{D53162ED-D07B-49D7-A9E8-7875A16AAF3C}"/>
              </a:ext>
            </a:extLst>
          </p:cNvPr>
          <p:cNvSpPr>
            <a:spLocks noGrp="1" noChangeArrowheads="1"/>
          </p:cNvSpPr>
          <p:nvPr>
            <p:ph type="body" sz="half" idx="1"/>
          </p:nvPr>
        </p:nvSpPr>
        <p:spPr>
          <a:xfrm>
            <a:off x="2133600" y="2743200"/>
            <a:ext cx="5486400" cy="1752600"/>
          </a:xfrm>
          <a:solidFill>
            <a:schemeClr val="bg1"/>
          </a:solidFill>
        </p:spPr>
        <p:txBody>
          <a:bodyPr/>
          <a:lstStyle/>
          <a:p>
            <a:pPr marL="0" indent="0">
              <a:lnSpc>
                <a:spcPct val="90000"/>
              </a:lnSpc>
              <a:buFont typeface="Monotype Sorts"/>
              <a:buNone/>
            </a:pPr>
            <a:r>
              <a:rPr lang="en-US" altLang="en-US" sz="2000">
                <a:latin typeface="Courier New" panose="02070309020205020404" pitchFamily="49" charset="0"/>
              </a:rPr>
              <a:t>for (i = 1; i &lt;= n; i++) {</a:t>
            </a:r>
          </a:p>
          <a:p>
            <a:pPr marL="0" indent="0">
              <a:lnSpc>
                <a:spcPct val="90000"/>
              </a:lnSpc>
              <a:buFont typeface="Monotype Sorts"/>
              <a:buNone/>
            </a:pPr>
            <a:r>
              <a:rPr lang="en-US" altLang="en-US" sz="2000">
                <a:latin typeface="Courier New" panose="02070309020205020404" pitchFamily="49" charset="0"/>
              </a:rPr>
              <a:t>  for (j = 1; j &lt;= </a:t>
            </a:r>
            <a:r>
              <a:rPr lang="en-US" altLang="en-US" sz="2000">
                <a:solidFill>
                  <a:srgbClr val="FF3300"/>
                </a:solidFill>
                <a:latin typeface="Courier New" panose="02070309020205020404" pitchFamily="49" charset="0"/>
              </a:rPr>
              <a:t>20</a:t>
            </a:r>
            <a:r>
              <a:rPr lang="en-US" altLang="en-US" sz="2000">
                <a:latin typeface="Courier New" panose="02070309020205020404" pitchFamily="49" charset="0"/>
              </a:rPr>
              <a:t>; j++) {</a:t>
            </a:r>
          </a:p>
          <a:p>
            <a:pPr marL="0" indent="0">
              <a:lnSpc>
                <a:spcPct val="90000"/>
              </a:lnSpc>
              <a:buFont typeface="Monotype Sorts"/>
              <a:buNone/>
            </a:pPr>
            <a:r>
              <a:rPr lang="en-US" altLang="en-US" sz="2000">
                <a:latin typeface="Courier New" panose="02070309020205020404" pitchFamily="49" charset="0"/>
              </a:rPr>
              <a:t>    k = k + i + j;</a:t>
            </a:r>
          </a:p>
          <a:p>
            <a:pPr marL="0" indent="0">
              <a:lnSpc>
                <a:spcPct val="90000"/>
              </a:lnSpc>
              <a:buFont typeface="Monotype Sorts"/>
              <a:buNone/>
            </a:pPr>
            <a:r>
              <a:rPr lang="en-US" altLang="en-US" sz="2000">
                <a:latin typeface="Courier New" panose="02070309020205020404" pitchFamily="49" charset="0"/>
              </a:rPr>
              <a:t>  }</a:t>
            </a:r>
          </a:p>
          <a:p>
            <a:pPr marL="0" indent="0">
              <a:lnSpc>
                <a:spcPct val="90000"/>
              </a:lnSpc>
              <a:buFont typeface="Monotype Sorts"/>
              <a:buNone/>
            </a:pPr>
            <a:r>
              <a:rPr lang="en-US" altLang="en-US" sz="2000">
                <a:latin typeface="Courier New" panose="02070309020205020404" pitchFamily="49" charset="0"/>
              </a:rPr>
              <a:t>}</a:t>
            </a:r>
          </a:p>
        </p:txBody>
      </p:sp>
      <p:sp>
        <p:nvSpPr>
          <p:cNvPr id="18434" name="Slide Number Placeholder 5">
            <a:extLst>
              <a:ext uri="{FF2B5EF4-FFF2-40B4-BE49-F238E27FC236}">
                <a16:creationId xmlns:a16="http://schemas.microsoft.com/office/drawing/2014/main" id="{18C600E7-D9A0-4789-83FB-C55D3964A5D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B192325-61BA-4DA4-9CE0-331F9C2D4BB2}" type="slidenum">
              <a:rPr lang="en-US" altLang="en-US" sz="1400"/>
              <a:pPr>
                <a:spcBef>
                  <a:spcPct val="0"/>
                </a:spcBef>
                <a:buClrTx/>
                <a:buSzTx/>
                <a:buFontTx/>
                <a:buNone/>
              </a:pPr>
              <a:t>15</a:t>
            </a:fld>
            <a:endParaRPr lang="en-US" altLang="en-US" sz="1400"/>
          </a:p>
        </p:txBody>
      </p:sp>
      <p:sp>
        <p:nvSpPr>
          <p:cNvPr id="389126" name="Text Box 6">
            <a:extLst>
              <a:ext uri="{FF2B5EF4-FFF2-40B4-BE49-F238E27FC236}">
                <a16:creationId xmlns:a16="http://schemas.microsoft.com/office/drawing/2014/main" id="{4552CCAD-CC42-4935-8871-8DB796025BBA}"/>
              </a:ext>
            </a:extLst>
          </p:cNvPr>
          <p:cNvSpPr txBox="1">
            <a:spLocks noChangeArrowheads="1"/>
          </p:cNvSpPr>
          <p:nvPr/>
        </p:nvSpPr>
        <p:spPr bwMode="auto">
          <a:xfrm>
            <a:off x="1447800" y="5410200"/>
            <a:ext cx="678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T(n) = c *10 + 20 * c * n = </a:t>
            </a:r>
            <a:r>
              <a:rPr lang="en-US" altLang="en-US" sz="2400"/>
              <a:t>O(n)</a:t>
            </a:r>
            <a:endParaRPr lang="en-US" altLang="en-US" sz="2400" b="1">
              <a:latin typeface="Arial" panose="020B0604020202020204" pitchFamily="34" charset="0"/>
            </a:endParaRPr>
          </a:p>
        </p:txBody>
      </p:sp>
      <p:grpSp>
        <p:nvGrpSpPr>
          <p:cNvPr id="389131" name="Group 11">
            <a:extLst>
              <a:ext uri="{FF2B5EF4-FFF2-40B4-BE49-F238E27FC236}">
                <a16:creationId xmlns:a16="http://schemas.microsoft.com/office/drawing/2014/main" id="{1BB912C7-415A-4252-98D0-7BE2AF173A23}"/>
              </a:ext>
              <a:ext uri="{C183D7F6-B498-43B3-948B-1728B52AA6E4}">
                <adec:decorative xmlns:adec="http://schemas.microsoft.com/office/drawing/2017/decorative" val="1"/>
              </a:ext>
            </a:extLst>
          </p:cNvPr>
          <p:cNvGrpSpPr>
            <a:grpSpLocks/>
          </p:cNvGrpSpPr>
          <p:nvPr/>
        </p:nvGrpSpPr>
        <p:grpSpPr bwMode="auto">
          <a:xfrm>
            <a:off x="457200" y="2819400"/>
            <a:ext cx="1676400" cy="1524000"/>
            <a:chOff x="480" y="2438"/>
            <a:chExt cx="1056" cy="768"/>
          </a:xfrm>
        </p:grpSpPr>
        <p:sp>
          <p:nvSpPr>
            <p:cNvPr id="18450" name="Text Box 12">
              <a:extLst>
                <a:ext uri="{FF2B5EF4-FFF2-40B4-BE49-F238E27FC236}">
                  <a16:creationId xmlns:a16="http://schemas.microsoft.com/office/drawing/2014/main" id="{235ADC17-B012-43E9-9B10-E649A2AC4F3F}"/>
                </a:ext>
              </a:extLst>
            </p:cNvPr>
            <p:cNvSpPr txBox="1">
              <a:spLocks noChangeArrowheads="1"/>
            </p:cNvSpPr>
            <p:nvPr/>
          </p:nvSpPr>
          <p:spPr bwMode="auto">
            <a:xfrm>
              <a:off x="480" y="2544"/>
              <a:ext cx="797" cy="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n</a:t>
              </a:r>
              <a:r>
                <a:rPr lang="en-US" altLang="en-US" sz="2400"/>
                <a:t> times</a:t>
              </a:r>
            </a:p>
          </p:txBody>
        </p:sp>
        <p:sp>
          <p:nvSpPr>
            <p:cNvPr id="18451" name="AutoShape 13">
              <a:extLst>
                <a:ext uri="{FF2B5EF4-FFF2-40B4-BE49-F238E27FC236}">
                  <a16:creationId xmlns:a16="http://schemas.microsoft.com/office/drawing/2014/main" id="{B17ABA86-B079-4C96-A05C-26AB0BED206D}"/>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
        <p:nvSpPr>
          <p:cNvPr id="389134" name="Text Box 14">
            <a:extLst>
              <a:ext uri="{FF2B5EF4-FFF2-40B4-BE49-F238E27FC236}">
                <a16:creationId xmlns:a16="http://schemas.microsoft.com/office/drawing/2014/main" id="{8A7AC150-C4B4-43E6-9364-6BCFA3C67EAD}"/>
              </a:ext>
            </a:extLst>
          </p:cNvPr>
          <p:cNvSpPr txBox="1">
            <a:spLocks noChangeArrowheads="1"/>
          </p:cNvSpPr>
          <p:nvPr/>
        </p:nvSpPr>
        <p:spPr bwMode="auto">
          <a:xfrm>
            <a:off x="457200" y="4953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89135" name="Group 15">
            <a:extLst>
              <a:ext uri="{FF2B5EF4-FFF2-40B4-BE49-F238E27FC236}">
                <a16:creationId xmlns:a16="http://schemas.microsoft.com/office/drawing/2014/main" id="{DA828075-8253-4765-A41D-9F04D1C60AA7}"/>
              </a:ext>
              <a:ext uri="{C183D7F6-B498-43B3-948B-1728B52AA6E4}">
                <adec:decorative xmlns:adec="http://schemas.microsoft.com/office/drawing/2017/decorative" val="1"/>
              </a:ext>
            </a:extLst>
          </p:cNvPr>
          <p:cNvGrpSpPr>
            <a:grpSpLocks/>
          </p:cNvGrpSpPr>
          <p:nvPr/>
        </p:nvGrpSpPr>
        <p:grpSpPr bwMode="auto">
          <a:xfrm>
            <a:off x="6781800" y="3048000"/>
            <a:ext cx="1855788" cy="1187450"/>
            <a:chOff x="3504" y="2256"/>
            <a:chExt cx="1122" cy="972"/>
          </a:xfrm>
        </p:grpSpPr>
        <p:sp>
          <p:nvSpPr>
            <p:cNvPr id="18448" name="AutoShape 16">
              <a:extLst>
                <a:ext uri="{FF2B5EF4-FFF2-40B4-BE49-F238E27FC236}">
                  <a16:creationId xmlns:a16="http://schemas.microsoft.com/office/drawing/2014/main" id="{82A28D80-267A-4D22-BDB0-5ACC1D4D21CE}"/>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9" name="Text Box 17">
              <a:extLst>
                <a:ext uri="{FF2B5EF4-FFF2-40B4-BE49-F238E27FC236}">
                  <a16:creationId xmlns:a16="http://schemas.microsoft.com/office/drawing/2014/main" id="{094DEBEF-1479-4FD9-A6EF-EDD273682731}"/>
                </a:ext>
              </a:extLst>
            </p:cNvPr>
            <p:cNvSpPr txBox="1">
              <a:spLocks noChangeArrowheads="1"/>
            </p:cNvSpPr>
            <p:nvPr/>
          </p:nvSpPr>
          <p:spPr bwMode="auto">
            <a:xfrm>
              <a:off x="3763" y="2256"/>
              <a:ext cx="863" cy="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inner loop</a:t>
              </a:r>
            </a:p>
            <a:p>
              <a:pPr>
                <a:spcBef>
                  <a:spcPct val="0"/>
                </a:spcBef>
                <a:buClrTx/>
                <a:buSzTx/>
                <a:buFontTx/>
                <a:buNone/>
              </a:pPr>
              <a:r>
                <a:rPr lang="en-US" altLang="en-US" sz="2400"/>
                <a:t>executed</a:t>
              </a:r>
            </a:p>
            <a:p>
              <a:pPr>
                <a:spcBef>
                  <a:spcPct val="0"/>
                </a:spcBef>
                <a:buClrTx/>
                <a:buSzTx/>
                <a:buFontTx/>
                <a:buNone/>
              </a:pPr>
              <a:r>
                <a:rPr lang="en-US" altLang="en-US" sz="2400" i="1">
                  <a:solidFill>
                    <a:srgbClr val="FF3300"/>
                  </a:solidFill>
                </a:rPr>
                <a:t>20</a:t>
              </a:r>
              <a:r>
                <a:rPr lang="en-US" altLang="en-US" sz="2400"/>
                <a:t> times</a:t>
              </a:r>
            </a:p>
          </p:txBody>
        </p:sp>
      </p:grpSp>
      <p:sp>
        <p:nvSpPr>
          <p:cNvPr id="18444" name="Rectangle 19">
            <a:extLst>
              <a:ext uri="{FF2B5EF4-FFF2-40B4-BE49-F238E27FC236}">
                <a16:creationId xmlns:a16="http://schemas.microsoft.com/office/drawing/2014/main" id="{0C8AE4D2-B87C-454C-A20B-CF5792A8B91A}"/>
              </a:ext>
            </a:extLst>
          </p:cNvPr>
          <p:cNvSpPr>
            <a:spLocks noChangeArrowheads="1"/>
          </p:cNvSpPr>
          <p:nvPr/>
        </p:nvSpPr>
        <p:spPr bwMode="auto">
          <a:xfrm>
            <a:off x="2133600" y="1600200"/>
            <a:ext cx="5486400" cy="1066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a:latin typeface="Courier New" panose="02070309020205020404" pitchFamily="49" charset="0"/>
              </a:rPr>
              <a:t>for (j = 1; j &lt;= </a:t>
            </a:r>
            <a:r>
              <a:rPr lang="en-US" altLang="en-US" sz="2000">
                <a:solidFill>
                  <a:srgbClr val="FF3300"/>
                </a:solidFill>
                <a:latin typeface="Courier New" panose="02070309020205020404" pitchFamily="49" charset="0"/>
              </a:rPr>
              <a:t>10</a:t>
            </a:r>
            <a:r>
              <a:rPr lang="en-US" altLang="en-US" sz="2000">
                <a:latin typeface="Courier New" panose="02070309020205020404" pitchFamily="49" charset="0"/>
              </a:rPr>
              <a:t>; j++) {</a:t>
            </a:r>
          </a:p>
          <a:p>
            <a:pPr>
              <a:lnSpc>
                <a:spcPct val="90000"/>
              </a:lnSpc>
              <a:buFont typeface="Monotype Sorts"/>
              <a:buNone/>
            </a:pPr>
            <a:r>
              <a:rPr lang="en-US" altLang="en-US" sz="2000">
                <a:latin typeface="Courier New" panose="02070309020205020404" pitchFamily="49" charset="0"/>
              </a:rPr>
              <a:t>  k = k + 4;</a:t>
            </a:r>
          </a:p>
          <a:p>
            <a:pPr>
              <a:lnSpc>
                <a:spcPct val="90000"/>
              </a:lnSpc>
              <a:buFont typeface="Monotype Sorts"/>
              <a:buNone/>
            </a:pPr>
            <a:r>
              <a:rPr lang="en-US" altLang="en-US" sz="2000">
                <a:latin typeface="Courier New" panose="02070309020205020404" pitchFamily="49" charset="0"/>
              </a:rPr>
              <a:t>}</a:t>
            </a:r>
          </a:p>
        </p:txBody>
      </p:sp>
      <p:grpSp>
        <p:nvGrpSpPr>
          <p:cNvPr id="389140" name="Group 20">
            <a:extLst>
              <a:ext uri="{FF2B5EF4-FFF2-40B4-BE49-F238E27FC236}">
                <a16:creationId xmlns:a16="http://schemas.microsoft.com/office/drawing/2014/main" id="{5E5983EC-5B95-4E97-8681-3D532B7CFAC6}"/>
              </a:ext>
              <a:ext uri="{C183D7F6-B498-43B3-948B-1728B52AA6E4}">
                <adec:decorative xmlns:adec="http://schemas.microsoft.com/office/drawing/2017/decorative" val="1"/>
              </a:ext>
            </a:extLst>
          </p:cNvPr>
          <p:cNvGrpSpPr>
            <a:grpSpLocks/>
          </p:cNvGrpSpPr>
          <p:nvPr/>
        </p:nvGrpSpPr>
        <p:grpSpPr bwMode="auto">
          <a:xfrm>
            <a:off x="533400" y="1676400"/>
            <a:ext cx="1676400" cy="949325"/>
            <a:chOff x="480" y="2438"/>
            <a:chExt cx="1056" cy="797"/>
          </a:xfrm>
        </p:grpSpPr>
        <p:sp>
          <p:nvSpPr>
            <p:cNvPr id="18446" name="Text Box 21">
              <a:extLst>
                <a:ext uri="{FF2B5EF4-FFF2-40B4-BE49-F238E27FC236}">
                  <a16:creationId xmlns:a16="http://schemas.microsoft.com/office/drawing/2014/main" id="{0AC9D0D5-ACBE-46A6-9C3A-BAC4A4F18912}"/>
                </a:ext>
              </a:extLst>
            </p:cNvPr>
            <p:cNvSpPr txBox="1">
              <a:spLocks noChangeArrowheads="1"/>
            </p:cNvSpPr>
            <p:nvPr/>
          </p:nvSpPr>
          <p:spPr bwMode="auto">
            <a:xfrm>
              <a:off x="480" y="2545"/>
              <a:ext cx="797"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executed</a:t>
              </a:r>
            </a:p>
            <a:p>
              <a:pPr>
                <a:spcBef>
                  <a:spcPct val="0"/>
                </a:spcBef>
                <a:buClrTx/>
                <a:buSzTx/>
                <a:buFontTx/>
                <a:buNone/>
              </a:pPr>
              <a:r>
                <a:rPr lang="en-US" altLang="en-US" sz="2400" i="1"/>
                <a:t>10</a:t>
              </a:r>
              <a:r>
                <a:rPr lang="en-US" altLang="en-US" sz="2400"/>
                <a:t> times</a:t>
              </a:r>
            </a:p>
          </p:txBody>
        </p:sp>
        <p:sp>
          <p:nvSpPr>
            <p:cNvPr id="18447" name="AutoShape 22">
              <a:extLst>
                <a:ext uri="{FF2B5EF4-FFF2-40B4-BE49-F238E27FC236}">
                  <a16:creationId xmlns:a16="http://schemas.microsoft.com/office/drawing/2014/main" id="{FFEE95AA-3B59-4E19-9AFE-48117E46A63A}"/>
                </a:ext>
              </a:extLst>
            </p:cNvPr>
            <p:cNvSpPr>
              <a:spLocks/>
            </p:cNvSpPr>
            <p:nvPr/>
          </p:nvSpPr>
          <p:spPr bwMode="auto">
            <a:xfrm>
              <a:off x="1344" y="2438"/>
              <a:ext cx="192" cy="768"/>
            </a:xfrm>
            <a:prstGeom prst="leftBrace">
              <a:avLst>
                <a:gd name="adj1" fmla="val 33333"/>
                <a:gd name="adj2" fmla="val 50000"/>
              </a:avLst>
            </a:prstGeom>
            <a:noFill/>
            <a:ln w="12700">
              <a:solidFill>
                <a:schemeClr val="bg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91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6" grpId="0"/>
      <p:bldP spid="3891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91640B17-4028-4BC9-B191-B47C411F9BDA}"/>
              </a:ext>
            </a:extLst>
          </p:cNvPr>
          <p:cNvSpPr>
            <a:spLocks noGrp="1" noChangeArrowheads="1"/>
          </p:cNvSpPr>
          <p:nvPr>
            <p:ph type="title"/>
          </p:nvPr>
        </p:nvSpPr>
        <p:spPr>
          <a:xfrm>
            <a:off x="685800" y="285750"/>
            <a:ext cx="7772400" cy="476250"/>
          </a:xfrm>
          <a:noFill/>
        </p:spPr>
        <p:txBody>
          <a:bodyPr/>
          <a:lstStyle/>
          <a:p>
            <a:r>
              <a:rPr lang="en-US" altLang="en-US"/>
              <a:t>Selection</a:t>
            </a:r>
          </a:p>
        </p:txBody>
      </p:sp>
      <p:sp>
        <p:nvSpPr>
          <p:cNvPr id="19464" name="Rectangle 7">
            <a:extLst>
              <a:ext uri="{FF2B5EF4-FFF2-40B4-BE49-F238E27FC236}">
                <a16:creationId xmlns:a16="http://schemas.microsoft.com/office/drawing/2014/main" id="{910444D4-C5A9-4BC3-B09F-631B70669216}"/>
              </a:ext>
            </a:extLst>
          </p:cNvPr>
          <p:cNvSpPr>
            <a:spLocks noGrp="1" noChangeArrowheads="1"/>
          </p:cNvSpPr>
          <p:nvPr>
            <p:ph type="body" sz="half" idx="1"/>
          </p:nvPr>
        </p:nvSpPr>
        <p:spPr>
          <a:xfrm>
            <a:off x="1981200" y="1295400"/>
            <a:ext cx="5638800" cy="2819400"/>
          </a:xfrm>
          <a:solidFill>
            <a:schemeClr val="bg1"/>
          </a:solidFill>
        </p:spPr>
        <p:txBody>
          <a:bodyPr/>
          <a:lstStyle/>
          <a:p>
            <a:pPr marL="0" indent="0">
              <a:lnSpc>
                <a:spcPct val="90000"/>
              </a:lnSpc>
              <a:buFont typeface="Monotype Sorts"/>
              <a:buNone/>
            </a:pPr>
            <a:r>
              <a:rPr lang="en-US" altLang="en-US" sz="2200">
                <a:latin typeface="Courier New" panose="02070309020205020404" pitchFamily="49" charset="0"/>
              </a:rPr>
              <a:t>if (list.contains(e)) {</a:t>
            </a:r>
          </a:p>
          <a:p>
            <a:pPr marL="0" indent="0">
              <a:lnSpc>
                <a:spcPct val="90000"/>
              </a:lnSpc>
              <a:buFont typeface="Monotype Sorts"/>
              <a:buNone/>
            </a:pPr>
            <a:r>
              <a:rPr lang="en-US" altLang="en-US" sz="2200">
                <a:latin typeface="Courier New" panose="02070309020205020404" pitchFamily="49" charset="0"/>
              </a:rPr>
              <a:t>  System.out.println(e);</a:t>
            </a:r>
          </a:p>
          <a:p>
            <a:pPr marL="0" indent="0">
              <a:lnSpc>
                <a:spcPct val="90000"/>
              </a:lnSpc>
              <a:buFont typeface="Monotype Sorts"/>
              <a:buNone/>
            </a:pPr>
            <a:r>
              <a:rPr lang="en-US" altLang="en-US" sz="2200">
                <a:latin typeface="Courier New" panose="02070309020205020404" pitchFamily="49" charset="0"/>
              </a:rPr>
              <a:t>}</a:t>
            </a:r>
          </a:p>
          <a:p>
            <a:pPr marL="0" indent="0">
              <a:lnSpc>
                <a:spcPct val="90000"/>
              </a:lnSpc>
              <a:buFont typeface="Monotype Sorts"/>
              <a:buNone/>
            </a:pPr>
            <a:r>
              <a:rPr lang="en-US" altLang="en-US" sz="2200">
                <a:latin typeface="Courier New" panose="02070309020205020404" pitchFamily="49" charset="0"/>
              </a:rPr>
              <a:t>else</a:t>
            </a:r>
          </a:p>
          <a:p>
            <a:pPr marL="0" indent="0">
              <a:lnSpc>
                <a:spcPct val="90000"/>
              </a:lnSpc>
              <a:buFont typeface="Monotype Sorts"/>
              <a:buNone/>
            </a:pPr>
            <a:r>
              <a:rPr lang="en-US" altLang="en-US" sz="2200">
                <a:latin typeface="Courier New" panose="02070309020205020404" pitchFamily="49" charset="0"/>
              </a:rPr>
              <a:t>  for (Object t: list) {</a:t>
            </a:r>
          </a:p>
          <a:p>
            <a:pPr marL="0" indent="0">
              <a:lnSpc>
                <a:spcPct val="90000"/>
              </a:lnSpc>
              <a:buFont typeface="Monotype Sorts"/>
              <a:buNone/>
            </a:pPr>
            <a:r>
              <a:rPr lang="en-US" altLang="en-US" sz="2200">
                <a:latin typeface="Courier New" panose="02070309020205020404" pitchFamily="49" charset="0"/>
              </a:rPr>
              <a:t>    System.out.println(t);</a:t>
            </a:r>
          </a:p>
          <a:p>
            <a:pPr marL="0" indent="0">
              <a:lnSpc>
                <a:spcPct val="90000"/>
              </a:lnSpc>
              <a:buFont typeface="Monotype Sorts"/>
              <a:buNone/>
            </a:pPr>
            <a:r>
              <a:rPr lang="en-US" altLang="en-US" sz="2200">
                <a:latin typeface="Courier New" panose="02070309020205020404" pitchFamily="49" charset="0"/>
              </a:rPr>
              <a:t>  }</a:t>
            </a:r>
          </a:p>
        </p:txBody>
      </p:sp>
      <p:sp>
        <p:nvSpPr>
          <p:cNvPr id="19458" name="Slide Number Placeholder 5">
            <a:extLst>
              <a:ext uri="{FF2B5EF4-FFF2-40B4-BE49-F238E27FC236}">
                <a16:creationId xmlns:a16="http://schemas.microsoft.com/office/drawing/2014/main" id="{43393296-5130-42FD-BC6C-98DD469E9D8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78D29DC-FB25-4182-8E62-A1E2DCFDBDAF}" type="slidenum">
              <a:rPr lang="en-US" altLang="en-US" sz="1400"/>
              <a:pPr>
                <a:spcBef>
                  <a:spcPct val="0"/>
                </a:spcBef>
                <a:buClrTx/>
                <a:buSzTx/>
                <a:buFontTx/>
                <a:buNone/>
              </a:pPr>
              <a:t>16</a:t>
            </a:fld>
            <a:endParaRPr lang="en-US" altLang="en-US" sz="1400"/>
          </a:p>
        </p:txBody>
      </p:sp>
      <p:sp>
        <p:nvSpPr>
          <p:cNvPr id="390150" name="Text Box 6">
            <a:extLst>
              <a:ext uri="{FF2B5EF4-FFF2-40B4-BE49-F238E27FC236}">
                <a16:creationId xmlns:a16="http://schemas.microsoft.com/office/drawing/2014/main" id="{A63A7F2B-EA8E-457E-9D12-495A7EEA3C74}"/>
              </a:ext>
            </a:extLst>
          </p:cNvPr>
          <p:cNvSpPr txBox="1">
            <a:spLocks noChangeArrowheads="1"/>
          </p:cNvSpPr>
          <p:nvPr/>
        </p:nvSpPr>
        <p:spPr bwMode="auto">
          <a:xfrm>
            <a:off x="1219200" y="4876800"/>
            <a:ext cx="6781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T(n) = test time + worst-case (if, else)</a:t>
            </a:r>
          </a:p>
          <a:p>
            <a:pPr>
              <a:spcBef>
                <a:spcPct val="0"/>
              </a:spcBef>
              <a:buClrTx/>
              <a:buSzTx/>
              <a:buFontTx/>
              <a:buNone/>
            </a:pPr>
            <a:r>
              <a:rPr lang="en-US" altLang="en-US" sz="2400">
                <a:latin typeface="Arial" panose="020B0604020202020204" pitchFamily="34" charset="0"/>
              </a:rPr>
              <a:t>        = O(n) + O(n)</a:t>
            </a:r>
          </a:p>
          <a:p>
            <a:pPr>
              <a:spcBef>
                <a:spcPct val="0"/>
              </a:spcBef>
              <a:buClrTx/>
              <a:buSzTx/>
              <a:buFontTx/>
              <a:buNone/>
            </a:pPr>
            <a:r>
              <a:rPr lang="en-US" altLang="en-US" sz="2400">
                <a:latin typeface="Arial" panose="020B0604020202020204" pitchFamily="34" charset="0"/>
              </a:rPr>
              <a:t>        = O(n)</a:t>
            </a:r>
          </a:p>
        </p:txBody>
      </p:sp>
      <p:sp>
        <p:nvSpPr>
          <p:cNvPr id="390155" name="Text Box 11">
            <a:extLst>
              <a:ext uri="{FF2B5EF4-FFF2-40B4-BE49-F238E27FC236}">
                <a16:creationId xmlns:a16="http://schemas.microsoft.com/office/drawing/2014/main" id="{F320B5AF-8891-4F0C-98EB-3EA261223A97}"/>
              </a:ext>
            </a:extLst>
          </p:cNvPr>
          <p:cNvSpPr txBox="1">
            <a:spLocks noChangeArrowheads="1"/>
          </p:cNvSpPr>
          <p:nvPr/>
        </p:nvSpPr>
        <p:spPr bwMode="auto">
          <a:xfrm>
            <a:off x="228600" y="44196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latin typeface="Arial" panose="020B0604020202020204" pitchFamily="34" charset="0"/>
              </a:rPr>
              <a:t>Time Complexity</a:t>
            </a:r>
          </a:p>
        </p:txBody>
      </p:sp>
      <p:grpSp>
        <p:nvGrpSpPr>
          <p:cNvPr id="390156" name="Group 12">
            <a:extLst>
              <a:ext uri="{FF2B5EF4-FFF2-40B4-BE49-F238E27FC236}">
                <a16:creationId xmlns:a16="http://schemas.microsoft.com/office/drawing/2014/main" id="{BE61B315-2E9F-48E2-8F27-A744F8C7186F}"/>
              </a:ext>
              <a:ext uri="{C183D7F6-B498-43B3-948B-1728B52AA6E4}">
                <adec:decorative xmlns:adec="http://schemas.microsoft.com/office/drawing/2017/decorative" val="1"/>
              </a:ext>
            </a:extLst>
          </p:cNvPr>
          <p:cNvGrpSpPr>
            <a:grpSpLocks/>
          </p:cNvGrpSpPr>
          <p:nvPr/>
        </p:nvGrpSpPr>
        <p:grpSpPr bwMode="auto">
          <a:xfrm>
            <a:off x="6705600" y="2590800"/>
            <a:ext cx="1812925" cy="1552575"/>
            <a:chOff x="3504" y="2256"/>
            <a:chExt cx="1097" cy="978"/>
          </a:xfrm>
        </p:grpSpPr>
        <p:sp>
          <p:nvSpPr>
            <p:cNvPr id="19470" name="AutoShape 13">
              <a:extLst>
                <a:ext uri="{FF2B5EF4-FFF2-40B4-BE49-F238E27FC236}">
                  <a16:creationId xmlns:a16="http://schemas.microsoft.com/office/drawing/2014/main" id="{FE48BFEB-60C4-443B-8A6A-6175BC04BB0C}"/>
                </a:ext>
              </a:extLst>
            </p:cNvPr>
            <p:cNvSpPr>
              <a:spLocks/>
            </p:cNvSpPr>
            <p:nvPr/>
          </p:nvSpPr>
          <p:spPr bwMode="auto">
            <a:xfrm>
              <a:off x="3504" y="2352"/>
              <a:ext cx="192" cy="624"/>
            </a:xfrm>
            <a:prstGeom prst="rightBrace">
              <a:avLst>
                <a:gd name="adj1" fmla="val 2708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1" name="Text Box 14">
              <a:extLst>
                <a:ext uri="{FF2B5EF4-FFF2-40B4-BE49-F238E27FC236}">
                  <a16:creationId xmlns:a16="http://schemas.microsoft.com/office/drawing/2014/main" id="{0B9D4C41-50FE-42F6-87F4-7CAACA93A240}"/>
                </a:ext>
              </a:extLst>
            </p:cNvPr>
            <p:cNvSpPr txBox="1">
              <a:spLocks noChangeArrowheads="1"/>
            </p:cNvSpPr>
            <p:nvPr/>
          </p:nvSpPr>
          <p:spPr bwMode="auto">
            <a:xfrm>
              <a:off x="3763" y="2256"/>
              <a:ext cx="838"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Let n be </a:t>
              </a:r>
            </a:p>
            <a:p>
              <a:pPr>
                <a:spcBef>
                  <a:spcPct val="0"/>
                </a:spcBef>
                <a:buClrTx/>
                <a:buSzTx/>
                <a:buFontTx/>
                <a:buNone/>
              </a:pPr>
              <a:r>
                <a:rPr lang="en-US" altLang="en-US" sz="2400"/>
                <a:t>list.size().</a:t>
              </a:r>
            </a:p>
            <a:p>
              <a:pPr>
                <a:spcBef>
                  <a:spcPct val="0"/>
                </a:spcBef>
                <a:buClrTx/>
                <a:buSzTx/>
                <a:buFontTx/>
                <a:buNone/>
              </a:pPr>
              <a:r>
                <a:rPr lang="en-US" altLang="en-US" sz="2400"/>
                <a:t>Executed</a:t>
              </a:r>
            </a:p>
            <a:p>
              <a:pPr>
                <a:spcBef>
                  <a:spcPct val="0"/>
                </a:spcBef>
                <a:buClrTx/>
                <a:buSzTx/>
                <a:buFontTx/>
                <a:buNone/>
              </a:pPr>
              <a:r>
                <a:rPr lang="en-US" altLang="en-US" sz="2400"/>
                <a:t>n times.</a:t>
              </a:r>
            </a:p>
          </p:txBody>
        </p:sp>
      </p:grpSp>
      <p:grpSp>
        <p:nvGrpSpPr>
          <p:cNvPr id="19467" name="Group 22">
            <a:extLst>
              <a:ext uri="{FF2B5EF4-FFF2-40B4-BE49-F238E27FC236}">
                <a16:creationId xmlns:a16="http://schemas.microsoft.com/office/drawing/2014/main" id="{FBA4038D-37C7-442C-9139-431E31ED4CCA}"/>
              </a:ext>
              <a:ext uri="{C183D7F6-B498-43B3-948B-1728B52AA6E4}">
                <adec:decorative xmlns:adec="http://schemas.microsoft.com/office/drawing/2017/decorative" val="1"/>
              </a:ext>
            </a:extLst>
          </p:cNvPr>
          <p:cNvGrpSpPr>
            <a:grpSpLocks/>
          </p:cNvGrpSpPr>
          <p:nvPr/>
        </p:nvGrpSpPr>
        <p:grpSpPr bwMode="auto">
          <a:xfrm>
            <a:off x="304800" y="609600"/>
            <a:ext cx="3276600" cy="762000"/>
            <a:chOff x="192" y="384"/>
            <a:chExt cx="2064" cy="480"/>
          </a:xfrm>
        </p:grpSpPr>
        <p:sp>
          <p:nvSpPr>
            <p:cNvPr id="19468" name="Text Box 20">
              <a:extLst>
                <a:ext uri="{FF2B5EF4-FFF2-40B4-BE49-F238E27FC236}">
                  <a16:creationId xmlns:a16="http://schemas.microsoft.com/office/drawing/2014/main" id="{C1BAC140-094D-4046-A517-AD9B81059B4C}"/>
                </a:ext>
              </a:extLst>
            </p:cNvPr>
            <p:cNvSpPr txBox="1">
              <a:spLocks noChangeArrowheads="1"/>
            </p:cNvSpPr>
            <p:nvPr/>
          </p:nvSpPr>
          <p:spPr bwMode="auto">
            <a:xfrm>
              <a:off x="192" y="384"/>
              <a:ext cx="47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solidFill>
                    <a:srgbClr val="800000"/>
                  </a:solidFill>
                </a:rPr>
                <a:t>O(n)</a:t>
              </a:r>
            </a:p>
          </p:txBody>
        </p:sp>
        <p:sp>
          <p:nvSpPr>
            <p:cNvPr id="19469" name="Line 21">
              <a:extLst>
                <a:ext uri="{FF2B5EF4-FFF2-40B4-BE49-F238E27FC236}">
                  <a16:creationId xmlns:a16="http://schemas.microsoft.com/office/drawing/2014/main" id="{8B3A06FA-C14E-461A-9E61-96DAF6985BB1}"/>
                </a:ext>
              </a:extLst>
            </p:cNvPr>
            <p:cNvSpPr>
              <a:spLocks noChangeShapeType="1"/>
            </p:cNvSpPr>
            <p:nvPr/>
          </p:nvSpPr>
          <p:spPr bwMode="auto">
            <a:xfrm>
              <a:off x="1344" y="576"/>
              <a:ext cx="912" cy="288"/>
            </a:xfrm>
            <a:prstGeom prst="line">
              <a:avLst/>
            </a:prstGeom>
            <a:noFill/>
            <a:ln w="12700">
              <a:solidFill>
                <a:srgbClr val="800000"/>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1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1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0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50" grpId="0"/>
      <p:bldP spid="3901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677C1D7F-B938-47F5-87CA-32A598D5AFFB}"/>
              </a:ext>
            </a:extLst>
          </p:cNvPr>
          <p:cNvSpPr>
            <a:spLocks noGrp="1" noChangeArrowheads="1"/>
          </p:cNvSpPr>
          <p:nvPr>
            <p:ph type="title"/>
          </p:nvPr>
        </p:nvSpPr>
        <p:spPr>
          <a:xfrm>
            <a:off x="685800" y="228600"/>
            <a:ext cx="7772400" cy="685800"/>
          </a:xfrm>
          <a:noFill/>
        </p:spPr>
        <p:txBody>
          <a:bodyPr/>
          <a:lstStyle/>
          <a:p>
            <a:r>
              <a:rPr lang="en-US" altLang="en-US"/>
              <a:t>Constant Time</a:t>
            </a:r>
          </a:p>
        </p:txBody>
      </p:sp>
      <p:sp>
        <p:nvSpPr>
          <p:cNvPr id="20484" name="Rectangle 3">
            <a:extLst>
              <a:ext uri="{FF2B5EF4-FFF2-40B4-BE49-F238E27FC236}">
                <a16:creationId xmlns:a16="http://schemas.microsoft.com/office/drawing/2014/main" id="{ED9D8496-04E9-41A2-9D68-D68C4F0CC6A0}"/>
              </a:ext>
            </a:extLst>
          </p:cNvPr>
          <p:cNvSpPr>
            <a:spLocks noGrp="1" noChangeArrowheads="1"/>
          </p:cNvSpPr>
          <p:nvPr>
            <p:ph idx="1"/>
          </p:nvPr>
        </p:nvSpPr>
        <p:spPr>
          <a:xfrm>
            <a:off x="228600" y="1066800"/>
            <a:ext cx="8763000" cy="5105400"/>
          </a:xfrm>
          <a:noFill/>
        </p:spPr>
        <p:txBody>
          <a:bodyPr/>
          <a:lstStyle/>
          <a:p>
            <a:pPr>
              <a:spcBef>
                <a:spcPct val="0"/>
              </a:spcBef>
              <a:spcAft>
                <a:spcPts val="600"/>
              </a:spcAft>
              <a:buFont typeface="Wingdings" panose="05000000000000000000" pitchFamily="2" charset="2"/>
              <a:buChar char="§"/>
            </a:pPr>
            <a:r>
              <a:rPr lang="en-US" altLang="en-US" sz="2400" dirty="0"/>
              <a:t>The Big </a:t>
            </a:r>
            <a:r>
              <a:rPr lang="en-US" altLang="en-US" sz="2400" i="1" dirty="0"/>
              <a:t>O</a:t>
            </a:r>
            <a:r>
              <a:rPr lang="en-US" altLang="en-US" sz="2400" dirty="0"/>
              <a:t> notation estimates the execution time of an algorithm in relation to the input size. </a:t>
            </a:r>
          </a:p>
          <a:p>
            <a:pPr>
              <a:spcBef>
                <a:spcPct val="0"/>
              </a:spcBef>
              <a:spcAft>
                <a:spcPts val="600"/>
              </a:spcAft>
              <a:buFont typeface="Wingdings" panose="05000000000000000000" pitchFamily="2" charset="2"/>
              <a:buChar char="§"/>
            </a:pPr>
            <a:r>
              <a:rPr lang="en-US" altLang="en-US" sz="2400" dirty="0"/>
              <a:t>If the time is not related to the input size, the algorithm is said to take </a:t>
            </a:r>
            <a:r>
              <a:rPr lang="en-US" altLang="en-US" sz="2400" i="1" dirty="0"/>
              <a:t>constant time</a:t>
            </a:r>
            <a:r>
              <a:rPr lang="en-US" altLang="en-US" sz="2400" dirty="0"/>
              <a:t> with the notation </a:t>
            </a:r>
            <a:r>
              <a:rPr lang="en-US" altLang="en-US" sz="2400" i="1" dirty="0"/>
              <a:t>O(1)</a:t>
            </a:r>
            <a:r>
              <a:rPr lang="en-US" altLang="en-US" sz="2400" dirty="0"/>
              <a:t>.  </a:t>
            </a:r>
          </a:p>
          <a:p>
            <a:pPr>
              <a:spcBef>
                <a:spcPct val="0"/>
              </a:spcBef>
              <a:spcAft>
                <a:spcPts val="600"/>
              </a:spcAft>
              <a:buFont typeface="Wingdings" panose="05000000000000000000" pitchFamily="2" charset="2"/>
              <a:buChar char="§"/>
            </a:pPr>
            <a:r>
              <a:rPr lang="en-US" altLang="en-US" sz="2400" dirty="0"/>
              <a:t>For example, a method that retrieves an element at a given index in an array takes constant time, because it does not grow as the size of the array increases.</a:t>
            </a:r>
          </a:p>
        </p:txBody>
      </p:sp>
      <p:sp>
        <p:nvSpPr>
          <p:cNvPr id="20482" name="Slide Number Placeholder 4">
            <a:extLst>
              <a:ext uri="{FF2B5EF4-FFF2-40B4-BE49-F238E27FC236}">
                <a16:creationId xmlns:a16="http://schemas.microsoft.com/office/drawing/2014/main" id="{560FCF73-6396-4CCD-9AE4-8FE84CE5C67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8DDDA1D-D415-4C6F-917C-8C7DED3933A7}" type="slidenum">
              <a:rPr lang="en-US" altLang="en-US" sz="1400"/>
              <a:pPr>
                <a:spcBef>
                  <a:spcPct val="0"/>
                </a:spcBef>
                <a:buClrTx/>
                <a:buSzTx/>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a:extLst>
              <a:ext uri="{FF2B5EF4-FFF2-40B4-BE49-F238E27FC236}">
                <a16:creationId xmlns:a16="http://schemas.microsoft.com/office/drawing/2014/main" id="{193B2572-AD20-4E48-95D8-A28B93AF7DDA}"/>
              </a:ext>
            </a:extLst>
          </p:cNvPr>
          <p:cNvSpPr>
            <a:spLocks noGrp="1" noChangeArrowheads="1"/>
          </p:cNvSpPr>
          <p:nvPr>
            <p:ph type="title"/>
          </p:nvPr>
        </p:nvSpPr>
        <p:spPr>
          <a:xfrm>
            <a:off x="228600" y="228600"/>
            <a:ext cx="8299450" cy="396875"/>
          </a:xfrm>
          <a:noFill/>
        </p:spPr>
        <p:txBody>
          <a:bodyPr/>
          <a:lstStyle/>
          <a:p>
            <a:r>
              <a:rPr lang="en-US" altLang="en-US" sz="3200"/>
              <a:t>Linear Search Animation</a:t>
            </a:r>
            <a:endParaRPr lang="en-US" altLang="en-US" sz="3200">
              <a:solidFill>
                <a:schemeClr val="tx1"/>
              </a:solidFill>
              <a:latin typeface="Book Antiqua" panose="02040602050305030304" pitchFamily="18" charset="0"/>
              <a:hlinkClick r:id="rId2" action="ppaction://program"/>
            </a:endParaRPr>
          </a:p>
        </p:txBody>
      </p:sp>
      <p:sp>
        <p:nvSpPr>
          <p:cNvPr id="21506" name="Slide Number Placeholder 4">
            <a:extLst>
              <a:ext uri="{FF2B5EF4-FFF2-40B4-BE49-F238E27FC236}">
                <a16:creationId xmlns:a16="http://schemas.microsoft.com/office/drawing/2014/main" id="{8DF82C1D-05BD-47F9-BF85-8B79E302F5D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023DA23-2BD9-4A69-8B4B-BDA053EF029D}" type="slidenum">
              <a:rPr lang="en-US" altLang="en-US" sz="1400"/>
              <a:pPr>
                <a:spcBef>
                  <a:spcPct val="0"/>
                </a:spcBef>
                <a:buClrTx/>
                <a:buSzTx/>
                <a:buFontTx/>
                <a:buNone/>
              </a:pPr>
              <a:t>18</a:t>
            </a:fld>
            <a:endParaRPr lang="en-US" altLang="en-US" sz="1400"/>
          </a:p>
        </p:txBody>
      </p:sp>
      <p:sp>
        <p:nvSpPr>
          <p:cNvPr id="21511" name="Rectangle 7">
            <a:extLst>
              <a:ext uri="{FF2B5EF4-FFF2-40B4-BE49-F238E27FC236}">
                <a16:creationId xmlns:a16="http://schemas.microsoft.com/office/drawing/2014/main" id="{6CBD7E7B-4E2B-497B-9F96-77C503BDC295}"/>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solidFill>
                  <a:srgbClr val="800000"/>
                </a:solidFill>
                <a:latin typeface="Forte" panose="03060902040502070203" pitchFamily="66" charset="0"/>
              </a:rPr>
              <a:t>animation</a:t>
            </a:r>
          </a:p>
        </p:txBody>
      </p:sp>
      <p:pic>
        <p:nvPicPr>
          <p:cNvPr id="21512" name="Picture 8">
            <a:extLst>
              <a:ext uri="{FF2B5EF4-FFF2-40B4-BE49-F238E27FC236}">
                <a16:creationId xmlns:a16="http://schemas.microsoft.com/office/drawing/2014/main" id="{082A44D5-F4AD-4CF0-8B60-64D637B999B0}"/>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281238"/>
            <a:ext cx="444817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14" name="Rectangle 3">
            <a:extLst>
              <a:ext uri="{FF2B5EF4-FFF2-40B4-BE49-F238E27FC236}">
                <a16:creationId xmlns:a16="http://schemas.microsoft.com/office/drawing/2014/main" id="{2F5D055B-4294-4FC4-B686-7DA7505B052D}"/>
              </a:ext>
            </a:extLst>
          </p:cNvPr>
          <p:cNvSpPr txBox="1">
            <a:spLocks noChangeArrowheads="1"/>
          </p:cNvSpPr>
          <p:nvPr/>
        </p:nvSpPr>
        <p:spPr bwMode="auto">
          <a:xfrm>
            <a:off x="307181" y="1010670"/>
            <a:ext cx="852963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dirty="0"/>
              <a:t>https://liveexample.pearsoncmg.com/dsanimation/LinearSearcheBook.html</a:t>
            </a:r>
          </a:p>
        </p:txBody>
      </p:sp>
      <p:sp>
        <p:nvSpPr>
          <p:cNvPr id="21515" name="AutoShape 15">
            <a:hlinkClick r:id="rId4" highlightClick="1"/>
            <a:extLst>
              <a:ext uri="{FF2B5EF4-FFF2-40B4-BE49-F238E27FC236}">
                <a16:creationId xmlns:a16="http://schemas.microsoft.com/office/drawing/2014/main" id="{D49E3DF0-C4BE-4A67-A79C-6705164C24BC}"/>
              </a:ext>
              <a:ext uri="{C183D7F6-B498-43B3-948B-1728B52AA6E4}">
                <adec:decorative xmlns:adec="http://schemas.microsoft.com/office/drawing/2017/decorative" val="1"/>
              </a:ext>
            </a:extLst>
          </p:cNvPr>
          <p:cNvSpPr>
            <a:spLocks noChangeArrowheads="1"/>
          </p:cNvSpPr>
          <p:nvPr/>
        </p:nvSpPr>
        <p:spPr bwMode="auto">
          <a:xfrm>
            <a:off x="1534206" y="-10318"/>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a:extLst>
              <a:ext uri="{FF2B5EF4-FFF2-40B4-BE49-F238E27FC236}">
                <a16:creationId xmlns:a16="http://schemas.microsoft.com/office/drawing/2014/main" id="{55882435-8A71-48BD-BFDA-BFD9227198BD}"/>
              </a:ext>
            </a:extLst>
          </p:cNvPr>
          <p:cNvSpPr>
            <a:spLocks noGrp="1" noChangeArrowheads="1"/>
          </p:cNvSpPr>
          <p:nvPr>
            <p:ph type="title"/>
          </p:nvPr>
        </p:nvSpPr>
        <p:spPr>
          <a:xfrm>
            <a:off x="228600" y="228600"/>
            <a:ext cx="8299450" cy="396875"/>
          </a:xfrm>
          <a:noFill/>
        </p:spPr>
        <p:txBody>
          <a:bodyPr/>
          <a:lstStyle/>
          <a:p>
            <a:r>
              <a:rPr lang="en-US" altLang="en-US" sz="3200"/>
              <a:t>Binary Search Animation</a:t>
            </a:r>
            <a:endParaRPr lang="en-US" altLang="en-US" sz="3200">
              <a:solidFill>
                <a:schemeClr val="tx1"/>
              </a:solidFill>
              <a:latin typeface="Book Antiqua" panose="02040602050305030304" pitchFamily="18" charset="0"/>
              <a:hlinkClick r:id="rId2" action="ppaction://program"/>
            </a:endParaRPr>
          </a:p>
        </p:txBody>
      </p:sp>
      <p:sp>
        <p:nvSpPr>
          <p:cNvPr id="22530" name="Slide Number Placeholder 4">
            <a:extLst>
              <a:ext uri="{FF2B5EF4-FFF2-40B4-BE49-F238E27FC236}">
                <a16:creationId xmlns:a16="http://schemas.microsoft.com/office/drawing/2014/main" id="{7B2199C5-E71D-42ED-8F32-D5755F5F4A6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B569731-7BBF-4B6C-AE59-17F865EADCB5}" type="slidenum">
              <a:rPr lang="en-US" altLang="en-US" sz="1400"/>
              <a:pPr>
                <a:spcBef>
                  <a:spcPct val="0"/>
                </a:spcBef>
                <a:buClrTx/>
                <a:buSzTx/>
                <a:buFontTx/>
                <a:buNone/>
              </a:pPr>
              <a:t>19</a:t>
            </a:fld>
            <a:endParaRPr lang="en-US" altLang="en-US" sz="1400"/>
          </a:p>
        </p:txBody>
      </p:sp>
      <p:sp>
        <p:nvSpPr>
          <p:cNvPr id="22535" name="Rectangle 7">
            <a:extLst>
              <a:ext uri="{FF2B5EF4-FFF2-40B4-BE49-F238E27FC236}">
                <a16:creationId xmlns:a16="http://schemas.microsoft.com/office/drawing/2014/main" id="{0303D262-62DD-4C8F-A15E-F28E9FD8E59E}"/>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solidFill>
                  <a:srgbClr val="800000"/>
                </a:solidFill>
                <a:latin typeface="Forte" panose="03060902040502070203" pitchFamily="66" charset="0"/>
              </a:rPr>
              <a:t>animation</a:t>
            </a:r>
          </a:p>
        </p:txBody>
      </p:sp>
      <p:pic>
        <p:nvPicPr>
          <p:cNvPr id="22536" name="Picture 8">
            <a:extLst>
              <a:ext uri="{FF2B5EF4-FFF2-40B4-BE49-F238E27FC236}">
                <a16:creationId xmlns:a16="http://schemas.microsoft.com/office/drawing/2014/main" id="{4F7370BA-45AC-4F32-8452-B354BC0F3E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2000250"/>
            <a:ext cx="47625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8" name="Rectangle 3">
            <a:extLst>
              <a:ext uri="{FF2B5EF4-FFF2-40B4-BE49-F238E27FC236}">
                <a16:creationId xmlns:a16="http://schemas.microsoft.com/office/drawing/2014/main" id="{78437977-F4F7-4F48-ADB5-604209677A78}"/>
              </a:ext>
            </a:extLst>
          </p:cNvPr>
          <p:cNvSpPr txBox="1">
            <a:spLocks noChangeArrowheads="1"/>
          </p:cNvSpPr>
          <p:nvPr/>
        </p:nvSpPr>
        <p:spPr bwMode="auto">
          <a:xfrm>
            <a:off x="231775" y="931863"/>
            <a:ext cx="852963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t>https://liveexample.pearsoncmg.com/dsanimation/BinarySearcheBook.html</a:t>
            </a:r>
          </a:p>
        </p:txBody>
      </p:sp>
      <p:sp>
        <p:nvSpPr>
          <p:cNvPr id="22539" name="AutoShape 15">
            <a:hlinkClick r:id="rId4" highlightClick="1"/>
            <a:extLst>
              <a:ext uri="{FF2B5EF4-FFF2-40B4-BE49-F238E27FC236}">
                <a16:creationId xmlns:a16="http://schemas.microsoft.com/office/drawing/2014/main" id="{6677D9A5-ABF3-40C9-AC3A-F5BCFF4EA300}"/>
              </a:ext>
              <a:ext uri="{C183D7F6-B498-43B3-948B-1728B52AA6E4}">
                <adec:decorative xmlns:adec="http://schemas.microsoft.com/office/drawing/2017/decorative" val="1"/>
              </a:ext>
            </a:extLst>
          </p:cNvPr>
          <p:cNvSpPr>
            <a:spLocks noChangeArrowheads="1"/>
          </p:cNvSpPr>
          <p:nvPr/>
        </p:nvSpPr>
        <p:spPr bwMode="auto">
          <a:xfrm>
            <a:off x="1518443" y="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0572FA78-C358-4320-B0E7-2EA7F450B1C5}"/>
              </a:ext>
            </a:extLst>
          </p:cNvPr>
          <p:cNvSpPr>
            <a:spLocks noGrp="1" noChangeArrowheads="1"/>
          </p:cNvSpPr>
          <p:nvPr>
            <p:ph type="title"/>
          </p:nvPr>
        </p:nvSpPr>
        <p:spPr>
          <a:xfrm>
            <a:off x="228600" y="228600"/>
            <a:ext cx="8763000" cy="685800"/>
          </a:xfrm>
          <a:noFill/>
        </p:spPr>
        <p:txBody>
          <a:bodyPr/>
          <a:lstStyle/>
          <a:p>
            <a:r>
              <a:rPr lang="en-US" altLang="en-US" sz="4000"/>
              <a:t>Logarithm: Analyzing Binary Search</a:t>
            </a:r>
          </a:p>
        </p:txBody>
      </p:sp>
      <p:sp>
        <p:nvSpPr>
          <p:cNvPr id="23556" name="Rectangle 3">
            <a:extLst>
              <a:ext uri="{FF2B5EF4-FFF2-40B4-BE49-F238E27FC236}">
                <a16:creationId xmlns:a16="http://schemas.microsoft.com/office/drawing/2014/main" id="{AF16E2D5-2570-49FF-8DBB-61D89B442995}"/>
              </a:ext>
            </a:extLst>
          </p:cNvPr>
          <p:cNvSpPr>
            <a:spLocks noGrp="1" noChangeArrowheads="1"/>
          </p:cNvSpPr>
          <p:nvPr>
            <p:ph idx="1"/>
          </p:nvPr>
        </p:nvSpPr>
        <p:spPr>
          <a:xfrm>
            <a:off x="228600" y="1363662"/>
            <a:ext cx="8763000" cy="4808537"/>
          </a:xfrm>
          <a:noFill/>
        </p:spPr>
        <p:txBody>
          <a:bodyPr/>
          <a:lstStyle/>
          <a:p>
            <a:pPr>
              <a:lnSpc>
                <a:spcPct val="135000"/>
              </a:lnSpc>
              <a:spcBef>
                <a:spcPct val="0"/>
              </a:spcBef>
              <a:buFont typeface="Wingdings" panose="05000000000000000000" pitchFamily="2" charset="2"/>
              <a:buChar char="§"/>
            </a:pPr>
            <a:r>
              <a:rPr lang="en-US" altLang="en-US" sz="2200" dirty="0"/>
              <a:t>The binary search algorithm presented in Listing 7.7,</a:t>
            </a:r>
          </a:p>
          <a:p>
            <a:pPr>
              <a:lnSpc>
                <a:spcPct val="135000"/>
              </a:lnSpc>
              <a:spcBef>
                <a:spcPct val="0"/>
              </a:spcBef>
              <a:buFont typeface="Wingdings" panose="05000000000000000000" pitchFamily="2" charset="2"/>
              <a:buChar char="§"/>
            </a:pPr>
            <a:r>
              <a:rPr lang="en-US" altLang="en-US" sz="2200" dirty="0"/>
              <a:t>BinarySearch.java, searches a key in a sorted array. </a:t>
            </a:r>
          </a:p>
          <a:p>
            <a:pPr>
              <a:lnSpc>
                <a:spcPct val="135000"/>
              </a:lnSpc>
              <a:spcBef>
                <a:spcPct val="0"/>
              </a:spcBef>
              <a:buFont typeface="Wingdings" panose="05000000000000000000" pitchFamily="2" charset="2"/>
              <a:buChar char="§"/>
            </a:pPr>
            <a:r>
              <a:rPr lang="en-US" altLang="en-US" sz="2200" dirty="0"/>
              <a:t>Each iteration in the algorithm contains a fixed number of operations, denoted by </a:t>
            </a:r>
            <a:r>
              <a:rPr lang="en-US" altLang="en-US" sz="2200" i="1" dirty="0"/>
              <a:t>c</a:t>
            </a:r>
            <a:r>
              <a:rPr lang="en-US" altLang="en-US" sz="2200" dirty="0"/>
              <a:t>. </a:t>
            </a:r>
          </a:p>
          <a:p>
            <a:pPr>
              <a:lnSpc>
                <a:spcPct val="135000"/>
              </a:lnSpc>
              <a:spcBef>
                <a:spcPct val="0"/>
              </a:spcBef>
              <a:buFont typeface="Wingdings" panose="05000000000000000000" pitchFamily="2" charset="2"/>
              <a:buChar char="§"/>
            </a:pPr>
            <a:r>
              <a:rPr lang="en-US" altLang="en-US" sz="2200" dirty="0"/>
              <a:t>Let </a:t>
            </a:r>
            <a:r>
              <a:rPr lang="en-US" altLang="en-US" sz="2200" i="1" dirty="0"/>
              <a:t>T(n)</a:t>
            </a:r>
            <a:r>
              <a:rPr lang="en-US" altLang="en-US" sz="2200" dirty="0"/>
              <a:t> denote the time complexity for a binary search on a list of  </a:t>
            </a:r>
            <a:r>
              <a:rPr lang="en-US" altLang="en-US" sz="2200" i="1" dirty="0"/>
              <a:t>n</a:t>
            </a:r>
            <a:r>
              <a:rPr lang="en-US" altLang="en-US" sz="2200" dirty="0"/>
              <a:t> elements. </a:t>
            </a:r>
          </a:p>
          <a:p>
            <a:pPr>
              <a:lnSpc>
                <a:spcPct val="135000"/>
              </a:lnSpc>
              <a:spcBef>
                <a:spcPct val="0"/>
              </a:spcBef>
              <a:buFont typeface="Wingdings" panose="05000000000000000000" pitchFamily="2" charset="2"/>
              <a:buChar char="§"/>
            </a:pPr>
            <a:r>
              <a:rPr lang="en-US" altLang="en-US" sz="2200" dirty="0"/>
              <a:t>Without loss of generality, assume </a:t>
            </a:r>
            <a:r>
              <a:rPr lang="en-US" altLang="en-US" sz="2200" i="1" dirty="0"/>
              <a:t>n</a:t>
            </a:r>
            <a:r>
              <a:rPr lang="en-US" altLang="en-US" sz="2200" dirty="0"/>
              <a:t> is a power of 2 and </a:t>
            </a:r>
            <a:r>
              <a:rPr lang="en-US" altLang="en-US" sz="2200" i="1" dirty="0"/>
              <a:t>k=</a:t>
            </a:r>
            <a:r>
              <a:rPr lang="en-US" altLang="en-US" sz="2200" i="1" dirty="0" err="1"/>
              <a:t>logn</a:t>
            </a:r>
            <a:r>
              <a:rPr lang="en-US" altLang="en-US" sz="2200" dirty="0"/>
              <a:t>. </a:t>
            </a:r>
          </a:p>
          <a:p>
            <a:pPr>
              <a:lnSpc>
                <a:spcPct val="135000"/>
              </a:lnSpc>
              <a:spcBef>
                <a:spcPct val="0"/>
              </a:spcBef>
              <a:buFont typeface="Wingdings" panose="05000000000000000000" pitchFamily="2" charset="2"/>
              <a:buChar char="§"/>
            </a:pPr>
            <a:r>
              <a:rPr lang="en-US" altLang="en-US" sz="2200" dirty="0"/>
              <a:t>Since binary search eliminates half of the input after two comparisons,</a:t>
            </a:r>
          </a:p>
        </p:txBody>
      </p:sp>
      <p:sp>
        <p:nvSpPr>
          <p:cNvPr id="23554" name="Slide Number Placeholder 4">
            <a:extLst>
              <a:ext uri="{FF2B5EF4-FFF2-40B4-BE49-F238E27FC236}">
                <a16:creationId xmlns:a16="http://schemas.microsoft.com/office/drawing/2014/main" id="{D4A19FDF-4E98-45E5-A708-DC7597FFCD1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338C348-7C09-4DCD-A251-6E88D9FE25AF}" type="slidenum">
              <a:rPr lang="en-US" altLang="en-US" sz="1400"/>
              <a:pPr>
                <a:spcBef>
                  <a:spcPct val="0"/>
                </a:spcBef>
                <a:buClrTx/>
                <a:buSzTx/>
                <a:buFontTx/>
                <a:buNone/>
              </a:pPr>
              <a:t>20</a:t>
            </a:fld>
            <a:endParaRPr lang="en-US" altLang="en-US" sz="1400"/>
          </a:p>
        </p:txBody>
      </p:sp>
      <p:graphicFrame>
        <p:nvGraphicFramePr>
          <p:cNvPr id="23560" name="Object 7">
            <a:extLst>
              <a:ext uri="{FF2B5EF4-FFF2-40B4-BE49-F238E27FC236}">
                <a16:creationId xmlns:a16="http://schemas.microsoft.com/office/drawing/2014/main" id="{0DC9F41A-C0A2-4273-B932-8BB46D78FDD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06105276"/>
              </p:ext>
            </p:extLst>
          </p:nvPr>
        </p:nvGraphicFramePr>
        <p:xfrm>
          <a:off x="1371600" y="5207000"/>
          <a:ext cx="6172200" cy="541338"/>
        </p:xfrm>
        <a:graphic>
          <a:graphicData uri="http://schemas.openxmlformats.org/presentationml/2006/ole">
            <mc:AlternateContent xmlns:mc="http://schemas.openxmlformats.org/markup-compatibility/2006">
              <mc:Choice xmlns:v="urn:schemas-microsoft-com:vml" Requires="v">
                <p:oleObj name="Equation" r:id="rId2" imgW="4533900" imgH="393700" progId="Equation.3">
                  <p:embed/>
                </p:oleObj>
              </mc:Choice>
              <mc:Fallback>
                <p:oleObj name="Equation" r:id="rId2" imgW="4533900" imgH="393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207000"/>
                        <a:ext cx="61722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1" name="Object 8">
            <a:extLst>
              <a:ext uri="{FF2B5EF4-FFF2-40B4-BE49-F238E27FC236}">
                <a16:creationId xmlns:a16="http://schemas.microsoft.com/office/drawing/2014/main" id="{6B7E687B-2A08-4CEF-AFCA-ABC07B383B1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96834736"/>
              </p:ext>
            </p:extLst>
          </p:nvPr>
        </p:nvGraphicFramePr>
        <p:xfrm>
          <a:off x="1752600" y="5969000"/>
          <a:ext cx="915988" cy="279400"/>
        </p:xfrm>
        <a:graphic>
          <a:graphicData uri="http://schemas.openxmlformats.org/presentationml/2006/ole">
            <mc:AlternateContent xmlns:mc="http://schemas.openxmlformats.org/markup-compatibility/2006">
              <mc:Choice xmlns:v="urn:schemas-microsoft-com:vml" Requires="v">
                <p:oleObj name="Equation" r:id="rId4" imgW="672808" imgH="203112" progId="Equation.3">
                  <p:embed/>
                </p:oleObj>
              </mc:Choice>
              <mc:Fallback>
                <p:oleObj name="Equation" r:id="rId4" imgW="672808" imgH="203112"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5969000"/>
                        <a:ext cx="915988" cy="279400"/>
                      </a:xfrm>
                      <a:prstGeom prst="rect">
                        <a:avLst/>
                      </a:prstGeom>
                      <a:solidFill>
                        <a:schemeClr val="accent4">
                          <a:lumMod val="60000"/>
                          <a:lumOff val="40000"/>
                        </a:schemeClr>
                      </a:solidFill>
                      <a:ln>
                        <a:noFill/>
                      </a:ln>
                    </p:spPr>
                  </p:pic>
                </p:oleObj>
              </mc:Fallback>
            </mc:AlternateContent>
          </a:graphicData>
        </a:graphic>
      </p:graphicFrame>
      <p:graphicFrame>
        <p:nvGraphicFramePr>
          <p:cNvPr id="23563" name="Object 12">
            <a:extLst>
              <a:ext uri="{FF2B5EF4-FFF2-40B4-BE49-F238E27FC236}">
                <a16:creationId xmlns:a16="http://schemas.microsoft.com/office/drawing/2014/main" id="{00919D6C-BB32-4EAB-9A58-7902201EE5D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34035423"/>
              </p:ext>
            </p:extLst>
          </p:nvPr>
        </p:nvGraphicFramePr>
        <p:xfrm>
          <a:off x="457200" y="1118280"/>
          <a:ext cx="914400" cy="288925"/>
        </p:xfrm>
        <a:graphic>
          <a:graphicData uri="http://schemas.openxmlformats.org/presentationml/2006/ole">
            <mc:AlternateContent xmlns:mc="http://schemas.openxmlformats.org/markup-compatibility/2006">
              <mc:Choice xmlns:v="urn:schemas-microsoft-com:vml" Requires="v">
                <p:oleObj name="Equation" r:id="rId6" imgW="809393" imgH="392433" progId="Equation.3">
                  <p:embed/>
                </p:oleObj>
              </mc:Choice>
              <mc:Fallback>
                <p:oleObj name="Equation" r:id="rId6" imgW="809393" imgH="392433"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1118280"/>
                        <a:ext cx="9144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C759FDA1-9F34-45D6-A7CA-F22DEB5DA6D4}"/>
              </a:ext>
            </a:extLst>
          </p:cNvPr>
          <p:cNvSpPr>
            <a:spLocks noGrp="1" noChangeArrowheads="1"/>
          </p:cNvSpPr>
          <p:nvPr>
            <p:ph type="title"/>
          </p:nvPr>
        </p:nvSpPr>
        <p:spPr>
          <a:xfrm>
            <a:off x="685800" y="228600"/>
            <a:ext cx="7772400" cy="685800"/>
          </a:xfrm>
          <a:noFill/>
        </p:spPr>
        <p:txBody>
          <a:bodyPr/>
          <a:lstStyle/>
          <a:p>
            <a:r>
              <a:rPr lang="en-US" altLang="en-US"/>
              <a:t>Logarithmic Time</a:t>
            </a:r>
          </a:p>
        </p:txBody>
      </p:sp>
      <p:sp>
        <p:nvSpPr>
          <p:cNvPr id="24580" name="Rectangle 3">
            <a:extLst>
              <a:ext uri="{FF2B5EF4-FFF2-40B4-BE49-F238E27FC236}">
                <a16:creationId xmlns:a16="http://schemas.microsoft.com/office/drawing/2014/main" id="{29D01000-E118-4CAA-B770-A856774D1A31}"/>
              </a:ext>
            </a:extLst>
          </p:cNvPr>
          <p:cNvSpPr>
            <a:spLocks noGrp="1" noChangeArrowheads="1"/>
          </p:cNvSpPr>
          <p:nvPr>
            <p:ph idx="1"/>
          </p:nvPr>
        </p:nvSpPr>
        <p:spPr>
          <a:xfrm>
            <a:off x="228600" y="1066800"/>
            <a:ext cx="8763000" cy="5105400"/>
          </a:xfrm>
          <a:noFill/>
        </p:spPr>
        <p:txBody>
          <a:bodyPr/>
          <a:lstStyle/>
          <a:p>
            <a:pPr>
              <a:lnSpc>
                <a:spcPct val="135000"/>
              </a:lnSpc>
              <a:spcBef>
                <a:spcPct val="0"/>
              </a:spcBef>
              <a:buFont typeface="Wingdings" panose="05000000000000000000" pitchFamily="2" charset="2"/>
              <a:buChar char="§"/>
            </a:pPr>
            <a:r>
              <a:rPr lang="en-US" altLang="en-US" sz="2400" dirty="0"/>
              <a:t>Ignoring constants and smaller terms, the complexity of the binary search algorithm is </a:t>
            </a:r>
            <a:r>
              <a:rPr lang="en-US" altLang="en-US" sz="2400" i="1" dirty="0">
                <a:highlight>
                  <a:srgbClr val="FFFF00"/>
                </a:highlight>
              </a:rPr>
              <a:t>O(</a:t>
            </a:r>
            <a:r>
              <a:rPr lang="en-US" altLang="en-US" sz="2400" i="1" dirty="0" err="1">
                <a:highlight>
                  <a:srgbClr val="FFFF00"/>
                </a:highlight>
              </a:rPr>
              <a:t>logn</a:t>
            </a:r>
            <a:r>
              <a:rPr lang="en-US" altLang="en-US" sz="2400" i="1" dirty="0">
                <a:highlight>
                  <a:srgbClr val="FFFF00"/>
                </a:highlight>
              </a:rPr>
              <a:t>)</a:t>
            </a:r>
            <a:r>
              <a:rPr lang="en-US" altLang="en-US" sz="2400" dirty="0"/>
              <a:t>. </a:t>
            </a:r>
          </a:p>
          <a:p>
            <a:pPr>
              <a:lnSpc>
                <a:spcPct val="135000"/>
              </a:lnSpc>
              <a:spcBef>
                <a:spcPct val="0"/>
              </a:spcBef>
              <a:buFont typeface="Wingdings" panose="05000000000000000000" pitchFamily="2" charset="2"/>
              <a:buChar char="§"/>
            </a:pPr>
            <a:r>
              <a:rPr lang="en-US" altLang="en-US" sz="2400" dirty="0"/>
              <a:t>An algorithm with the </a:t>
            </a:r>
            <a:r>
              <a:rPr lang="en-US" altLang="en-US" sz="2400" i="1" dirty="0"/>
              <a:t> O(</a:t>
            </a:r>
            <a:r>
              <a:rPr lang="en-US" altLang="en-US" sz="2400" i="1" dirty="0" err="1"/>
              <a:t>logn</a:t>
            </a:r>
            <a:r>
              <a:rPr lang="en-US" altLang="en-US" sz="2400" i="1" dirty="0"/>
              <a:t>)</a:t>
            </a:r>
            <a:r>
              <a:rPr lang="en-US" altLang="en-US" sz="2400" dirty="0"/>
              <a:t> time complexity is called a </a:t>
            </a:r>
            <a:r>
              <a:rPr lang="en-US" altLang="en-US" sz="2400" i="1" dirty="0">
                <a:highlight>
                  <a:srgbClr val="FFFF00"/>
                </a:highlight>
              </a:rPr>
              <a:t>logarithmic algorithm</a:t>
            </a:r>
            <a:r>
              <a:rPr lang="en-US" altLang="en-US" sz="2400" dirty="0">
                <a:highlight>
                  <a:srgbClr val="FFFF00"/>
                </a:highlight>
              </a:rPr>
              <a:t>. </a:t>
            </a:r>
          </a:p>
          <a:p>
            <a:pPr>
              <a:lnSpc>
                <a:spcPct val="135000"/>
              </a:lnSpc>
              <a:spcBef>
                <a:spcPct val="0"/>
              </a:spcBef>
              <a:buFont typeface="Wingdings" panose="05000000000000000000" pitchFamily="2" charset="2"/>
              <a:buChar char="§"/>
            </a:pPr>
            <a:r>
              <a:rPr lang="en-US" altLang="en-US" sz="2400" dirty="0"/>
              <a:t>The base of the log is 2, but the base does not affect a logarithmic growth rate, so it can be omitted. </a:t>
            </a:r>
          </a:p>
          <a:p>
            <a:pPr>
              <a:lnSpc>
                <a:spcPct val="135000"/>
              </a:lnSpc>
              <a:spcBef>
                <a:spcPct val="0"/>
              </a:spcBef>
              <a:buFont typeface="Wingdings" panose="05000000000000000000" pitchFamily="2" charset="2"/>
              <a:buChar char="§"/>
            </a:pPr>
            <a:r>
              <a:rPr lang="en-US" altLang="en-US" sz="2400" dirty="0"/>
              <a:t>The logarithmic algorithm grows slowly as the problem size increases. </a:t>
            </a:r>
          </a:p>
          <a:p>
            <a:pPr>
              <a:lnSpc>
                <a:spcPct val="135000"/>
              </a:lnSpc>
              <a:spcBef>
                <a:spcPct val="0"/>
              </a:spcBef>
              <a:buFont typeface="Wingdings" panose="05000000000000000000" pitchFamily="2" charset="2"/>
              <a:buChar char="§"/>
            </a:pPr>
            <a:r>
              <a:rPr lang="en-US" altLang="en-US" sz="2400" dirty="0"/>
              <a:t>If you square the input size, </a:t>
            </a:r>
            <a:r>
              <a:rPr lang="en-US" altLang="en-US" sz="2400" u="sng" dirty="0"/>
              <a:t>you only double the time</a:t>
            </a:r>
            <a:r>
              <a:rPr lang="en-US" altLang="en-US" sz="2400" dirty="0"/>
              <a:t> for the algorithm.</a:t>
            </a:r>
          </a:p>
        </p:txBody>
      </p:sp>
      <p:sp>
        <p:nvSpPr>
          <p:cNvPr id="24578" name="Slide Number Placeholder 4">
            <a:extLst>
              <a:ext uri="{FF2B5EF4-FFF2-40B4-BE49-F238E27FC236}">
                <a16:creationId xmlns:a16="http://schemas.microsoft.com/office/drawing/2014/main" id="{CCFC8A92-A8E4-4F55-8208-87ED02729B7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1EF4065-D26B-4842-9A3F-78665E1F2E58}" type="slidenum">
              <a:rPr lang="en-US" altLang="en-US" sz="1400"/>
              <a:pPr>
                <a:spcBef>
                  <a:spcPct val="0"/>
                </a:spcBef>
                <a:buClrTx/>
                <a:buSzTx/>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4">
            <a:extLst>
              <a:ext uri="{FF2B5EF4-FFF2-40B4-BE49-F238E27FC236}">
                <a16:creationId xmlns:a16="http://schemas.microsoft.com/office/drawing/2014/main" id="{EACA80F2-8A76-46D0-8435-A42BA7CDABE0}"/>
              </a:ext>
            </a:extLst>
          </p:cNvPr>
          <p:cNvSpPr>
            <a:spLocks noGrp="1" noChangeArrowheads="1"/>
          </p:cNvSpPr>
          <p:nvPr>
            <p:ph type="title"/>
          </p:nvPr>
        </p:nvSpPr>
        <p:spPr>
          <a:xfrm>
            <a:off x="228600" y="228600"/>
            <a:ext cx="8299450" cy="396875"/>
          </a:xfrm>
          <a:noFill/>
        </p:spPr>
        <p:txBody>
          <a:bodyPr/>
          <a:lstStyle/>
          <a:p>
            <a:r>
              <a:rPr lang="en-US" altLang="en-US" sz="3200"/>
              <a:t>Selection Sort Animation</a:t>
            </a:r>
            <a:endParaRPr lang="en-US" altLang="en-US" sz="3200">
              <a:solidFill>
                <a:schemeClr val="tx1"/>
              </a:solidFill>
              <a:latin typeface="Book Antiqua" panose="02040602050305030304" pitchFamily="18" charset="0"/>
              <a:hlinkClick r:id="rId2" action="ppaction://program"/>
            </a:endParaRPr>
          </a:p>
        </p:txBody>
      </p:sp>
      <p:sp>
        <p:nvSpPr>
          <p:cNvPr id="25604" name="Rectangle 3">
            <a:extLst>
              <a:ext uri="{FF2B5EF4-FFF2-40B4-BE49-F238E27FC236}">
                <a16:creationId xmlns:a16="http://schemas.microsoft.com/office/drawing/2014/main" id="{1090577B-A3DE-4EAC-9ED3-5AA4B9140BFE}"/>
              </a:ext>
            </a:extLst>
          </p:cNvPr>
          <p:cNvSpPr>
            <a:spLocks noGrp="1" noChangeArrowheads="1"/>
          </p:cNvSpPr>
          <p:nvPr>
            <p:ph idx="1"/>
          </p:nvPr>
        </p:nvSpPr>
        <p:spPr>
          <a:xfrm>
            <a:off x="231775" y="931863"/>
            <a:ext cx="8529638" cy="863600"/>
          </a:xfrm>
          <a:noFill/>
        </p:spPr>
        <p:txBody>
          <a:bodyPr/>
          <a:lstStyle/>
          <a:p>
            <a:pPr marL="0" indent="0">
              <a:lnSpc>
                <a:spcPct val="90000"/>
              </a:lnSpc>
              <a:buFont typeface="Monotype Sorts"/>
              <a:buNone/>
            </a:pPr>
            <a:r>
              <a:rPr lang="en-US" altLang="en-US" sz="2800"/>
              <a:t>https://liveexample.pearsoncmg.com/dsanimation/SelectionSortNew.html</a:t>
            </a:r>
          </a:p>
        </p:txBody>
      </p:sp>
      <p:sp>
        <p:nvSpPr>
          <p:cNvPr id="25602" name="Slide Number Placeholder 4">
            <a:extLst>
              <a:ext uri="{FF2B5EF4-FFF2-40B4-BE49-F238E27FC236}">
                <a16:creationId xmlns:a16="http://schemas.microsoft.com/office/drawing/2014/main" id="{376424F3-1A39-40D3-AC02-4934F521C42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0378F8-0785-42CB-8DA2-D4A9A8447FCD}" type="slidenum">
              <a:rPr lang="en-US" altLang="en-US" sz="1400"/>
              <a:pPr>
                <a:spcBef>
                  <a:spcPct val="0"/>
                </a:spcBef>
                <a:buClrTx/>
                <a:buSzTx/>
                <a:buFontTx/>
                <a:buNone/>
              </a:pPr>
              <a:t>22</a:t>
            </a:fld>
            <a:endParaRPr lang="en-US" altLang="en-US" sz="1400"/>
          </a:p>
        </p:txBody>
      </p:sp>
      <p:sp>
        <p:nvSpPr>
          <p:cNvPr id="25608" name="Rectangle 8">
            <a:extLst>
              <a:ext uri="{FF2B5EF4-FFF2-40B4-BE49-F238E27FC236}">
                <a16:creationId xmlns:a16="http://schemas.microsoft.com/office/drawing/2014/main" id="{33834632-7947-4B36-ACB4-B0B204B2FB9D}"/>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solidFill>
                  <a:srgbClr val="800000"/>
                </a:solidFill>
                <a:latin typeface="Forte" panose="03060902040502070203" pitchFamily="66" charset="0"/>
              </a:rPr>
              <a:t>animation</a:t>
            </a:r>
          </a:p>
        </p:txBody>
      </p:sp>
      <p:pic>
        <p:nvPicPr>
          <p:cNvPr id="25609" name="Picture 9">
            <a:extLst>
              <a:ext uri="{FF2B5EF4-FFF2-40B4-BE49-F238E27FC236}">
                <a16:creationId xmlns:a16="http://schemas.microsoft.com/office/drawing/2014/main" id="{330C73B5-471C-4A8D-8C89-34A030E4C6B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57400"/>
            <a:ext cx="8229600" cy="423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10" name="AutoShape 15">
            <a:hlinkClick r:id="rId4" highlightClick="1"/>
            <a:extLst>
              <a:ext uri="{FF2B5EF4-FFF2-40B4-BE49-F238E27FC236}">
                <a16:creationId xmlns:a16="http://schemas.microsoft.com/office/drawing/2014/main" id="{16A64A94-712A-4E53-8416-11F6CC1789CE}"/>
              </a:ext>
              <a:ext uri="{C183D7F6-B498-43B3-948B-1728B52AA6E4}">
                <adec:decorative xmlns:adec="http://schemas.microsoft.com/office/drawing/2017/decorative" val="1"/>
              </a:ext>
            </a:extLst>
          </p:cNvPr>
          <p:cNvSpPr>
            <a:spLocks noChangeArrowheads="1"/>
          </p:cNvSpPr>
          <p:nvPr/>
        </p:nvSpPr>
        <p:spPr bwMode="auto">
          <a:xfrm>
            <a:off x="1531439" y="3674"/>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CA8276EA-9F90-4540-A593-440CC98E3E06}"/>
              </a:ext>
            </a:extLst>
          </p:cNvPr>
          <p:cNvSpPr>
            <a:spLocks noGrp="1" noChangeArrowheads="1"/>
          </p:cNvSpPr>
          <p:nvPr>
            <p:ph type="title"/>
          </p:nvPr>
        </p:nvSpPr>
        <p:spPr>
          <a:xfrm>
            <a:off x="685800" y="228600"/>
            <a:ext cx="7772400" cy="685800"/>
          </a:xfrm>
          <a:noFill/>
        </p:spPr>
        <p:txBody>
          <a:bodyPr/>
          <a:lstStyle/>
          <a:p>
            <a:r>
              <a:rPr lang="en-US" altLang="en-US"/>
              <a:t>Analyzing Selection Sort</a:t>
            </a:r>
          </a:p>
        </p:txBody>
      </p:sp>
      <p:sp>
        <p:nvSpPr>
          <p:cNvPr id="26628" name="Rectangle 3">
            <a:extLst>
              <a:ext uri="{FF2B5EF4-FFF2-40B4-BE49-F238E27FC236}">
                <a16:creationId xmlns:a16="http://schemas.microsoft.com/office/drawing/2014/main" id="{A1B3E6F7-98C7-45E7-827E-A871E207F6DC}"/>
              </a:ext>
            </a:extLst>
          </p:cNvPr>
          <p:cNvSpPr>
            <a:spLocks noGrp="1" noChangeArrowheads="1"/>
          </p:cNvSpPr>
          <p:nvPr>
            <p:ph idx="1"/>
          </p:nvPr>
        </p:nvSpPr>
        <p:spPr>
          <a:xfrm>
            <a:off x="228600" y="1066800"/>
            <a:ext cx="8763000" cy="5105400"/>
          </a:xfrm>
          <a:noFill/>
        </p:spPr>
        <p:txBody>
          <a:bodyPr/>
          <a:lstStyle/>
          <a:p>
            <a:pPr>
              <a:spcBef>
                <a:spcPct val="0"/>
              </a:spcBef>
              <a:spcAft>
                <a:spcPts val="600"/>
              </a:spcAft>
              <a:buFont typeface="Wingdings" panose="05000000000000000000" pitchFamily="2" charset="2"/>
              <a:buChar char="§"/>
            </a:pPr>
            <a:r>
              <a:rPr lang="en-US" altLang="en-US" sz="2200" dirty="0"/>
              <a:t>The selection sort algorithm presented in Listing 7.8,</a:t>
            </a:r>
          </a:p>
          <a:p>
            <a:pPr>
              <a:spcBef>
                <a:spcPct val="0"/>
              </a:spcBef>
              <a:spcAft>
                <a:spcPts val="600"/>
              </a:spcAft>
              <a:buFont typeface="Wingdings" panose="05000000000000000000" pitchFamily="2" charset="2"/>
              <a:buChar char="§"/>
            </a:pPr>
            <a:r>
              <a:rPr lang="en-US" altLang="en-US" sz="2200" dirty="0"/>
              <a:t>SelectionSort.java, finds the smallest number in the list and places it first. </a:t>
            </a:r>
          </a:p>
          <a:p>
            <a:pPr>
              <a:spcBef>
                <a:spcPct val="0"/>
              </a:spcBef>
              <a:spcAft>
                <a:spcPts val="600"/>
              </a:spcAft>
              <a:buFont typeface="Wingdings" panose="05000000000000000000" pitchFamily="2" charset="2"/>
              <a:buChar char="§"/>
            </a:pPr>
            <a:r>
              <a:rPr lang="en-US" altLang="en-US" sz="2200" dirty="0"/>
              <a:t>It then finds the smallest number remaining and places it second, and so on until the list contains only a single number. </a:t>
            </a:r>
          </a:p>
          <a:p>
            <a:pPr>
              <a:spcBef>
                <a:spcPct val="0"/>
              </a:spcBef>
              <a:spcAft>
                <a:spcPts val="600"/>
              </a:spcAft>
              <a:buFont typeface="Wingdings" panose="05000000000000000000" pitchFamily="2" charset="2"/>
              <a:buChar char="§"/>
            </a:pPr>
            <a:r>
              <a:rPr lang="en-US" altLang="en-US" sz="2200" dirty="0"/>
              <a:t>The number of comparisons is </a:t>
            </a:r>
            <a:r>
              <a:rPr lang="en-US" altLang="en-US" sz="2200" i="1" dirty="0"/>
              <a:t>n-1</a:t>
            </a:r>
            <a:r>
              <a:rPr lang="en-US" altLang="en-US" sz="2200" dirty="0"/>
              <a:t> for the first iteration, </a:t>
            </a:r>
            <a:r>
              <a:rPr lang="en-US" altLang="en-US" sz="2200" i="1" dirty="0"/>
              <a:t>n-2</a:t>
            </a:r>
            <a:r>
              <a:rPr lang="en-US" altLang="en-US" sz="2200" dirty="0"/>
              <a:t> for the second iteration, and so on. </a:t>
            </a:r>
          </a:p>
          <a:p>
            <a:pPr>
              <a:spcBef>
                <a:spcPct val="0"/>
              </a:spcBef>
              <a:spcAft>
                <a:spcPts val="600"/>
              </a:spcAft>
              <a:buFont typeface="Wingdings" panose="05000000000000000000" pitchFamily="2" charset="2"/>
              <a:buChar char="§"/>
            </a:pPr>
            <a:r>
              <a:rPr lang="en-US" altLang="en-US" sz="2200" dirty="0"/>
              <a:t>Let </a:t>
            </a:r>
            <a:r>
              <a:rPr lang="en-US" altLang="en-US" sz="2200" i="1" dirty="0"/>
              <a:t>T(n)</a:t>
            </a:r>
            <a:r>
              <a:rPr lang="en-US" altLang="en-US" sz="2200" dirty="0"/>
              <a:t> denote the complexity for selection sort and </a:t>
            </a:r>
            <a:r>
              <a:rPr lang="en-US" altLang="en-US" sz="2200" i="1" dirty="0"/>
              <a:t>c</a:t>
            </a:r>
            <a:r>
              <a:rPr lang="en-US" altLang="en-US" sz="2200" dirty="0"/>
              <a:t> denote the total number of other operations such as assignments and additional comparisons in each iteration. So,</a:t>
            </a:r>
          </a:p>
        </p:txBody>
      </p:sp>
      <p:sp>
        <p:nvSpPr>
          <p:cNvPr id="26626" name="Slide Number Placeholder 4">
            <a:extLst>
              <a:ext uri="{FF2B5EF4-FFF2-40B4-BE49-F238E27FC236}">
                <a16:creationId xmlns:a16="http://schemas.microsoft.com/office/drawing/2014/main" id="{D015FEE7-C3A0-4BA6-AC1B-361F0D21BEA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22E98D6-C706-4711-9985-06878CB849EC}" type="slidenum">
              <a:rPr lang="en-US" altLang="en-US" sz="1400"/>
              <a:pPr>
                <a:spcBef>
                  <a:spcPct val="0"/>
                </a:spcBef>
                <a:buClrTx/>
                <a:buSzTx/>
                <a:buFontTx/>
                <a:buNone/>
              </a:pPr>
              <a:t>23</a:t>
            </a:fld>
            <a:endParaRPr lang="en-US" altLang="en-US" sz="1400"/>
          </a:p>
        </p:txBody>
      </p:sp>
      <p:graphicFrame>
        <p:nvGraphicFramePr>
          <p:cNvPr id="26633" name="Object 8">
            <a:extLst>
              <a:ext uri="{FF2B5EF4-FFF2-40B4-BE49-F238E27FC236}">
                <a16:creationId xmlns:a16="http://schemas.microsoft.com/office/drawing/2014/main" id="{9CD8B10E-68EB-4748-B1E8-4A69A4EA5E0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97262405"/>
              </p:ext>
            </p:extLst>
          </p:nvPr>
        </p:nvGraphicFramePr>
        <p:xfrm>
          <a:off x="1517469" y="4410076"/>
          <a:ext cx="5029200" cy="590550"/>
        </p:xfrm>
        <a:graphic>
          <a:graphicData uri="http://schemas.openxmlformats.org/presentationml/2006/ole">
            <mc:AlternateContent xmlns:mc="http://schemas.openxmlformats.org/markup-compatibility/2006">
              <mc:Choice xmlns:v="urn:schemas-microsoft-com:vml" Requires="v">
                <p:oleObj name="Equation" r:id="rId2" imgW="3568700" imgH="419100" progId="Equation.3">
                  <p:embed/>
                </p:oleObj>
              </mc:Choice>
              <mc:Fallback>
                <p:oleObj name="Equation" r:id="rId2" imgW="3568700" imgH="4191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7469" y="4410076"/>
                        <a:ext cx="50292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4" name="Rectangle 10">
            <a:extLst>
              <a:ext uri="{FF2B5EF4-FFF2-40B4-BE49-F238E27FC236}">
                <a16:creationId xmlns:a16="http://schemas.microsoft.com/office/drawing/2014/main" id="{9CC7FF1C-24AE-4214-A0E6-061C25AB5C63}"/>
              </a:ext>
            </a:extLst>
          </p:cNvPr>
          <p:cNvSpPr>
            <a:spLocks noChangeArrowheads="1"/>
          </p:cNvSpPr>
          <p:nvPr/>
        </p:nvSpPr>
        <p:spPr bwMode="auto">
          <a:xfrm>
            <a:off x="152400" y="5105400"/>
            <a:ext cx="8839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sz="2200" dirty="0"/>
              <a:t>Ignoring constants and smaller terms, the complexity of the selection sort algorithm is </a:t>
            </a:r>
            <a:r>
              <a:rPr lang="en-US" altLang="en-US" sz="2200" dirty="0">
                <a:highlight>
                  <a:srgbClr val="FFFF00"/>
                </a:highlight>
              </a:rPr>
              <a:t>O(n</a:t>
            </a:r>
            <a:r>
              <a:rPr lang="en-US" altLang="en-US" sz="2200" baseline="30000" dirty="0">
                <a:highlight>
                  <a:srgbClr val="FFFF00"/>
                </a:highlight>
              </a:rPr>
              <a:t>2</a:t>
            </a:r>
            <a:r>
              <a:rPr lang="en-US" altLang="en-US" sz="2200" dirty="0">
                <a:highlight>
                  <a:srgbClr val="FFFF00"/>
                </a:highlight>
              </a:rPr>
              <a:t>)</a:t>
            </a:r>
            <a:r>
              <a:rPr lang="en-US" altLang="en-US" sz="2200"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AA15B370-303D-40C8-9A02-D8BAC8D7BBDE}"/>
              </a:ext>
            </a:extLst>
          </p:cNvPr>
          <p:cNvSpPr>
            <a:spLocks noGrp="1" noChangeArrowheads="1"/>
          </p:cNvSpPr>
          <p:nvPr>
            <p:ph type="title"/>
          </p:nvPr>
        </p:nvSpPr>
        <p:spPr>
          <a:xfrm>
            <a:off x="685800" y="228600"/>
            <a:ext cx="7772400" cy="685800"/>
          </a:xfrm>
          <a:noFill/>
        </p:spPr>
        <p:txBody>
          <a:bodyPr/>
          <a:lstStyle/>
          <a:p>
            <a:r>
              <a:rPr lang="en-US" altLang="en-US"/>
              <a:t>Quadratic Time</a:t>
            </a:r>
          </a:p>
        </p:txBody>
      </p:sp>
      <p:sp>
        <p:nvSpPr>
          <p:cNvPr id="27652" name="Rectangle 3">
            <a:extLst>
              <a:ext uri="{FF2B5EF4-FFF2-40B4-BE49-F238E27FC236}">
                <a16:creationId xmlns:a16="http://schemas.microsoft.com/office/drawing/2014/main" id="{D0A0F6BD-9C23-42E3-87C5-7DF27DD32F29}"/>
              </a:ext>
            </a:extLst>
          </p:cNvPr>
          <p:cNvSpPr>
            <a:spLocks noGrp="1" noChangeArrowheads="1"/>
          </p:cNvSpPr>
          <p:nvPr>
            <p:ph idx="1"/>
          </p:nvPr>
        </p:nvSpPr>
        <p:spPr>
          <a:xfrm>
            <a:off x="228600" y="1066800"/>
            <a:ext cx="8763000" cy="4876800"/>
          </a:xfrm>
          <a:noFill/>
        </p:spPr>
        <p:txBody>
          <a:bodyPr/>
          <a:lstStyle/>
          <a:p>
            <a:pPr>
              <a:lnSpc>
                <a:spcPct val="130000"/>
              </a:lnSpc>
              <a:spcBef>
                <a:spcPct val="0"/>
              </a:spcBef>
              <a:buFont typeface="Wingdings" panose="05000000000000000000" pitchFamily="2" charset="2"/>
              <a:buChar char="§"/>
            </a:pPr>
            <a:r>
              <a:rPr lang="en-US" altLang="en-US" sz="2800" dirty="0"/>
              <a:t>An algorithm with the </a:t>
            </a:r>
            <a:r>
              <a:rPr lang="en-US" altLang="en-US" sz="2800" b="1" dirty="0"/>
              <a:t>O(n</a:t>
            </a:r>
            <a:r>
              <a:rPr lang="en-US" altLang="en-US" sz="2800" b="1" baseline="30000" dirty="0"/>
              <a:t>2</a:t>
            </a:r>
            <a:r>
              <a:rPr lang="en-US" altLang="en-US" sz="2800" b="1" dirty="0"/>
              <a:t>) </a:t>
            </a:r>
            <a:r>
              <a:rPr lang="en-US" altLang="en-US" sz="2800" dirty="0"/>
              <a:t>time complexity is called a </a:t>
            </a:r>
            <a:r>
              <a:rPr lang="en-US" altLang="en-US" sz="2800" b="1" dirty="0"/>
              <a:t>quadratic algorithm</a:t>
            </a:r>
            <a:r>
              <a:rPr lang="en-US" altLang="en-US" sz="2800" dirty="0"/>
              <a:t>. </a:t>
            </a:r>
          </a:p>
          <a:p>
            <a:pPr>
              <a:lnSpc>
                <a:spcPct val="130000"/>
              </a:lnSpc>
              <a:spcBef>
                <a:spcPct val="0"/>
              </a:spcBef>
              <a:buFont typeface="Wingdings" panose="05000000000000000000" pitchFamily="2" charset="2"/>
              <a:buChar char="§"/>
            </a:pPr>
            <a:r>
              <a:rPr lang="en-US" altLang="en-US" sz="2800" dirty="0"/>
              <a:t>The quadratic algorithm grows quickly as the problem size increases. </a:t>
            </a:r>
          </a:p>
          <a:p>
            <a:pPr>
              <a:lnSpc>
                <a:spcPct val="130000"/>
              </a:lnSpc>
              <a:spcBef>
                <a:spcPct val="0"/>
              </a:spcBef>
              <a:buFont typeface="Wingdings" panose="05000000000000000000" pitchFamily="2" charset="2"/>
              <a:buChar char="§"/>
            </a:pPr>
            <a:r>
              <a:rPr lang="en-US" altLang="en-US" sz="2800" dirty="0"/>
              <a:t>If you double the input size, the time for the algorithm is quadrupled. </a:t>
            </a:r>
          </a:p>
          <a:p>
            <a:pPr>
              <a:lnSpc>
                <a:spcPct val="130000"/>
              </a:lnSpc>
              <a:spcBef>
                <a:spcPct val="0"/>
              </a:spcBef>
              <a:buFont typeface="Wingdings" panose="05000000000000000000" pitchFamily="2" charset="2"/>
              <a:buChar char="§"/>
            </a:pPr>
            <a:r>
              <a:rPr lang="en-US" altLang="en-US" sz="2800" dirty="0"/>
              <a:t>Algorithms with a nested loop are often quadratic.</a:t>
            </a:r>
          </a:p>
          <a:p>
            <a:pPr>
              <a:lnSpc>
                <a:spcPct val="130000"/>
              </a:lnSpc>
              <a:spcBef>
                <a:spcPct val="0"/>
              </a:spcBef>
              <a:buFont typeface="Wingdings" panose="05000000000000000000" pitchFamily="2" charset="2"/>
              <a:buChar char="§"/>
            </a:pPr>
            <a:r>
              <a:rPr lang="en-US" altLang="en-US" sz="2800" dirty="0"/>
              <a:t>Many sort algorithms are quadratic</a:t>
            </a:r>
          </a:p>
        </p:txBody>
      </p:sp>
      <p:sp>
        <p:nvSpPr>
          <p:cNvPr id="27650" name="Slide Number Placeholder 4">
            <a:extLst>
              <a:ext uri="{FF2B5EF4-FFF2-40B4-BE49-F238E27FC236}">
                <a16:creationId xmlns:a16="http://schemas.microsoft.com/office/drawing/2014/main" id="{0526AD99-5E75-46AF-80DF-D0881742F96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9ACB485-C074-4FC5-B089-F7DDD7488C43}" type="slidenum">
              <a:rPr lang="en-US" altLang="en-US" sz="1400"/>
              <a:pPr>
                <a:spcBef>
                  <a:spcPct val="0"/>
                </a:spcBef>
                <a:buClrTx/>
                <a:buSzTx/>
                <a:buFontTx/>
                <a:buNone/>
              </a:pPr>
              <a:t>24</a:t>
            </a:fld>
            <a:endParaRPr lang="en-US" altLang="en-US"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590528F0-86C7-4F01-8DBE-F7F86BE6010B}"/>
              </a:ext>
            </a:extLst>
          </p:cNvPr>
          <p:cNvSpPr>
            <a:spLocks noGrp="1" noChangeArrowheads="1"/>
          </p:cNvSpPr>
          <p:nvPr>
            <p:ph type="title"/>
          </p:nvPr>
        </p:nvSpPr>
        <p:spPr>
          <a:xfrm>
            <a:off x="457200" y="228600"/>
            <a:ext cx="8229600" cy="762000"/>
          </a:xfrm>
          <a:noFill/>
        </p:spPr>
        <p:txBody>
          <a:bodyPr/>
          <a:lstStyle/>
          <a:p>
            <a:r>
              <a:rPr lang="en-US" altLang="en-US" sz="3600"/>
              <a:t>Common Recurrence Relations</a:t>
            </a:r>
          </a:p>
        </p:txBody>
      </p:sp>
      <p:sp>
        <p:nvSpPr>
          <p:cNvPr id="29698" name="Slide Number Placeholder 4">
            <a:extLst>
              <a:ext uri="{FF2B5EF4-FFF2-40B4-BE49-F238E27FC236}">
                <a16:creationId xmlns:a16="http://schemas.microsoft.com/office/drawing/2014/main" id="{D3FD52D6-EF39-4E14-AF1F-D485A21E1BF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659A459-0FA5-4A52-B7C9-DE79FF0A01F8}" type="slidenum">
              <a:rPr lang="en-US" altLang="en-US" sz="1400"/>
              <a:pPr>
                <a:spcBef>
                  <a:spcPct val="0"/>
                </a:spcBef>
                <a:buClrTx/>
                <a:buSzTx/>
                <a:buFontTx/>
                <a:buNone/>
              </a:pPr>
              <a:t>25</a:t>
            </a:fld>
            <a:endParaRPr lang="en-US" altLang="en-US" sz="1400"/>
          </a:p>
        </p:txBody>
      </p:sp>
      <p:graphicFrame>
        <p:nvGraphicFramePr>
          <p:cNvPr id="29706" name="Object 24">
            <a:extLst>
              <a:ext uri="{FF2B5EF4-FFF2-40B4-BE49-F238E27FC236}">
                <a16:creationId xmlns:a16="http://schemas.microsoft.com/office/drawing/2014/main" id="{A25FEC9F-7B46-4356-8957-17D3712F605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86873862"/>
              </p:ext>
            </p:extLst>
          </p:nvPr>
        </p:nvGraphicFramePr>
        <p:xfrm>
          <a:off x="0" y="1157288"/>
          <a:ext cx="9144000" cy="3703637"/>
        </p:xfrm>
        <a:graphic>
          <a:graphicData uri="http://schemas.openxmlformats.org/presentationml/2006/ole">
            <mc:AlternateContent xmlns:mc="http://schemas.openxmlformats.org/markup-compatibility/2006">
              <mc:Choice xmlns:v="urn:schemas-microsoft-com:vml" Requires="v">
                <p:oleObj name="Picture" r:id="rId2" imgW="6019800" imgH="2438400" progId="Word.Picture.8">
                  <p:embed/>
                </p:oleObj>
              </mc:Choice>
              <mc:Fallback>
                <p:oleObj name="Picture" r:id="rId2" imgW="6019800" imgH="2438400" progId="Word.Picture.8">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7288"/>
                        <a:ext cx="9144000" cy="370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AB491B3F-5257-4D7D-BA42-7D1C590C68E7}"/>
              </a:ext>
            </a:extLst>
          </p:cNvPr>
          <p:cNvSpPr>
            <a:spLocks noGrp="1" noChangeArrowheads="1"/>
          </p:cNvSpPr>
          <p:nvPr>
            <p:ph type="title"/>
          </p:nvPr>
        </p:nvSpPr>
        <p:spPr>
          <a:xfrm>
            <a:off x="457200" y="228600"/>
            <a:ext cx="8229600" cy="609600"/>
          </a:xfrm>
          <a:noFill/>
        </p:spPr>
        <p:txBody>
          <a:bodyPr/>
          <a:lstStyle/>
          <a:p>
            <a:r>
              <a:rPr lang="en-US" altLang="en-US" sz="3600" dirty="0"/>
              <a:t>Comparing Common Growth Functions</a:t>
            </a:r>
          </a:p>
        </p:txBody>
      </p:sp>
      <p:sp>
        <p:nvSpPr>
          <p:cNvPr id="30731" name="Rectangle 22">
            <a:extLst>
              <a:ext uri="{FF2B5EF4-FFF2-40B4-BE49-F238E27FC236}">
                <a16:creationId xmlns:a16="http://schemas.microsoft.com/office/drawing/2014/main" id="{D49BE96C-2163-4CAC-839E-CA9C33B6F68C}"/>
              </a:ext>
            </a:extLst>
          </p:cNvPr>
          <p:cNvSpPr>
            <a:spLocks noGrp="1" noChangeArrowheads="1"/>
          </p:cNvSpPr>
          <p:nvPr>
            <p:ph idx="1"/>
          </p:nvPr>
        </p:nvSpPr>
        <p:spPr>
          <a:xfrm>
            <a:off x="2971800" y="1981200"/>
            <a:ext cx="3581400" cy="381000"/>
          </a:xfrm>
          <a:noFill/>
        </p:spPr>
        <p:txBody>
          <a:bodyPr/>
          <a:lstStyle/>
          <a:p>
            <a:pPr marL="263525" indent="0">
              <a:buFont typeface="Monotype Sorts"/>
              <a:buNone/>
            </a:pPr>
            <a:r>
              <a:rPr lang="en-US" altLang="en-US" sz="3000" dirty="0">
                <a:highlight>
                  <a:srgbClr val="FFFF00"/>
                </a:highlight>
              </a:rPr>
              <a:t>Constant time</a:t>
            </a:r>
          </a:p>
        </p:txBody>
      </p:sp>
      <p:sp>
        <p:nvSpPr>
          <p:cNvPr id="30722" name="Slide Number Placeholder 4">
            <a:extLst>
              <a:ext uri="{FF2B5EF4-FFF2-40B4-BE49-F238E27FC236}">
                <a16:creationId xmlns:a16="http://schemas.microsoft.com/office/drawing/2014/main" id="{4704C954-1AEA-49E8-A3B7-DBC1D9A3315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1492E0A-50F3-4F8E-A56B-6C6544103D60}" type="slidenum">
              <a:rPr lang="en-US" altLang="en-US" sz="1400"/>
              <a:pPr>
                <a:spcBef>
                  <a:spcPct val="0"/>
                </a:spcBef>
                <a:buClrTx/>
                <a:buSzTx/>
                <a:buFontTx/>
                <a:buNone/>
              </a:pPr>
              <a:t>26</a:t>
            </a:fld>
            <a:endParaRPr lang="en-US" altLang="en-US" sz="1400"/>
          </a:p>
        </p:txBody>
      </p:sp>
      <p:graphicFrame>
        <p:nvGraphicFramePr>
          <p:cNvPr id="30729" name="Object 10">
            <a:extLst>
              <a:ext uri="{FF2B5EF4-FFF2-40B4-BE49-F238E27FC236}">
                <a16:creationId xmlns:a16="http://schemas.microsoft.com/office/drawing/2014/main" id="{E60BD208-CCE6-433F-934A-CFD07C2DAF4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62067366"/>
              </p:ext>
            </p:extLst>
          </p:nvPr>
        </p:nvGraphicFramePr>
        <p:xfrm>
          <a:off x="990600" y="1219200"/>
          <a:ext cx="6934200" cy="428625"/>
        </p:xfrm>
        <a:graphic>
          <a:graphicData uri="http://schemas.openxmlformats.org/presentationml/2006/ole">
            <mc:AlternateContent xmlns:mc="http://schemas.openxmlformats.org/markup-compatibility/2006">
              <mc:Choice xmlns:v="urn:schemas-microsoft-com:vml" Requires="v">
                <p:oleObj name="Equation" r:id="rId2" imgW="3695700" imgH="228600" progId="Equation.3">
                  <p:embed/>
                </p:oleObj>
              </mc:Choice>
              <mc:Fallback>
                <p:oleObj name="Equation" r:id="rId2" imgW="3695700" imgH="228600"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19200"/>
                        <a:ext cx="69342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0" name="Object 21">
            <a:extLst>
              <a:ext uri="{FF2B5EF4-FFF2-40B4-BE49-F238E27FC236}">
                <a16:creationId xmlns:a16="http://schemas.microsoft.com/office/drawing/2014/main" id="{48B6A313-0573-4D33-8104-687CC82CA74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35608729"/>
              </p:ext>
            </p:extLst>
          </p:nvPr>
        </p:nvGraphicFramePr>
        <p:xfrm>
          <a:off x="1524000" y="2057400"/>
          <a:ext cx="595313" cy="381000"/>
        </p:xfrm>
        <a:graphic>
          <a:graphicData uri="http://schemas.openxmlformats.org/presentationml/2006/ole">
            <mc:AlternateContent xmlns:mc="http://schemas.openxmlformats.org/markup-compatibility/2006">
              <mc:Choice xmlns:v="urn:schemas-microsoft-com:vml" Requires="v">
                <p:oleObj name="Equation" r:id="rId4" imgW="317225" imgH="203024" progId="Equation.3">
                  <p:embed/>
                </p:oleObj>
              </mc:Choice>
              <mc:Fallback>
                <p:oleObj name="Equation" r:id="rId4" imgW="317225" imgH="203024" progId="Equation.3">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2057400"/>
                        <a:ext cx="595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2" name="Object 23">
            <a:extLst>
              <a:ext uri="{FF2B5EF4-FFF2-40B4-BE49-F238E27FC236}">
                <a16:creationId xmlns:a16="http://schemas.microsoft.com/office/drawing/2014/main" id="{8FA705CA-5F6B-493E-8128-BCBA38657F1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31279034"/>
              </p:ext>
            </p:extLst>
          </p:nvPr>
        </p:nvGraphicFramePr>
        <p:xfrm>
          <a:off x="1524000" y="2667000"/>
          <a:ext cx="1049338" cy="381000"/>
        </p:xfrm>
        <a:graphic>
          <a:graphicData uri="http://schemas.openxmlformats.org/presentationml/2006/ole">
            <mc:AlternateContent xmlns:mc="http://schemas.openxmlformats.org/markup-compatibility/2006">
              <mc:Choice xmlns:v="urn:schemas-microsoft-com:vml" Requires="v">
                <p:oleObj name="Equation" r:id="rId6" imgW="558558" imgH="203112" progId="Equation.3">
                  <p:embed/>
                </p:oleObj>
              </mc:Choice>
              <mc:Fallback>
                <p:oleObj name="Equation" r:id="rId6" imgW="558558" imgH="203112" progId="Equation.3">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2667000"/>
                        <a:ext cx="10493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3" name="Rectangle 24">
            <a:extLst>
              <a:ext uri="{FF2B5EF4-FFF2-40B4-BE49-F238E27FC236}">
                <a16:creationId xmlns:a16="http://schemas.microsoft.com/office/drawing/2014/main" id="{7FB07C88-2617-41DD-82CC-6DED49275516}"/>
              </a:ext>
            </a:extLst>
          </p:cNvPr>
          <p:cNvSpPr>
            <a:spLocks noChangeArrowheads="1"/>
          </p:cNvSpPr>
          <p:nvPr/>
        </p:nvSpPr>
        <p:spPr bwMode="auto">
          <a:xfrm>
            <a:off x="3048000" y="25908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000" dirty="0">
                <a:highlight>
                  <a:srgbClr val="FFFF00"/>
                </a:highlight>
              </a:rPr>
              <a:t>Logarithmic time</a:t>
            </a:r>
            <a:r>
              <a:rPr lang="en-US" altLang="en-US" dirty="0">
                <a:highlight>
                  <a:srgbClr val="FFFF00"/>
                </a:highlight>
              </a:rPr>
              <a:t> </a:t>
            </a:r>
          </a:p>
        </p:txBody>
      </p:sp>
      <p:graphicFrame>
        <p:nvGraphicFramePr>
          <p:cNvPr id="30734" name="Object 25">
            <a:extLst>
              <a:ext uri="{FF2B5EF4-FFF2-40B4-BE49-F238E27FC236}">
                <a16:creationId xmlns:a16="http://schemas.microsoft.com/office/drawing/2014/main" id="{D3F0CD78-1A25-49C7-BB86-174F929D69B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44120736"/>
              </p:ext>
            </p:extLst>
          </p:nvPr>
        </p:nvGraphicFramePr>
        <p:xfrm>
          <a:off x="1524000" y="3276600"/>
          <a:ext cx="644525" cy="381000"/>
        </p:xfrm>
        <a:graphic>
          <a:graphicData uri="http://schemas.openxmlformats.org/presentationml/2006/ole">
            <mc:AlternateContent xmlns:mc="http://schemas.openxmlformats.org/markup-compatibility/2006">
              <mc:Choice xmlns:v="urn:schemas-microsoft-com:vml" Requires="v">
                <p:oleObj name="Equation" r:id="rId8" imgW="342751" imgH="203112" progId="Equation.3">
                  <p:embed/>
                </p:oleObj>
              </mc:Choice>
              <mc:Fallback>
                <p:oleObj name="Equation" r:id="rId8" imgW="342751" imgH="203112"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3276600"/>
                        <a:ext cx="644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5" name="Rectangle 26">
            <a:extLst>
              <a:ext uri="{FF2B5EF4-FFF2-40B4-BE49-F238E27FC236}">
                <a16:creationId xmlns:a16="http://schemas.microsoft.com/office/drawing/2014/main" id="{0F739A58-AF0E-4BA6-B0FA-EF208325AB07}"/>
              </a:ext>
            </a:extLst>
          </p:cNvPr>
          <p:cNvSpPr>
            <a:spLocks noChangeArrowheads="1"/>
          </p:cNvSpPr>
          <p:nvPr/>
        </p:nvSpPr>
        <p:spPr bwMode="auto">
          <a:xfrm>
            <a:off x="3048000" y="32004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000" dirty="0">
                <a:highlight>
                  <a:srgbClr val="FFFF00"/>
                </a:highlight>
              </a:rPr>
              <a:t>Linear time</a:t>
            </a:r>
            <a:r>
              <a:rPr lang="en-US" altLang="en-US" dirty="0">
                <a:highlight>
                  <a:srgbClr val="FFFF00"/>
                </a:highlight>
              </a:rPr>
              <a:t> </a:t>
            </a:r>
          </a:p>
        </p:txBody>
      </p:sp>
      <p:graphicFrame>
        <p:nvGraphicFramePr>
          <p:cNvPr id="30736" name="Object 27">
            <a:extLst>
              <a:ext uri="{FF2B5EF4-FFF2-40B4-BE49-F238E27FC236}">
                <a16:creationId xmlns:a16="http://schemas.microsoft.com/office/drawing/2014/main" id="{756E7D54-AB94-48BC-9844-343EEB738F2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00627527"/>
              </p:ext>
            </p:extLst>
          </p:nvPr>
        </p:nvGraphicFramePr>
        <p:xfrm>
          <a:off x="1524000" y="3886200"/>
          <a:ext cx="1241425" cy="381000"/>
        </p:xfrm>
        <a:graphic>
          <a:graphicData uri="http://schemas.openxmlformats.org/presentationml/2006/ole">
            <mc:AlternateContent xmlns:mc="http://schemas.openxmlformats.org/markup-compatibility/2006">
              <mc:Choice xmlns:v="urn:schemas-microsoft-com:vml" Requires="v">
                <p:oleObj name="Equation" r:id="rId10" imgW="660113" imgH="203112" progId="Equation.3">
                  <p:embed/>
                </p:oleObj>
              </mc:Choice>
              <mc:Fallback>
                <p:oleObj name="Equation" r:id="rId10" imgW="660113" imgH="203112" progId="Equation.3">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4000" y="3886200"/>
                        <a:ext cx="1241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7" name="Rectangle 28">
            <a:extLst>
              <a:ext uri="{FF2B5EF4-FFF2-40B4-BE49-F238E27FC236}">
                <a16:creationId xmlns:a16="http://schemas.microsoft.com/office/drawing/2014/main" id="{D4843869-4247-4B6D-84C4-32E751ACB3E7}"/>
              </a:ext>
            </a:extLst>
          </p:cNvPr>
          <p:cNvSpPr>
            <a:spLocks noChangeArrowheads="1"/>
          </p:cNvSpPr>
          <p:nvPr/>
        </p:nvSpPr>
        <p:spPr bwMode="auto">
          <a:xfrm>
            <a:off x="3124200" y="38100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000" dirty="0">
                <a:highlight>
                  <a:srgbClr val="FFFF00"/>
                </a:highlight>
              </a:rPr>
              <a:t>Log-linear time</a:t>
            </a:r>
            <a:r>
              <a:rPr lang="en-US" altLang="en-US" dirty="0">
                <a:highlight>
                  <a:srgbClr val="FFFF00"/>
                </a:highlight>
              </a:rPr>
              <a:t> </a:t>
            </a:r>
          </a:p>
        </p:txBody>
      </p:sp>
      <p:graphicFrame>
        <p:nvGraphicFramePr>
          <p:cNvPr id="30738" name="Object 29">
            <a:extLst>
              <a:ext uri="{FF2B5EF4-FFF2-40B4-BE49-F238E27FC236}">
                <a16:creationId xmlns:a16="http://schemas.microsoft.com/office/drawing/2014/main" id="{FFBF703C-18D2-4309-95E4-B96F54B22AA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78758025"/>
              </p:ext>
            </p:extLst>
          </p:nvPr>
        </p:nvGraphicFramePr>
        <p:xfrm>
          <a:off x="1524000" y="4495800"/>
          <a:ext cx="762000" cy="428625"/>
        </p:xfrm>
        <a:graphic>
          <a:graphicData uri="http://schemas.openxmlformats.org/presentationml/2006/ole">
            <mc:AlternateContent xmlns:mc="http://schemas.openxmlformats.org/markup-compatibility/2006">
              <mc:Choice xmlns:v="urn:schemas-microsoft-com:vml" Requires="v">
                <p:oleObj name="Equation" r:id="rId12" imgW="406224" imgH="228501" progId="Equation.3">
                  <p:embed/>
                </p:oleObj>
              </mc:Choice>
              <mc:Fallback>
                <p:oleObj name="Equation" r:id="rId12" imgW="406224" imgH="228501" progId="Equation.3">
                  <p:embed/>
                  <p:pic>
                    <p:nvPicPr>
                      <p:cNvPr id="0"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4000" y="4495800"/>
                        <a:ext cx="762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9" name="Rectangle 30">
            <a:extLst>
              <a:ext uri="{FF2B5EF4-FFF2-40B4-BE49-F238E27FC236}">
                <a16:creationId xmlns:a16="http://schemas.microsoft.com/office/drawing/2014/main" id="{CEA1B961-F5B1-4727-8465-A250529639D8}"/>
              </a:ext>
            </a:extLst>
          </p:cNvPr>
          <p:cNvSpPr>
            <a:spLocks noChangeArrowheads="1"/>
          </p:cNvSpPr>
          <p:nvPr/>
        </p:nvSpPr>
        <p:spPr bwMode="auto">
          <a:xfrm>
            <a:off x="3124200" y="44196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000" dirty="0">
                <a:highlight>
                  <a:srgbClr val="FFFF00"/>
                </a:highlight>
              </a:rPr>
              <a:t>Quadratic time</a:t>
            </a:r>
            <a:r>
              <a:rPr lang="en-US" altLang="en-US" dirty="0">
                <a:highlight>
                  <a:srgbClr val="FFFF00"/>
                </a:highlight>
              </a:rPr>
              <a:t> </a:t>
            </a:r>
          </a:p>
        </p:txBody>
      </p:sp>
      <p:graphicFrame>
        <p:nvGraphicFramePr>
          <p:cNvPr id="30740" name="Object 31">
            <a:extLst>
              <a:ext uri="{FF2B5EF4-FFF2-40B4-BE49-F238E27FC236}">
                <a16:creationId xmlns:a16="http://schemas.microsoft.com/office/drawing/2014/main" id="{1D31EAD2-6553-49D4-9E26-D80913DDE21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09129765"/>
              </p:ext>
            </p:extLst>
          </p:nvPr>
        </p:nvGraphicFramePr>
        <p:xfrm>
          <a:off x="1524000" y="5181600"/>
          <a:ext cx="762000" cy="428625"/>
        </p:xfrm>
        <a:graphic>
          <a:graphicData uri="http://schemas.openxmlformats.org/presentationml/2006/ole">
            <mc:AlternateContent xmlns:mc="http://schemas.openxmlformats.org/markup-compatibility/2006">
              <mc:Choice xmlns:v="urn:schemas-microsoft-com:vml" Requires="v">
                <p:oleObj name="Equation" r:id="rId14" imgW="406224" imgH="228501" progId="Equation.3">
                  <p:embed/>
                </p:oleObj>
              </mc:Choice>
              <mc:Fallback>
                <p:oleObj name="Equation" r:id="rId14" imgW="406224" imgH="228501" progId="Equation.3">
                  <p:embed/>
                  <p:pic>
                    <p:nvPicPr>
                      <p:cNvPr id="0" name="Object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4000" y="5181600"/>
                        <a:ext cx="762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1" name="Rectangle 32">
            <a:extLst>
              <a:ext uri="{FF2B5EF4-FFF2-40B4-BE49-F238E27FC236}">
                <a16:creationId xmlns:a16="http://schemas.microsoft.com/office/drawing/2014/main" id="{F57FF4A2-A3D5-493C-9A5B-17DDC3158380}"/>
              </a:ext>
            </a:extLst>
          </p:cNvPr>
          <p:cNvSpPr>
            <a:spLocks noChangeArrowheads="1"/>
          </p:cNvSpPr>
          <p:nvPr/>
        </p:nvSpPr>
        <p:spPr bwMode="auto">
          <a:xfrm>
            <a:off x="3124200" y="51054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000" dirty="0">
                <a:highlight>
                  <a:srgbClr val="FFFF00"/>
                </a:highlight>
              </a:rPr>
              <a:t>Cubic time</a:t>
            </a:r>
            <a:r>
              <a:rPr lang="en-US" altLang="en-US" dirty="0">
                <a:highlight>
                  <a:srgbClr val="FFFF00"/>
                </a:highlight>
              </a:rPr>
              <a:t> </a:t>
            </a:r>
          </a:p>
        </p:txBody>
      </p:sp>
      <p:graphicFrame>
        <p:nvGraphicFramePr>
          <p:cNvPr id="30742" name="Object 33">
            <a:extLst>
              <a:ext uri="{FF2B5EF4-FFF2-40B4-BE49-F238E27FC236}">
                <a16:creationId xmlns:a16="http://schemas.microsoft.com/office/drawing/2014/main" id="{4A481F25-1526-40C6-832B-1807967A179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68407853"/>
              </p:ext>
            </p:extLst>
          </p:nvPr>
        </p:nvGraphicFramePr>
        <p:xfrm>
          <a:off x="1524000" y="5791200"/>
          <a:ext cx="762000" cy="428625"/>
        </p:xfrm>
        <a:graphic>
          <a:graphicData uri="http://schemas.openxmlformats.org/presentationml/2006/ole">
            <mc:AlternateContent xmlns:mc="http://schemas.openxmlformats.org/markup-compatibility/2006">
              <mc:Choice xmlns:v="urn:schemas-microsoft-com:vml" Requires="v">
                <p:oleObj name="Equation" r:id="rId16" imgW="406224" imgH="228501" progId="Equation.3">
                  <p:embed/>
                </p:oleObj>
              </mc:Choice>
              <mc:Fallback>
                <p:oleObj name="Equation" r:id="rId16" imgW="406224" imgH="228501" progId="Equation.3">
                  <p:embed/>
                  <p:pic>
                    <p:nvPicPr>
                      <p:cNvPr id="0"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24000" y="5791200"/>
                        <a:ext cx="762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3" name="Rectangle 34">
            <a:extLst>
              <a:ext uri="{FF2B5EF4-FFF2-40B4-BE49-F238E27FC236}">
                <a16:creationId xmlns:a16="http://schemas.microsoft.com/office/drawing/2014/main" id="{139891E3-9AA8-4A13-9804-4E361F47302D}"/>
              </a:ext>
            </a:extLst>
          </p:cNvPr>
          <p:cNvSpPr>
            <a:spLocks noChangeArrowheads="1"/>
          </p:cNvSpPr>
          <p:nvPr/>
        </p:nvSpPr>
        <p:spPr bwMode="auto">
          <a:xfrm>
            <a:off x="3124200" y="5715000"/>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3000" dirty="0">
                <a:highlight>
                  <a:srgbClr val="FFFF00"/>
                </a:highlight>
              </a:rPr>
              <a:t>Exponential time</a:t>
            </a:r>
            <a:r>
              <a:rPr lang="en-US" altLang="en-US" dirty="0">
                <a:highlight>
                  <a:srgbClr val="FFFF00"/>
                </a:highlight>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a:extLst>
              <a:ext uri="{FF2B5EF4-FFF2-40B4-BE49-F238E27FC236}">
                <a16:creationId xmlns:a16="http://schemas.microsoft.com/office/drawing/2014/main" id="{336C7666-0F1F-4C02-A0C5-4F094C356A1B}"/>
              </a:ext>
            </a:extLst>
          </p:cNvPr>
          <p:cNvSpPr>
            <a:spLocks noGrp="1" noChangeArrowheads="1"/>
          </p:cNvSpPr>
          <p:nvPr>
            <p:ph type="title"/>
          </p:nvPr>
        </p:nvSpPr>
        <p:spPr>
          <a:xfrm>
            <a:off x="457200" y="228600"/>
            <a:ext cx="8229600" cy="609600"/>
          </a:xfrm>
          <a:noFill/>
        </p:spPr>
        <p:txBody>
          <a:bodyPr/>
          <a:lstStyle/>
          <a:p>
            <a:r>
              <a:rPr lang="en-US" altLang="en-US" sz="3600"/>
              <a:t>Comparing Common Growth Functions</a:t>
            </a:r>
          </a:p>
        </p:txBody>
      </p:sp>
      <p:sp>
        <p:nvSpPr>
          <p:cNvPr id="31746" name="Slide Number Placeholder 4">
            <a:extLst>
              <a:ext uri="{FF2B5EF4-FFF2-40B4-BE49-F238E27FC236}">
                <a16:creationId xmlns:a16="http://schemas.microsoft.com/office/drawing/2014/main" id="{7E335134-E173-4295-AE54-968C93104FE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D440B4-AF5A-483A-A365-3E96CA8F9AB5}" type="slidenum">
              <a:rPr lang="en-US" altLang="en-US" sz="1400"/>
              <a:pPr>
                <a:spcBef>
                  <a:spcPct val="0"/>
                </a:spcBef>
                <a:buClrTx/>
                <a:buSzTx/>
                <a:buFontTx/>
                <a:buNone/>
              </a:pPr>
              <a:t>27</a:t>
            </a:fld>
            <a:endParaRPr lang="en-US" altLang="en-US" sz="1400"/>
          </a:p>
        </p:txBody>
      </p:sp>
      <p:graphicFrame>
        <p:nvGraphicFramePr>
          <p:cNvPr id="31753" name="Object 8">
            <a:extLst>
              <a:ext uri="{FF2B5EF4-FFF2-40B4-BE49-F238E27FC236}">
                <a16:creationId xmlns:a16="http://schemas.microsoft.com/office/drawing/2014/main" id="{3FCAC6C6-8CF3-4A8F-97C4-4B65FA0D7FB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13330027"/>
              </p:ext>
            </p:extLst>
          </p:nvPr>
        </p:nvGraphicFramePr>
        <p:xfrm>
          <a:off x="990600" y="1219200"/>
          <a:ext cx="6934200" cy="428625"/>
        </p:xfrm>
        <a:graphic>
          <a:graphicData uri="http://schemas.openxmlformats.org/presentationml/2006/ole">
            <mc:AlternateContent xmlns:mc="http://schemas.openxmlformats.org/markup-compatibility/2006">
              <mc:Choice xmlns:v="urn:schemas-microsoft-com:vml" Requires="v">
                <p:oleObj name="Equation" r:id="rId2" imgW="3695700" imgH="228600" progId="Equation.3">
                  <p:embed/>
                </p:oleObj>
              </mc:Choice>
              <mc:Fallback>
                <p:oleObj name="Equation" r:id="rId2" imgW="3695700" imgH="2286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19200"/>
                        <a:ext cx="69342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5" name="Object 24">
            <a:extLst>
              <a:ext uri="{FF2B5EF4-FFF2-40B4-BE49-F238E27FC236}">
                <a16:creationId xmlns:a16="http://schemas.microsoft.com/office/drawing/2014/main" id="{880842B6-430A-4A9A-962F-F4D132DA6B4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65043073"/>
              </p:ext>
            </p:extLst>
          </p:nvPr>
        </p:nvGraphicFramePr>
        <p:xfrm>
          <a:off x="304800" y="1905000"/>
          <a:ext cx="8458200" cy="4275138"/>
        </p:xfrm>
        <a:graphic>
          <a:graphicData uri="http://schemas.openxmlformats.org/presentationml/2006/ole">
            <mc:AlternateContent xmlns:mc="http://schemas.openxmlformats.org/markup-compatibility/2006">
              <mc:Choice xmlns:v="urn:schemas-microsoft-com:vml" Requires="v">
                <p:oleObj name="Picture" r:id="rId4" imgW="3351276" imgH="2183892" progId="Word.Picture.8">
                  <p:embed/>
                </p:oleObj>
              </mc:Choice>
              <mc:Fallback>
                <p:oleObj name="Picture" r:id="rId4" imgW="3351276" imgH="2183892" progId="Word.Picture.8">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905000"/>
                        <a:ext cx="8458200" cy="427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5C11B34E-136B-49EF-A827-97341677D198}"/>
              </a:ext>
            </a:extLst>
          </p:cNvPr>
          <p:cNvSpPr>
            <a:spLocks noGrp="1" noChangeArrowheads="1"/>
          </p:cNvSpPr>
          <p:nvPr>
            <p:ph type="title"/>
          </p:nvPr>
        </p:nvSpPr>
        <p:spPr>
          <a:xfrm>
            <a:off x="685800" y="152400"/>
            <a:ext cx="7772400" cy="533400"/>
          </a:xfrm>
          <a:noFill/>
        </p:spPr>
        <p:txBody>
          <a:bodyPr/>
          <a:lstStyle/>
          <a:p>
            <a:r>
              <a:rPr lang="en-US" altLang="en-US"/>
              <a:t>Case Study: Fibonacci Numbers</a:t>
            </a:r>
          </a:p>
        </p:txBody>
      </p:sp>
      <p:sp>
        <p:nvSpPr>
          <p:cNvPr id="32780" name="Rectangle 11">
            <a:extLst>
              <a:ext uri="{FF2B5EF4-FFF2-40B4-BE49-F238E27FC236}">
                <a16:creationId xmlns:a16="http://schemas.microsoft.com/office/drawing/2014/main" id="{401402B6-3AD2-4385-8066-F368CE1DABE6}"/>
              </a:ext>
            </a:extLst>
          </p:cNvPr>
          <p:cNvSpPr>
            <a:spLocks noGrp="1" noChangeArrowheads="1"/>
          </p:cNvSpPr>
          <p:nvPr>
            <p:ph idx="1"/>
          </p:nvPr>
        </p:nvSpPr>
        <p:spPr>
          <a:xfrm>
            <a:off x="228600" y="838200"/>
            <a:ext cx="8763000" cy="3429000"/>
          </a:xfrm>
        </p:spPr>
        <p:txBody>
          <a:bodyPr/>
          <a:lstStyle/>
          <a:p>
            <a:pPr marL="263525" indent="0">
              <a:lnSpc>
                <a:spcPct val="80000"/>
              </a:lnSpc>
              <a:buFont typeface="Monotype Sorts"/>
              <a:buNone/>
            </a:pPr>
            <a:r>
              <a:rPr lang="en-US" altLang="en-US" sz="2400">
                <a:solidFill>
                  <a:schemeClr val="tx2"/>
                </a:solidFill>
              </a:rPr>
              <a:t>/** The method for finding the Fibonacci number */</a:t>
            </a:r>
          </a:p>
          <a:p>
            <a:pPr marL="263525" indent="0">
              <a:lnSpc>
                <a:spcPct val="80000"/>
              </a:lnSpc>
              <a:buFont typeface="Monotype Sorts"/>
              <a:buNone/>
            </a:pPr>
            <a:r>
              <a:rPr lang="en-US" altLang="en-US" sz="2400">
                <a:solidFill>
                  <a:schemeClr val="tx2"/>
                </a:solidFill>
              </a:rPr>
              <a:t>public static long fib(long index) {</a:t>
            </a:r>
          </a:p>
          <a:p>
            <a:pPr marL="263525" indent="0">
              <a:lnSpc>
                <a:spcPct val="80000"/>
              </a:lnSpc>
              <a:buFont typeface="Monotype Sorts"/>
              <a:buNone/>
            </a:pPr>
            <a:r>
              <a:rPr lang="en-US" altLang="en-US" sz="2400">
                <a:solidFill>
                  <a:schemeClr val="tx2"/>
                </a:solidFill>
              </a:rPr>
              <a:t>  if (index == 0) // Base case</a:t>
            </a:r>
          </a:p>
          <a:p>
            <a:pPr marL="263525" indent="0">
              <a:lnSpc>
                <a:spcPct val="80000"/>
              </a:lnSpc>
              <a:buFont typeface="Monotype Sorts"/>
              <a:buNone/>
            </a:pPr>
            <a:r>
              <a:rPr lang="en-US" altLang="en-US" sz="2400">
                <a:solidFill>
                  <a:schemeClr val="tx2"/>
                </a:solidFill>
              </a:rPr>
              <a:t>    return 0;</a:t>
            </a:r>
          </a:p>
          <a:p>
            <a:pPr marL="263525" indent="0">
              <a:lnSpc>
                <a:spcPct val="80000"/>
              </a:lnSpc>
              <a:buFont typeface="Monotype Sorts"/>
              <a:buNone/>
            </a:pPr>
            <a:r>
              <a:rPr lang="en-US" altLang="en-US" sz="2400">
                <a:solidFill>
                  <a:schemeClr val="tx2"/>
                </a:solidFill>
              </a:rPr>
              <a:t>  else if (index == 1) // Base case</a:t>
            </a:r>
          </a:p>
          <a:p>
            <a:pPr marL="263525" indent="0">
              <a:lnSpc>
                <a:spcPct val="80000"/>
              </a:lnSpc>
              <a:buFont typeface="Monotype Sorts"/>
              <a:buNone/>
            </a:pPr>
            <a:r>
              <a:rPr lang="en-US" altLang="en-US" sz="2400">
                <a:solidFill>
                  <a:schemeClr val="tx2"/>
                </a:solidFill>
              </a:rPr>
              <a:t>    return 1;</a:t>
            </a:r>
          </a:p>
          <a:p>
            <a:pPr marL="263525" indent="0">
              <a:lnSpc>
                <a:spcPct val="80000"/>
              </a:lnSpc>
              <a:buFont typeface="Monotype Sorts"/>
              <a:buNone/>
            </a:pPr>
            <a:r>
              <a:rPr lang="en-US" altLang="en-US" sz="2400">
                <a:solidFill>
                  <a:schemeClr val="tx2"/>
                </a:solidFill>
              </a:rPr>
              <a:t>  else  // Reduction and recursive calls</a:t>
            </a:r>
          </a:p>
          <a:p>
            <a:pPr marL="263525" indent="0">
              <a:lnSpc>
                <a:spcPct val="80000"/>
              </a:lnSpc>
              <a:buFont typeface="Monotype Sorts"/>
              <a:buNone/>
            </a:pPr>
            <a:r>
              <a:rPr lang="en-US" altLang="en-US" sz="2400">
                <a:solidFill>
                  <a:schemeClr val="tx2"/>
                </a:solidFill>
              </a:rPr>
              <a:t>    return fib(index - 1) + fib(index - 2);</a:t>
            </a:r>
          </a:p>
          <a:p>
            <a:pPr marL="263525" indent="0">
              <a:lnSpc>
                <a:spcPct val="80000"/>
              </a:lnSpc>
              <a:buFont typeface="Monotype Sorts"/>
              <a:buNone/>
            </a:pPr>
            <a:r>
              <a:rPr lang="en-US" altLang="en-US" sz="2400">
                <a:solidFill>
                  <a:schemeClr val="tx2"/>
                </a:solidFill>
              </a:rPr>
              <a:t>}</a:t>
            </a:r>
          </a:p>
        </p:txBody>
      </p:sp>
      <p:sp>
        <p:nvSpPr>
          <p:cNvPr id="32770" name="Slide Number Placeholder 4">
            <a:extLst>
              <a:ext uri="{FF2B5EF4-FFF2-40B4-BE49-F238E27FC236}">
                <a16:creationId xmlns:a16="http://schemas.microsoft.com/office/drawing/2014/main" id="{AEB36B32-1625-441D-B78B-CBD9764D79D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7151C7E-B324-424D-88B7-F43F29FB45E2}" type="slidenum">
              <a:rPr lang="en-US" altLang="en-US" sz="1400"/>
              <a:pPr>
                <a:spcBef>
                  <a:spcPct val="0"/>
                </a:spcBef>
                <a:buClrTx/>
                <a:buSzTx/>
                <a:buFontTx/>
                <a:buNone/>
              </a:pPr>
              <a:t>28</a:t>
            </a:fld>
            <a:endParaRPr lang="en-US" altLang="en-US" sz="1400"/>
          </a:p>
        </p:txBody>
      </p:sp>
      <p:sp>
        <p:nvSpPr>
          <p:cNvPr id="32782" name="Rectangle 15">
            <a:extLst>
              <a:ext uri="{FF2B5EF4-FFF2-40B4-BE49-F238E27FC236}">
                <a16:creationId xmlns:a16="http://schemas.microsoft.com/office/drawing/2014/main" id="{6CEDB500-0F96-43FF-8CA6-317B473EB0A2}"/>
              </a:ext>
            </a:extLst>
          </p:cNvPr>
          <p:cNvSpPr>
            <a:spLocks noChangeArrowheads="1"/>
          </p:cNvSpPr>
          <p:nvPr/>
        </p:nvSpPr>
        <p:spPr bwMode="auto">
          <a:xfrm>
            <a:off x="304800" y="4267200"/>
            <a:ext cx="8534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800" dirty="0">
                <a:latin typeface="Courier New" panose="02070309020205020404" pitchFamily="49" charset="0"/>
              </a:rPr>
              <a:t>Fibonacci series: 0 1 1 2 3 5 8 13 21 34 55 89…</a:t>
            </a:r>
          </a:p>
          <a:p>
            <a:pPr>
              <a:lnSpc>
                <a:spcPct val="90000"/>
              </a:lnSpc>
              <a:spcBef>
                <a:spcPct val="50000"/>
              </a:spcBef>
              <a:buFont typeface="Monotype Sorts"/>
              <a:buNone/>
            </a:pPr>
            <a:r>
              <a:rPr lang="en-US" altLang="en-US" sz="1800" dirty="0">
                <a:latin typeface="Courier New" panose="02070309020205020404" pitchFamily="49" charset="0"/>
              </a:rPr>
              <a:t>         indices: 0 1 2 3 4 5 6 7  8  9  10 11</a:t>
            </a:r>
            <a:r>
              <a:rPr lang="en-US" altLang="en-US" sz="2000" dirty="0">
                <a:latin typeface="Courier New" panose="02070309020205020404" pitchFamily="49" charset="0"/>
              </a:rPr>
              <a:t>             </a:t>
            </a:r>
          </a:p>
          <a:p>
            <a:pPr>
              <a:lnSpc>
                <a:spcPct val="90000"/>
              </a:lnSpc>
              <a:spcBef>
                <a:spcPct val="50000"/>
              </a:spcBef>
              <a:buFont typeface="Monotype Sorts"/>
              <a:buNone/>
            </a:pPr>
            <a:r>
              <a:rPr lang="en-US" altLang="en-US" sz="2000" dirty="0"/>
              <a:t>fib(0) = 0;</a:t>
            </a:r>
          </a:p>
          <a:p>
            <a:pPr>
              <a:lnSpc>
                <a:spcPct val="90000"/>
              </a:lnSpc>
              <a:spcBef>
                <a:spcPct val="50000"/>
              </a:spcBef>
              <a:buFont typeface="Monotype Sorts"/>
              <a:buNone/>
            </a:pPr>
            <a:r>
              <a:rPr lang="en-US" altLang="en-US" sz="2000" dirty="0"/>
              <a:t>fib(1) = 1;</a:t>
            </a:r>
          </a:p>
          <a:p>
            <a:pPr>
              <a:lnSpc>
                <a:spcPct val="90000"/>
              </a:lnSpc>
              <a:spcBef>
                <a:spcPct val="50000"/>
              </a:spcBef>
              <a:buFont typeface="Monotype Sorts"/>
              <a:buNone/>
            </a:pPr>
            <a:r>
              <a:rPr lang="en-US" altLang="en-US" sz="2000" dirty="0"/>
              <a:t>fib(index) = fib(index -1) + fib(index -2); index &gt;=2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B475064E-9625-4C9B-87D3-D6DC8FF97FA1}"/>
              </a:ext>
            </a:extLst>
          </p:cNvPr>
          <p:cNvSpPr>
            <a:spLocks noGrp="1" noChangeArrowheads="1"/>
          </p:cNvSpPr>
          <p:nvPr>
            <p:ph type="title"/>
          </p:nvPr>
        </p:nvSpPr>
        <p:spPr>
          <a:xfrm>
            <a:off x="685800" y="152400"/>
            <a:ext cx="8077200" cy="1219200"/>
          </a:xfrm>
          <a:noFill/>
        </p:spPr>
        <p:txBody>
          <a:bodyPr/>
          <a:lstStyle/>
          <a:p>
            <a:r>
              <a:rPr lang="en-US" altLang="en-US"/>
              <a:t>Complexity for Recursive Fibonacci Numbers</a:t>
            </a:r>
          </a:p>
        </p:txBody>
      </p:sp>
      <p:sp>
        <p:nvSpPr>
          <p:cNvPr id="33805" name="Rectangle 13">
            <a:extLst>
              <a:ext uri="{FF2B5EF4-FFF2-40B4-BE49-F238E27FC236}">
                <a16:creationId xmlns:a16="http://schemas.microsoft.com/office/drawing/2014/main" id="{1D957EC4-46A9-4730-9E45-769DB9813646}"/>
              </a:ext>
            </a:extLst>
          </p:cNvPr>
          <p:cNvSpPr>
            <a:spLocks noGrp="1" noChangeArrowheads="1"/>
          </p:cNvSpPr>
          <p:nvPr>
            <p:ph idx="1"/>
          </p:nvPr>
        </p:nvSpPr>
        <p:spPr>
          <a:xfrm>
            <a:off x="609600" y="1657350"/>
            <a:ext cx="762000" cy="323850"/>
          </a:xfrm>
        </p:spPr>
        <p:txBody>
          <a:bodyPr/>
          <a:lstStyle/>
          <a:p>
            <a:pPr>
              <a:lnSpc>
                <a:spcPct val="80000"/>
              </a:lnSpc>
              <a:buFont typeface="Monotype Sorts"/>
              <a:buNone/>
            </a:pPr>
            <a:r>
              <a:rPr lang="en-US" altLang="en-US" sz="2000"/>
              <a:t>Since</a:t>
            </a:r>
          </a:p>
        </p:txBody>
      </p:sp>
      <p:sp>
        <p:nvSpPr>
          <p:cNvPr id="33794" name="Slide Number Placeholder 4">
            <a:extLst>
              <a:ext uri="{FF2B5EF4-FFF2-40B4-BE49-F238E27FC236}">
                <a16:creationId xmlns:a16="http://schemas.microsoft.com/office/drawing/2014/main" id="{89C902CC-D80C-42BE-8527-59AAEF8CD57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A5E4F8B-B525-4E8B-A6D0-93BC2DD36192}" type="slidenum">
              <a:rPr lang="en-US" altLang="en-US" sz="1400"/>
              <a:pPr>
                <a:spcBef>
                  <a:spcPct val="0"/>
                </a:spcBef>
                <a:buClrTx/>
                <a:buSzTx/>
                <a:buFontTx/>
                <a:buNone/>
              </a:pPr>
              <a:t>29</a:t>
            </a:fld>
            <a:endParaRPr lang="en-US" altLang="en-US" sz="1400"/>
          </a:p>
        </p:txBody>
      </p:sp>
      <p:sp>
        <p:nvSpPr>
          <p:cNvPr id="33807" name="Rectangle 16">
            <a:extLst>
              <a:ext uri="{FF2B5EF4-FFF2-40B4-BE49-F238E27FC236}">
                <a16:creationId xmlns:a16="http://schemas.microsoft.com/office/drawing/2014/main" id="{E2FF9D3D-0734-4489-B68B-C0510A6B98B0}"/>
              </a:ext>
            </a:extLst>
          </p:cNvPr>
          <p:cNvSpPr>
            <a:spLocks noChangeArrowheads="1"/>
          </p:cNvSpPr>
          <p:nvPr/>
        </p:nvSpPr>
        <p:spPr bwMode="auto">
          <a:xfrm>
            <a:off x="4038600" y="1676400"/>
            <a:ext cx="7620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sz="2000"/>
              <a:t>and</a:t>
            </a:r>
          </a:p>
        </p:txBody>
      </p:sp>
      <p:sp>
        <p:nvSpPr>
          <p:cNvPr id="33809" name="Rectangle 22">
            <a:extLst>
              <a:ext uri="{FF2B5EF4-FFF2-40B4-BE49-F238E27FC236}">
                <a16:creationId xmlns:a16="http://schemas.microsoft.com/office/drawing/2014/main" id="{AFA6B503-9BEA-4C69-9A13-7FC431B15D90}"/>
              </a:ext>
            </a:extLst>
          </p:cNvPr>
          <p:cNvSpPr>
            <a:spLocks noChangeArrowheads="1"/>
          </p:cNvSpPr>
          <p:nvPr/>
        </p:nvSpPr>
        <p:spPr bwMode="auto">
          <a:xfrm>
            <a:off x="609600" y="51054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dirty="0"/>
              <a:t>Therefore, the recursive Fibonacci method takes     </a:t>
            </a:r>
            <a:br>
              <a:rPr lang="en-US" altLang="en-US" dirty="0"/>
            </a:br>
            <a:endParaRPr lang="en-US" altLang="en-US" dirty="0"/>
          </a:p>
        </p:txBody>
      </p:sp>
      <p:graphicFrame>
        <p:nvGraphicFramePr>
          <p:cNvPr id="33811" name="Object 23">
            <a:extLst>
              <a:ext uri="{FF2B5EF4-FFF2-40B4-BE49-F238E27FC236}">
                <a16:creationId xmlns:a16="http://schemas.microsoft.com/office/drawing/2014/main" id="{BF65E933-33ED-4E9A-AAAF-49C253800C3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62128279"/>
              </p:ext>
            </p:extLst>
          </p:nvPr>
        </p:nvGraphicFramePr>
        <p:xfrm>
          <a:off x="762000" y="5638800"/>
          <a:ext cx="609600" cy="346075"/>
        </p:xfrm>
        <a:graphic>
          <a:graphicData uri="http://schemas.openxmlformats.org/presentationml/2006/ole">
            <mc:AlternateContent xmlns:mc="http://schemas.openxmlformats.org/markup-compatibility/2006">
              <mc:Choice xmlns:v="urn:schemas-microsoft-com:vml" Requires="v">
                <p:oleObj name="Equation" r:id="rId2" imgW="406224" imgH="228501" progId="Equation.3">
                  <p:embed/>
                </p:oleObj>
              </mc:Choice>
              <mc:Fallback>
                <p:oleObj name="Equation" r:id="rId2" imgW="406224" imgH="228501" progId="Equation.3">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638800"/>
                        <a:ext cx="609600" cy="346075"/>
                      </a:xfrm>
                      <a:prstGeom prst="rect">
                        <a:avLst/>
                      </a:prstGeom>
                      <a:solidFill>
                        <a:schemeClr val="accent4">
                          <a:lumMod val="60000"/>
                          <a:lumOff val="40000"/>
                        </a:schemeClr>
                      </a:solidFill>
                      <a:ln>
                        <a:noFill/>
                      </a:ln>
                    </p:spPr>
                  </p:pic>
                </p:oleObj>
              </mc:Fallback>
            </mc:AlternateContent>
          </a:graphicData>
        </a:graphic>
      </p:graphicFrame>
      <p:graphicFrame>
        <p:nvGraphicFramePr>
          <p:cNvPr id="33813" name="Object 26">
            <a:extLst>
              <a:ext uri="{FF2B5EF4-FFF2-40B4-BE49-F238E27FC236}">
                <a16:creationId xmlns:a16="http://schemas.microsoft.com/office/drawing/2014/main" id="{0AAA8D5C-2A26-4959-909D-FBA1256B96E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62074656"/>
              </p:ext>
            </p:extLst>
          </p:nvPr>
        </p:nvGraphicFramePr>
        <p:xfrm>
          <a:off x="1473200" y="1600200"/>
          <a:ext cx="2527300" cy="3200400"/>
        </p:xfrm>
        <a:graphic>
          <a:graphicData uri="http://schemas.openxmlformats.org/presentationml/2006/ole">
            <mc:AlternateContent xmlns:mc="http://schemas.openxmlformats.org/markup-compatibility/2006">
              <mc:Choice xmlns:v="urn:schemas-microsoft-com:vml" Requires="v">
                <p:oleObj name="Equation" r:id="rId4" imgW="1879600" imgH="2387600" progId="Equation.3">
                  <p:embed/>
                </p:oleObj>
              </mc:Choice>
              <mc:Fallback>
                <p:oleObj name="Equation" r:id="rId4" imgW="1879600" imgH="2387600"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200" y="1600200"/>
                        <a:ext cx="25273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5" name="Object 28">
            <a:extLst>
              <a:ext uri="{FF2B5EF4-FFF2-40B4-BE49-F238E27FC236}">
                <a16:creationId xmlns:a16="http://schemas.microsoft.com/office/drawing/2014/main" id="{1008D105-789A-4065-BA23-F11A9491FDD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95640142"/>
              </p:ext>
            </p:extLst>
          </p:nvPr>
        </p:nvGraphicFramePr>
        <p:xfrm>
          <a:off x="4724400" y="1600200"/>
          <a:ext cx="3657600" cy="3197225"/>
        </p:xfrm>
        <a:graphic>
          <a:graphicData uri="http://schemas.openxmlformats.org/presentationml/2006/ole">
            <mc:AlternateContent xmlns:mc="http://schemas.openxmlformats.org/markup-compatibility/2006">
              <mc:Choice xmlns:v="urn:schemas-microsoft-com:vml" Requires="v">
                <p:oleObj name="Equation" r:id="rId6" imgW="2425700" imgH="2120900" progId="Equation.3">
                  <p:embed/>
                </p:oleObj>
              </mc:Choice>
              <mc:Fallback>
                <p:oleObj name="Equation" r:id="rId6" imgW="2425700" imgH="2120900" progId="Equation.3">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1600200"/>
                        <a:ext cx="365760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16" name="Rectangle 8">
            <a:hlinkClick r:id="rId8"/>
            <a:extLst>
              <a:ext uri="{FF2B5EF4-FFF2-40B4-BE49-F238E27FC236}">
                <a16:creationId xmlns:a16="http://schemas.microsoft.com/office/drawing/2014/main" id="{10A5D261-E380-4FDA-8080-F0925B3CF6F1}"/>
              </a:ext>
            </a:extLst>
          </p:cNvPr>
          <p:cNvSpPr>
            <a:spLocks noChangeArrowheads="1"/>
          </p:cNvSpPr>
          <p:nvPr/>
        </p:nvSpPr>
        <p:spPr bwMode="auto">
          <a:xfrm>
            <a:off x="4537075" y="5805488"/>
            <a:ext cx="21764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ComputeFibonacci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DE98D3B6-C066-4B18-A5C1-BD7795BA3E8E}"/>
              </a:ext>
            </a:extLst>
          </p:cNvPr>
          <p:cNvSpPr>
            <a:spLocks noGrp="1" noChangeArrowheads="1"/>
          </p:cNvSpPr>
          <p:nvPr>
            <p:ph type="title"/>
          </p:nvPr>
        </p:nvSpPr>
        <p:spPr>
          <a:xfrm>
            <a:off x="1676400" y="152400"/>
            <a:ext cx="7315200" cy="1143000"/>
          </a:xfrm>
          <a:noFill/>
        </p:spPr>
        <p:txBody>
          <a:bodyPr/>
          <a:lstStyle/>
          <a:p>
            <a:r>
              <a:rPr lang="en-US" altLang="en-US" sz="4000" dirty="0"/>
              <a:t>Case Study: Non-recursive version of Fibonacci Numbers</a:t>
            </a:r>
          </a:p>
        </p:txBody>
      </p:sp>
      <p:sp>
        <p:nvSpPr>
          <p:cNvPr id="34828" name="Rectangle 11">
            <a:extLst>
              <a:ext uri="{FF2B5EF4-FFF2-40B4-BE49-F238E27FC236}">
                <a16:creationId xmlns:a16="http://schemas.microsoft.com/office/drawing/2014/main" id="{EADC2204-C811-4431-81E7-D23B9C1BA408}"/>
              </a:ext>
            </a:extLst>
          </p:cNvPr>
          <p:cNvSpPr>
            <a:spLocks noGrp="1" noChangeArrowheads="1"/>
          </p:cNvSpPr>
          <p:nvPr>
            <p:ph idx="1"/>
          </p:nvPr>
        </p:nvSpPr>
        <p:spPr>
          <a:xfrm>
            <a:off x="-381000" y="1371600"/>
            <a:ext cx="5334000" cy="5486400"/>
          </a:xfrm>
        </p:spPr>
        <p:txBody>
          <a:bodyPr/>
          <a:lstStyle/>
          <a:p>
            <a:pPr marL="263525" indent="0">
              <a:lnSpc>
                <a:spcPct val="80000"/>
              </a:lnSpc>
              <a:buFont typeface="Monotype Sorts"/>
              <a:buNone/>
            </a:pPr>
            <a:r>
              <a:rPr lang="en-US" altLang="en-US" sz="1800" b="1">
                <a:solidFill>
                  <a:schemeClr val="tx2"/>
                </a:solidFill>
                <a:latin typeface="Courier New" panose="02070309020205020404" pitchFamily="49" charset="0"/>
              </a:rPr>
              <a:t>  public static long fib(long n) {</a:t>
            </a:r>
          </a:p>
          <a:p>
            <a:pPr marL="263525" indent="0">
              <a:lnSpc>
                <a:spcPct val="80000"/>
              </a:lnSpc>
              <a:buFont typeface="Monotype Sorts"/>
              <a:buNone/>
            </a:pPr>
            <a:r>
              <a:rPr lang="en-US" altLang="en-US" sz="1800" b="1">
                <a:solidFill>
                  <a:schemeClr val="tx2"/>
                </a:solidFill>
                <a:latin typeface="Courier New" panose="02070309020205020404" pitchFamily="49" charset="0"/>
              </a:rPr>
              <a:t>    long f0 = 0; // For </a:t>
            </a:r>
            <a:r>
              <a:rPr lang="en-US" altLang="en-US" sz="1800" b="1" u="sng">
                <a:solidFill>
                  <a:schemeClr val="tx2"/>
                </a:solidFill>
                <a:latin typeface="Courier New" panose="02070309020205020404" pitchFamily="49" charset="0"/>
              </a:rPr>
              <a:t>fib</a:t>
            </a:r>
            <a:r>
              <a:rPr lang="en-US" altLang="en-US" sz="1800" b="1">
                <a:solidFill>
                  <a:schemeClr val="tx2"/>
                </a:solidFill>
                <a:latin typeface="Courier New" panose="02070309020205020404" pitchFamily="49" charset="0"/>
              </a:rPr>
              <a:t>(0)</a:t>
            </a:r>
          </a:p>
          <a:p>
            <a:pPr marL="263525" indent="0">
              <a:lnSpc>
                <a:spcPct val="80000"/>
              </a:lnSpc>
              <a:buFont typeface="Monotype Sorts"/>
              <a:buNone/>
            </a:pPr>
            <a:r>
              <a:rPr lang="en-US" altLang="en-US" sz="1800" b="1">
                <a:solidFill>
                  <a:schemeClr val="tx2"/>
                </a:solidFill>
                <a:latin typeface="Courier New" panose="02070309020205020404" pitchFamily="49" charset="0"/>
              </a:rPr>
              <a:t>    long f1 = 1; // For </a:t>
            </a:r>
            <a:r>
              <a:rPr lang="en-US" altLang="en-US" sz="1800" b="1" u="sng">
                <a:solidFill>
                  <a:schemeClr val="tx2"/>
                </a:solidFill>
                <a:latin typeface="Courier New" panose="02070309020205020404" pitchFamily="49" charset="0"/>
              </a:rPr>
              <a:t>fib</a:t>
            </a:r>
            <a:r>
              <a:rPr lang="en-US" altLang="en-US" sz="1800" b="1">
                <a:solidFill>
                  <a:schemeClr val="tx2"/>
                </a:solidFill>
                <a:latin typeface="Courier New" panose="02070309020205020404" pitchFamily="49" charset="0"/>
              </a:rPr>
              <a:t>(1)</a:t>
            </a:r>
          </a:p>
          <a:p>
            <a:pPr marL="263525" indent="0">
              <a:lnSpc>
                <a:spcPct val="80000"/>
              </a:lnSpc>
              <a:buFont typeface="Monotype Sorts"/>
              <a:buNone/>
            </a:pPr>
            <a:r>
              <a:rPr lang="en-US" altLang="en-US" sz="1800" b="1">
                <a:solidFill>
                  <a:schemeClr val="tx2"/>
                </a:solidFill>
                <a:latin typeface="Courier New" panose="02070309020205020404" pitchFamily="49" charset="0"/>
              </a:rPr>
              <a:t>    long f2 = 1; // For </a:t>
            </a:r>
            <a:r>
              <a:rPr lang="en-US" altLang="en-US" sz="1800" b="1" u="sng">
                <a:solidFill>
                  <a:schemeClr val="tx2"/>
                </a:solidFill>
                <a:latin typeface="Courier New" panose="02070309020205020404" pitchFamily="49" charset="0"/>
              </a:rPr>
              <a:t>fib</a:t>
            </a:r>
            <a:r>
              <a:rPr lang="en-US" altLang="en-US" sz="1800" b="1">
                <a:solidFill>
                  <a:schemeClr val="tx2"/>
                </a:solidFill>
                <a:latin typeface="Courier New" panose="02070309020205020404" pitchFamily="49" charset="0"/>
              </a:rPr>
              <a:t>(2)</a:t>
            </a:r>
          </a:p>
          <a:p>
            <a:pPr marL="263525" indent="0">
              <a:lnSpc>
                <a:spcPct val="80000"/>
              </a:lnSpc>
              <a:buFont typeface="Monotype Sorts"/>
              <a:buNone/>
            </a:pPr>
            <a:endParaRPr lang="en-US" altLang="en-US" sz="1800" b="1">
              <a:solidFill>
                <a:schemeClr val="tx2"/>
              </a:solidFill>
              <a:latin typeface="Courier New" panose="02070309020205020404" pitchFamily="49" charset="0"/>
            </a:endParaRPr>
          </a:p>
          <a:p>
            <a:pPr marL="263525" indent="0">
              <a:lnSpc>
                <a:spcPct val="80000"/>
              </a:lnSpc>
              <a:buFont typeface="Monotype Sorts"/>
              <a:buNone/>
            </a:pPr>
            <a:r>
              <a:rPr lang="en-US" altLang="en-US" sz="1800" b="1">
                <a:solidFill>
                  <a:schemeClr val="tx2"/>
                </a:solidFill>
                <a:latin typeface="Courier New" panose="02070309020205020404" pitchFamily="49" charset="0"/>
              </a:rPr>
              <a:t>    if (n == 0)</a:t>
            </a:r>
          </a:p>
          <a:p>
            <a:pPr marL="263525" indent="0">
              <a:lnSpc>
                <a:spcPct val="80000"/>
              </a:lnSpc>
              <a:buFont typeface="Monotype Sorts"/>
              <a:buNone/>
            </a:pPr>
            <a:r>
              <a:rPr lang="en-US" altLang="en-US" sz="1800" b="1">
                <a:solidFill>
                  <a:schemeClr val="tx2"/>
                </a:solidFill>
                <a:latin typeface="Courier New" panose="02070309020205020404" pitchFamily="49" charset="0"/>
              </a:rPr>
              <a:t>      return f0;</a:t>
            </a:r>
          </a:p>
          <a:p>
            <a:pPr marL="263525" indent="0">
              <a:lnSpc>
                <a:spcPct val="80000"/>
              </a:lnSpc>
              <a:buFont typeface="Monotype Sorts"/>
              <a:buNone/>
            </a:pPr>
            <a:r>
              <a:rPr lang="en-US" altLang="en-US" sz="1800" b="1">
                <a:solidFill>
                  <a:schemeClr val="tx2"/>
                </a:solidFill>
                <a:latin typeface="Courier New" panose="02070309020205020404" pitchFamily="49" charset="0"/>
              </a:rPr>
              <a:t>    else if (n == 1)</a:t>
            </a:r>
          </a:p>
          <a:p>
            <a:pPr marL="263525" indent="0">
              <a:lnSpc>
                <a:spcPct val="80000"/>
              </a:lnSpc>
              <a:buFont typeface="Monotype Sorts"/>
              <a:buNone/>
            </a:pPr>
            <a:r>
              <a:rPr lang="en-US" altLang="en-US" sz="1800" b="1">
                <a:solidFill>
                  <a:schemeClr val="tx2"/>
                </a:solidFill>
                <a:latin typeface="Courier New" panose="02070309020205020404" pitchFamily="49" charset="0"/>
              </a:rPr>
              <a:t>      return f1;</a:t>
            </a:r>
          </a:p>
          <a:p>
            <a:pPr marL="263525" indent="0">
              <a:lnSpc>
                <a:spcPct val="80000"/>
              </a:lnSpc>
              <a:buFont typeface="Monotype Sorts"/>
              <a:buNone/>
            </a:pPr>
            <a:r>
              <a:rPr lang="en-US" altLang="en-US" sz="1800" b="1">
                <a:solidFill>
                  <a:schemeClr val="tx2"/>
                </a:solidFill>
                <a:latin typeface="Courier New" panose="02070309020205020404" pitchFamily="49" charset="0"/>
              </a:rPr>
              <a:t>    else if (n == 2)</a:t>
            </a:r>
          </a:p>
          <a:p>
            <a:pPr marL="263525" indent="0">
              <a:lnSpc>
                <a:spcPct val="80000"/>
              </a:lnSpc>
              <a:buFont typeface="Monotype Sorts"/>
              <a:buNone/>
            </a:pPr>
            <a:r>
              <a:rPr lang="en-US" altLang="en-US" sz="1800" b="1">
                <a:solidFill>
                  <a:schemeClr val="tx2"/>
                </a:solidFill>
                <a:latin typeface="Courier New" panose="02070309020205020404" pitchFamily="49" charset="0"/>
              </a:rPr>
              <a:t>      return f2;    </a:t>
            </a:r>
          </a:p>
          <a:p>
            <a:pPr marL="263525" indent="0">
              <a:lnSpc>
                <a:spcPct val="80000"/>
              </a:lnSpc>
              <a:buFont typeface="Monotype Sorts"/>
              <a:buNone/>
            </a:pPr>
            <a:r>
              <a:rPr lang="en-US" altLang="en-US" sz="1800" b="1">
                <a:solidFill>
                  <a:schemeClr val="tx2"/>
                </a:solidFill>
                <a:latin typeface="Courier New" panose="02070309020205020404" pitchFamily="49" charset="0"/>
              </a:rPr>
              <a:t>    </a:t>
            </a:r>
          </a:p>
          <a:p>
            <a:pPr marL="263525" indent="0">
              <a:lnSpc>
                <a:spcPct val="80000"/>
              </a:lnSpc>
              <a:buFont typeface="Monotype Sorts"/>
              <a:buNone/>
            </a:pPr>
            <a:r>
              <a:rPr lang="en-US" altLang="en-US" sz="1800" b="1">
                <a:solidFill>
                  <a:schemeClr val="tx2"/>
                </a:solidFill>
                <a:latin typeface="Courier New" panose="02070309020205020404" pitchFamily="49" charset="0"/>
              </a:rPr>
              <a:t>    for (int i = 3; i &lt;= n; i++) {</a:t>
            </a:r>
          </a:p>
          <a:p>
            <a:pPr marL="263525" indent="0">
              <a:lnSpc>
                <a:spcPct val="80000"/>
              </a:lnSpc>
              <a:buFont typeface="Monotype Sorts"/>
              <a:buNone/>
            </a:pPr>
            <a:r>
              <a:rPr lang="en-US" altLang="en-US" sz="1800" b="1">
                <a:solidFill>
                  <a:schemeClr val="tx2"/>
                </a:solidFill>
                <a:latin typeface="Courier New" panose="02070309020205020404" pitchFamily="49" charset="0"/>
              </a:rPr>
              <a:t>      f0 = f1;</a:t>
            </a:r>
          </a:p>
          <a:p>
            <a:pPr marL="263525" indent="0">
              <a:lnSpc>
                <a:spcPct val="80000"/>
              </a:lnSpc>
              <a:buFont typeface="Monotype Sorts"/>
              <a:buNone/>
            </a:pPr>
            <a:r>
              <a:rPr lang="en-US" altLang="en-US" sz="1800" b="1">
                <a:solidFill>
                  <a:schemeClr val="tx2"/>
                </a:solidFill>
                <a:latin typeface="Courier New" panose="02070309020205020404" pitchFamily="49" charset="0"/>
              </a:rPr>
              <a:t>      f1 = f2;</a:t>
            </a:r>
          </a:p>
          <a:p>
            <a:pPr marL="263525" indent="0">
              <a:lnSpc>
                <a:spcPct val="80000"/>
              </a:lnSpc>
              <a:buFont typeface="Monotype Sorts"/>
              <a:buNone/>
            </a:pPr>
            <a:r>
              <a:rPr lang="en-US" altLang="en-US" sz="1800" b="1">
                <a:solidFill>
                  <a:schemeClr val="tx2"/>
                </a:solidFill>
                <a:latin typeface="Courier New" panose="02070309020205020404" pitchFamily="49" charset="0"/>
              </a:rPr>
              <a:t>      f2 = f0 + f1;</a:t>
            </a:r>
          </a:p>
          <a:p>
            <a:pPr marL="263525" indent="0">
              <a:lnSpc>
                <a:spcPct val="80000"/>
              </a:lnSpc>
              <a:buFont typeface="Monotype Sorts"/>
              <a:buNone/>
            </a:pPr>
            <a:r>
              <a:rPr lang="en-US" altLang="en-US" sz="1800" b="1">
                <a:solidFill>
                  <a:schemeClr val="tx2"/>
                </a:solidFill>
                <a:latin typeface="Courier New" panose="02070309020205020404" pitchFamily="49" charset="0"/>
              </a:rPr>
              <a:t>    }</a:t>
            </a:r>
          </a:p>
          <a:p>
            <a:pPr marL="263525" indent="0">
              <a:lnSpc>
                <a:spcPct val="80000"/>
              </a:lnSpc>
              <a:buFont typeface="Monotype Sorts"/>
              <a:buNone/>
            </a:pPr>
            <a:r>
              <a:rPr lang="en-US" altLang="en-US" sz="1800" b="1">
                <a:solidFill>
                  <a:schemeClr val="tx2"/>
                </a:solidFill>
                <a:latin typeface="Courier New" panose="02070309020205020404" pitchFamily="49" charset="0"/>
              </a:rPr>
              <a:t>    </a:t>
            </a:r>
          </a:p>
          <a:p>
            <a:pPr marL="263525" indent="0">
              <a:lnSpc>
                <a:spcPct val="80000"/>
              </a:lnSpc>
              <a:buFont typeface="Monotype Sorts"/>
              <a:buNone/>
            </a:pPr>
            <a:r>
              <a:rPr lang="en-US" altLang="en-US" sz="1800" b="1">
                <a:solidFill>
                  <a:schemeClr val="tx2"/>
                </a:solidFill>
                <a:latin typeface="Courier New" panose="02070309020205020404" pitchFamily="49" charset="0"/>
              </a:rPr>
              <a:t>    return f2;</a:t>
            </a:r>
          </a:p>
          <a:p>
            <a:pPr marL="263525" indent="0">
              <a:lnSpc>
                <a:spcPct val="80000"/>
              </a:lnSpc>
              <a:buFont typeface="Monotype Sorts"/>
              <a:buNone/>
            </a:pPr>
            <a:r>
              <a:rPr lang="en-US" altLang="en-US" sz="1800" b="1">
                <a:solidFill>
                  <a:schemeClr val="tx2"/>
                </a:solidFill>
                <a:latin typeface="Courier New" panose="02070309020205020404" pitchFamily="49" charset="0"/>
              </a:rPr>
              <a:t>  }</a:t>
            </a:r>
          </a:p>
        </p:txBody>
      </p:sp>
      <p:sp>
        <p:nvSpPr>
          <p:cNvPr id="34818" name="Slide Number Placeholder 4">
            <a:extLst>
              <a:ext uri="{FF2B5EF4-FFF2-40B4-BE49-F238E27FC236}">
                <a16:creationId xmlns:a16="http://schemas.microsoft.com/office/drawing/2014/main" id="{9EFBF745-4C35-4FB9-BDB8-9219EE7D3C1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4C486FF-E708-4AED-B92A-CBC8B545275F}" type="slidenum">
              <a:rPr lang="en-US" altLang="en-US" sz="1400"/>
              <a:pPr>
                <a:spcBef>
                  <a:spcPct val="0"/>
                </a:spcBef>
                <a:buClrTx/>
                <a:buSzTx/>
                <a:buFontTx/>
                <a:buNone/>
              </a:pPr>
              <a:t>30</a:t>
            </a:fld>
            <a:endParaRPr lang="en-US" altLang="en-US" sz="1400"/>
          </a:p>
        </p:txBody>
      </p:sp>
      <p:sp>
        <p:nvSpPr>
          <p:cNvPr id="34830" name="Rectangle 13">
            <a:extLst>
              <a:ext uri="{FF2B5EF4-FFF2-40B4-BE49-F238E27FC236}">
                <a16:creationId xmlns:a16="http://schemas.microsoft.com/office/drawing/2014/main" id="{AFFCD5EA-F9C5-435A-B7FB-56B008916D12}"/>
              </a:ext>
            </a:extLst>
          </p:cNvPr>
          <p:cNvSpPr>
            <a:spLocks noChangeArrowheads="1"/>
          </p:cNvSpPr>
          <p:nvPr/>
        </p:nvSpPr>
        <p:spPr bwMode="auto">
          <a:xfrm>
            <a:off x="4168775" y="2514600"/>
            <a:ext cx="4953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a:solidFill>
                  <a:schemeClr val="tx2"/>
                </a:solidFill>
              </a:rPr>
              <a:t>Obviously, the complexity of this new algorithm is      . This is a tremendous improvement over the recursive algorithm.</a:t>
            </a:r>
          </a:p>
        </p:txBody>
      </p:sp>
      <p:graphicFrame>
        <p:nvGraphicFramePr>
          <p:cNvPr id="34832" name="Object 14">
            <a:extLst>
              <a:ext uri="{FF2B5EF4-FFF2-40B4-BE49-F238E27FC236}">
                <a16:creationId xmlns:a16="http://schemas.microsoft.com/office/drawing/2014/main" id="{3955FFF4-AE78-46D6-A016-5754FC3EB43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40253223"/>
              </p:ext>
            </p:extLst>
          </p:nvPr>
        </p:nvGraphicFramePr>
        <p:xfrm>
          <a:off x="8001000" y="4114800"/>
          <a:ext cx="533400" cy="301625"/>
        </p:xfrm>
        <a:graphic>
          <a:graphicData uri="http://schemas.openxmlformats.org/presentationml/2006/ole">
            <mc:AlternateContent xmlns:mc="http://schemas.openxmlformats.org/markup-compatibility/2006">
              <mc:Choice xmlns:v="urn:schemas-microsoft-com:vml" Requires="v">
                <p:oleObj name="Equation" r:id="rId2" imgW="355292" imgH="203024" progId="Equation.3">
                  <p:embed/>
                </p:oleObj>
              </mc:Choice>
              <mc:Fallback>
                <p:oleObj name="Equation" r:id="rId2" imgW="355292" imgH="203024"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4114800"/>
                        <a:ext cx="533400" cy="301625"/>
                      </a:xfrm>
                      <a:prstGeom prst="rect">
                        <a:avLst/>
                      </a:prstGeom>
                      <a:solidFill>
                        <a:srgbClr val="FFFF00"/>
                      </a:solidFill>
                      <a:ln>
                        <a:noFill/>
                      </a:ln>
                    </p:spPr>
                  </p:pic>
                </p:oleObj>
              </mc:Fallback>
            </mc:AlternateContent>
          </a:graphicData>
        </a:graphic>
      </p:graphicFrame>
      <p:sp>
        <p:nvSpPr>
          <p:cNvPr id="34833" name="Rectangle 8">
            <a:hlinkClick r:id="rId4"/>
            <a:extLst>
              <a:ext uri="{FF2B5EF4-FFF2-40B4-BE49-F238E27FC236}">
                <a16:creationId xmlns:a16="http://schemas.microsoft.com/office/drawing/2014/main" id="{A510E0C2-9BAB-4D02-9768-5194E9D46811}"/>
              </a:ext>
            </a:extLst>
          </p:cNvPr>
          <p:cNvSpPr>
            <a:spLocks noChangeArrowheads="1"/>
          </p:cNvSpPr>
          <p:nvPr/>
        </p:nvSpPr>
        <p:spPr bwMode="auto">
          <a:xfrm>
            <a:off x="4994275" y="5824538"/>
            <a:ext cx="21764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ImprovedFibonacci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5415F081-82CC-44F3-BDEB-F7106757E94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3C6C7BE-C560-4829-8CAD-95B8DEB77AE8}" type="slidenum">
              <a:rPr lang="en-US" altLang="en-US" sz="1400"/>
              <a:pPr>
                <a:spcBef>
                  <a:spcPct val="0"/>
                </a:spcBef>
                <a:buClrTx/>
                <a:buSzTx/>
                <a:buFontTx/>
                <a:buNone/>
              </a:pPr>
              <a:t>31</a:t>
            </a:fld>
            <a:endParaRPr lang="en-US" altLang="en-US" sz="1400"/>
          </a:p>
        </p:txBody>
      </p:sp>
      <p:sp>
        <p:nvSpPr>
          <p:cNvPr id="35853" name="Rectangle 16">
            <a:extLst>
              <a:ext uri="{FF2B5EF4-FFF2-40B4-BE49-F238E27FC236}">
                <a16:creationId xmlns:a16="http://schemas.microsoft.com/office/drawing/2014/main" id="{0A039A81-592A-4F06-B372-BADD3BD21506}"/>
              </a:ext>
            </a:extLst>
          </p:cNvPr>
          <p:cNvSpPr>
            <a:spLocks noChangeArrowheads="1"/>
          </p:cNvSpPr>
          <p:nvPr/>
        </p:nvSpPr>
        <p:spPr bwMode="auto">
          <a:xfrm>
            <a:off x="0" y="685800"/>
            <a:ext cx="8915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dirty="0">
                <a:latin typeface="Courier New" panose="02070309020205020404" pitchFamily="49" charset="0"/>
              </a:rPr>
              <a:t>                  f0 f1 f2</a:t>
            </a:r>
          </a:p>
          <a:p>
            <a:pPr>
              <a:lnSpc>
                <a:spcPct val="90000"/>
              </a:lnSpc>
              <a:buFont typeface="Monotype Sorts"/>
              <a:buNone/>
            </a:pPr>
            <a:r>
              <a:rPr lang="en-US" altLang="en-US" sz="2000" dirty="0">
                <a:latin typeface="Courier New" panose="02070309020205020404" pitchFamily="49" charset="0"/>
              </a:rPr>
              <a:t>Fibonacci series: 0  1  1  2 3 5 8 13 21 34 55 89…</a:t>
            </a:r>
          </a:p>
          <a:p>
            <a:pPr>
              <a:lnSpc>
                <a:spcPct val="90000"/>
              </a:lnSpc>
              <a:spcBef>
                <a:spcPct val="50000"/>
              </a:spcBef>
              <a:buFont typeface="Monotype Sorts"/>
              <a:buNone/>
            </a:pPr>
            <a:r>
              <a:rPr lang="en-US" altLang="en-US" sz="2000" dirty="0">
                <a:latin typeface="Courier New" panose="02070309020205020404" pitchFamily="49" charset="0"/>
              </a:rPr>
              <a:t>         indices: 0  1  2  3 4 5 6 7  8  9  10 11</a:t>
            </a:r>
            <a:r>
              <a:rPr lang="en-US" altLang="en-US" sz="2400" dirty="0">
                <a:latin typeface="Courier New" panose="02070309020205020404" pitchFamily="49" charset="0"/>
              </a:rPr>
              <a:t>             </a:t>
            </a:r>
          </a:p>
        </p:txBody>
      </p:sp>
      <p:sp>
        <p:nvSpPr>
          <p:cNvPr id="35854" name="Rectangle 18">
            <a:extLst>
              <a:ext uri="{FF2B5EF4-FFF2-40B4-BE49-F238E27FC236}">
                <a16:creationId xmlns:a16="http://schemas.microsoft.com/office/drawing/2014/main" id="{71FB92A0-8120-4D78-8215-10DAB235D7E2}"/>
              </a:ext>
            </a:extLst>
          </p:cNvPr>
          <p:cNvSpPr>
            <a:spLocks noChangeArrowheads="1"/>
          </p:cNvSpPr>
          <p:nvPr/>
        </p:nvSpPr>
        <p:spPr bwMode="auto">
          <a:xfrm>
            <a:off x="0" y="2133600"/>
            <a:ext cx="8915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a:latin typeface="Courier New" panose="02070309020205020404" pitchFamily="49" charset="0"/>
              </a:rPr>
              <a:t>                    f0 f1 f2</a:t>
            </a:r>
          </a:p>
          <a:p>
            <a:pPr>
              <a:lnSpc>
                <a:spcPct val="90000"/>
              </a:lnSpc>
              <a:buFont typeface="Monotype Sorts"/>
              <a:buNone/>
            </a:pPr>
            <a:r>
              <a:rPr lang="en-US" altLang="en-US" sz="2000">
                <a:latin typeface="Courier New" panose="02070309020205020404" pitchFamily="49" charset="0"/>
              </a:rPr>
              <a:t>Fibonacci series: 0  1  1  2  3  5  8  13  21 34 55 89…</a:t>
            </a:r>
          </a:p>
          <a:p>
            <a:pPr>
              <a:lnSpc>
                <a:spcPct val="90000"/>
              </a:lnSpc>
              <a:spcBef>
                <a:spcPct val="50000"/>
              </a:spcBef>
              <a:buFont typeface="Monotype Sorts"/>
              <a:buNone/>
            </a:pPr>
            <a:r>
              <a:rPr lang="en-US" altLang="en-US" sz="2000">
                <a:latin typeface="Courier New" panose="02070309020205020404" pitchFamily="49" charset="0"/>
              </a:rPr>
              <a:t>         indices: 0  1  2  3  4  5  6  7   8  9  10 11</a:t>
            </a:r>
            <a:r>
              <a:rPr lang="en-US" altLang="en-US" sz="2400">
                <a:latin typeface="Courier New" panose="02070309020205020404" pitchFamily="49" charset="0"/>
              </a:rPr>
              <a:t>             </a:t>
            </a:r>
          </a:p>
        </p:txBody>
      </p:sp>
      <p:sp>
        <p:nvSpPr>
          <p:cNvPr id="35855" name="Rectangle 19">
            <a:extLst>
              <a:ext uri="{FF2B5EF4-FFF2-40B4-BE49-F238E27FC236}">
                <a16:creationId xmlns:a16="http://schemas.microsoft.com/office/drawing/2014/main" id="{CCC3EB5E-715C-4058-AF5F-F98E3A84C429}"/>
              </a:ext>
            </a:extLst>
          </p:cNvPr>
          <p:cNvSpPr>
            <a:spLocks noChangeArrowheads="1"/>
          </p:cNvSpPr>
          <p:nvPr/>
        </p:nvSpPr>
        <p:spPr bwMode="auto">
          <a:xfrm>
            <a:off x="0" y="3581400"/>
            <a:ext cx="8915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dirty="0">
                <a:latin typeface="Courier New" panose="02070309020205020404" pitchFamily="49" charset="0"/>
              </a:rPr>
              <a:t>                       f0 f1 f2</a:t>
            </a:r>
          </a:p>
          <a:p>
            <a:pPr>
              <a:lnSpc>
                <a:spcPct val="90000"/>
              </a:lnSpc>
              <a:buFont typeface="Monotype Sorts"/>
              <a:buNone/>
            </a:pPr>
            <a:r>
              <a:rPr lang="en-US" altLang="en-US" sz="2000" dirty="0">
                <a:latin typeface="Courier New" panose="02070309020205020404" pitchFamily="49" charset="0"/>
              </a:rPr>
              <a:t>Fibonacci series: 0  1  1  2  3  5  8  13  21  34  55 89…</a:t>
            </a:r>
          </a:p>
          <a:p>
            <a:pPr>
              <a:lnSpc>
                <a:spcPct val="90000"/>
              </a:lnSpc>
              <a:spcBef>
                <a:spcPct val="50000"/>
              </a:spcBef>
              <a:buFont typeface="Monotype Sorts"/>
              <a:buNone/>
            </a:pPr>
            <a:r>
              <a:rPr lang="en-US" altLang="en-US" sz="2000" dirty="0">
                <a:latin typeface="Courier New" panose="02070309020205020404" pitchFamily="49" charset="0"/>
              </a:rPr>
              <a:t>         indices: 0  1  2  3  4  5  6  7   8   9   10 11</a:t>
            </a:r>
            <a:r>
              <a:rPr lang="en-US" altLang="en-US" sz="2400" dirty="0">
                <a:latin typeface="Courier New" panose="02070309020205020404" pitchFamily="49" charset="0"/>
              </a:rPr>
              <a:t>             </a:t>
            </a:r>
          </a:p>
        </p:txBody>
      </p:sp>
      <p:sp>
        <p:nvSpPr>
          <p:cNvPr id="35856" name="Rectangle 21">
            <a:extLst>
              <a:ext uri="{FF2B5EF4-FFF2-40B4-BE49-F238E27FC236}">
                <a16:creationId xmlns:a16="http://schemas.microsoft.com/office/drawing/2014/main" id="{2517ADE7-A0D6-4E6D-896E-886950F0C363}"/>
              </a:ext>
            </a:extLst>
          </p:cNvPr>
          <p:cNvSpPr>
            <a:spLocks noChangeArrowheads="1"/>
          </p:cNvSpPr>
          <p:nvPr/>
        </p:nvSpPr>
        <p:spPr bwMode="auto">
          <a:xfrm>
            <a:off x="0" y="4953000"/>
            <a:ext cx="8915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a:latin typeface="Courier New" panose="02070309020205020404" pitchFamily="49" charset="0"/>
              </a:rPr>
              <a:t>                                             f0 f1 f2</a:t>
            </a:r>
          </a:p>
          <a:p>
            <a:pPr>
              <a:lnSpc>
                <a:spcPct val="90000"/>
              </a:lnSpc>
              <a:buFont typeface="Monotype Sorts"/>
              <a:buNone/>
            </a:pPr>
            <a:r>
              <a:rPr lang="en-US" altLang="en-US" sz="2000">
                <a:latin typeface="Courier New" panose="02070309020205020404" pitchFamily="49" charset="0"/>
              </a:rPr>
              <a:t>Fibonacci series: 0  1  1  2  3  5  8  13 21 34 55 89…</a:t>
            </a:r>
          </a:p>
          <a:p>
            <a:pPr>
              <a:lnSpc>
                <a:spcPct val="90000"/>
              </a:lnSpc>
              <a:spcBef>
                <a:spcPct val="50000"/>
              </a:spcBef>
              <a:buFont typeface="Monotype Sorts"/>
              <a:buNone/>
            </a:pPr>
            <a:r>
              <a:rPr lang="en-US" altLang="en-US" sz="2000">
                <a:latin typeface="Courier New" panose="02070309020205020404" pitchFamily="49" charset="0"/>
              </a:rPr>
              <a:t>         indices: 0  1  2  3  4  5  6  7  8  9  10 11</a:t>
            </a:r>
            <a:r>
              <a:rPr lang="en-US" altLang="en-US" sz="2400">
                <a:latin typeface="Courier New" panose="02070309020205020404" pitchFamily="49" charset="0"/>
              </a:rPr>
              <a:t>             </a:t>
            </a:r>
          </a:p>
        </p:txBody>
      </p:sp>
      <p:sp>
        <p:nvSpPr>
          <p:cNvPr id="17" name="Rectangle 2">
            <a:extLst>
              <a:ext uri="{FF2B5EF4-FFF2-40B4-BE49-F238E27FC236}">
                <a16:creationId xmlns:a16="http://schemas.microsoft.com/office/drawing/2014/main" id="{3167337A-3AD8-4DD6-AFC0-FCF61DAADE2D}"/>
              </a:ext>
            </a:extLst>
          </p:cNvPr>
          <p:cNvSpPr>
            <a:spLocks noGrp="1" noChangeArrowheads="1"/>
          </p:cNvSpPr>
          <p:nvPr>
            <p:ph type="title"/>
          </p:nvPr>
        </p:nvSpPr>
        <p:spPr>
          <a:xfrm>
            <a:off x="0" y="0"/>
            <a:ext cx="9144000" cy="533400"/>
          </a:xfrm>
          <a:noFill/>
        </p:spPr>
        <p:txBody>
          <a:bodyPr/>
          <a:lstStyle/>
          <a:p>
            <a:r>
              <a:rPr lang="en-US" altLang="en-US" sz="3200" dirty="0"/>
              <a:t>Non-recursive version of Fibonacci Numbers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AB146388-EEF2-47D3-99C5-34D09DEFD9ED}"/>
              </a:ext>
            </a:extLst>
          </p:cNvPr>
          <p:cNvSpPr>
            <a:spLocks noGrp="1" noChangeArrowheads="1"/>
          </p:cNvSpPr>
          <p:nvPr>
            <p:ph type="title"/>
          </p:nvPr>
        </p:nvSpPr>
        <p:spPr>
          <a:xfrm>
            <a:off x="685800" y="228600"/>
            <a:ext cx="7772400" cy="914400"/>
          </a:xfrm>
          <a:noFill/>
        </p:spPr>
        <p:txBody>
          <a:bodyPr/>
          <a:lstStyle/>
          <a:p>
            <a:r>
              <a:rPr lang="en-US" altLang="en-US"/>
              <a:t>Dynamic Programming</a:t>
            </a:r>
          </a:p>
        </p:txBody>
      </p:sp>
      <p:sp>
        <p:nvSpPr>
          <p:cNvPr id="36878" name="Rectangle 16">
            <a:extLst>
              <a:ext uri="{FF2B5EF4-FFF2-40B4-BE49-F238E27FC236}">
                <a16:creationId xmlns:a16="http://schemas.microsoft.com/office/drawing/2014/main" id="{17DEA38D-F7BA-4785-BB76-81C1C4272E87}"/>
              </a:ext>
            </a:extLst>
          </p:cNvPr>
          <p:cNvSpPr>
            <a:spLocks noGrp="1" noChangeArrowheads="1"/>
          </p:cNvSpPr>
          <p:nvPr>
            <p:ph idx="1"/>
          </p:nvPr>
        </p:nvSpPr>
        <p:spPr>
          <a:xfrm>
            <a:off x="228600" y="1295400"/>
            <a:ext cx="8610600" cy="4953000"/>
          </a:xfrm>
        </p:spPr>
        <p:txBody>
          <a:bodyPr/>
          <a:lstStyle/>
          <a:p>
            <a:pPr>
              <a:buFont typeface="Wingdings" panose="05000000000000000000" pitchFamily="2" charset="2"/>
              <a:buChar char="§"/>
            </a:pPr>
            <a:r>
              <a:rPr lang="en-US" altLang="en-US" sz="2400" dirty="0"/>
              <a:t>The algorithm for computing Fibonacci numbers presented here uses an approach known as </a:t>
            </a:r>
            <a:r>
              <a:rPr lang="en-US" altLang="en-US" sz="2400" b="1" dirty="0"/>
              <a:t>dynamic programming</a:t>
            </a:r>
            <a:r>
              <a:rPr lang="en-US" altLang="en-US" sz="2400" dirty="0"/>
              <a:t>. </a:t>
            </a:r>
          </a:p>
          <a:p>
            <a:pPr>
              <a:buFont typeface="Wingdings" panose="05000000000000000000" pitchFamily="2" charset="2"/>
              <a:buChar char="§"/>
            </a:pPr>
            <a:r>
              <a:rPr lang="en-US" altLang="en-US" sz="2400" b="1" dirty="0">
                <a:highlight>
                  <a:srgbClr val="FFFF00"/>
                </a:highlight>
              </a:rPr>
              <a:t>Dynamic programming </a:t>
            </a:r>
            <a:r>
              <a:rPr lang="en-US" altLang="en-US" sz="2400" dirty="0"/>
              <a:t>is to solve subproblems, then combine the solutions of subproblems to obtain an overall solution. </a:t>
            </a:r>
          </a:p>
          <a:p>
            <a:pPr>
              <a:buFont typeface="Wingdings" panose="05000000000000000000" pitchFamily="2" charset="2"/>
              <a:buChar char="§"/>
            </a:pPr>
            <a:r>
              <a:rPr lang="en-US" altLang="en-US" sz="2400" dirty="0">
                <a:highlight>
                  <a:srgbClr val="FFFF00"/>
                </a:highlight>
              </a:rPr>
              <a:t>This naturally leads to a recursive solution. However, it would be inefficient to use recursion, because the subproblems overlap. </a:t>
            </a:r>
          </a:p>
          <a:p>
            <a:pPr>
              <a:buFont typeface="Wingdings" panose="05000000000000000000" pitchFamily="2" charset="2"/>
              <a:buChar char="§"/>
            </a:pPr>
            <a:r>
              <a:rPr lang="en-US" altLang="en-US" sz="2400" dirty="0"/>
              <a:t>The key idea behind dynamic programming is to solve each subprogram only once and storing the results for subproblems for later use to avoid redundant computing of the subproblems. </a:t>
            </a:r>
          </a:p>
        </p:txBody>
      </p:sp>
      <p:sp>
        <p:nvSpPr>
          <p:cNvPr id="36866" name="Slide Number Placeholder 4">
            <a:extLst>
              <a:ext uri="{FF2B5EF4-FFF2-40B4-BE49-F238E27FC236}">
                <a16:creationId xmlns:a16="http://schemas.microsoft.com/office/drawing/2014/main" id="{B2520060-8639-49A3-A030-14EFF5DA4D5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B6E096E-9A79-4A9E-B79D-78FBED834FFA}" type="slidenum">
              <a:rPr lang="en-US" altLang="en-US" sz="1400"/>
              <a:pPr>
                <a:spcBef>
                  <a:spcPct val="0"/>
                </a:spcBef>
                <a:buClrTx/>
                <a:buSzTx/>
                <a:buFontTx/>
                <a:buNone/>
              </a:pPr>
              <a:t>32</a:t>
            </a:fld>
            <a:endParaRPr lang="en-US" alt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0EA8ADAF-9BA5-494E-83B9-1D49F6996860}"/>
              </a:ext>
            </a:extLst>
          </p:cNvPr>
          <p:cNvSpPr>
            <a:spLocks noGrp="1" noChangeArrowheads="1"/>
          </p:cNvSpPr>
          <p:nvPr>
            <p:ph type="title"/>
          </p:nvPr>
        </p:nvSpPr>
        <p:spPr>
          <a:xfrm>
            <a:off x="685800" y="228600"/>
            <a:ext cx="7772400" cy="1143000"/>
          </a:xfrm>
          <a:noFill/>
        </p:spPr>
        <p:txBody>
          <a:bodyPr/>
          <a:lstStyle/>
          <a:p>
            <a:r>
              <a:rPr lang="en-US" altLang="en-US" dirty="0"/>
              <a:t>Case Study: GCD Algorithms Version 1</a:t>
            </a:r>
          </a:p>
        </p:txBody>
      </p:sp>
      <p:sp>
        <p:nvSpPr>
          <p:cNvPr id="37900" name="Rectangle 11">
            <a:extLst>
              <a:ext uri="{FF2B5EF4-FFF2-40B4-BE49-F238E27FC236}">
                <a16:creationId xmlns:a16="http://schemas.microsoft.com/office/drawing/2014/main" id="{0649C979-AF48-4931-93FF-4C8596F0643F}"/>
              </a:ext>
            </a:extLst>
          </p:cNvPr>
          <p:cNvSpPr>
            <a:spLocks noGrp="1" noChangeArrowheads="1"/>
          </p:cNvSpPr>
          <p:nvPr>
            <p:ph idx="1"/>
          </p:nvPr>
        </p:nvSpPr>
        <p:spPr>
          <a:xfrm>
            <a:off x="152400" y="1524000"/>
            <a:ext cx="5715000" cy="3733800"/>
          </a:xfrm>
        </p:spPr>
        <p:txBody>
          <a:bodyPr/>
          <a:lstStyle/>
          <a:p>
            <a:pPr marL="263525" indent="0">
              <a:lnSpc>
                <a:spcPct val="80000"/>
              </a:lnSpc>
              <a:buFont typeface="Monotype Sorts"/>
              <a:buNone/>
            </a:pPr>
            <a:r>
              <a:rPr lang="en-US" altLang="en-US" sz="2400" dirty="0">
                <a:solidFill>
                  <a:schemeClr val="tx2"/>
                </a:solidFill>
              </a:rPr>
              <a:t>public static int gcd(int m, int n) </a:t>
            </a:r>
          </a:p>
          <a:p>
            <a:pPr marL="263525" indent="0">
              <a:lnSpc>
                <a:spcPct val="80000"/>
              </a:lnSpc>
              <a:buFont typeface="Monotype Sorts"/>
              <a:buNone/>
            </a:pPr>
            <a:r>
              <a:rPr lang="en-US" altLang="en-US" sz="2400" dirty="0">
                <a:solidFill>
                  <a:schemeClr val="tx2"/>
                </a:solidFill>
              </a:rPr>
              <a:t>{</a:t>
            </a:r>
          </a:p>
          <a:p>
            <a:pPr marL="263525" indent="0">
              <a:lnSpc>
                <a:spcPct val="80000"/>
              </a:lnSpc>
              <a:buFont typeface="Monotype Sorts"/>
              <a:buNone/>
            </a:pPr>
            <a:r>
              <a:rPr lang="en-US" altLang="en-US" sz="2400" dirty="0">
                <a:solidFill>
                  <a:schemeClr val="tx2"/>
                </a:solidFill>
              </a:rPr>
              <a:t>    int gcd = 1;</a:t>
            </a:r>
          </a:p>
          <a:p>
            <a:pPr marL="263525" indent="0">
              <a:lnSpc>
                <a:spcPct val="80000"/>
              </a:lnSpc>
              <a:buFont typeface="Monotype Sorts"/>
              <a:buNone/>
            </a:pPr>
            <a:r>
              <a:rPr lang="en-US" altLang="en-US" sz="2400" dirty="0">
                <a:solidFill>
                  <a:schemeClr val="tx2"/>
                </a:solidFill>
              </a:rPr>
              <a:t>    for (int k = 2; k &lt;= m &amp;&amp; k &lt;= n; k++) </a:t>
            </a:r>
          </a:p>
          <a:p>
            <a:pPr marL="263525" indent="0">
              <a:lnSpc>
                <a:spcPct val="80000"/>
              </a:lnSpc>
              <a:buFont typeface="Monotype Sorts"/>
              <a:buNone/>
            </a:pPr>
            <a:r>
              <a:rPr lang="en-US" altLang="en-US" sz="2400" dirty="0">
                <a:solidFill>
                  <a:schemeClr val="tx2"/>
                </a:solidFill>
              </a:rPr>
              <a:t>   {</a:t>
            </a:r>
          </a:p>
          <a:p>
            <a:pPr marL="263525" indent="0">
              <a:lnSpc>
                <a:spcPct val="80000"/>
              </a:lnSpc>
              <a:buFont typeface="Monotype Sorts"/>
              <a:buNone/>
            </a:pPr>
            <a:r>
              <a:rPr lang="en-US" altLang="en-US" sz="2400" dirty="0">
                <a:solidFill>
                  <a:schemeClr val="tx2"/>
                </a:solidFill>
              </a:rPr>
              <a:t>        if (m % k == 0 &amp;&amp; n % k == 0)</a:t>
            </a:r>
          </a:p>
          <a:p>
            <a:pPr marL="263525" indent="0">
              <a:lnSpc>
                <a:spcPct val="80000"/>
              </a:lnSpc>
              <a:buFont typeface="Monotype Sorts"/>
              <a:buNone/>
            </a:pPr>
            <a:r>
              <a:rPr lang="en-US" altLang="en-US" sz="2400" dirty="0">
                <a:solidFill>
                  <a:schemeClr val="tx2"/>
                </a:solidFill>
              </a:rPr>
              <a:t>            gcd = k;</a:t>
            </a:r>
          </a:p>
          <a:p>
            <a:pPr marL="263525" indent="0">
              <a:lnSpc>
                <a:spcPct val="80000"/>
              </a:lnSpc>
              <a:buFont typeface="Monotype Sorts"/>
              <a:buNone/>
            </a:pPr>
            <a:r>
              <a:rPr lang="en-US" altLang="en-US" sz="2400" dirty="0">
                <a:solidFill>
                  <a:schemeClr val="tx2"/>
                </a:solidFill>
              </a:rPr>
              <a:t>    }</a:t>
            </a:r>
          </a:p>
          <a:p>
            <a:pPr marL="263525" indent="0">
              <a:lnSpc>
                <a:spcPct val="80000"/>
              </a:lnSpc>
              <a:buFont typeface="Monotype Sorts"/>
              <a:buNone/>
            </a:pPr>
            <a:r>
              <a:rPr lang="en-US" altLang="en-US" sz="2400" dirty="0">
                <a:solidFill>
                  <a:schemeClr val="tx2"/>
                </a:solidFill>
              </a:rPr>
              <a:t>    return gcd;</a:t>
            </a:r>
          </a:p>
          <a:p>
            <a:pPr marL="263525" indent="0">
              <a:lnSpc>
                <a:spcPct val="80000"/>
              </a:lnSpc>
              <a:buFont typeface="Monotype Sorts"/>
              <a:buNone/>
            </a:pPr>
            <a:r>
              <a:rPr lang="en-US" altLang="en-US" sz="2400" dirty="0">
                <a:solidFill>
                  <a:schemeClr val="tx2"/>
                </a:solidFill>
              </a:rPr>
              <a:t>}</a:t>
            </a:r>
          </a:p>
        </p:txBody>
      </p:sp>
      <p:sp>
        <p:nvSpPr>
          <p:cNvPr id="37890" name="Slide Number Placeholder 4">
            <a:extLst>
              <a:ext uri="{FF2B5EF4-FFF2-40B4-BE49-F238E27FC236}">
                <a16:creationId xmlns:a16="http://schemas.microsoft.com/office/drawing/2014/main" id="{88A7E3AC-F6A5-47DE-8F97-DD3C3299C2E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A9B0BE-67BE-4043-97ED-CC4A09F841C7}" type="slidenum">
              <a:rPr lang="en-US" altLang="en-US" sz="1400"/>
              <a:pPr>
                <a:spcBef>
                  <a:spcPct val="0"/>
                </a:spcBef>
                <a:buClrTx/>
                <a:buSzTx/>
                <a:buFontTx/>
                <a:buNone/>
              </a:pPr>
              <a:t>33</a:t>
            </a:fld>
            <a:endParaRPr lang="en-US" altLang="en-US" sz="1400"/>
          </a:p>
        </p:txBody>
      </p:sp>
      <p:sp>
        <p:nvSpPr>
          <p:cNvPr id="37902" name="Rectangle 13">
            <a:extLst>
              <a:ext uri="{FF2B5EF4-FFF2-40B4-BE49-F238E27FC236}">
                <a16:creationId xmlns:a16="http://schemas.microsoft.com/office/drawing/2014/main" id="{9140D819-5299-4187-921F-AA982D371936}"/>
              </a:ext>
            </a:extLst>
          </p:cNvPr>
          <p:cNvSpPr>
            <a:spLocks noChangeArrowheads="1"/>
          </p:cNvSpPr>
          <p:nvPr/>
        </p:nvSpPr>
        <p:spPr bwMode="auto">
          <a:xfrm>
            <a:off x="3733800" y="4876800"/>
            <a:ext cx="457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dirty="0">
                <a:solidFill>
                  <a:schemeClr val="tx2"/>
                </a:solidFill>
              </a:rPr>
              <a:t>Obviously, the complexity of this algorithm is       . </a:t>
            </a:r>
          </a:p>
        </p:txBody>
      </p:sp>
      <p:graphicFrame>
        <p:nvGraphicFramePr>
          <p:cNvPr id="37904" name="Object 15">
            <a:extLst>
              <a:ext uri="{FF2B5EF4-FFF2-40B4-BE49-F238E27FC236}">
                <a16:creationId xmlns:a16="http://schemas.microsoft.com/office/drawing/2014/main" id="{92135E89-75B0-4D69-A66E-27DAA6BBAAC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71512289"/>
              </p:ext>
            </p:extLst>
          </p:nvPr>
        </p:nvGraphicFramePr>
        <p:xfrm>
          <a:off x="7010399" y="5324021"/>
          <a:ext cx="685801" cy="387804"/>
        </p:xfrm>
        <a:graphic>
          <a:graphicData uri="http://schemas.openxmlformats.org/presentationml/2006/ole">
            <mc:AlternateContent xmlns:mc="http://schemas.openxmlformats.org/markup-compatibility/2006">
              <mc:Choice xmlns:v="urn:schemas-microsoft-com:vml" Requires="v">
                <p:oleObj name="Equation" r:id="rId2" imgW="355292" imgH="203024" progId="Equation.3">
                  <p:embed/>
                </p:oleObj>
              </mc:Choice>
              <mc:Fallback>
                <p:oleObj name="Equation" r:id="rId2" imgW="355292" imgH="203024"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399" y="5324021"/>
                        <a:ext cx="685801" cy="387804"/>
                      </a:xfrm>
                      <a:prstGeom prst="rect">
                        <a:avLst/>
                      </a:prstGeom>
                      <a:solidFill>
                        <a:srgbClr val="FFFF00"/>
                      </a:solidFill>
                      <a:ln>
                        <a:noFill/>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A9A5F-F02D-4EC8-AE64-051FC617F8C8}"/>
              </a:ext>
            </a:extLst>
          </p:cNvPr>
          <p:cNvSpPr>
            <a:spLocks noGrp="1"/>
          </p:cNvSpPr>
          <p:nvPr>
            <p:ph type="title"/>
          </p:nvPr>
        </p:nvSpPr>
        <p:spPr/>
        <p:txBody>
          <a:bodyPr/>
          <a:lstStyle/>
          <a:p>
            <a:r>
              <a:rPr lang="en-US" altLang="en-US" dirty="0"/>
              <a:t>Case Study: GCD Algorithms</a:t>
            </a:r>
            <a:endParaRPr lang="en-US" dirty="0"/>
          </a:p>
        </p:txBody>
      </p:sp>
      <p:sp>
        <p:nvSpPr>
          <p:cNvPr id="3" name="Content Placeholder 2">
            <a:extLst>
              <a:ext uri="{FF2B5EF4-FFF2-40B4-BE49-F238E27FC236}">
                <a16:creationId xmlns:a16="http://schemas.microsoft.com/office/drawing/2014/main" id="{3E4A9B4E-B1DD-4EF8-81E5-594D050489F4}"/>
              </a:ext>
            </a:extLst>
          </p:cNvPr>
          <p:cNvSpPr>
            <a:spLocks noGrp="1"/>
          </p:cNvSpPr>
          <p:nvPr>
            <p:ph idx="1"/>
          </p:nvPr>
        </p:nvSpPr>
        <p:spPr/>
        <p:txBody>
          <a:bodyPr/>
          <a:lstStyle/>
          <a:p>
            <a:pPr>
              <a:buFont typeface="Wingdings" panose="05000000000000000000" pitchFamily="2" charset="2"/>
              <a:buChar char="§"/>
            </a:pPr>
            <a:r>
              <a:rPr lang="en-US" b="1" dirty="0"/>
              <a:t>Brute force</a:t>
            </a:r>
            <a:r>
              <a:rPr lang="en-US" dirty="0"/>
              <a:t> is an approach that solves a problem in the simplest or most direct way.</a:t>
            </a:r>
          </a:p>
          <a:p>
            <a:pPr>
              <a:buFont typeface="Wingdings" panose="05000000000000000000" pitchFamily="2" charset="2"/>
              <a:buChar char="§"/>
            </a:pPr>
            <a:r>
              <a:rPr lang="en-US" dirty="0"/>
              <a:t>It can end up doing much more work than a more sophisticated algorithm</a:t>
            </a:r>
          </a:p>
          <a:p>
            <a:pPr>
              <a:buFont typeface="Wingdings" panose="05000000000000000000" pitchFamily="2" charset="2"/>
              <a:buChar char="§"/>
            </a:pPr>
            <a:r>
              <a:rPr lang="en-US" dirty="0"/>
              <a:t>However, it’s usually easier to write and understand.</a:t>
            </a:r>
          </a:p>
        </p:txBody>
      </p:sp>
      <p:sp>
        <p:nvSpPr>
          <p:cNvPr id="4" name="Slide Number Placeholder 3">
            <a:extLst>
              <a:ext uri="{FF2B5EF4-FFF2-40B4-BE49-F238E27FC236}">
                <a16:creationId xmlns:a16="http://schemas.microsoft.com/office/drawing/2014/main" id="{3A2ADDB5-D6D8-4939-84BC-638D12D05BF8}"/>
              </a:ext>
            </a:extLst>
          </p:cNvPr>
          <p:cNvSpPr>
            <a:spLocks noGrp="1"/>
          </p:cNvSpPr>
          <p:nvPr>
            <p:ph type="sldNum" sz="quarter" idx="11"/>
          </p:nvPr>
        </p:nvSpPr>
        <p:spPr/>
        <p:txBody>
          <a:bodyPr/>
          <a:lstStyle/>
          <a:p>
            <a:fld id="{C5C70C26-EC15-4396-839E-50B1CCFAA104}" type="slidenum">
              <a:rPr lang="en-US" altLang="en-US" smtClean="0"/>
              <a:pPr/>
              <a:t>34</a:t>
            </a:fld>
            <a:endParaRPr lang="en-US" altLang="en-US"/>
          </a:p>
        </p:txBody>
      </p:sp>
    </p:spTree>
    <p:extLst>
      <p:ext uri="{BB962C8B-B14F-4D97-AF65-F5344CB8AC3E}">
        <p14:creationId xmlns:p14="http://schemas.microsoft.com/office/powerpoint/2010/main" val="3957156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E1D2EBCC-1AB1-426C-8ECE-9A2496705595}"/>
              </a:ext>
            </a:extLst>
          </p:cNvPr>
          <p:cNvSpPr>
            <a:spLocks noGrp="1" noChangeArrowheads="1"/>
          </p:cNvSpPr>
          <p:nvPr>
            <p:ph type="title"/>
          </p:nvPr>
        </p:nvSpPr>
        <p:spPr>
          <a:xfrm>
            <a:off x="685800" y="228600"/>
            <a:ext cx="7772400" cy="1143000"/>
          </a:xfrm>
          <a:noFill/>
        </p:spPr>
        <p:txBody>
          <a:bodyPr/>
          <a:lstStyle/>
          <a:p>
            <a:r>
              <a:rPr lang="en-US" altLang="en-US" dirty="0"/>
              <a:t>Case Study: GCD Algorithms Version 2</a:t>
            </a:r>
          </a:p>
        </p:txBody>
      </p:sp>
      <p:sp>
        <p:nvSpPr>
          <p:cNvPr id="38924" name="Rectangle 11">
            <a:extLst>
              <a:ext uri="{FF2B5EF4-FFF2-40B4-BE49-F238E27FC236}">
                <a16:creationId xmlns:a16="http://schemas.microsoft.com/office/drawing/2014/main" id="{2EC3E03D-2DD4-47DD-9A94-9D27662D3A79}"/>
              </a:ext>
            </a:extLst>
          </p:cNvPr>
          <p:cNvSpPr>
            <a:spLocks noGrp="1" noChangeArrowheads="1"/>
          </p:cNvSpPr>
          <p:nvPr>
            <p:ph idx="1"/>
          </p:nvPr>
        </p:nvSpPr>
        <p:spPr>
          <a:xfrm>
            <a:off x="152400" y="1828799"/>
            <a:ext cx="5715000" cy="3428997"/>
          </a:xfrm>
        </p:spPr>
        <p:txBody>
          <a:bodyPr/>
          <a:lstStyle/>
          <a:p>
            <a:pPr marL="263525" indent="0">
              <a:lnSpc>
                <a:spcPct val="80000"/>
              </a:lnSpc>
              <a:buFont typeface="Monotype Sorts"/>
              <a:buNone/>
            </a:pPr>
            <a:r>
              <a:rPr lang="en-US" altLang="en-US" sz="2800" b="1" dirty="0">
                <a:solidFill>
                  <a:schemeClr val="tx2"/>
                </a:solidFill>
              </a:rPr>
              <a:t>for</a:t>
            </a:r>
            <a:r>
              <a:rPr lang="en-US" altLang="en-US" sz="2800" dirty="0">
                <a:solidFill>
                  <a:schemeClr val="tx2"/>
                </a:solidFill>
              </a:rPr>
              <a:t> (</a:t>
            </a:r>
            <a:r>
              <a:rPr lang="en-US" altLang="en-US" sz="2800" b="1" dirty="0">
                <a:solidFill>
                  <a:schemeClr val="tx2"/>
                </a:solidFill>
              </a:rPr>
              <a:t>int</a:t>
            </a:r>
            <a:r>
              <a:rPr lang="en-US" altLang="en-US" sz="2800" dirty="0">
                <a:solidFill>
                  <a:schemeClr val="tx2"/>
                </a:solidFill>
              </a:rPr>
              <a:t> k = n; k &gt;= 1; k--) </a:t>
            </a:r>
          </a:p>
          <a:p>
            <a:pPr marL="263525" indent="0">
              <a:lnSpc>
                <a:spcPct val="80000"/>
              </a:lnSpc>
              <a:buFont typeface="Monotype Sorts"/>
              <a:buNone/>
            </a:pPr>
            <a:r>
              <a:rPr lang="en-US" altLang="en-US" sz="2800" dirty="0">
                <a:solidFill>
                  <a:schemeClr val="tx2"/>
                </a:solidFill>
              </a:rPr>
              <a:t>{</a:t>
            </a:r>
          </a:p>
          <a:p>
            <a:pPr marL="263525" indent="0">
              <a:lnSpc>
                <a:spcPct val="80000"/>
              </a:lnSpc>
              <a:buFont typeface="Monotype Sorts"/>
              <a:buNone/>
            </a:pPr>
            <a:r>
              <a:rPr lang="en-US" altLang="en-US" sz="2800" dirty="0">
                <a:solidFill>
                  <a:schemeClr val="tx2"/>
                </a:solidFill>
              </a:rPr>
              <a:t>    </a:t>
            </a:r>
            <a:r>
              <a:rPr lang="en-US" altLang="en-US" sz="2800" b="1" dirty="0">
                <a:solidFill>
                  <a:schemeClr val="tx2"/>
                </a:solidFill>
              </a:rPr>
              <a:t>if</a:t>
            </a:r>
            <a:r>
              <a:rPr lang="en-US" altLang="en-US" sz="2800" dirty="0">
                <a:solidFill>
                  <a:schemeClr val="tx2"/>
                </a:solidFill>
              </a:rPr>
              <a:t> (m % k == 0 &amp;&amp; n % k == 0) </a:t>
            </a:r>
          </a:p>
          <a:p>
            <a:pPr marL="263525" indent="0">
              <a:lnSpc>
                <a:spcPct val="80000"/>
              </a:lnSpc>
              <a:buFont typeface="Monotype Sorts"/>
              <a:buNone/>
            </a:pPr>
            <a:r>
              <a:rPr lang="en-US" altLang="en-US" sz="2800" dirty="0">
                <a:solidFill>
                  <a:schemeClr val="tx2"/>
                </a:solidFill>
              </a:rPr>
              <a:t>   {</a:t>
            </a:r>
          </a:p>
          <a:p>
            <a:pPr marL="263525" indent="0">
              <a:lnSpc>
                <a:spcPct val="80000"/>
              </a:lnSpc>
              <a:buFont typeface="Monotype Sorts"/>
              <a:buNone/>
            </a:pPr>
            <a:r>
              <a:rPr lang="en-US" altLang="en-US" sz="2800" dirty="0">
                <a:solidFill>
                  <a:schemeClr val="tx2"/>
                </a:solidFill>
              </a:rPr>
              <a:t>        gcd = k;</a:t>
            </a:r>
          </a:p>
          <a:p>
            <a:pPr marL="263525" indent="0">
              <a:lnSpc>
                <a:spcPct val="80000"/>
              </a:lnSpc>
              <a:buFont typeface="Monotype Sorts"/>
              <a:buNone/>
            </a:pPr>
            <a:r>
              <a:rPr lang="en-US" altLang="en-US" sz="2800" dirty="0">
                <a:solidFill>
                  <a:schemeClr val="tx2"/>
                </a:solidFill>
              </a:rPr>
              <a:t>        break;</a:t>
            </a:r>
          </a:p>
          <a:p>
            <a:pPr marL="263525" indent="0">
              <a:lnSpc>
                <a:spcPct val="80000"/>
              </a:lnSpc>
              <a:buFont typeface="Monotype Sorts"/>
              <a:buNone/>
            </a:pPr>
            <a:r>
              <a:rPr lang="en-US" altLang="en-US" sz="2800" dirty="0">
                <a:solidFill>
                  <a:schemeClr val="tx2"/>
                </a:solidFill>
              </a:rPr>
              <a:t>    }</a:t>
            </a:r>
          </a:p>
          <a:p>
            <a:pPr marL="263525" indent="0">
              <a:lnSpc>
                <a:spcPct val="80000"/>
              </a:lnSpc>
              <a:buFont typeface="Monotype Sorts"/>
              <a:buNone/>
            </a:pPr>
            <a:r>
              <a:rPr lang="en-US" altLang="en-US" sz="2800" dirty="0">
                <a:solidFill>
                  <a:schemeClr val="tx2"/>
                </a:solidFill>
              </a:rPr>
              <a:t>}</a:t>
            </a:r>
          </a:p>
        </p:txBody>
      </p:sp>
      <p:sp>
        <p:nvSpPr>
          <p:cNvPr id="38914" name="Slide Number Placeholder 4">
            <a:extLst>
              <a:ext uri="{FF2B5EF4-FFF2-40B4-BE49-F238E27FC236}">
                <a16:creationId xmlns:a16="http://schemas.microsoft.com/office/drawing/2014/main" id="{669BBDE7-5597-41E3-915C-F1ED87C2EE2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47B835F-2E5D-405E-A993-35309BD2187B}" type="slidenum">
              <a:rPr lang="en-US" altLang="en-US" sz="1400"/>
              <a:pPr>
                <a:spcBef>
                  <a:spcPct val="0"/>
                </a:spcBef>
                <a:buClrTx/>
                <a:buSzTx/>
                <a:buFontTx/>
                <a:buNone/>
              </a:pPr>
              <a:t>35</a:t>
            </a:fld>
            <a:endParaRPr lang="en-US" altLang="en-US" sz="1400"/>
          </a:p>
        </p:txBody>
      </p:sp>
      <p:sp>
        <p:nvSpPr>
          <p:cNvPr id="38926" name="Rectangle 13">
            <a:extLst>
              <a:ext uri="{FF2B5EF4-FFF2-40B4-BE49-F238E27FC236}">
                <a16:creationId xmlns:a16="http://schemas.microsoft.com/office/drawing/2014/main" id="{36E1E9A1-153E-4C0A-8AA3-01E0A839ACA3}"/>
              </a:ext>
            </a:extLst>
          </p:cNvPr>
          <p:cNvSpPr>
            <a:spLocks noChangeArrowheads="1"/>
          </p:cNvSpPr>
          <p:nvPr/>
        </p:nvSpPr>
        <p:spPr bwMode="auto">
          <a:xfrm>
            <a:off x="2590800" y="4876800"/>
            <a:ext cx="5715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dirty="0">
                <a:solidFill>
                  <a:schemeClr val="tx2"/>
                </a:solidFill>
              </a:rPr>
              <a:t>The worst-case time complexity of this algorithm is still        . </a:t>
            </a:r>
          </a:p>
        </p:txBody>
      </p:sp>
      <p:graphicFrame>
        <p:nvGraphicFramePr>
          <p:cNvPr id="38928" name="Object 15">
            <a:extLst>
              <a:ext uri="{FF2B5EF4-FFF2-40B4-BE49-F238E27FC236}">
                <a16:creationId xmlns:a16="http://schemas.microsoft.com/office/drawing/2014/main" id="{9E86611B-2400-436F-A7DA-50589A9F0A6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01673247"/>
              </p:ext>
            </p:extLst>
          </p:nvPr>
        </p:nvGraphicFramePr>
        <p:xfrm>
          <a:off x="6553200" y="5257796"/>
          <a:ext cx="802914" cy="454029"/>
        </p:xfrm>
        <a:graphic>
          <a:graphicData uri="http://schemas.openxmlformats.org/presentationml/2006/ole">
            <mc:AlternateContent xmlns:mc="http://schemas.openxmlformats.org/markup-compatibility/2006">
              <mc:Choice xmlns:v="urn:schemas-microsoft-com:vml" Requires="v">
                <p:oleObj name="Equation" r:id="rId2" imgW="355292" imgH="203024" progId="Equation.3">
                  <p:embed/>
                </p:oleObj>
              </mc:Choice>
              <mc:Fallback>
                <p:oleObj name="Equation" r:id="rId2" imgW="355292" imgH="203024"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5257796"/>
                        <a:ext cx="802914" cy="454029"/>
                      </a:xfrm>
                      <a:prstGeom prst="rect">
                        <a:avLst/>
                      </a:prstGeom>
                      <a:solidFill>
                        <a:srgbClr val="FFFF00"/>
                      </a:solidFill>
                      <a:ln>
                        <a:noFill/>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45403136-5904-4C50-A471-34C31996929D}"/>
              </a:ext>
            </a:extLst>
          </p:cNvPr>
          <p:cNvSpPr>
            <a:spLocks noGrp="1" noChangeArrowheads="1"/>
          </p:cNvSpPr>
          <p:nvPr>
            <p:ph type="title"/>
          </p:nvPr>
        </p:nvSpPr>
        <p:spPr>
          <a:xfrm>
            <a:off x="685800" y="228600"/>
            <a:ext cx="7772400" cy="1143000"/>
          </a:xfrm>
          <a:noFill/>
        </p:spPr>
        <p:txBody>
          <a:bodyPr/>
          <a:lstStyle/>
          <a:p>
            <a:r>
              <a:rPr lang="en-US" altLang="en-US" dirty="0"/>
              <a:t>Case Study: GCD Algorithms Version 3</a:t>
            </a:r>
          </a:p>
        </p:txBody>
      </p:sp>
      <p:sp>
        <p:nvSpPr>
          <p:cNvPr id="39948" name="Rectangle 11">
            <a:extLst>
              <a:ext uri="{FF2B5EF4-FFF2-40B4-BE49-F238E27FC236}">
                <a16:creationId xmlns:a16="http://schemas.microsoft.com/office/drawing/2014/main" id="{146B5852-EE0E-40A2-BAFC-8638043898A3}"/>
              </a:ext>
            </a:extLst>
          </p:cNvPr>
          <p:cNvSpPr>
            <a:spLocks noGrp="1" noChangeArrowheads="1"/>
          </p:cNvSpPr>
          <p:nvPr>
            <p:ph idx="1"/>
          </p:nvPr>
        </p:nvSpPr>
        <p:spPr>
          <a:xfrm>
            <a:off x="152400" y="1523999"/>
            <a:ext cx="5715000" cy="4875213"/>
          </a:xfrm>
        </p:spPr>
        <p:txBody>
          <a:bodyPr/>
          <a:lstStyle/>
          <a:p>
            <a:pPr marL="263525" indent="0">
              <a:lnSpc>
                <a:spcPct val="80000"/>
              </a:lnSpc>
              <a:buFont typeface="Monotype Sorts"/>
              <a:buNone/>
            </a:pPr>
            <a:r>
              <a:rPr lang="en-US" altLang="en-US" sz="1800" dirty="0">
                <a:solidFill>
                  <a:schemeClr val="tx2"/>
                </a:solidFill>
              </a:rPr>
              <a:t> public static int gcd(int m, int n) </a:t>
            </a:r>
          </a:p>
          <a:p>
            <a:pPr marL="263525" indent="0">
              <a:lnSpc>
                <a:spcPct val="80000"/>
              </a:lnSpc>
              <a:buFont typeface="Monotype Sorts"/>
              <a:buNone/>
            </a:pPr>
            <a:r>
              <a:rPr lang="en-US" altLang="en-US" sz="1800" dirty="0">
                <a:solidFill>
                  <a:schemeClr val="tx2"/>
                </a:solidFill>
              </a:rPr>
              <a:t>{</a:t>
            </a:r>
          </a:p>
          <a:p>
            <a:pPr marL="263525" indent="0">
              <a:lnSpc>
                <a:spcPct val="80000"/>
              </a:lnSpc>
              <a:buFont typeface="Monotype Sorts"/>
              <a:buNone/>
            </a:pPr>
            <a:r>
              <a:rPr lang="en-US" altLang="en-US" sz="1800" dirty="0">
                <a:solidFill>
                  <a:schemeClr val="tx2"/>
                </a:solidFill>
              </a:rPr>
              <a:t>    int gcd = 1;    </a:t>
            </a:r>
          </a:p>
          <a:p>
            <a:pPr marL="263525" indent="0">
              <a:lnSpc>
                <a:spcPct val="80000"/>
              </a:lnSpc>
              <a:buFont typeface="Monotype Sorts"/>
              <a:buNone/>
            </a:pPr>
            <a:r>
              <a:rPr lang="en-US" altLang="en-US" sz="1800" dirty="0">
                <a:solidFill>
                  <a:schemeClr val="tx2"/>
                </a:solidFill>
              </a:rPr>
              <a:t>    if (m == n)</a:t>
            </a:r>
          </a:p>
          <a:p>
            <a:pPr marL="263525" indent="0">
              <a:lnSpc>
                <a:spcPct val="80000"/>
              </a:lnSpc>
              <a:buFont typeface="Monotype Sorts"/>
              <a:buNone/>
            </a:pPr>
            <a:r>
              <a:rPr lang="en-US" altLang="en-US" sz="1800" dirty="0">
                <a:solidFill>
                  <a:schemeClr val="tx2"/>
                </a:solidFill>
              </a:rPr>
              <a:t>       return m;</a:t>
            </a:r>
          </a:p>
          <a:p>
            <a:pPr marL="263525" indent="0">
              <a:lnSpc>
                <a:spcPct val="80000"/>
              </a:lnSpc>
              <a:buFont typeface="Monotype Sorts"/>
              <a:buNone/>
            </a:pPr>
            <a:r>
              <a:rPr lang="en-US" altLang="en-US" sz="1800" dirty="0">
                <a:solidFill>
                  <a:schemeClr val="tx2"/>
                </a:solidFill>
              </a:rPr>
              <a:t>    </a:t>
            </a:r>
          </a:p>
          <a:p>
            <a:pPr marL="263525" indent="0">
              <a:lnSpc>
                <a:spcPct val="80000"/>
              </a:lnSpc>
              <a:buFont typeface="Monotype Sorts"/>
              <a:buNone/>
            </a:pPr>
            <a:r>
              <a:rPr lang="en-US" altLang="en-US" sz="1800" dirty="0">
                <a:solidFill>
                  <a:schemeClr val="tx2"/>
                </a:solidFill>
              </a:rPr>
              <a:t>    for (int k = n / 2; k &gt;= 1; k--) </a:t>
            </a:r>
          </a:p>
          <a:p>
            <a:pPr marL="263525" indent="0">
              <a:lnSpc>
                <a:spcPct val="80000"/>
              </a:lnSpc>
              <a:buFont typeface="Monotype Sorts"/>
              <a:buNone/>
            </a:pPr>
            <a:r>
              <a:rPr lang="en-US" altLang="en-US" sz="1800" dirty="0">
                <a:solidFill>
                  <a:schemeClr val="tx2"/>
                </a:solidFill>
              </a:rPr>
              <a:t>   {</a:t>
            </a:r>
          </a:p>
          <a:p>
            <a:pPr marL="263525" indent="0">
              <a:lnSpc>
                <a:spcPct val="80000"/>
              </a:lnSpc>
              <a:buFont typeface="Monotype Sorts"/>
              <a:buNone/>
            </a:pPr>
            <a:r>
              <a:rPr lang="en-US" altLang="en-US" sz="1800" dirty="0">
                <a:solidFill>
                  <a:schemeClr val="tx2"/>
                </a:solidFill>
              </a:rPr>
              <a:t>        if (m % k == 0 &amp;&amp; n % k == 0)  </a:t>
            </a:r>
          </a:p>
          <a:p>
            <a:pPr marL="263525" indent="0">
              <a:lnSpc>
                <a:spcPct val="80000"/>
              </a:lnSpc>
              <a:buFont typeface="Monotype Sorts"/>
              <a:buNone/>
            </a:pPr>
            <a:r>
              <a:rPr lang="en-US" altLang="en-US" sz="1800" dirty="0">
                <a:solidFill>
                  <a:schemeClr val="tx2"/>
                </a:solidFill>
              </a:rPr>
              <a:t>       {</a:t>
            </a:r>
          </a:p>
          <a:p>
            <a:pPr marL="263525" indent="0">
              <a:lnSpc>
                <a:spcPct val="80000"/>
              </a:lnSpc>
              <a:buFont typeface="Monotype Sorts"/>
              <a:buNone/>
            </a:pPr>
            <a:r>
              <a:rPr lang="en-US" altLang="en-US" sz="1800" dirty="0">
                <a:solidFill>
                  <a:schemeClr val="tx2"/>
                </a:solidFill>
              </a:rPr>
              <a:t>            gcd = k;</a:t>
            </a:r>
          </a:p>
          <a:p>
            <a:pPr marL="263525" indent="0">
              <a:lnSpc>
                <a:spcPct val="80000"/>
              </a:lnSpc>
              <a:buFont typeface="Monotype Sorts"/>
              <a:buNone/>
            </a:pPr>
            <a:r>
              <a:rPr lang="en-US" altLang="en-US" sz="1800" dirty="0">
                <a:solidFill>
                  <a:schemeClr val="tx2"/>
                </a:solidFill>
              </a:rPr>
              <a:t>            break;</a:t>
            </a:r>
          </a:p>
          <a:p>
            <a:pPr marL="263525" indent="0">
              <a:lnSpc>
                <a:spcPct val="80000"/>
              </a:lnSpc>
              <a:buFont typeface="Monotype Sorts"/>
              <a:buNone/>
            </a:pPr>
            <a:r>
              <a:rPr lang="en-US" altLang="en-US" sz="1800" dirty="0">
                <a:solidFill>
                  <a:schemeClr val="tx2"/>
                </a:solidFill>
              </a:rPr>
              <a:t>        }</a:t>
            </a:r>
          </a:p>
          <a:p>
            <a:pPr marL="263525" indent="0">
              <a:lnSpc>
                <a:spcPct val="80000"/>
              </a:lnSpc>
              <a:buFont typeface="Monotype Sorts"/>
              <a:buNone/>
            </a:pPr>
            <a:r>
              <a:rPr lang="en-US" altLang="en-US" sz="1800" dirty="0">
                <a:solidFill>
                  <a:schemeClr val="tx2"/>
                </a:solidFill>
              </a:rPr>
              <a:t>    }</a:t>
            </a:r>
          </a:p>
          <a:p>
            <a:pPr marL="263525" indent="0">
              <a:lnSpc>
                <a:spcPct val="80000"/>
              </a:lnSpc>
              <a:buFont typeface="Monotype Sorts"/>
              <a:buNone/>
            </a:pPr>
            <a:r>
              <a:rPr lang="en-US" altLang="en-US" sz="1800" dirty="0">
                <a:solidFill>
                  <a:schemeClr val="tx2"/>
                </a:solidFill>
              </a:rPr>
              <a:t>    </a:t>
            </a:r>
          </a:p>
          <a:p>
            <a:pPr marL="263525" indent="0">
              <a:lnSpc>
                <a:spcPct val="80000"/>
              </a:lnSpc>
              <a:buFont typeface="Monotype Sorts"/>
              <a:buNone/>
            </a:pPr>
            <a:r>
              <a:rPr lang="en-US" altLang="en-US" sz="1800" dirty="0">
                <a:solidFill>
                  <a:schemeClr val="tx2"/>
                </a:solidFill>
              </a:rPr>
              <a:t>    return gcd;</a:t>
            </a:r>
          </a:p>
          <a:p>
            <a:pPr marL="263525" indent="0">
              <a:lnSpc>
                <a:spcPct val="80000"/>
              </a:lnSpc>
              <a:buFont typeface="Monotype Sorts"/>
              <a:buNone/>
            </a:pPr>
            <a:r>
              <a:rPr lang="en-US" altLang="en-US" sz="1800" dirty="0">
                <a:solidFill>
                  <a:schemeClr val="tx2"/>
                </a:solidFill>
              </a:rPr>
              <a:t>  }</a:t>
            </a:r>
          </a:p>
        </p:txBody>
      </p:sp>
      <p:sp>
        <p:nvSpPr>
          <p:cNvPr id="39938" name="Slide Number Placeholder 4">
            <a:extLst>
              <a:ext uri="{FF2B5EF4-FFF2-40B4-BE49-F238E27FC236}">
                <a16:creationId xmlns:a16="http://schemas.microsoft.com/office/drawing/2014/main" id="{CF9FBF0A-365F-4D69-80AD-401FAAF1451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EB140B5-386C-4685-B5C8-531AA7921E89}" type="slidenum">
              <a:rPr lang="en-US" altLang="en-US" sz="1400"/>
              <a:pPr>
                <a:spcBef>
                  <a:spcPct val="0"/>
                </a:spcBef>
                <a:buClrTx/>
                <a:buSzTx/>
                <a:buFontTx/>
                <a:buNone/>
              </a:pPr>
              <a:t>36</a:t>
            </a:fld>
            <a:endParaRPr lang="en-US" altLang="en-US" sz="1400"/>
          </a:p>
        </p:txBody>
      </p:sp>
      <p:sp>
        <p:nvSpPr>
          <p:cNvPr id="39950" name="Rectangle 13">
            <a:extLst>
              <a:ext uri="{FF2B5EF4-FFF2-40B4-BE49-F238E27FC236}">
                <a16:creationId xmlns:a16="http://schemas.microsoft.com/office/drawing/2014/main" id="{98C72661-C438-440F-8A6E-79137C5E08C4}"/>
              </a:ext>
            </a:extLst>
          </p:cNvPr>
          <p:cNvSpPr>
            <a:spLocks noChangeArrowheads="1"/>
          </p:cNvSpPr>
          <p:nvPr/>
        </p:nvSpPr>
        <p:spPr bwMode="auto">
          <a:xfrm>
            <a:off x="3581400" y="4912495"/>
            <a:ext cx="5562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dirty="0">
                <a:solidFill>
                  <a:schemeClr val="tx2"/>
                </a:solidFill>
              </a:rPr>
              <a:t>The worst-case time complexity of this algorithm is still       . </a:t>
            </a:r>
          </a:p>
        </p:txBody>
      </p:sp>
      <p:graphicFrame>
        <p:nvGraphicFramePr>
          <p:cNvPr id="39952" name="Object 15">
            <a:extLst>
              <a:ext uri="{FF2B5EF4-FFF2-40B4-BE49-F238E27FC236}">
                <a16:creationId xmlns:a16="http://schemas.microsoft.com/office/drawing/2014/main" id="{7C67E2AB-9EA3-491B-8FED-5A2C5195B83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88968799"/>
              </p:ext>
            </p:extLst>
          </p:nvPr>
        </p:nvGraphicFramePr>
        <p:xfrm>
          <a:off x="7467600" y="5304821"/>
          <a:ext cx="762000" cy="442699"/>
        </p:xfrm>
        <a:graphic>
          <a:graphicData uri="http://schemas.openxmlformats.org/presentationml/2006/ole">
            <mc:AlternateContent xmlns:mc="http://schemas.openxmlformats.org/markup-compatibility/2006">
              <mc:Choice xmlns:v="urn:schemas-microsoft-com:vml" Requires="v">
                <p:oleObj name="Equation" r:id="rId2" imgW="355292" imgH="203024" progId="Equation.3">
                  <p:embed/>
                </p:oleObj>
              </mc:Choice>
              <mc:Fallback>
                <p:oleObj name="Equation" r:id="rId2" imgW="355292" imgH="203024"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5304821"/>
                        <a:ext cx="762000" cy="442699"/>
                      </a:xfrm>
                      <a:prstGeom prst="rect">
                        <a:avLst/>
                      </a:prstGeom>
                      <a:solidFill>
                        <a:srgbClr val="FFFF00"/>
                      </a:solidFill>
                      <a:ln>
                        <a:noFill/>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8BDD12D1-D1A3-4CD8-BE4A-EDD9AC80E11F}"/>
              </a:ext>
            </a:extLst>
          </p:cNvPr>
          <p:cNvSpPr>
            <a:spLocks noGrp="1" noChangeArrowheads="1"/>
          </p:cNvSpPr>
          <p:nvPr>
            <p:ph type="title"/>
          </p:nvPr>
        </p:nvSpPr>
        <p:spPr>
          <a:xfrm>
            <a:off x="685800" y="228600"/>
            <a:ext cx="7772400" cy="685800"/>
          </a:xfrm>
          <a:noFill/>
        </p:spPr>
        <p:txBody>
          <a:bodyPr/>
          <a:lstStyle/>
          <a:p>
            <a:r>
              <a:rPr lang="en-US" altLang="en-US" dirty="0">
                <a:solidFill>
                  <a:srgbClr val="002060"/>
                </a:solidFill>
                <a:latin typeface="Courier New" panose="02070309020205020404" pitchFamily="49" charset="0"/>
                <a:cs typeface="Courier New" panose="02070309020205020404" pitchFamily="49" charset="0"/>
              </a:rPr>
              <a:t>Euclid’s</a:t>
            </a:r>
            <a:r>
              <a:rPr lang="en-US" altLang="en-US" dirty="0">
                <a:solidFill>
                  <a:srgbClr val="002060"/>
                </a:solidFill>
              </a:rPr>
              <a:t> algorithm</a:t>
            </a:r>
          </a:p>
        </p:txBody>
      </p:sp>
      <p:sp>
        <p:nvSpPr>
          <p:cNvPr id="40964" name="Rectangle 3">
            <a:extLst>
              <a:ext uri="{FF2B5EF4-FFF2-40B4-BE49-F238E27FC236}">
                <a16:creationId xmlns:a16="http://schemas.microsoft.com/office/drawing/2014/main" id="{9B50BF0F-5D81-447B-B9CA-9B789CBC9D0D}"/>
              </a:ext>
            </a:extLst>
          </p:cNvPr>
          <p:cNvSpPr>
            <a:spLocks noGrp="1" noChangeArrowheads="1"/>
          </p:cNvSpPr>
          <p:nvPr>
            <p:ph idx="1"/>
          </p:nvPr>
        </p:nvSpPr>
        <p:spPr>
          <a:xfrm>
            <a:off x="228600" y="1066800"/>
            <a:ext cx="8763000" cy="2971800"/>
          </a:xfrm>
          <a:noFill/>
        </p:spPr>
        <p:txBody>
          <a:bodyPr/>
          <a:lstStyle/>
          <a:p>
            <a:pPr>
              <a:buFont typeface="Wingdings" panose="05000000000000000000" pitchFamily="2" charset="2"/>
              <a:buChar char="§"/>
            </a:pPr>
            <a:r>
              <a:rPr lang="en-US" altLang="en-US" dirty="0"/>
              <a:t>Let </a:t>
            </a:r>
            <a:r>
              <a:rPr lang="en-US" altLang="en-US" u="sng" dirty="0"/>
              <a:t>gcd(m, n)</a:t>
            </a:r>
            <a:r>
              <a:rPr lang="en-US" altLang="en-US" dirty="0"/>
              <a:t> denote the gcd for integers </a:t>
            </a:r>
            <a:r>
              <a:rPr lang="en-US" altLang="en-US" u="sng" dirty="0"/>
              <a:t>m</a:t>
            </a:r>
            <a:r>
              <a:rPr lang="en-US" altLang="en-US" dirty="0"/>
              <a:t> and </a:t>
            </a:r>
            <a:r>
              <a:rPr lang="en-US" altLang="en-US" u="sng" dirty="0"/>
              <a:t>n</a:t>
            </a:r>
            <a:r>
              <a:rPr lang="en-US" altLang="en-US" dirty="0"/>
              <a:t>:</a:t>
            </a:r>
          </a:p>
          <a:p>
            <a:pPr>
              <a:buFont typeface="Wingdings" panose="05000000000000000000" pitchFamily="2" charset="2"/>
              <a:buChar char="§"/>
            </a:pPr>
            <a:r>
              <a:rPr lang="en-US" altLang="en-US" dirty="0"/>
              <a:t>If </a:t>
            </a:r>
            <a:r>
              <a:rPr lang="en-US" altLang="en-US" u="sng" dirty="0"/>
              <a:t>m % n</a:t>
            </a:r>
            <a:r>
              <a:rPr lang="en-US" altLang="en-US" dirty="0"/>
              <a:t> is 0, </a:t>
            </a:r>
            <a:r>
              <a:rPr lang="en-US" altLang="en-US" u="sng" dirty="0"/>
              <a:t>gcd (m, n)</a:t>
            </a:r>
            <a:r>
              <a:rPr lang="en-US" altLang="en-US" dirty="0"/>
              <a:t> is </a:t>
            </a:r>
            <a:r>
              <a:rPr lang="en-US" altLang="en-US" u="sng" dirty="0"/>
              <a:t>n</a:t>
            </a:r>
            <a:r>
              <a:rPr lang="en-US" altLang="en-US" dirty="0"/>
              <a:t>.</a:t>
            </a:r>
          </a:p>
          <a:p>
            <a:pPr>
              <a:buFont typeface="Wingdings" panose="05000000000000000000" pitchFamily="2" charset="2"/>
              <a:buChar char="§"/>
            </a:pPr>
            <a:r>
              <a:rPr lang="en-US" altLang="en-US" dirty="0"/>
              <a:t>Otherwise, </a:t>
            </a:r>
            <a:r>
              <a:rPr lang="en-US" altLang="en-US" u="sng" dirty="0"/>
              <a:t>gcd(m, n)</a:t>
            </a:r>
            <a:r>
              <a:rPr lang="en-US" altLang="en-US" dirty="0"/>
              <a:t> is </a:t>
            </a:r>
            <a:r>
              <a:rPr lang="en-US" altLang="en-US" u="sng" dirty="0"/>
              <a:t>gcd(n, m % n)</a:t>
            </a:r>
            <a:r>
              <a:rPr lang="en-US" altLang="en-US" dirty="0"/>
              <a:t> (using recursion)</a:t>
            </a:r>
          </a:p>
        </p:txBody>
      </p:sp>
      <p:sp>
        <p:nvSpPr>
          <p:cNvPr id="40962" name="Slide Number Placeholder 4">
            <a:extLst>
              <a:ext uri="{FF2B5EF4-FFF2-40B4-BE49-F238E27FC236}">
                <a16:creationId xmlns:a16="http://schemas.microsoft.com/office/drawing/2014/main" id="{E53EE329-0ED6-4D72-BD5C-86B11441317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CE639AB-D459-4894-BBAA-EFC6A0B3E246}" type="slidenum">
              <a:rPr lang="en-US" altLang="en-US" sz="1400"/>
              <a:pPr>
                <a:spcBef>
                  <a:spcPct val="0"/>
                </a:spcBef>
                <a:buClrTx/>
                <a:buSzTx/>
                <a:buFontTx/>
                <a:buNone/>
              </a:pPr>
              <a:t>37</a:t>
            </a:fld>
            <a:endParaRPr lang="en-US" altLang="en-US" sz="1400"/>
          </a:p>
        </p:txBody>
      </p:sp>
      <p:sp>
        <p:nvSpPr>
          <p:cNvPr id="40969" name="Rectangle 8">
            <a:extLst>
              <a:ext uri="{FF2B5EF4-FFF2-40B4-BE49-F238E27FC236}">
                <a16:creationId xmlns:a16="http://schemas.microsoft.com/office/drawing/2014/main" id="{6DA238A6-E474-4941-854E-AA16DB7FAFD6}"/>
              </a:ext>
            </a:extLst>
          </p:cNvPr>
          <p:cNvSpPr>
            <a:spLocks noChangeArrowheads="1"/>
          </p:cNvSpPr>
          <p:nvPr/>
        </p:nvSpPr>
        <p:spPr bwMode="auto">
          <a:xfrm>
            <a:off x="304800" y="3581400"/>
            <a:ext cx="8686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ts val="0"/>
              </a:spcBef>
              <a:spcAft>
                <a:spcPts val="1200"/>
              </a:spcAft>
              <a:buFont typeface="Monotype Sorts"/>
              <a:buNone/>
            </a:pPr>
            <a:r>
              <a:rPr lang="en-US" altLang="en-US" sz="2400" dirty="0">
                <a:solidFill>
                  <a:srgbClr val="002060"/>
                </a:solidFill>
              </a:rPr>
              <a:t>m = n*k +  rem</a:t>
            </a:r>
          </a:p>
          <a:p>
            <a:pPr>
              <a:spcBef>
                <a:spcPts val="0"/>
              </a:spcBef>
              <a:spcAft>
                <a:spcPts val="1200"/>
              </a:spcAft>
              <a:buFont typeface="Monotype Sorts"/>
              <a:buNone/>
            </a:pPr>
            <a:r>
              <a:rPr lang="en-US" altLang="en-US" sz="2400" dirty="0">
                <a:solidFill>
                  <a:srgbClr val="002060"/>
                </a:solidFill>
              </a:rPr>
              <a:t>Any number (p) that divides m &amp; n evenly must also divide rem evenly</a:t>
            </a:r>
          </a:p>
          <a:p>
            <a:pPr>
              <a:spcBef>
                <a:spcPts val="0"/>
              </a:spcBef>
              <a:spcAft>
                <a:spcPts val="1200"/>
              </a:spcAft>
              <a:buFont typeface="Monotype Sorts"/>
              <a:buNone/>
            </a:pPr>
            <a:r>
              <a:rPr lang="en-US" altLang="en-US" sz="2400" dirty="0">
                <a:solidFill>
                  <a:srgbClr val="002060"/>
                </a:solidFill>
              </a:rPr>
              <a:t>Thus, </a:t>
            </a:r>
            <a:r>
              <a:rPr lang="en-US" altLang="en-US" sz="2400" dirty="0" err="1">
                <a:solidFill>
                  <a:srgbClr val="002060"/>
                </a:solidFill>
              </a:rPr>
              <a:t>gcd</a:t>
            </a:r>
            <a:r>
              <a:rPr lang="en-US" altLang="en-US" sz="2400" dirty="0">
                <a:solidFill>
                  <a:srgbClr val="002060"/>
                </a:solidFill>
              </a:rPr>
              <a:t>(</a:t>
            </a:r>
            <a:r>
              <a:rPr lang="en-US" altLang="en-US" sz="2400" dirty="0" err="1">
                <a:solidFill>
                  <a:srgbClr val="002060"/>
                </a:solidFill>
              </a:rPr>
              <a:t>m,n</a:t>
            </a:r>
            <a:r>
              <a:rPr lang="en-US" altLang="en-US" sz="2400" dirty="0">
                <a:solidFill>
                  <a:srgbClr val="002060"/>
                </a:solidFill>
              </a:rPr>
              <a:t>) is the same as </a:t>
            </a:r>
            <a:r>
              <a:rPr lang="en-US" altLang="en-US" sz="2400" dirty="0" err="1">
                <a:solidFill>
                  <a:srgbClr val="002060"/>
                </a:solidFill>
              </a:rPr>
              <a:t>gcd</a:t>
            </a:r>
            <a:r>
              <a:rPr lang="en-US" altLang="en-US" sz="2400" dirty="0">
                <a:solidFill>
                  <a:srgbClr val="002060"/>
                </a:solidFill>
              </a:rPr>
              <a:t> (n, rem) where rem = m % n</a:t>
            </a:r>
          </a:p>
          <a:p>
            <a:pPr>
              <a:spcBef>
                <a:spcPts val="0"/>
              </a:spcBef>
              <a:spcAft>
                <a:spcPts val="1200"/>
              </a:spcAft>
              <a:buFont typeface="Monotype Sorts"/>
              <a:buNone/>
            </a:pPr>
            <a:r>
              <a:rPr lang="en-US" altLang="en-US" sz="2400" dirty="0">
                <a:solidFill>
                  <a:srgbClr val="002060"/>
                </a:solidFill>
              </a:rPr>
              <a:t>m / p = n*k/p +  rem/p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DB9641AC-6229-4360-8E17-DA1E7FD55263}"/>
              </a:ext>
            </a:extLst>
          </p:cNvPr>
          <p:cNvSpPr>
            <a:spLocks noGrp="1" noChangeArrowheads="1"/>
          </p:cNvSpPr>
          <p:nvPr>
            <p:ph type="title"/>
          </p:nvPr>
        </p:nvSpPr>
        <p:spPr>
          <a:xfrm>
            <a:off x="228600" y="0"/>
            <a:ext cx="8763000" cy="990600"/>
          </a:xfrm>
        </p:spPr>
        <p:txBody>
          <a:bodyPr/>
          <a:lstStyle/>
          <a:p>
            <a:r>
              <a:rPr lang="en-US" altLang="en-US" sz="4000" dirty="0">
                <a:solidFill>
                  <a:srgbClr val="002060"/>
                </a:solidFill>
                <a:latin typeface="Courier New" panose="02070309020205020404" pitchFamily="49" charset="0"/>
                <a:cs typeface="Courier New" panose="02070309020205020404" pitchFamily="49" charset="0"/>
              </a:rPr>
              <a:t>Euclid’s</a:t>
            </a:r>
            <a:r>
              <a:rPr lang="en-US" altLang="en-US" sz="4000" dirty="0">
                <a:solidFill>
                  <a:srgbClr val="002060"/>
                </a:solidFill>
              </a:rPr>
              <a:t> Algorithm Implementation</a:t>
            </a:r>
          </a:p>
        </p:txBody>
      </p:sp>
      <p:sp>
        <p:nvSpPr>
          <p:cNvPr id="41988" name="Rectangle 3">
            <a:extLst>
              <a:ext uri="{FF2B5EF4-FFF2-40B4-BE49-F238E27FC236}">
                <a16:creationId xmlns:a16="http://schemas.microsoft.com/office/drawing/2014/main" id="{F4D8AB76-F4D9-472B-97D0-67BEA4EEA448}"/>
              </a:ext>
            </a:extLst>
          </p:cNvPr>
          <p:cNvSpPr>
            <a:spLocks noGrp="1" noChangeArrowheads="1"/>
          </p:cNvSpPr>
          <p:nvPr>
            <p:ph idx="1"/>
          </p:nvPr>
        </p:nvSpPr>
        <p:spPr>
          <a:xfrm>
            <a:off x="228600" y="1143000"/>
            <a:ext cx="8610600" cy="3352800"/>
          </a:xfrm>
        </p:spPr>
        <p:txBody>
          <a:bodyPr/>
          <a:lstStyle/>
          <a:p>
            <a:pPr>
              <a:lnSpc>
                <a:spcPct val="80000"/>
              </a:lnSpc>
              <a:buFont typeface="Monotype Sorts"/>
              <a:buNone/>
            </a:pPr>
            <a:r>
              <a:rPr lang="en-US" altLang="en-US" sz="3600" dirty="0">
                <a:solidFill>
                  <a:schemeClr val="tx2"/>
                </a:solidFill>
              </a:rPr>
              <a:t> </a:t>
            </a:r>
            <a:r>
              <a:rPr lang="en-US" altLang="en-US" sz="3600" dirty="0">
                <a:solidFill>
                  <a:srgbClr val="002060"/>
                </a:solidFill>
              </a:rPr>
              <a:t>public static int gcd(int m, int n) </a:t>
            </a:r>
          </a:p>
          <a:p>
            <a:pPr>
              <a:lnSpc>
                <a:spcPct val="80000"/>
              </a:lnSpc>
              <a:buFont typeface="Monotype Sorts"/>
              <a:buNone/>
            </a:pPr>
            <a:r>
              <a:rPr lang="en-US" altLang="en-US" sz="3600" dirty="0">
                <a:solidFill>
                  <a:srgbClr val="002060"/>
                </a:solidFill>
              </a:rPr>
              <a:t>{</a:t>
            </a:r>
          </a:p>
          <a:p>
            <a:pPr>
              <a:lnSpc>
                <a:spcPct val="80000"/>
              </a:lnSpc>
              <a:buFont typeface="Monotype Sorts"/>
              <a:buNone/>
            </a:pPr>
            <a:r>
              <a:rPr lang="en-US" altLang="en-US" sz="3600" dirty="0">
                <a:solidFill>
                  <a:srgbClr val="002060"/>
                </a:solidFill>
              </a:rPr>
              <a:t>    if (m % n == 0) </a:t>
            </a:r>
          </a:p>
          <a:p>
            <a:pPr>
              <a:lnSpc>
                <a:spcPct val="80000"/>
              </a:lnSpc>
              <a:buFont typeface="Monotype Sorts"/>
              <a:buNone/>
            </a:pPr>
            <a:r>
              <a:rPr lang="en-US" altLang="en-US" sz="3600" dirty="0">
                <a:solidFill>
                  <a:srgbClr val="002060"/>
                </a:solidFill>
              </a:rPr>
              <a:t>      return n;</a:t>
            </a:r>
          </a:p>
          <a:p>
            <a:pPr>
              <a:lnSpc>
                <a:spcPct val="80000"/>
              </a:lnSpc>
              <a:buFont typeface="Monotype Sorts"/>
              <a:buNone/>
            </a:pPr>
            <a:r>
              <a:rPr lang="en-US" altLang="en-US" sz="3600" dirty="0">
                <a:solidFill>
                  <a:srgbClr val="002060"/>
                </a:solidFill>
              </a:rPr>
              <a:t>    else</a:t>
            </a:r>
          </a:p>
          <a:p>
            <a:pPr>
              <a:lnSpc>
                <a:spcPct val="80000"/>
              </a:lnSpc>
              <a:buFont typeface="Monotype Sorts"/>
              <a:buNone/>
            </a:pPr>
            <a:r>
              <a:rPr lang="en-US" altLang="en-US" sz="3600" dirty="0">
                <a:solidFill>
                  <a:srgbClr val="002060"/>
                </a:solidFill>
              </a:rPr>
              <a:t>      return gcd(n, m % n);</a:t>
            </a:r>
          </a:p>
          <a:p>
            <a:pPr>
              <a:lnSpc>
                <a:spcPct val="80000"/>
              </a:lnSpc>
              <a:buFont typeface="Monotype Sorts"/>
              <a:buNone/>
            </a:pPr>
            <a:r>
              <a:rPr lang="en-US" altLang="en-US" sz="3600" dirty="0">
                <a:solidFill>
                  <a:srgbClr val="002060"/>
                </a:solidFill>
              </a:rPr>
              <a:t>  }</a:t>
            </a:r>
          </a:p>
        </p:txBody>
      </p:sp>
      <p:sp>
        <p:nvSpPr>
          <p:cNvPr id="41986" name="Slide Number Placeholder 4">
            <a:extLst>
              <a:ext uri="{FF2B5EF4-FFF2-40B4-BE49-F238E27FC236}">
                <a16:creationId xmlns:a16="http://schemas.microsoft.com/office/drawing/2014/main" id="{10FD9CDA-231C-49FD-BA9C-6ABAC5DECE0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5E36E8B-07A2-4CC0-A802-0760566DD955}" type="slidenum">
              <a:rPr lang="en-US" altLang="en-US" sz="1400"/>
              <a:pPr>
                <a:spcBef>
                  <a:spcPct val="0"/>
                </a:spcBef>
                <a:buClrTx/>
                <a:buSzTx/>
                <a:buFontTx/>
                <a:buNone/>
              </a:pPr>
              <a:t>38</a:t>
            </a:fld>
            <a:endParaRPr lang="en-US" altLang="en-US" sz="1400"/>
          </a:p>
        </p:txBody>
      </p:sp>
      <p:sp>
        <p:nvSpPr>
          <p:cNvPr id="41989" name="Rectangle 4">
            <a:extLst>
              <a:ext uri="{FF2B5EF4-FFF2-40B4-BE49-F238E27FC236}">
                <a16:creationId xmlns:a16="http://schemas.microsoft.com/office/drawing/2014/main" id="{37508756-3D10-42DB-A7BF-F1133633A6BD}"/>
              </a:ext>
            </a:extLst>
          </p:cNvPr>
          <p:cNvSpPr>
            <a:spLocks noChangeArrowheads="1"/>
          </p:cNvSpPr>
          <p:nvPr/>
        </p:nvSpPr>
        <p:spPr bwMode="auto">
          <a:xfrm>
            <a:off x="3886200" y="4876800"/>
            <a:ext cx="4876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buFont typeface="Monotype Sorts"/>
              <a:buNone/>
            </a:pPr>
            <a:r>
              <a:rPr lang="en-US" altLang="en-US" dirty="0">
                <a:solidFill>
                  <a:srgbClr val="800000"/>
                </a:solidFill>
              </a:rPr>
              <a:t>The time complexity of this algorithm is O(</a:t>
            </a:r>
            <a:r>
              <a:rPr lang="en-US" altLang="en-US" dirty="0" err="1">
                <a:solidFill>
                  <a:srgbClr val="800000"/>
                </a:solidFill>
              </a:rPr>
              <a:t>logn</a:t>
            </a:r>
            <a:r>
              <a:rPr lang="en-US" altLang="en-US" dirty="0">
                <a:solidFill>
                  <a:srgbClr val="800000"/>
                </a:solidFill>
              </a:rPr>
              <a:t>). </a:t>
            </a:r>
          </a:p>
          <a:p>
            <a:pPr>
              <a:lnSpc>
                <a:spcPct val="80000"/>
              </a:lnSpc>
              <a:buFont typeface="Monotype Sorts"/>
              <a:buNone/>
            </a:pPr>
            <a:r>
              <a:rPr lang="en-US" altLang="en-US" dirty="0">
                <a:solidFill>
                  <a:srgbClr val="800000"/>
                </a:solidFill>
              </a:rPr>
              <a:t>See the text for the proof.</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3F1E860B-62DB-439B-ADDE-8CE297D8FBB8}"/>
              </a:ext>
            </a:extLst>
          </p:cNvPr>
          <p:cNvSpPr>
            <a:spLocks noGrp="1" noChangeArrowheads="1"/>
          </p:cNvSpPr>
          <p:nvPr>
            <p:ph type="title"/>
          </p:nvPr>
        </p:nvSpPr>
        <p:spPr>
          <a:xfrm>
            <a:off x="685800" y="228600"/>
            <a:ext cx="7772400" cy="685800"/>
          </a:xfrm>
          <a:noFill/>
        </p:spPr>
        <p:txBody>
          <a:bodyPr/>
          <a:lstStyle/>
          <a:p>
            <a:r>
              <a:rPr lang="en-US" altLang="en-US" dirty="0">
                <a:solidFill>
                  <a:srgbClr val="002060"/>
                </a:solidFill>
                <a:cs typeface="Courier New" panose="02070309020205020404" pitchFamily="49" charset="0"/>
              </a:rPr>
              <a:t>Finding Prime Numbers</a:t>
            </a:r>
            <a:endParaRPr lang="en-US" altLang="en-US" dirty="0">
              <a:solidFill>
                <a:srgbClr val="002060"/>
              </a:solidFill>
            </a:endParaRPr>
          </a:p>
        </p:txBody>
      </p:sp>
      <p:sp>
        <p:nvSpPr>
          <p:cNvPr id="44036" name="Rectangle 3">
            <a:extLst>
              <a:ext uri="{FF2B5EF4-FFF2-40B4-BE49-F238E27FC236}">
                <a16:creationId xmlns:a16="http://schemas.microsoft.com/office/drawing/2014/main" id="{B176567E-EF68-453A-AB65-13E1769BDBC4}"/>
              </a:ext>
            </a:extLst>
          </p:cNvPr>
          <p:cNvSpPr>
            <a:spLocks noGrp="1" noChangeArrowheads="1"/>
          </p:cNvSpPr>
          <p:nvPr>
            <p:ph idx="1"/>
          </p:nvPr>
        </p:nvSpPr>
        <p:spPr>
          <a:xfrm>
            <a:off x="228600" y="1066800"/>
            <a:ext cx="8686800" cy="762000"/>
          </a:xfrm>
          <a:noFill/>
        </p:spPr>
        <p:txBody>
          <a:bodyPr/>
          <a:lstStyle/>
          <a:p>
            <a:pPr marL="0" indent="0">
              <a:buFont typeface="Monotype Sorts"/>
              <a:buNone/>
            </a:pPr>
            <a:r>
              <a:rPr lang="en-US" altLang="en-US" sz="4000"/>
              <a:t>Compare three versions:</a:t>
            </a:r>
          </a:p>
        </p:txBody>
      </p:sp>
      <p:sp>
        <p:nvSpPr>
          <p:cNvPr id="44034" name="Slide Number Placeholder 4">
            <a:extLst>
              <a:ext uri="{FF2B5EF4-FFF2-40B4-BE49-F238E27FC236}">
                <a16:creationId xmlns:a16="http://schemas.microsoft.com/office/drawing/2014/main" id="{312A4675-1CC8-42D4-9F13-49F6C9152E1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9388728-DFC3-4456-AC8C-265A13B36F16}" type="slidenum">
              <a:rPr lang="en-US" altLang="en-US" sz="1400"/>
              <a:pPr>
                <a:spcBef>
                  <a:spcPct val="0"/>
                </a:spcBef>
                <a:buClrTx/>
                <a:buSzTx/>
                <a:buFontTx/>
                <a:buNone/>
              </a:pPr>
              <a:t>39</a:t>
            </a:fld>
            <a:endParaRPr lang="en-US" altLang="en-US" sz="1400"/>
          </a:p>
        </p:txBody>
      </p:sp>
      <p:sp>
        <p:nvSpPr>
          <p:cNvPr id="44040" name="Rectangle 7">
            <a:extLst>
              <a:ext uri="{FF2B5EF4-FFF2-40B4-BE49-F238E27FC236}">
                <a16:creationId xmlns:a16="http://schemas.microsoft.com/office/drawing/2014/main" id="{F857B407-6972-4999-8B64-457F595CBF3E}"/>
              </a:ext>
            </a:extLst>
          </p:cNvPr>
          <p:cNvSpPr>
            <a:spLocks noChangeArrowheads="1"/>
          </p:cNvSpPr>
          <p:nvPr/>
        </p:nvSpPr>
        <p:spPr bwMode="auto">
          <a:xfrm>
            <a:off x="228600" y="1905000"/>
            <a:ext cx="8686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571500" indent="-5715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Wingdings" panose="05000000000000000000" pitchFamily="2" charset="2"/>
              <a:buChar char="§"/>
            </a:pPr>
            <a:r>
              <a:rPr lang="en-US" altLang="en-US" sz="3600"/>
              <a:t>Brute-force</a:t>
            </a:r>
          </a:p>
          <a:p>
            <a:pPr>
              <a:lnSpc>
                <a:spcPct val="90000"/>
              </a:lnSpc>
              <a:buFont typeface="Wingdings" panose="05000000000000000000" pitchFamily="2" charset="2"/>
              <a:buChar char="§"/>
            </a:pPr>
            <a:r>
              <a:rPr lang="en-US" altLang="en-US" sz="3600"/>
              <a:t>Check possible divisors up to  Math.sqrt(n)</a:t>
            </a:r>
          </a:p>
          <a:p>
            <a:pPr>
              <a:lnSpc>
                <a:spcPct val="90000"/>
              </a:lnSpc>
              <a:buFont typeface="Wingdings" panose="05000000000000000000" pitchFamily="2" charset="2"/>
              <a:buChar char="§"/>
            </a:pPr>
            <a:r>
              <a:rPr lang="en-US" altLang="en-US" sz="3600"/>
              <a:t>Check possible prime divisors up to  Math.sqrt(n)</a:t>
            </a:r>
          </a:p>
        </p:txBody>
      </p:sp>
      <p:sp>
        <p:nvSpPr>
          <p:cNvPr id="44041" name="Rectangle 8">
            <a:hlinkClick r:id="rId2"/>
            <a:extLst>
              <a:ext uri="{FF2B5EF4-FFF2-40B4-BE49-F238E27FC236}">
                <a16:creationId xmlns:a16="http://schemas.microsoft.com/office/drawing/2014/main" id="{75DB3911-2728-40B9-A10E-FAC183B96F71}"/>
              </a:ext>
            </a:extLst>
          </p:cNvPr>
          <p:cNvSpPr>
            <a:spLocks noChangeArrowheads="1"/>
          </p:cNvSpPr>
          <p:nvPr/>
        </p:nvSpPr>
        <p:spPr bwMode="auto">
          <a:xfrm>
            <a:off x="3324225" y="1690688"/>
            <a:ext cx="1752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PrimeNumber</a:t>
            </a:r>
          </a:p>
        </p:txBody>
      </p:sp>
      <p:sp>
        <p:nvSpPr>
          <p:cNvPr id="44042" name="Rectangle 8">
            <a:hlinkClick r:id="rId3"/>
            <a:extLst>
              <a:ext uri="{FF2B5EF4-FFF2-40B4-BE49-F238E27FC236}">
                <a16:creationId xmlns:a16="http://schemas.microsoft.com/office/drawing/2014/main" id="{2A069B75-D71F-45BF-A4AE-6B1728C6FA19}"/>
              </a:ext>
            </a:extLst>
          </p:cNvPr>
          <p:cNvSpPr>
            <a:spLocks noChangeArrowheads="1"/>
          </p:cNvSpPr>
          <p:nvPr/>
        </p:nvSpPr>
        <p:spPr bwMode="auto">
          <a:xfrm>
            <a:off x="3324225" y="2147888"/>
            <a:ext cx="1752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PrimeNumbers</a:t>
            </a:r>
          </a:p>
        </p:txBody>
      </p:sp>
      <p:sp>
        <p:nvSpPr>
          <p:cNvPr id="44043" name="Rectangle 8">
            <a:hlinkClick r:id="rId4"/>
            <a:extLst>
              <a:ext uri="{FF2B5EF4-FFF2-40B4-BE49-F238E27FC236}">
                <a16:creationId xmlns:a16="http://schemas.microsoft.com/office/drawing/2014/main" id="{DECCD6A1-249E-4437-90C2-25CDB9E67066}"/>
              </a:ext>
            </a:extLst>
          </p:cNvPr>
          <p:cNvSpPr>
            <a:spLocks noChangeArrowheads="1"/>
          </p:cNvSpPr>
          <p:nvPr/>
        </p:nvSpPr>
        <p:spPr bwMode="auto">
          <a:xfrm>
            <a:off x="3657600" y="3771900"/>
            <a:ext cx="26670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EfficientPrimeNumbers</a:t>
            </a:r>
          </a:p>
        </p:txBody>
      </p:sp>
      <p:sp>
        <p:nvSpPr>
          <p:cNvPr id="44044" name="Rectangle 8">
            <a:hlinkClick r:id="rId5"/>
            <a:extLst>
              <a:ext uri="{FF2B5EF4-FFF2-40B4-BE49-F238E27FC236}">
                <a16:creationId xmlns:a16="http://schemas.microsoft.com/office/drawing/2014/main" id="{18946794-B231-474D-9763-D56F36BBB402}"/>
              </a:ext>
            </a:extLst>
          </p:cNvPr>
          <p:cNvSpPr>
            <a:spLocks noChangeArrowheads="1"/>
          </p:cNvSpPr>
          <p:nvPr/>
        </p:nvSpPr>
        <p:spPr bwMode="auto">
          <a:xfrm>
            <a:off x="3657600" y="4262438"/>
            <a:ext cx="26670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SieveOfEratosthenes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328094BE-05F5-4949-9969-8B8A03796D51}"/>
              </a:ext>
            </a:extLst>
          </p:cNvPr>
          <p:cNvSpPr>
            <a:spLocks noGrp="1" noChangeArrowheads="1"/>
          </p:cNvSpPr>
          <p:nvPr>
            <p:ph type="title"/>
          </p:nvPr>
        </p:nvSpPr>
        <p:spPr>
          <a:xfrm>
            <a:off x="685800" y="228600"/>
            <a:ext cx="7772400" cy="914400"/>
          </a:xfrm>
          <a:noFill/>
        </p:spPr>
        <p:txBody>
          <a:bodyPr/>
          <a:lstStyle/>
          <a:p>
            <a:r>
              <a:rPr lang="en-US" altLang="en-US"/>
              <a:t>Divide-and-Conquer</a:t>
            </a:r>
          </a:p>
        </p:txBody>
      </p:sp>
      <p:sp>
        <p:nvSpPr>
          <p:cNvPr id="45070" name="Rectangle 14">
            <a:extLst>
              <a:ext uri="{FF2B5EF4-FFF2-40B4-BE49-F238E27FC236}">
                <a16:creationId xmlns:a16="http://schemas.microsoft.com/office/drawing/2014/main" id="{CD8E7D05-4DAF-4FFF-B29E-397E41CCBDDA}"/>
              </a:ext>
            </a:extLst>
          </p:cNvPr>
          <p:cNvSpPr>
            <a:spLocks noGrp="1" noChangeArrowheads="1"/>
          </p:cNvSpPr>
          <p:nvPr>
            <p:ph idx="1"/>
          </p:nvPr>
        </p:nvSpPr>
        <p:spPr>
          <a:xfrm>
            <a:off x="266700" y="1219200"/>
            <a:ext cx="8610600" cy="4953000"/>
          </a:xfrm>
        </p:spPr>
        <p:txBody>
          <a:bodyPr/>
          <a:lstStyle/>
          <a:p>
            <a:pPr>
              <a:lnSpc>
                <a:spcPct val="90000"/>
              </a:lnSpc>
              <a:spcBef>
                <a:spcPts val="0"/>
              </a:spcBef>
              <a:spcAft>
                <a:spcPts val="1200"/>
              </a:spcAft>
              <a:buFont typeface="Wingdings" panose="05000000000000000000" pitchFamily="2" charset="2"/>
              <a:buChar char="§"/>
            </a:pPr>
            <a:r>
              <a:rPr lang="en-US" altLang="en-US" sz="2800" dirty="0"/>
              <a:t>The </a:t>
            </a:r>
            <a:r>
              <a:rPr lang="en-US" altLang="en-US" sz="2800" b="1" dirty="0">
                <a:highlight>
                  <a:srgbClr val="FFFF00"/>
                </a:highlight>
              </a:rPr>
              <a:t>divide-and-conquer</a:t>
            </a:r>
            <a:r>
              <a:rPr lang="en-US" altLang="en-US" sz="2800" dirty="0">
                <a:highlight>
                  <a:srgbClr val="FFFF00"/>
                </a:highlight>
              </a:rPr>
              <a:t> </a:t>
            </a:r>
            <a:r>
              <a:rPr lang="en-US" altLang="en-US" sz="2800" dirty="0"/>
              <a:t>approach </a:t>
            </a:r>
            <a:r>
              <a:rPr lang="en-US" altLang="en-US" sz="2800" dirty="0">
                <a:highlight>
                  <a:srgbClr val="FFFF00"/>
                </a:highlight>
              </a:rPr>
              <a:t>divides the problem into subproblems</a:t>
            </a:r>
            <a:r>
              <a:rPr lang="en-US" altLang="en-US" sz="2800" dirty="0"/>
              <a:t>, solves the subproblems, then combines the solutions of subproblems to obtain the solution for the entire problem. </a:t>
            </a:r>
          </a:p>
          <a:p>
            <a:pPr>
              <a:lnSpc>
                <a:spcPct val="90000"/>
              </a:lnSpc>
              <a:spcBef>
                <a:spcPts val="0"/>
              </a:spcBef>
              <a:spcAft>
                <a:spcPts val="1200"/>
              </a:spcAft>
              <a:buFont typeface="Wingdings" panose="05000000000000000000" pitchFamily="2" charset="2"/>
              <a:buChar char="§"/>
            </a:pPr>
            <a:r>
              <a:rPr lang="en-US" altLang="en-US" sz="2800" dirty="0">
                <a:highlight>
                  <a:srgbClr val="FFFF00"/>
                </a:highlight>
              </a:rPr>
              <a:t>Unlike the dynamic programming approach, the subproblems in the divide-and-conquer approach don’t overlap</a:t>
            </a:r>
            <a:r>
              <a:rPr lang="en-US" altLang="en-US" sz="2800" dirty="0"/>
              <a:t>. </a:t>
            </a:r>
          </a:p>
          <a:p>
            <a:pPr>
              <a:lnSpc>
                <a:spcPct val="90000"/>
              </a:lnSpc>
              <a:spcBef>
                <a:spcPts val="0"/>
              </a:spcBef>
              <a:spcAft>
                <a:spcPts val="1200"/>
              </a:spcAft>
              <a:buFont typeface="Wingdings" panose="05000000000000000000" pitchFamily="2" charset="2"/>
              <a:buChar char="§"/>
            </a:pPr>
            <a:r>
              <a:rPr lang="en-US" altLang="en-US" sz="2800" dirty="0"/>
              <a:t>A subpro</a:t>
            </a:r>
            <a:r>
              <a:rPr lang="en-US" altLang="en-US" sz="2800" dirty="0">
                <a:highlight>
                  <a:srgbClr val="FFFF00"/>
                </a:highlight>
              </a:rPr>
              <a:t>blem is like the original problem with a smaller size, so you can apply recursion to solve </a:t>
            </a:r>
            <a:r>
              <a:rPr lang="en-US" altLang="en-US" sz="2800" dirty="0"/>
              <a:t>the problem. </a:t>
            </a:r>
          </a:p>
          <a:p>
            <a:pPr>
              <a:lnSpc>
                <a:spcPct val="90000"/>
              </a:lnSpc>
              <a:spcBef>
                <a:spcPts val="0"/>
              </a:spcBef>
              <a:spcAft>
                <a:spcPts val="1200"/>
              </a:spcAft>
              <a:buFont typeface="Wingdings" panose="05000000000000000000" pitchFamily="2" charset="2"/>
              <a:buChar char="§"/>
            </a:pPr>
            <a:r>
              <a:rPr lang="en-US" altLang="en-US" sz="2800" dirty="0"/>
              <a:t>In fact, all the recursive problems follow the divide-and-conquer approach. </a:t>
            </a:r>
          </a:p>
        </p:txBody>
      </p:sp>
      <p:sp>
        <p:nvSpPr>
          <p:cNvPr id="45058" name="Slide Number Placeholder 4">
            <a:extLst>
              <a:ext uri="{FF2B5EF4-FFF2-40B4-BE49-F238E27FC236}">
                <a16:creationId xmlns:a16="http://schemas.microsoft.com/office/drawing/2014/main" id="{E0511216-18D5-4473-BE2F-899D0E8F00A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48E496D-40B0-49CF-8D67-1B5183CDAC2E}" type="slidenum">
              <a:rPr lang="en-US" altLang="en-US" sz="1400"/>
              <a:pPr>
                <a:spcBef>
                  <a:spcPct val="0"/>
                </a:spcBef>
                <a:buClrTx/>
                <a:buSzTx/>
                <a:buFontTx/>
                <a:buNone/>
              </a:pPr>
              <a:t>40</a:t>
            </a:fld>
            <a:endParaRPr lang="en-US" altLang="en-US"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DC98D67E-2B3E-45D7-B936-333B9EBFDCBD}"/>
              </a:ext>
            </a:extLst>
          </p:cNvPr>
          <p:cNvSpPr>
            <a:spLocks noGrp="1" noChangeArrowheads="1"/>
          </p:cNvSpPr>
          <p:nvPr>
            <p:ph type="title"/>
          </p:nvPr>
        </p:nvSpPr>
        <p:spPr>
          <a:xfrm>
            <a:off x="381000" y="228600"/>
            <a:ext cx="8305800" cy="1143000"/>
          </a:xfrm>
          <a:noFill/>
        </p:spPr>
        <p:txBody>
          <a:bodyPr/>
          <a:lstStyle/>
          <a:p>
            <a:r>
              <a:rPr lang="en-US" altLang="en-US"/>
              <a:t>Case Study: Closest Pair of Points</a:t>
            </a:r>
          </a:p>
        </p:txBody>
      </p:sp>
      <p:sp>
        <p:nvSpPr>
          <p:cNvPr id="46082" name="Slide Number Placeholder 4">
            <a:extLst>
              <a:ext uri="{FF2B5EF4-FFF2-40B4-BE49-F238E27FC236}">
                <a16:creationId xmlns:a16="http://schemas.microsoft.com/office/drawing/2014/main" id="{56CEEA8F-BEB0-47E4-8C33-46906380035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766F9B-6FB0-4884-9AE4-184B5AB5C79E}" type="slidenum">
              <a:rPr lang="en-US" altLang="en-US" sz="1400"/>
              <a:pPr>
                <a:spcBef>
                  <a:spcPct val="0"/>
                </a:spcBef>
                <a:buClrTx/>
                <a:buSzTx/>
                <a:buFontTx/>
                <a:buNone/>
              </a:pPr>
              <a:t>41</a:t>
            </a:fld>
            <a:endParaRPr lang="en-US" altLang="en-US" sz="1400"/>
          </a:p>
        </p:txBody>
      </p:sp>
      <p:graphicFrame>
        <p:nvGraphicFramePr>
          <p:cNvPr id="46094" name="Object 17">
            <a:extLst>
              <a:ext uri="{FF2B5EF4-FFF2-40B4-BE49-F238E27FC236}">
                <a16:creationId xmlns:a16="http://schemas.microsoft.com/office/drawing/2014/main" id="{AEBC7F68-3972-4246-8600-55CF8505E27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10063144"/>
              </p:ext>
            </p:extLst>
          </p:nvPr>
        </p:nvGraphicFramePr>
        <p:xfrm>
          <a:off x="152400" y="1524000"/>
          <a:ext cx="4114800" cy="2682875"/>
        </p:xfrm>
        <a:graphic>
          <a:graphicData uri="http://schemas.openxmlformats.org/presentationml/2006/ole">
            <mc:AlternateContent xmlns:mc="http://schemas.openxmlformats.org/markup-compatibility/2006">
              <mc:Choice xmlns:v="urn:schemas-microsoft-com:vml" Requires="v">
                <p:oleObj r:id="rId2" imgW="3569355" imgH="2318711" progId="Word.Picture.8">
                  <p:embed/>
                </p:oleObj>
              </mc:Choice>
              <mc:Fallback>
                <p:oleObj r:id="rId2" imgW="3569355" imgH="2318711" progId="Word.Picture.8">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41148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7" name="Object 20">
            <a:extLst>
              <a:ext uri="{FF2B5EF4-FFF2-40B4-BE49-F238E27FC236}">
                <a16:creationId xmlns:a16="http://schemas.microsoft.com/office/drawing/2014/main" id="{D787152D-336A-4C2B-8288-583CFA05CA8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18219265"/>
              </p:ext>
            </p:extLst>
          </p:nvPr>
        </p:nvGraphicFramePr>
        <p:xfrm>
          <a:off x="4572000" y="1524000"/>
          <a:ext cx="1460500" cy="2667000"/>
        </p:xfrm>
        <a:graphic>
          <a:graphicData uri="http://schemas.openxmlformats.org/presentationml/2006/ole">
            <mc:AlternateContent xmlns:mc="http://schemas.openxmlformats.org/markup-compatibility/2006">
              <mc:Choice xmlns:v="urn:schemas-microsoft-com:vml" Requires="v">
                <p:oleObj r:id="rId4" imgW="1272540" imgH="2322576" progId="Word.Picture.8">
                  <p:embed/>
                </p:oleObj>
              </mc:Choice>
              <mc:Fallback>
                <p:oleObj r:id="rId4" imgW="1272540" imgH="2322576" progId="Word.Picture.8">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524000"/>
                        <a:ext cx="146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100" name="Object 23">
            <a:extLst>
              <a:ext uri="{FF2B5EF4-FFF2-40B4-BE49-F238E27FC236}">
                <a16:creationId xmlns:a16="http://schemas.microsoft.com/office/drawing/2014/main" id="{1865D663-F59F-4B23-B996-2C22B68D26A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06290264"/>
              </p:ext>
            </p:extLst>
          </p:nvPr>
        </p:nvGraphicFramePr>
        <p:xfrm>
          <a:off x="6324600" y="1524000"/>
          <a:ext cx="1460500" cy="2667000"/>
        </p:xfrm>
        <a:graphic>
          <a:graphicData uri="http://schemas.openxmlformats.org/presentationml/2006/ole">
            <mc:AlternateContent xmlns:mc="http://schemas.openxmlformats.org/markup-compatibility/2006">
              <mc:Choice xmlns:v="urn:schemas-microsoft-com:vml" Requires="v">
                <p:oleObj r:id="rId6" imgW="1272540" imgH="2322576" progId="Word.Picture.8">
                  <p:embed/>
                </p:oleObj>
              </mc:Choice>
              <mc:Fallback>
                <p:oleObj r:id="rId6" imgW="1272540" imgH="2322576" progId="Word.Picture.8">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1524000"/>
                        <a:ext cx="146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103" name="Object 28">
            <a:extLst>
              <a:ext uri="{FF2B5EF4-FFF2-40B4-BE49-F238E27FC236}">
                <a16:creationId xmlns:a16="http://schemas.microsoft.com/office/drawing/2014/main" id="{A001F974-196C-4040-845B-D4E43FA0D06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76161058"/>
              </p:ext>
            </p:extLst>
          </p:nvPr>
        </p:nvGraphicFramePr>
        <p:xfrm>
          <a:off x="1371600" y="4800600"/>
          <a:ext cx="6858000" cy="633413"/>
        </p:xfrm>
        <a:graphic>
          <a:graphicData uri="http://schemas.openxmlformats.org/presentationml/2006/ole">
            <mc:AlternateContent xmlns:mc="http://schemas.openxmlformats.org/markup-compatibility/2006">
              <mc:Choice xmlns:v="urn:schemas-microsoft-com:vml" Requires="v">
                <p:oleObj name="Equation" r:id="rId8" imgW="2235200" imgH="203200" progId="Equation.3">
                  <p:embed/>
                </p:oleObj>
              </mc:Choice>
              <mc:Fallback>
                <p:oleObj name="Equation" r:id="rId8" imgW="2235200" imgH="203200" progId="Equation.3">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4800600"/>
                        <a:ext cx="68580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04" name="AutoShape 15">
            <a:hlinkClick r:id="rId10" highlightClick="1"/>
            <a:extLst>
              <a:ext uri="{FF2B5EF4-FFF2-40B4-BE49-F238E27FC236}">
                <a16:creationId xmlns:a16="http://schemas.microsoft.com/office/drawing/2014/main" id="{05EF321F-BA3F-4742-9241-666001AED686}"/>
              </a:ext>
              <a:ext uri="{C183D7F6-B498-43B3-948B-1728B52AA6E4}">
                <adec:decorative xmlns:adec="http://schemas.microsoft.com/office/drawing/2017/decorative" val="1"/>
              </a:ext>
            </a:extLst>
          </p:cNvPr>
          <p:cNvSpPr>
            <a:spLocks noChangeArrowheads="1"/>
          </p:cNvSpPr>
          <p:nvPr/>
        </p:nvSpPr>
        <p:spPr bwMode="auto">
          <a:xfrm>
            <a:off x="457200" y="5715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105" name="Rectangle 1">
            <a:extLst>
              <a:ext uri="{FF2B5EF4-FFF2-40B4-BE49-F238E27FC236}">
                <a16:creationId xmlns:a16="http://schemas.microsoft.com/office/drawing/2014/main" id="{3F860AD6-FE2A-48AA-8171-CBE7C4CE6EC2}"/>
              </a:ext>
            </a:extLst>
          </p:cNvPr>
          <p:cNvSpPr>
            <a:spLocks noChangeArrowheads="1"/>
          </p:cNvSpPr>
          <p:nvPr/>
        </p:nvSpPr>
        <p:spPr bwMode="auto">
          <a:xfrm>
            <a:off x="990600" y="5715000"/>
            <a:ext cx="64008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0"/>
              </a:spcBef>
              <a:buClrTx/>
              <a:buSzTx/>
              <a:buFont typeface="Monotype Sorts"/>
              <a:buNone/>
            </a:pPr>
            <a:r>
              <a:rPr lang="en-US" altLang="en-US" sz="2400"/>
              <a:t>http://www.cs.armstrong.edu/liang/animation/web/ClosestPair.html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DC98D67E-2B3E-45D7-B936-333B9EBFDCBD}"/>
              </a:ext>
            </a:extLst>
          </p:cNvPr>
          <p:cNvSpPr>
            <a:spLocks noGrp="1" noChangeArrowheads="1"/>
          </p:cNvSpPr>
          <p:nvPr>
            <p:ph type="title"/>
          </p:nvPr>
        </p:nvSpPr>
        <p:spPr>
          <a:xfrm>
            <a:off x="381000" y="228600"/>
            <a:ext cx="8305800" cy="1143000"/>
          </a:xfrm>
          <a:noFill/>
        </p:spPr>
        <p:txBody>
          <a:bodyPr/>
          <a:lstStyle/>
          <a:p>
            <a:r>
              <a:rPr lang="en-US" altLang="en-US"/>
              <a:t>Case Study: Closest Pair of Points</a:t>
            </a:r>
          </a:p>
        </p:txBody>
      </p:sp>
      <p:sp>
        <p:nvSpPr>
          <p:cNvPr id="46082" name="Slide Number Placeholder 4">
            <a:extLst>
              <a:ext uri="{FF2B5EF4-FFF2-40B4-BE49-F238E27FC236}">
                <a16:creationId xmlns:a16="http://schemas.microsoft.com/office/drawing/2014/main" id="{56CEEA8F-BEB0-47E4-8C33-46906380035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766F9B-6FB0-4884-9AE4-184B5AB5C79E}" type="slidenum">
              <a:rPr lang="en-US" altLang="en-US" sz="1400"/>
              <a:pPr>
                <a:spcBef>
                  <a:spcPct val="0"/>
                </a:spcBef>
                <a:buClrTx/>
                <a:buSzTx/>
                <a:buFontTx/>
                <a:buNone/>
              </a:pPr>
              <a:t>42</a:t>
            </a:fld>
            <a:endParaRPr lang="en-US" altLang="en-US" sz="1400"/>
          </a:p>
        </p:txBody>
      </p:sp>
      <p:graphicFrame>
        <p:nvGraphicFramePr>
          <p:cNvPr id="46094" name="Object 17">
            <a:extLst>
              <a:ext uri="{FF2B5EF4-FFF2-40B4-BE49-F238E27FC236}">
                <a16:creationId xmlns:a16="http://schemas.microsoft.com/office/drawing/2014/main" id="{AEBC7F68-3972-4246-8600-55CF8505E275}"/>
              </a:ext>
              <a:ext uri="{C183D7F6-B498-43B3-948B-1728B52AA6E4}">
                <adec:decorative xmlns:adec="http://schemas.microsoft.com/office/drawing/2017/decorative" val="1"/>
              </a:ext>
            </a:extLst>
          </p:cNvPr>
          <p:cNvGraphicFramePr>
            <a:graphicFrameLocks noChangeAspect="1"/>
          </p:cNvGraphicFramePr>
          <p:nvPr/>
        </p:nvGraphicFramePr>
        <p:xfrm>
          <a:off x="152400" y="1524000"/>
          <a:ext cx="4114800" cy="2682875"/>
        </p:xfrm>
        <a:graphic>
          <a:graphicData uri="http://schemas.openxmlformats.org/presentationml/2006/ole">
            <mc:AlternateContent xmlns:mc="http://schemas.openxmlformats.org/markup-compatibility/2006">
              <mc:Choice xmlns:v="urn:schemas-microsoft-com:vml" Requires="v">
                <p:oleObj r:id="rId2" imgW="3569355" imgH="2318711" progId="Word.Picture.8">
                  <p:embed/>
                </p:oleObj>
              </mc:Choice>
              <mc:Fallback>
                <p:oleObj r:id="rId2" imgW="3569355" imgH="2318711" progId="Word.Picture.8">
                  <p:embed/>
                  <p:pic>
                    <p:nvPicPr>
                      <p:cNvPr id="46094" name="Object 17">
                        <a:extLst>
                          <a:ext uri="{FF2B5EF4-FFF2-40B4-BE49-F238E27FC236}">
                            <a16:creationId xmlns:a16="http://schemas.microsoft.com/office/drawing/2014/main" id="{AEBC7F68-3972-4246-8600-55CF8505E27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41148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7" name="Object 20">
            <a:extLst>
              <a:ext uri="{FF2B5EF4-FFF2-40B4-BE49-F238E27FC236}">
                <a16:creationId xmlns:a16="http://schemas.microsoft.com/office/drawing/2014/main" id="{D787152D-336A-4C2B-8288-583CFA05CA89}"/>
              </a:ext>
              <a:ext uri="{C183D7F6-B498-43B3-948B-1728B52AA6E4}">
                <adec:decorative xmlns:adec="http://schemas.microsoft.com/office/drawing/2017/decorative" val="1"/>
              </a:ext>
            </a:extLst>
          </p:cNvPr>
          <p:cNvGraphicFramePr>
            <a:graphicFrameLocks noChangeAspect="1"/>
          </p:cNvGraphicFramePr>
          <p:nvPr/>
        </p:nvGraphicFramePr>
        <p:xfrm>
          <a:off x="4572000" y="1524000"/>
          <a:ext cx="1460500" cy="2667000"/>
        </p:xfrm>
        <a:graphic>
          <a:graphicData uri="http://schemas.openxmlformats.org/presentationml/2006/ole">
            <mc:AlternateContent xmlns:mc="http://schemas.openxmlformats.org/markup-compatibility/2006">
              <mc:Choice xmlns:v="urn:schemas-microsoft-com:vml" Requires="v">
                <p:oleObj r:id="rId4" imgW="1272540" imgH="2322576" progId="Word.Picture.8">
                  <p:embed/>
                </p:oleObj>
              </mc:Choice>
              <mc:Fallback>
                <p:oleObj r:id="rId4" imgW="1272540" imgH="2322576" progId="Word.Picture.8">
                  <p:embed/>
                  <p:pic>
                    <p:nvPicPr>
                      <p:cNvPr id="46097" name="Object 20">
                        <a:extLst>
                          <a:ext uri="{FF2B5EF4-FFF2-40B4-BE49-F238E27FC236}">
                            <a16:creationId xmlns:a16="http://schemas.microsoft.com/office/drawing/2014/main" id="{D787152D-336A-4C2B-8288-583CFA05CA89}"/>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524000"/>
                        <a:ext cx="146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100" name="Object 23">
            <a:extLst>
              <a:ext uri="{FF2B5EF4-FFF2-40B4-BE49-F238E27FC236}">
                <a16:creationId xmlns:a16="http://schemas.microsoft.com/office/drawing/2014/main" id="{1865D663-F59F-4B23-B996-2C22B68D26AB}"/>
              </a:ext>
              <a:ext uri="{C183D7F6-B498-43B3-948B-1728B52AA6E4}">
                <adec:decorative xmlns:adec="http://schemas.microsoft.com/office/drawing/2017/decorative" val="1"/>
              </a:ext>
            </a:extLst>
          </p:cNvPr>
          <p:cNvGraphicFramePr>
            <a:graphicFrameLocks noChangeAspect="1"/>
          </p:cNvGraphicFramePr>
          <p:nvPr/>
        </p:nvGraphicFramePr>
        <p:xfrm>
          <a:off x="6324600" y="1524000"/>
          <a:ext cx="1460500" cy="2667000"/>
        </p:xfrm>
        <a:graphic>
          <a:graphicData uri="http://schemas.openxmlformats.org/presentationml/2006/ole">
            <mc:AlternateContent xmlns:mc="http://schemas.openxmlformats.org/markup-compatibility/2006">
              <mc:Choice xmlns:v="urn:schemas-microsoft-com:vml" Requires="v">
                <p:oleObj r:id="rId6" imgW="1272540" imgH="2322576" progId="Word.Picture.8">
                  <p:embed/>
                </p:oleObj>
              </mc:Choice>
              <mc:Fallback>
                <p:oleObj r:id="rId6" imgW="1272540" imgH="2322576" progId="Word.Picture.8">
                  <p:embed/>
                  <p:pic>
                    <p:nvPicPr>
                      <p:cNvPr id="46100" name="Object 23">
                        <a:extLst>
                          <a:ext uri="{FF2B5EF4-FFF2-40B4-BE49-F238E27FC236}">
                            <a16:creationId xmlns:a16="http://schemas.microsoft.com/office/drawing/2014/main" id="{1865D663-F59F-4B23-B996-2C22B68D26AB}"/>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1524000"/>
                        <a:ext cx="146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103" name="Object 28">
            <a:extLst>
              <a:ext uri="{FF2B5EF4-FFF2-40B4-BE49-F238E27FC236}">
                <a16:creationId xmlns:a16="http://schemas.microsoft.com/office/drawing/2014/main" id="{A001F974-196C-4040-845B-D4E43FA0D066}"/>
              </a:ext>
              <a:ext uri="{C183D7F6-B498-43B3-948B-1728B52AA6E4}">
                <adec:decorative xmlns:adec="http://schemas.microsoft.com/office/drawing/2017/decorative" val="1"/>
              </a:ext>
            </a:extLst>
          </p:cNvPr>
          <p:cNvGraphicFramePr>
            <a:graphicFrameLocks noChangeAspect="1"/>
          </p:cNvGraphicFramePr>
          <p:nvPr/>
        </p:nvGraphicFramePr>
        <p:xfrm>
          <a:off x="1371600" y="4800600"/>
          <a:ext cx="6858000" cy="633413"/>
        </p:xfrm>
        <a:graphic>
          <a:graphicData uri="http://schemas.openxmlformats.org/presentationml/2006/ole">
            <mc:AlternateContent xmlns:mc="http://schemas.openxmlformats.org/markup-compatibility/2006">
              <mc:Choice xmlns:v="urn:schemas-microsoft-com:vml" Requires="v">
                <p:oleObj name="Equation" r:id="rId8" imgW="2235200" imgH="203200" progId="Equation.3">
                  <p:embed/>
                </p:oleObj>
              </mc:Choice>
              <mc:Fallback>
                <p:oleObj name="Equation" r:id="rId8" imgW="2235200" imgH="203200" progId="Equation.3">
                  <p:embed/>
                  <p:pic>
                    <p:nvPicPr>
                      <p:cNvPr id="46103" name="Object 28">
                        <a:extLst>
                          <a:ext uri="{FF2B5EF4-FFF2-40B4-BE49-F238E27FC236}">
                            <a16:creationId xmlns:a16="http://schemas.microsoft.com/office/drawing/2014/main" id="{A001F974-196C-4040-845B-D4E43FA0D066}"/>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4800600"/>
                        <a:ext cx="68580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04" name="AutoShape 15">
            <a:hlinkClick r:id="rId10" highlightClick="1"/>
            <a:extLst>
              <a:ext uri="{FF2B5EF4-FFF2-40B4-BE49-F238E27FC236}">
                <a16:creationId xmlns:a16="http://schemas.microsoft.com/office/drawing/2014/main" id="{05EF321F-BA3F-4742-9241-666001AED686}"/>
              </a:ext>
              <a:ext uri="{C183D7F6-B498-43B3-948B-1728B52AA6E4}">
                <adec:decorative xmlns:adec="http://schemas.microsoft.com/office/drawing/2017/decorative" val="1"/>
              </a:ext>
            </a:extLst>
          </p:cNvPr>
          <p:cNvSpPr>
            <a:spLocks noChangeArrowheads="1"/>
          </p:cNvSpPr>
          <p:nvPr/>
        </p:nvSpPr>
        <p:spPr bwMode="auto">
          <a:xfrm>
            <a:off x="457200" y="5715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105" name="Rectangle 1">
            <a:extLst>
              <a:ext uri="{FF2B5EF4-FFF2-40B4-BE49-F238E27FC236}">
                <a16:creationId xmlns:a16="http://schemas.microsoft.com/office/drawing/2014/main" id="{3F860AD6-FE2A-48AA-8171-CBE7C4CE6EC2}"/>
              </a:ext>
            </a:extLst>
          </p:cNvPr>
          <p:cNvSpPr>
            <a:spLocks noChangeArrowheads="1"/>
          </p:cNvSpPr>
          <p:nvPr/>
        </p:nvSpPr>
        <p:spPr bwMode="auto">
          <a:xfrm>
            <a:off x="990600" y="5715000"/>
            <a:ext cx="64008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0"/>
              </a:spcBef>
              <a:buClrTx/>
              <a:buSzTx/>
              <a:buFont typeface="Monotype Sorts"/>
              <a:buNone/>
            </a:pPr>
            <a:r>
              <a:rPr lang="en-US" altLang="en-US" sz="2400"/>
              <a:t>http://www.cs.armstrong.edu/liang/animation/web/ClosestPair.html</a:t>
            </a:r>
          </a:p>
        </p:txBody>
      </p:sp>
    </p:spTree>
    <p:extLst>
      <p:ext uri="{BB962C8B-B14F-4D97-AF65-F5344CB8AC3E}">
        <p14:creationId xmlns:p14="http://schemas.microsoft.com/office/powerpoint/2010/main" val="1546923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47F5219-9D60-4E80-95BA-F052DE0C43C8}"/>
              </a:ext>
            </a:extLst>
          </p:cNvPr>
          <p:cNvSpPr>
            <a:spLocks noGrp="1" noChangeArrowheads="1"/>
          </p:cNvSpPr>
          <p:nvPr>
            <p:ph type="title"/>
          </p:nvPr>
        </p:nvSpPr>
        <p:spPr>
          <a:xfrm>
            <a:off x="381000" y="228600"/>
            <a:ext cx="8305800" cy="1143000"/>
          </a:xfrm>
          <a:noFill/>
        </p:spPr>
        <p:txBody>
          <a:bodyPr/>
          <a:lstStyle/>
          <a:p>
            <a:r>
              <a:rPr lang="en-US" altLang="en-US"/>
              <a:t>Case Study: Closest Pair of Points</a:t>
            </a:r>
          </a:p>
        </p:txBody>
      </p:sp>
      <p:sp>
        <p:nvSpPr>
          <p:cNvPr id="47106" name="Slide Number Placeholder 4">
            <a:extLst>
              <a:ext uri="{FF2B5EF4-FFF2-40B4-BE49-F238E27FC236}">
                <a16:creationId xmlns:a16="http://schemas.microsoft.com/office/drawing/2014/main" id="{4B0E6962-5682-4B1A-8E00-D860061F965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998319A-E335-4A55-AE97-B641919DC1C8}" type="slidenum">
              <a:rPr lang="en-US" altLang="en-US" sz="1400"/>
              <a:pPr>
                <a:spcBef>
                  <a:spcPct val="0"/>
                </a:spcBef>
                <a:buClrTx/>
                <a:buSzTx/>
                <a:buFontTx/>
                <a:buNone/>
              </a:pPr>
              <a:t>43</a:t>
            </a:fld>
            <a:endParaRPr lang="en-US" altLang="en-US" sz="1400"/>
          </a:p>
        </p:txBody>
      </p:sp>
      <p:graphicFrame>
        <p:nvGraphicFramePr>
          <p:cNvPr id="47118" name="Object 13">
            <a:extLst>
              <a:ext uri="{FF2B5EF4-FFF2-40B4-BE49-F238E27FC236}">
                <a16:creationId xmlns:a16="http://schemas.microsoft.com/office/drawing/2014/main" id="{40C6D1B5-5F4E-42FE-AEED-E8EBFC11BA9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1013716"/>
              </p:ext>
            </p:extLst>
          </p:nvPr>
        </p:nvGraphicFramePr>
        <p:xfrm>
          <a:off x="152400" y="1524000"/>
          <a:ext cx="4114800" cy="2682875"/>
        </p:xfrm>
        <a:graphic>
          <a:graphicData uri="http://schemas.openxmlformats.org/presentationml/2006/ole">
            <mc:AlternateContent xmlns:mc="http://schemas.openxmlformats.org/markup-compatibility/2006">
              <mc:Choice xmlns:v="urn:schemas-microsoft-com:vml" Requires="v">
                <p:oleObj r:id="rId2" imgW="3569355" imgH="2318711" progId="Word.Picture.8">
                  <p:embed/>
                </p:oleObj>
              </mc:Choice>
              <mc:Fallback>
                <p:oleObj r:id="rId2" imgW="3569355" imgH="2318711"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0"/>
                        <a:ext cx="41148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21" name="Object 16">
            <a:extLst>
              <a:ext uri="{FF2B5EF4-FFF2-40B4-BE49-F238E27FC236}">
                <a16:creationId xmlns:a16="http://schemas.microsoft.com/office/drawing/2014/main" id="{2DA0C593-DEC0-4D9F-9EE8-4E6834820E1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98195583"/>
              </p:ext>
            </p:extLst>
          </p:nvPr>
        </p:nvGraphicFramePr>
        <p:xfrm>
          <a:off x="4572000" y="1524000"/>
          <a:ext cx="1460500" cy="2667000"/>
        </p:xfrm>
        <a:graphic>
          <a:graphicData uri="http://schemas.openxmlformats.org/presentationml/2006/ole">
            <mc:AlternateContent xmlns:mc="http://schemas.openxmlformats.org/markup-compatibility/2006">
              <mc:Choice xmlns:v="urn:schemas-microsoft-com:vml" Requires="v">
                <p:oleObj r:id="rId4" imgW="1272540" imgH="2322576" progId="Word.Picture.8">
                  <p:embed/>
                </p:oleObj>
              </mc:Choice>
              <mc:Fallback>
                <p:oleObj r:id="rId4" imgW="1272540" imgH="2322576" progId="Word.Picture.8">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524000"/>
                        <a:ext cx="146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24" name="Object 19">
            <a:extLst>
              <a:ext uri="{FF2B5EF4-FFF2-40B4-BE49-F238E27FC236}">
                <a16:creationId xmlns:a16="http://schemas.microsoft.com/office/drawing/2014/main" id="{B6AC9C4A-3271-4634-B7FA-90DFC117111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32381021"/>
              </p:ext>
            </p:extLst>
          </p:nvPr>
        </p:nvGraphicFramePr>
        <p:xfrm>
          <a:off x="6324600" y="1524000"/>
          <a:ext cx="1460500" cy="2667000"/>
        </p:xfrm>
        <a:graphic>
          <a:graphicData uri="http://schemas.openxmlformats.org/presentationml/2006/ole">
            <mc:AlternateContent xmlns:mc="http://schemas.openxmlformats.org/markup-compatibility/2006">
              <mc:Choice xmlns:v="urn:schemas-microsoft-com:vml" Requires="v">
                <p:oleObj r:id="rId6" imgW="1272540" imgH="2322576" progId="Word.Picture.8">
                  <p:embed/>
                </p:oleObj>
              </mc:Choice>
              <mc:Fallback>
                <p:oleObj r:id="rId6" imgW="1272540" imgH="2322576" progId="Word.Picture.8">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1524000"/>
                        <a:ext cx="14605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27" name="Object 22">
            <a:extLst>
              <a:ext uri="{FF2B5EF4-FFF2-40B4-BE49-F238E27FC236}">
                <a16:creationId xmlns:a16="http://schemas.microsoft.com/office/drawing/2014/main" id="{10965CA0-E86D-4427-9E3E-622F3254CF4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51712532"/>
              </p:ext>
            </p:extLst>
          </p:nvPr>
        </p:nvGraphicFramePr>
        <p:xfrm>
          <a:off x="1371600" y="4800600"/>
          <a:ext cx="6858000" cy="633413"/>
        </p:xfrm>
        <a:graphic>
          <a:graphicData uri="http://schemas.openxmlformats.org/presentationml/2006/ole">
            <mc:AlternateContent xmlns:mc="http://schemas.openxmlformats.org/markup-compatibility/2006">
              <mc:Choice xmlns:v="urn:schemas-microsoft-com:vml" Requires="v">
                <p:oleObj name="Equation" r:id="rId8" imgW="2235200" imgH="203200" progId="Equation.3">
                  <p:embed/>
                </p:oleObj>
              </mc:Choice>
              <mc:Fallback>
                <p:oleObj name="Equation" r:id="rId8" imgW="2235200" imgH="203200"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4800600"/>
                        <a:ext cx="68580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1DCE14AA-F3A0-4259-8A14-8968783E7487}"/>
              </a:ext>
            </a:extLst>
          </p:cNvPr>
          <p:cNvSpPr>
            <a:spLocks noGrp="1" noChangeArrowheads="1"/>
          </p:cNvSpPr>
          <p:nvPr>
            <p:ph type="title"/>
          </p:nvPr>
        </p:nvSpPr>
        <p:spPr>
          <a:xfrm>
            <a:off x="152400" y="225425"/>
            <a:ext cx="8763000" cy="682625"/>
          </a:xfrm>
        </p:spPr>
        <p:txBody>
          <a:bodyPr/>
          <a:lstStyle/>
          <a:p>
            <a:r>
              <a:rPr lang="en-US" altLang="en-US" sz="4000"/>
              <a:t>Eight Queens</a:t>
            </a:r>
          </a:p>
        </p:txBody>
      </p:sp>
      <p:sp>
        <p:nvSpPr>
          <p:cNvPr id="48130" name="Slide Number Placeholder 4">
            <a:extLst>
              <a:ext uri="{FF2B5EF4-FFF2-40B4-BE49-F238E27FC236}">
                <a16:creationId xmlns:a16="http://schemas.microsoft.com/office/drawing/2014/main" id="{559506F9-F991-4520-B294-C32CA94AF79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4DB96D8-A059-47E9-A55D-C3B9DC2E348D}" type="slidenum">
              <a:rPr lang="en-US" altLang="en-US" sz="1400"/>
              <a:pPr>
                <a:spcBef>
                  <a:spcPct val="0"/>
                </a:spcBef>
                <a:buClrTx/>
                <a:buSzTx/>
                <a:buFontTx/>
                <a:buNone/>
              </a:pPr>
              <a:t>44</a:t>
            </a:fld>
            <a:endParaRPr lang="en-US" altLang="en-US" sz="1400"/>
          </a:p>
        </p:txBody>
      </p:sp>
      <p:pic>
        <p:nvPicPr>
          <p:cNvPr id="48133" name="Picture 6">
            <a:extLst>
              <a:ext uri="{FF2B5EF4-FFF2-40B4-BE49-F238E27FC236}">
                <a16:creationId xmlns:a16="http://schemas.microsoft.com/office/drawing/2014/main" id="{72CEA2D6-96E0-40B5-89D2-A1BF3515803C}"/>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2338" y="1371600"/>
            <a:ext cx="30480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8135" name="Object 8">
            <a:extLst>
              <a:ext uri="{FF2B5EF4-FFF2-40B4-BE49-F238E27FC236}">
                <a16:creationId xmlns:a16="http://schemas.microsoft.com/office/drawing/2014/main" id="{9BDB9D52-C4BB-4488-8B05-0570B335F5A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61446095"/>
              </p:ext>
            </p:extLst>
          </p:nvPr>
        </p:nvGraphicFramePr>
        <p:xfrm>
          <a:off x="915988" y="1371600"/>
          <a:ext cx="3205162" cy="3063875"/>
        </p:xfrm>
        <a:graphic>
          <a:graphicData uri="http://schemas.openxmlformats.org/presentationml/2006/ole">
            <mc:AlternateContent xmlns:mc="http://schemas.openxmlformats.org/markup-compatibility/2006">
              <mc:Choice xmlns:v="urn:schemas-microsoft-com:vml" Requires="v">
                <p:oleObj name="Picture" r:id="rId4" imgW="1373182" imgH="1306174" progId="Word.Picture.8">
                  <p:embed/>
                </p:oleObj>
              </mc:Choice>
              <mc:Fallback>
                <p:oleObj name="Picture" r:id="rId4" imgW="1373182" imgH="1306174" progId="Word.Picture.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988" y="1371600"/>
                        <a:ext cx="3205162"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6" name="Rectangle 16">
            <a:extLst>
              <a:ext uri="{FF2B5EF4-FFF2-40B4-BE49-F238E27FC236}">
                <a16:creationId xmlns:a16="http://schemas.microsoft.com/office/drawing/2014/main" id="{11319D52-0F4C-431F-A550-7E0F89A16F18}"/>
              </a:ext>
            </a:extLst>
          </p:cNvPr>
          <p:cNvSpPr>
            <a:spLocks noChangeArrowheads="1"/>
          </p:cNvSpPr>
          <p:nvPr/>
        </p:nvSpPr>
        <p:spPr bwMode="auto">
          <a:xfrm>
            <a:off x="165100" y="5067300"/>
            <a:ext cx="84058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a:t>https://liveexample.pearsoncmg.com/html/dsanimation/EightQueenseBook.html</a:t>
            </a:r>
          </a:p>
        </p:txBody>
      </p:sp>
      <p:sp>
        <p:nvSpPr>
          <p:cNvPr id="48137" name="AutoShape 10">
            <a:hlinkClick r:id="rId6" highlightClick="1"/>
            <a:extLst>
              <a:ext uri="{FF2B5EF4-FFF2-40B4-BE49-F238E27FC236}">
                <a16:creationId xmlns:a16="http://schemas.microsoft.com/office/drawing/2014/main" id="{647E3D3D-98F5-4CFB-9FD9-1A8925FE8216}"/>
              </a:ext>
              <a:ext uri="{C183D7F6-B498-43B3-948B-1728B52AA6E4}">
                <adec:decorative xmlns:adec="http://schemas.microsoft.com/office/drawing/2017/decorative" val="1"/>
              </a:ext>
            </a:extLst>
          </p:cNvPr>
          <p:cNvSpPr>
            <a:spLocks noChangeArrowheads="1"/>
          </p:cNvSpPr>
          <p:nvPr/>
        </p:nvSpPr>
        <p:spPr bwMode="auto">
          <a:xfrm>
            <a:off x="460738" y="4377531"/>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8" name="Rectangle 8">
            <a:hlinkClick r:id="rId7"/>
            <a:extLst>
              <a:ext uri="{FF2B5EF4-FFF2-40B4-BE49-F238E27FC236}">
                <a16:creationId xmlns:a16="http://schemas.microsoft.com/office/drawing/2014/main" id="{CB9902FE-0D04-4580-8600-739EA51FC4BA}"/>
              </a:ext>
            </a:extLst>
          </p:cNvPr>
          <p:cNvSpPr>
            <a:spLocks noChangeArrowheads="1"/>
          </p:cNvSpPr>
          <p:nvPr/>
        </p:nvSpPr>
        <p:spPr bwMode="auto">
          <a:xfrm>
            <a:off x="4292600" y="5729288"/>
            <a:ext cx="26670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EightQueens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9CE1C598-1FEC-4F54-9065-77D9E9E4C507}"/>
              </a:ext>
            </a:extLst>
          </p:cNvPr>
          <p:cNvSpPr>
            <a:spLocks noGrp="1" noChangeArrowheads="1"/>
          </p:cNvSpPr>
          <p:nvPr>
            <p:ph type="title"/>
          </p:nvPr>
        </p:nvSpPr>
        <p:spPr>
          <a:xfrm>
            <a:off x="685800" y="228600"/>
            <a:ext cx="7772400" cy="914400"/>
          </a:xfrm>
          <a:noFill/>
        </p:spPr>
        <p:txBody>
          <a:bodyPr/>
          <a:lstStyle/>
          <a:p>
            <a:r>
              <a:rPr lang="en-US" altLang="en-US" dirty="0">
                <a:solidFill>
                  <a:srgbClr val="002060"/>
                </a:solidFill>
              </a:rPr>
              <a:t>Backtracking</a:t>
            </a:r>
          </a:p>
        </p:txBody>
      </p:sp>
      <p:sp>
        <p:nvSpPr>
          <p:cNvPr id="50190" name="Rectangle 14">
            <a:extLst>
              <a:ext uri="{FF2B5EF4-FFF2-40B4-BE49-F238E27FC236}">
                <a16:creationId xmlns:a16="http://schemas.microsoft.com/office/drawing/2014/main" id="{F1133D29-6DEB-47D0-B7DE-71DDEA8FFAD8}"/>
              </a:ext>
            </a:extLst>
          </p:cNvPr>
          <p:cNvSpPr>
            <a:spLocks noGrp="1" noChangeArrowheads="1"/>
          </p:cNvSpPr>
          <p:nvPr>
            <p:ph idx="1"/>
          </p:nvPr>
        </p:nvSpPr>
        <p:spPr>
          <a:xfrm>
            <a:off x="228600" y="1219199"/>
            <a:ext cx="8610600" cy="4190997"/>
          </a:xfrm>
        </p:spPr>
        <p:txBody>
          <a:bodyPr/>
          <a:lstStyle/>
          <a:p>
            <a:pPr>
              <a:lnSpc>
                <a:spcPct val="90000"/>
              </a:lnSpc>
              <a:spcBef>
                <a:spcPts val="0"/>
              </a:spcBef>
              <a:spcAft>
                <a:spcPts val="1200"/>
              </a:spcAft>
              <a:buFont typeface="Wingdings" panose="05000000000000000000" pitchFamily="2" charset="2"/>
              <a:buChar char="§"/>
            </a:pPr>
            <a:r>
              <a:rPr lang="en-US" altLang="en-US" dirty="0"/>
              <a:t>There are many possible candidates? How do you find a solution? </a:t>
            </a:r>
          </a:p>
          <a:p>
            <a:pPr>
              <a:lnSpc>
                <a:spcPct val="90000"/>
              </a:lnSpc>
              <a:spcBef>
                <a:spcPts val="0"/>
              </a:spcBef>
              <a:spcAft>
                <a:spcPts val="1200"/>
              </a:spcAft>
              <a:buFont typeface="Wingdings" panose="05000000000000000000" pitchFamily="2" charset="2"/>
              <a:buChar char="§"/>
            </a:pPr>
            <a:r>
              <a:rPr lang="en-US" altLang="en-US" dirty="0"/>
              <a:t>The </a:t>
            </a:r>
            <a:r>
              <a:rPr lang="en-US" altLang="en-US" b="1" dirty="0"/>
              <a:t>backtracking approach </a:t>
            </a:r>
            <a:r>
              <a:rPr lang="en-US" altLang="en-US" dirty="0"/>
              <a:t>is to </a:t>
            </a:r>
          </a:p>
          <a:p>
            <a:pPr lvl="1">
              <a:lnSpc>
                <a:spcPct val="90000"/>
              </a:lnSpc>
              <a:spcBef>
                <a:spcPts val="0"/>
              </a:spcBef>
              <a:spcAft>
                <a:spcPts val="1200"/>
              </a:spcAft>
              <a:buFont typeface="Wingdings" panose="05000000000000000000" pitchFamily="2" charset="2"/>
              <a:buChar char="§"/>
            </a:pPr>
            <a:r>
              <a:rPr lang="en-US" altLang="en-US" dirty="0"/>
              <a:t>search for a candidate incrementally and </a:t>
            </a:r>
          </a:p>
          <a:p>
            <a:pPr lvl="1">
              <a:lnSpc>
                <a:spcPct val="90000"/>
              </a:lnSpc>
              <a:spcBef>
                <a:spcPts val="0"/>
              </a:spcBef>
              <a:spcAft>
                <a:spcPts val="1200"/>
              </a:spcAft>
              <a:buFont typeface="Wingdings" panose="05000000000000000000" pitchFamily="2" charset="2"/>
              <a:buChar char="§"/>
            </a:pPr>
            <a:r>
              <a:rPr lang="en-US" altLang="en-US" dirty="0"/>
              <a:t>abandon it as soon as it determines that the candidate cannot possibly be a valid solution and </a:t>
            </a:r>
          </a:p>
          <a:p>
            <a:pPr lvl="1">
              <a:lnSpc>
                <a:spcPct val="90000"/>
              </a:lnSpc>
              <a:spcBef>
                <a:spcPts val="0"/>
              </a:spcBef>
              <a:spcAft>
                <a:spcPts val="1200"/>
              </a:spcAft>
              <a:buFont typeface="Wingdings" panose="05000000000000000000" pitchFamily="2" charset="2"/>
              <a:buChar char="§"/>
            </a:pPr>
            <a:r>
              <a:rPr lang="en-US" altLang="en-US" dirty="0"/>
              <a:t>explore a new candidate.</a:t>
            </a:r>
          </a:p>
        </p:txBody>
      </p:sp>
      <p:sp>
        <p:nvSpPr>
          <p:cNvPr id="50178" name="Slide Number Placeholder 4">
            <a:extLst>
              <a:ext uri="{FF2B5EF4-FFF2-40B4-BE49-F238E27FC236}">
                <a16:creationId xmlns:a16="http://schemas.microsoft.com/office/drawing/2014/main" id="{3A381EC9-20EE-410A-A41A-4A54EAE641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153A3D3-AEEC-4802-BA78-CF1DFC544383}" type="slidenum">
              <a:rPr lang="en-US" altLang="en-US" sz="1400"/>
              <a:pPr>
                <a:spcBef>
                  <a:spcPct val="0"/>
                </a:spcBef>
                <a:buClrTx/>
                <a:buSzTx/>
                <a:buFontTx/>
                <a:buNone/>
              </a:pPr>
              <a:t>45</a:t>
            </a:fld>
            <a:endParaRPr lang="en-US" altLang="en-US" sz="1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a:extLst>
              <a:ext uri="{FF2B5EF4-FFF2-40B4-BE49-F238E27FC236}">
                <a16:creationId xmlns:a16="http://schemas.microsoft.com/office/drawing/2014/main" id="{2EB520C3-1B1D-4C8D-B038-D4521DF329EC}"/>
              </a:ext>
            </a:extLst>
          </p:cNvPr>
          <p:cNvSpPr>
            <a:spLocks noGrp="1" noChangeArrowheads="1"/>
          </p:cNvSpPr>
          <p:nvPr>
            <p:ph type="title"/>
          </p:nvPr>
        </p:nvSpPr>
        <p:spPr>
          <a:xfrm>
            <a:off x="152400" y="225425"/>
            <a:ext cx="8763000" cy="682625"/>
          </a:xfrm>
        </p:spPr>
        <p:txBody>
          <a:bodyPr/>
          <a:lstStyle/>
          <a:p>
            <a:r>
              <a:rPr lang="en-US" altLang="en-US" sz="4000" dirty="0">
                <a:solidFill>
                  <a:srgbClr val="002060"/>
                </a:solidFill>
              </a:rPr>
              <a:t>Eight Queens</a:t>
            </a:r>
          </a:p>
        </p:txBody>
      </p:sp>
      <p:sp>
        <p:nvSpPr>
          <p:cNvPr id="51202" name="Slide Number Placeholder 4">
            <a:extLst>
              <a:ext uri="{FF2B5EF4-FFF2-40B4-BE49-F238E27FC236}">
                <a16:creationId xmlns:a16="http://schemas.microsoft.com/office/drawing/2014/main" id="{D1E8F89E-856C-4936-AEDC-408C0B58C84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A2E1969-F68A-4099-AEB6-E581BBEA1BB0}" type="slidenum">
              <a:rPr lang="en-US" altLang="en-US" sz="1400"/>
              <a:pPr>
                <a:spcBef>
                  <a:spcPct val="0"/>
                </a:spcBef>
                <a:buClrTx/>
                <a:buSzTx/>
                <a:buFontTx/>
                <a:buNone/>
              </a:pPr>
              <a:t>46</a:t>
            </a:fld>
            <a:endParaRPr lang="en-US" altLang="en-US" sz="1400"/>
          </a:p>
        </p:txBody>
      </p:sp>
      <p:pic>
        <p:nvPicPr>
          <p:cNvPr id="51207" name="Picture 8">
            <a:extLst>
              <a:ext uri="{FF2B5EF4-FFF2-40B4-BE49-F238E27FC236}">
                <a16:creationId xmlns:a16="http://schemas.microsoft.com/office/drawing/2014/main" id="{BF403634-AACF-451D-9077-9EA2444129B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7086600" cy="459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4">
            <a:extLst>
              <a:ext uri="{FF2B5EF4-FFF2-40B4-BE49-F238E27FC236}">
                <a16:creationId xmlns:a16="http://schemas.microsoft.com/office/drawing/2014/main" id="{6D6AB4A2-A727-44CB-BCFE-70DC4509AFC1}"/>
              </a:ext>
            </a:extLst>
          </p:cNvPr>
          <p:cNvSpPr>
            <a:spLocks noGrp="1" noChangeArrowheads="1"/>
          </p:cNvSpPr>
          <p:nvPr>
            <p:ph type="title"/>
          </p:nvPr>
        </p:nvSpPr>
        <p:spPr>
          <a:xfrm>
            <a:off x="228600" y="228600"/>
            <a:ext cx="8299450" cy="396875"/>
          </a:xfrm>
          <a:noFill/>
        </p:spPr>
        <p:txBody>
          <a:bodyPr/>
          <a:lstStyle/>
          <a:p>
            <a:r>
              <a:rPr lang="en-US" altLang="en-US" sz="3200"/>
              <a:t>Convex Hull Animation</a:t>
            </a:r>
            <a:endParaRPr lang="en-US" altLang="en-US" sz="3200">
              <a:solidFill>
                <a:schemeClr val="tx1"/>
              </a:solidFill>
              <a:latin typeface="Book Antiqua" panose="02040602050305030304" pitchFamily="18" charset="0"/>
              <a:hlinkClick r:id="rId2" action="ppaction://program"/>
            </a:endParaRPr>
          </a:p>
        </p:txBody>
      </p:sp>
      <p:sp>
        <p:nvSpPr>
          <p:cNvPr id="53252" name="Rectangle 3">
            <a:extLst>
              <a:ext uri="{FF2B5EF4-FFF2-40B4-BE49-F238E27FC236}">
                <a16:creationId xmlns:a16="http://schemas.microsoft.com/office/drawing/2014/main" id="{2419C1B3-C988-4F27-B155-6F3967A62DFA}"/>
              </a:ext>
            </a:extLst>
          </p:cNvPr>
          <p:cNvSpPr>
            <a:spLocks noGrp="1" noChangeArrowheads="1"/>
          </p:cNvSpPr>
          <p:nvPr>
            <p:ph idx="1"/>
          </p:nvPr>
        </p:nvSpPr>
        <p:spPr>
          <a:xfrm>
            <a:off x="304800" y="1450975"/>
            <a:ext cx="8529638" cy="863600"/>
          </a:xfrm>
          <a:noFill/>
        </p:spPr>
        <p:txBody>
          <a:bodyPr/>
          <a:lstStyle/>
          <a:p>
            <a:pPr marL="0" indent="0">
              <a:lnSpc>
                <a:spcPct val="90000"/>
              </a:lnSpc>
              <a:buFont typeface="Monotype Sorts"/>
              <a:buNone/>
            </a:pPr>
            <a:r>
              <a:rPr lang="en-US" altLang="en-US" sz="2800"/>
              <a:t>https://liveexample.pearsoncmg.com/dsanimation/ConvexHull.html</a:t>
            </a:r>
          </a:p>
        </p:txBody>
      </p:sp>
      <p:sp>
        <p:nvSpPr>
          <p:cNvPr id="53250" name="Slide Number Placeholder 4">
            <a:extLst>
              <a:ext uri="{FF2B5EF4-FFF2-40B4-BE49-F238E27FC236}">
                <a16:creationId xmlns:a16="http://schemas.microsoft.com/office/drawing/2014/main" id="{C85F13B3-C61D-4732-978F-1ED00B6B9FA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532750E-A856-41B1-9E0B-954D0A8DAC02}" type="slidenum">
              <a:rPr lang="en-US" altLang="en-US" sz="1400"/>
              <a:pPr>
                <a:spcBef>
                  <a:spcPct val="0"/>
                </a:spcBef>
                <a:buClrTx/>
                <a:buSzTx/>
                <a:buFontTx/>
                <a:buNone/>
              </a:pPr>
              <a:t>47</a:t>
            </a:fld>
            <a:endParaRPr lang="en-US" altLang="en-US" sz="1400"/>
          </a:p>
        </p:txBody>
      </p:sp>
      <p:sp>
        <p:nvSpPr>
          <p:cNvPr id="53256" name="Rectangle 8">
            <a:extLst>
              <a:ext uri="{FF2B5EF4-FFF2-40B4-BE49-F238E27FC236}">
                <a16:creationId xmlns:a16="http://schemas.microsoft.com/office/drawing/2014/main" id="{9BB02093-7CC7-4A4B-AEAC-FBD811CFF9E6}"/>
              </a:ext>
            </a:extLst>
          </p:cNvPr>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dirty="0">
                <a:solidFill>
                  <a:srgbClr val="800000"/>
                </a:solidFill>
                <a:latin typeface="Forte" panose="03060902040502070203" pitchFamily="66" charset="0"/>
              </a:rPr>
              <a:t>animation</a:t>
            </a:r>
          </a:p>
        </p:txBody>
      </p:sp>
      <p:pic>
        <p:nvPicPr>
          <p:cNvPr id="53257" name="Picture 9">
            <a:extLst>
              <a:ext uri="{FF2B5EF4-FFF2-40B4-BE49-F238E27FC236}">
                <a16:creationId xmlns:a16="http://schemas.microsoft.com/office/drawing/2014/main" id="{F64BD2CA-19A7-4989-99B3-3E4C489EDEF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667000"/>
            <a:ext cx="7620000"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8" name="AutoShape 10">
            <a:hlinkClick r:id="rId4" highlightClick="1"/>
            <a:extLst>
              <a:ext uri="{FF2B5EF4-FFF2-40B4-BE49-F238E27FC236}">
                <a16:creationId xmlns:a16="http://schemas.microsoft.com/office/drawing/2014/main" id="{C9BCBB67-4250-476C-9AB0-0EB4E3840DFD}"/>
              </a:ext>
              <a:ext uri="{C183D7F6-B498-43B3-948B-1728B52AA6E4}">
                <adec:decorative xmlns:adec="http://schemas.microsoft.com/office/drawing/2017/decorative" val="1"/>
              </a:ext>
            </a:extLst>
          </p:cNvPr>
          <p:cNvSpPr>
            <a:spLocks noChangeArrowheads="1"/>
          </p:cNvSpPr>
          <p:nvPr/>
        </p:nvSpPr>
        <p:spPr bwMode="auto">
          <a:xfrm>
            <a:off x="1539059" y="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a:extLst>
              <a:ext uri="{FF2B5EF4-FFF2-40B4-BE49-F238E27FC236}">
                <a16:creationId xmlns:a16="http://schemas.microsoft.com/office/drawing/2014/main" id="{E5E8C9C6-997D-4D7B-B487-F970BFA073F6}"/>
              </a:ext>
            </a:extLst>
          </p:cNvPr>
          <p:cNvSpPr>
            <a:spLocks noGrp="1" noChangeArrowheads="1"/>
          </p:cNvSpPr>
          <p:nvPr>
            <p:ph type="title"/>
          </p:nvPr>
        </p:nvSpPr>
        <p:spPr>
          <a:xfrm>
            <a:off x="685800" y="228600"/>
            <a:ext cx="7772400" cy="685800"/>
          </a:xfrm>
          <a:noFill/>
        </p:spPr>
        <p:txBody>
          <a:bodyPr/>
          <a:lstStyle/>
          <a:p>
            <a:r>
              <a:rPr lang="en-US" altLang="en-US">
                <a:cs typeface="Courier New" panose="02070309020205020404" pitchFamily="49" charset="0"/>
              </a:rPr>
              <a:t>Convex Hull</a:t>
            </a:r>
            <a:endParaRPr lang="en-US" altLang="en-US"/>
          </a:p>
        </p:txBody>
      </p:sp>
      <p:sp>
        <p:nvSpPr>
          <p:cNvPr id="54276" name="Rectangle 3">
            <a:extLst>
              <a:ext uri="{FF2B5EF4-FFF2-40B4-BE49-F238E27FC236}">
                <a16:creationId xmlns:a16="http://schemas.microsoft.com/office/drawing/2014/main" id="{EC0CF063-8352-413E-A6EE-F4DF26DBA62F}"/>
              </a:ext>
            </a:extLst>
          </p:cNvPr>
          <p:cNvSpPr>
            <a:spLocks noGrp="1" noChangeArrowheads="1"/>
          </p:cNvSpPr>
          <p:nvPr>
            <p:ph idx="1"/>
          </p:nvPr>
        </p:nvSpPr>
        <p:spPr>
          <a:xfrm>
            <a:off x="228600" y="1066800"/>
            <a:ext cx="8686800" cy="2971800"/>
          </a:xfrm>
          <a:noFill/>
        </p:spPr>
        <p:txBody>
          <a:bodyPr/>
          <a:lstStyle/>
          <a:p>
            <a:pPr>
              <a:lnSpc>
                <a:spcPct val="90000"/>
              </a:lnSpc>
              <a:buFont typeface="Wingdings" panose="05000000000000000000" pitchFamily="2" charset="2"/>
              <a:buChar char="§"/>
            </a:pPr>
            <a:r>
              <a:rPr lang="en-US" altLang="en-US" sz="2400" dirty="0"/>
              <a:t>Given a set of points, a convex hull is a smallest convex polygon that encloses all these points, as shown in Figure a. </a:t>
            </a:r>
          </a:p>
          <a:p>
            <a:pPr>
              <a:lnSpc>
                <a:spcPct val="90000"/>
              </a:lnSpc>
              <a:buFont typeface="Wingdings" panose="05000000000000000000" pitchFamily="2" charset="2"/>
              <a:buChar char="§"/>
            </a:pPr>
            <a:r>
              <a:rPr lang="en-US" altLang="en-US" sz="2400" dirty="0"/>
              <a:t>A polygon is convex if every line connecting two vertices is inside the polygon. </a:t>
            </a:r>
          </a:p>
          <a:p>
            <a:pPr>
              <a:lnSpc>
                <a:spcPct val="90000"/>
              </a:lnSpc>
              <a:buFont typeface="Wingdings" panose="05000000000000000000" pitchFamily="2" charset="2"/>
              <a:buChar char="§"/>
            </a:pPr>
            <a:r>
              <a:rPr lang="en-US" altLang="en-US" sz="2400" dirty="0"/>
              <a:t>For example, the vertices v0, v1, v2, v3, v4, and v5 in Figure a form a convex polygon, but not in Figure b, because the line that connects v3 and v1 is not inside the polygon.</a:t>
            </a:r>
          </a:p>
        </p:txBody>
      </p:sp>
      <p:sp>
        <p:nvSpPr>
          <p:cNvPr id="54274" name="Slide Number Placeholder 4">
            <a:extLst>
              <a:ext uri="{FF2B5EF4-FFF2-40B4-BE49-F238E27FC236}">
                <a16:creationId xmlns:a16="http://schemas.microsoft.com/office/drawing/2014/main" id="{A7394337-C8DD-4F41-9485-03373141F79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0DB6A86-C527-423E-B9DA-650A6DDAA6DF}" type="slidenum">
              <a:rPr lang="en-US" altLang="en-US" sz="1400"/>
              <a:pPr>
                <a:spcBef>
                  <a:spcPct val="0"/>
                </a:spcBef>
                <a:buClrTx/>
                <a:buSzTx/>
                <a:buFontTx/>
                <a:buNone/>
              </a:pPr>
              <a:t>48</a:t>
            </a:fld>
            <a:endParaRPr lang="en-US" altLang="en-US" sz="1400"/>
          </a:p>
        </p:txBody>
      </p:sp>
      <p:graphicFrame>
        <p:nvGraphicFramePr>
          <p:cNvPr id="54281" name="Object 13">
            <a:extLst>
              <a:ext uri="{FF2B5EF4-FFF2-40B4-BE49-F238E27FC236}">
                <a16:creationId xmlns:a16="http://schemas.microsoft.com/office/drawing/2014/main" id="{1A350C63-6D2D-45DC-9D83-ABFAE1776D9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90376632"/>
              </p:ext>
            </p:extLst>
          </p:nvPr>
        </p:nvGraphicFramePr>
        <p:xfrm>
          <a:off x="990600" y="4114800"/>
          <a:ext cx="3124200" cy="1635125"/>
        </p:xfrm>
        <a:graphic>
          <a:graphicData uri="http://schemas.openxmlformats.org/presentationml/2006/ole">
            <mc:AlternateContent xmlns:mc="http://schemas.openxmlformats.org/markup-compatibility/2006">
              <mc:Choice xmlns:v="urn:schemas-microsoft-com:vml" Requires="v">
                <p:oleObj name="Picture" r:id="rId2" imgW="1803400" imgH="939800" progId="Word.Picture.8">
                  <p:embed/>
                </p:oleObj>
              </mc:Choice>
              <mc:Fallback>
                <p:oleObj name="Picture" r:id="rId2" imgW="1803400" imgH="939800"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114800"/>
                        <a:ext cx="31242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3" name="Object 15">
            <a:extLst>
              <a:ext uri="{FF2B5EF4-FFF2-40B4-BE49-F238E27FC236}">
                <a16:creationId xmlns:a16="http://schemas.microsoft.com/office/drawing/2014/main" id="{E88CA49C-1227-481D-87CA-36ADCDD8DC99}"/>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17401919"/>
              </p:ext>
            </p:extLst>
          </p:nvPr>
        </p:nvGraphicFramePr>
        <p:xfrm>
          <a:off x="4876800" y="4114800"/>
          <a:ext cx="3124200" cy="1635125"/>
        </p:xfrm>
        <a:graphic>
          <a:graphicData uri="http://schemas.openxmlformats.org/presentationml/2006/ole">
            <mc:AlternateContent xmlns:mc="http://schemas.openxmlformats.org/markup-compatibility/2006">
              <mc:Choice xmlns:v="urn:schemas-microsoft-com:vml" Requires="v">
                <p:oleObj name="Picture" r:id="rId4" imgW="1803400" imgH="939800" progId="Word.Picture.8">
                  <p:embed/>
                </p:oleObj>
              </mc:Choice>
              <mc:Fallback>
                <p:oleObj name="Picture" r:id="rId4" imgW="1803400" imgH="939800" progId="Word.Picture.8">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4114800"/>
                        <a:ext cx="31242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84" name="Rectangle 17">
            <a:extLst>
              <a:ext uri="{FF2B5EF4-FFF2-40B4-BE49-F238E27FC236}">
                <a16:creationId xmlns:a16="http://schemas.microsoft.com/office/drawing/2014/main" id="{30E84E8C-710F-437D-8638-3FF76FADD96D}"/>
              </a:ext>
            </a:extLst>
          </p:cNvPr>
          <p:cNvSpPr>
            <a:spLocks noChangeArrowheads="1"/>
          </p:cNvSpPr>
          <p:nvPr/>
        </p:nvSpPr>
        <p:spPr bwMode="auto">
          <a:xfrm>
            <a:off x="1828800" y="5791200"/>
            <a:ext cx="175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t>Figure a</a:t>
            </a:r>
          </a:p>
        </p:txBody>
      </p:sp>
      <p:sp>
        <p:nvSpPr>
          <p:cNvPr id="54285" name="Rectangle 18">
            <a:extLst>
              <a:ext uri="{FF2B5EF4-FFF2-40B4-BE49-F238E27FC236}">
                <a16:creationId xmlns:a16="http://schemas.microsoft.com/office/drawing/2014/main" id="{2A6D1312-7A14-4217-9D55-7204DC57038C}"/>
              </a:ext>
            </a:extLst>
          </p:cNvPr>
          <p:cNvSpPr>
            <a:spLocks noChangeArrowheads="1"/>
          </p:cNvSpPr>
          <p:nvPr/>
        </p:nvSpPr>
        <p:spPr bwMode="auto">
          <a:xfrm>
            <a:off x="5715000" y="5791200"/>
            <a:ext cx="1676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t>Figure b</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a:extLst>
              <a:ext uri="{FF2B5EF4-FFF2-40B4-BE49-F238E27FC236}">
                <a16:creationId xmlns:a16="http://schemas.microsoft.com/office/drawing/2014/main" id="{62AA1244-F26C-4E13-B6F1-4BBCA2BE06DF}"/>
              </a:ext>
            </a:extLst>
          </p:cNvPr>
          <p:cNvSpPr>
            <a:spLocks noGrp="1" noChangeArrowheads="1"/>
          </p:cNvSpPr>
          <p:nvPr>
            <p:ph type="title"/>
          </p:nvPr>
        </p:nvSpPr>
        <p:spPr>
          <a:xfrm>
            <a:off x="685800" y="228600"/>
            <a:ext cx="7772400" cy="533400"/>
          </a:xfrm>
          <a:noFill/>
        </p:spPr>
        <p:txBody>
          <a:bodyPr/>
          <a:lstStyle/>
          <a:p>
            <a:r>
              <a:rPr lang="en-US" altLang="en-US">
                <a:cs typeface="Courier New" panose="02070309020205020404" pitchFamily="49" charset="0"/>
              </a:rPr>
              <a:t>Gift-Wrapping</a:t>
            </a:r>
            <a:endParaRPr lang="en-US" altLang="en-US"/>
          </a:p>
        </p:txBody>
      </p:sp>
      <p:sp>
        <p:nvSpPr>
          <p:cNvPr id="55300" name="Rectangle 3">
            <a:extLst>
              <a:ext uri="{FF2B5EF4-FFF2-40B4-BE49-F238E27FC236}">
                <a16:creationId xmlns:a16="http://schemas.microsoft.com/office/drawing/2014/main" id="{D6D8271F-3974-4900-BA06-88114E95BB08}"/>
              </a:ext>
            </a:extLst>
          </p:cNvPr>
          <p:cNvSpPr>
            <a:spLocks noGrp="1" noChangeArrowheads="1"/>
          </p:cNvSpPr>
          <p:nvPr>
            <p:ph idx="1"/>
          </p:nvPr>
        </p:nvSpPr>
        <p:spPr>
          <a:xfrm>
            <a:off x="2590800" y="1066800"/>
            <a:ext cx="6324600" cy="1143000"/>
          </a:xfrm>
          <a:noFill/>
        </p:spPr>
        <p:txBody>
          <a:bodyPr/>
          <a:lstStyle/>
          <a:p>
            <a:pPr marL="0" indent="0">
              <a:lnSpc>
                <a:spcPct val="90000"/>
              </a:lnSpc>
              <a:buFont typeface="Monotype Sorts"/>
              <a:buNone/>
            </a:pPr>
            <a:r>
              <a:rPr lang="en-US" altLang="en-US" sz="2400"/>
              <a:t>Step 1: Given a set of points S, let the points in S be labeled s0, s1, ..., sk. Select the rightmost lowest point h0 in the set S. Let t0 be h0. </a:t>
            </a:r>
          </a:p>
        </p:txBody>
      </p:sp>
      <p:sp>
        <p:nvSpPr>
          <p:cNvPr id="55298" name="Slide Number Placeholder 4">
            <a:extLst>
              <a:ext uri="{FF2B5EF4-FFF2-40B4-BE49-F238E27FC236}">
                <a16:creationId xmlns:a16="http://schemas.microsoft.com/office/drawing/2014/main" id="{F8D150A7-0E71-4403-9210-FEB897A1080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B2FEFB4-6957-47D3-A3AE-B5A0F2C08962}" type="slidenum">
              <a:rPr lang="en-US" altLang="en-US" sz="1400"/>
              <a:pPr>
                <a:spcBef>
                  <a:spcPct val="0"/>
                </a:spcBef>
                <a:buClrTx/>
                <a:buSzTx/>
                <a:buFontTx/>
                <a:buNone/>
              </a:pPr>
              <a:t>49</a:t>
            </a:fld>
            <a:endParaRPr lang="en-US" altLang="en-US" sz="1400"/>
          </a:p>
        </p:txBody>
      </p:sp>
      <p:graphicFrame>
        <p:nvGraphicFramePr>
          <p:cNvPr id="55307" name="Object 13">
            <a:extLst>
              <a:ext uri="{FF2B5EF4-FFF2-40B4-BE49-F238E27FC236}">
                <a16:creationId xmlns:a16="http://schemas.microsoft.com/office/drawing/2014/main" id="{7227913B-E0AC-4BE4-8A14-C3888CAD267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93235061"/>
              </p:ext>
            </p:extLst>
          </p:nvPr>
        </p:nvGraphicFramePr>
        <p:xfrm>
          <a:off x="457200" y="1066800"/>
          <a:ext cx="1905000" cy="1082675"/>
        </p:xfrm>
        <a:graphic>
          <a:graphicData uri="http://schemas.openxmlformats.org/presentationml/2006/ole">
            <mc:AlternateContent xmlns:mc="http://schemas.openxmlformats.org/markup-compatibility/2006">
              <mc:Choice xmlns:v="urn:schemas-microsoft-com:vml" Requires="v">
                <p:oleObj name="Picture" r:id="rId2" imgW="1803400" imgH="1016000" progId="Word.Picture.8">
                  <p:embed/>
                </p:oleObj>
              </mc:Choice>
              <mc:Fallback>
                <p:oleObj name="Picture" r:id="rId2" imgW="1803400" imgH="1016000"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66800"/>
                        <a:ext cx="19050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9" name="Object 15">
            <a:extLst>
              <a:ext uri="{FF2B5EF4-FFF2-40B4-BE49-F238E27FC236}">
                <a16:creationId xmlns:a16="http://schemas.microsoft.com/office/drawing/2014/main" id="{B1F19732-D7AF-4A5C-BE63-9F08E0A39F4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43445521"/>
              </p:ext>
            </p:extLst>
          </p:nvPr>
        </p:nvGraphicFramePr>
        <p:xfrm>
          <a:off x="457200" y="2514600"/>
          <a:ext cx="1905000" cy="1076325"/>
        </p:xfrm>
        <a:graphic>
          <a:graphicData uri="http://schemas.openxmlformats.org/presentationml/2006/ole">
            <mc:AlternateContent xmlns:mc="http://schemas.openxmlformats.org/markup-compatibility/2006">
              <mc:Choice xmlns:v="urn:schemas-microsoft-com:vml" Requires="v">
                <p:oleObj name="Picture" r:id="rId4" imgW="1803400" imgH="1016000" progId="Word.Picture.8">
                  <p:embed/>
                </p:oleObj>
              </mc:Choice>
              <mc:Fallback>
                <p:oleObj name="Picture" r:id="rId4" imgW="1803400" imgH="1016000" progId="Word.Picture.8">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514600"/>
                        <a:ext cx="1905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10" name="Rectangle 17">
            <a:extLst>
              <a:ext uri="{FF2B5EF4-FFF2-40B4-BE49-F238E27FC236}">
                <a16:creationId xmlns:a16="http://schemas.microsoft.com/office/drawing/2014/main" id="{3EE55983-9044-4BA4-BB9A-5E6844AFF8E7}"/>
              </a:ext>
            </a:extLst>
          </p:cNvPr>
          <p:cNvSpPr>
            <a:spLocks noChangeArrowheads="1"/>
          </p:cNvSpPr>
          <p:nvPr/>
        </p:nvSpPr>
        <p:spPr bwMode="auto">
          <a:xfrm>
            <a:off x="2514600" y="2438400"/>
            <a:ext cx="6400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t>(Step 2: Find the rightmost point t1): Let t1 be s0.  For every point p in S, if p is on the right side of the direct line from t0 to t1, then let t1 be p. </a:t>
            </a:r>
          </a:p>
        </p:txBody>
      </p:sp>
      <p:graphicFrame>
        <p:nvGraphicFramePr>
          <p:cNvPr id="55311" name="Object 18">
            <a:extLst>
              <a:ext uri="{FF2B5EF4-FFF2-40B4-BE49-F238E27FC236}">
                <a16:creationId xmlns:a16="http://schemas.microsoft.com/office/drawing/2014/main" id="{6CF55AE6-C814-416E-A535-DC7634190C4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54679337"/>
              </p:ext>
            </p:extLst>
          </p:nvPr>
        </p:nvGraphicFramePr>
        <p:xfrm>
          <a:off x="457200" y="3962400"/>
          <a:ext cx="1905000" cy="1076325"/>
        </p:xfrm>
        <a:graphic>
          <a:graphicData uri="http://schemas.openxmlformats.org/presentationml/2006/ole">
            <mc:AlternateContent xmlns:mc="http://schemas.openxmlformats.org/markup-compatibility/2006">
              <mc:Choice xmlns:v="urn:schemas-microsoft-com:vml" Requires="v">
                <p:oleObj name="Picture" r:id="rId6" imgW="1803400" imgH="1016000" progId="Word.Picture.8">
                  <p:embed/>
                </p:oleObj>
              </mc:Choice>
              <mc:Fallback>
                <p:oleObj name="Picture" r:id="rId6" imgW="1803400" imgH="1016000" progId="Word.Picture.8">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3962400"/>
                        <a:ext cx="1905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12" name="Object 21">
            <a:extLst>
              <a:ext uri="{FF2B5EF4-FFF2-40B4-BE49-F238E27FC236}">
                <a16:creationId xmlns:a16="http://schemas.microsoft.com/office/drawing/2014/main" id="{45DC866B-D8C3-48E7-ABDE-187E5365183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84427263"/>
              </p:ext>
            </p:extLst>
          </p:nvPr>
        </p:nvGraphicFramePr>
        <p:xfrm>
          <a:off x="457200" y="5334000"/>
          <a:ext cx="1905000" cy="1076325"/>
        </p:xfrm>
        <a:graphic>
          <a:graphicData uri="http://schemas.openxmlformats.org/presentationml/2006/ole">
            <mc:AlternateContent xmlns:mc="http://schemas.openxmlformats.org/markup-compatibility/2006">
              <mc:Choice xmlns:v="urn:schemas-microsoft-com:vml" Requires="v">
                <p:oleObj name="Picture" r:id="rId8" imgW="1803400" imgH="1016000" progId="Word.Picture.8">
                  <p:embed/>
                </p:oleObj>
              </mc:Choice>
              <mc:Fallback>
                <p:oleObj name="Picture" r:id="rId8" imgW="1803400" imgH="1016000" progId="Word.Picture.8">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5334000"/>
                        <a:ext cx="1905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13" name="Rectangle 23">
            <a:extLst>
              <a:ext uri="{FF2B5EF4-FFF2-40B4-BE49-F238E27FC236}">
                <a16:creationId xmlns:a16="http://schemas.microsoft.com/office/drawing/2014/main" id="{BE01972A-5E32-4165-957B-747758B82B3D}"/>
              </a:ext>
            </a:extLst>
          </p:cNvPr>
          <p:cNvSpPr>
            <a:spLocks noChangeArrowheads="1"/>
          </p:cNvSpPr>
          <p:nvPr/>
        </p:nvSpPr>
        <p:spPr bwMode="auto">
          <a:xfrm>
            <a:off x="2590800" y="4038600"/>
            <a:ext cx="6400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t>Step 3: If t1 is h0, done. </a:t>
            </a:r>
          </a:p>
          <a:p>
            <a:pPr>
              <a:buFont typeface="Monotype Sorts"/>
              <a:buNone/>
            </a:pPr>
            <a:r>
              <a:rPr lang="en-US" altLang="en-US" sz="2400"/>
              <a:t>Step 4: Let t0 be t1, go to Step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B87B98EA-2C83-4793-B4D3-C9B6F177860C}"/>
              </a:ext>
            </a:extLst>
          </p:cNvPr>
          <p:cNvSpPr>
            <a:spLocks noGrp="1" noChangeArrowheads="1"/>
          </p:cNvSpPr>
          <p:nvPr>
            <p:ph type="title"/>
          </p:nvPr>
        </p:nvSpPr>
        <p:spPr>
          <a:xfrm>
            <a:off x="685800" y="228600"/>
            <a:ext cx="7772400" cy="685800"/>
          </a:xfrm>
          <a:noFill/>
        </p:spPr>
        <p:txBody>
          <a:bodyPr/>
          <a:lstStyle/>
          <a:p>
            <a:r>
              <a:rPr lang="en-US" altLang="en-US">
                <a:cs typeface="Courier New" panose="02070309020205020404" pitchFamily="49" charset="0"/>
              </a:rPr>
              <a:t>Gift-Wrapping Algorithm Time</a:t>
            </a:r>
            <a:endParaRPr lang="en-US" altLang="en-US"/>
          </a:p>
        </p:txBody>
      </p:sp>
      <p:sp>
        <p:nvSpPr>
          <p:cNvPr id="56324" name="Rectangle 3">
            <a:extLst>
              <a:ext uri="{FF2B5EF4-FFF2-40B4-BE49-F238E27FC236}">
                <a16:creationId xmlns:a16="http://schemas.microsoft.com/office/drawing/2014/main" id="{AD59DBC8-9E4B-4FD9-B973-00B9DB182396}"/>
              </a:ext>
            </a:extLst>
          </p:cNvPr>
          <p:cNvSpPr>
            <a:spLocks noGrp="1" noChangeArrowheads="1"/>
          </p:cNvSpPr>
          <p:nvPr>
            <p:ph idx="1"/>
          </p:nvPr>
        </p:nvSpPr>
        <p:spPr>
          <a:xfrm>
            <a:off x="228600" y="1295400"/>
            <a:ext cx="8763000" cy="4953000"/>
          </a:xfrm>
          <a:noFill/>
        </p:spPr>
        <p:txBody>
          <a:bodyPr/>
          <a:lstStyle/>
          <a:p>
            <a:pPr>
              <a:lnSpc>
                <a:spcPct val="90000"/>
              </a:lnSpc>
              <a:buFont typeface="Wingdings" panose="05000000000000000000" pitchFamily="2" charset="2"/>
              <a:buChar char="§"/>
            </a:pPr>
            <a:r>
              <a:rPr lang="en-US" altLang="en-US" sz="2800" dirty="0"/>
              <a:t>Finding the rightmost lowest point in Step 1 can be done in O(n) time. </a:t>
            </a:r>
          </a:p>
          <a:p>
            <a:pPr>
              <a:lnSpc>
                <a:spcPct val="90000"/>
              </a:lnSpc>
              <a:buFont typeface="Wingdings" panose="05000000000000000000" pitchFamily="2" charset="2"/>
              <a:buChar char="§"/>
            </a:pPr>
            <a:r>
              <a:rPr lang="en-US" altLang="en-US" sz="2800" dirty="0"/>
              <a:t>Whether a point is on the left side of a line, right side, or on the line can decided in O(1) time (see Exercise 3.32). </a:t>
            </a:r>
          </a:p>
          <a:p>
            <a:pPr>
              <a:lnSpc>
                <a:spcPct val="90000"/>
              </a:lnSpc>
              <a:buFont typeface="Wingdings" panose="05000000000000000000" pitchFamily="2" charset="2"/>
              <a:buChar char="§"/>
            </a:pPr>
            <a:r>
              <a:rPr lang="en-US" altLang="en-US" sz="2800" dirty="0"/>
              <a:t>Thus, it takes O(n) time to find a new point t1 in Step 2. </a:t>
            </a:r>
          </a:p>
          <a:p>
            <a:pPr>
              <a:lnSpc>
                <a:spcPct val="90000"/>
              </a:lnSpc>
              <a:buFont typeface="Wingdings" panose="05000000000000000000" pitchFamily="2" charset="2"/>
              <a:buChar char="§"/>
            </a:pPr>
            <a:r>
              <a:rPr lang="en-US" altLang="en-US" sz="2800" dirty="0"/>
              <a:t>Step 2 is repeated h times, where h is the size of the convex hull. </a:t>
            </a:r>
          </a:p>
          <a:p>
            <a:pPr>
              <a:lnSpc>
                <a:spcPct val="90000"/>
              </a:lnSpc>
              <a:buFont typeface="Wingdings" panose="05000000000000000000" pitchFamily="2" charset="2"/>
              <a:buChar char="§"/>
            </a:pPr>
            <a:r>
              <a:rPr lang="en-US" altLang="en-US" sz="2800" dirty="0"/>
              <a:t>Therefore, the algorithm takes O(</a:t>
            </a:r>
            <a:r>
              <a:rPr lang="en-US" altLang="en-US" sz="2800" dirty="0" err="1"/>
              <a:t>hn</a:t>
            </a:r>
            <a:r>
              <a:rPr lang="en-US" altLang="en-US" sz="2800" dirty="0"/>
              <a:t>) time. In the worst case, h is n.</a:t>
            </a:r>
          </a:p>
        </p:txBody>
      </p:sp>
      <p:sp>
        <p:nvSpPr>
          <p:cNvPr id="56322" name="Slide Number Placeholder 4">
            <a:extLst>
              <a:ext uri="{FF2B5EF4-FFF2-40B4-BE49-F238E27FC236}">
                <a16:creationId xmlns:a16="http://schemas.microsoft.com/office/drawing/2014/main" id="{B8368795-4048-4CD6-B3F4-5CF7699AF84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4C3808-9E5E-4872-8112-B60B9728E4C4}" type="slidenum">
              <a:rPr lang="en-US" altLang="en-US" sz="1400"/>
              <a:pPr>
                <a:spcBef>
                  <a:spcPct val="0"/>
                </a:spcBef>
                <a:buClrTx/>
                <a:buSzTx/>
                <a:buFontTx/>
                <a:buNone/>
              </a:pPr>
              <a:t>50</a:t>
            </a:fld>
            <a:endParaRPr lang="en-US" altLang="en-US"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C1B6C432-CE7D-4248-842C-033C030FDA8C}"/>
              </a:ext>
            </a:extLst>
          </p:cNvPr>
          <p:cNvSpPr>
            <a:spLocks noGrp="1" noChangeArrowheads="1"/>
          </p:cNvSpPr>
          <p:nvPr>
            <p:ph type="title"/>
          </p:nvPr>
        </p:nvSpPr>
        <p:spPr>
          <a:xfrm>
            <a:off x="685800" y="228600"/>
            <a:ext cx="7772400" cy="533400"/>
          </a:xfrm>
          <a:noFill/>
        </p:spPr>
        <p:txBody>
          <a:bodyPr/>
          <a:lstStyle/>
          <a:p>
            <a:r>
              <a:rPr lang="en-US" altLang="en-US">
                <a:cs typeface="Courier New" panose="02070309020205020404" pitchFamily="49" charset="0"/>
              </a:rPr>
              <a:t>Graham’s Algorithm</a:t>
            </a:r>
            <a:endParaRPr lang="en-US" altLang="en-US"/>
          </a:p>
        </p:txBody>
      </p:sp>
      <p:sp>
        <p:nvSpPr>
          <p:cNvPr id="57348" name="Rectangle 3">
            <a:extLst>
              <a:ext uri="{FF2B5EF4-FFF2-40B4-BE49-F238E27FC236}">
                <a16:creationId xmlns:a16="http://schemas.microsoft.com/office/drawing/2014/main" id="{87E948C2-CEF0-45C4-BCEC-9441FA174F83}"/>
              </a:ext>
            </a:extLst>
          </p:cNvPr>
          <p:cNvSpPr>
            <a:spLocks noGrp="1" noChangeArrowheads="1"/>
          </p:cNvSpPr>
          <p:nvPr>
            <p:ph idx="1"/>
          </p:nvPr>
        </p:nvSpPr>
        <p:spPr>
          <a:xfrm>
            <a:off x="2514600" y="990600"/>
            <a:ext cx="6477000" cy="1143000"/>
          </a:xfrm>
          <a:noFill/>
        </p:spPr>
        <p:txBody>
          <a:bodyPr/>
          <a:lstStyle/>
          <a:p>
            <a:pPr marL="0" indent="0">
              <a:lnSpc>
                <a:spcPct val="90000"/>
              </a:lnSpc>
              <a:buFont typeface="Monotype Sorts"/>
              <a:buNone/>
            </a:pPr>
            <a:r>
              <a:rPr lang="en-US" altLang="en-US" sz="2400"/>
              <a:t>Given a set of points S, select the rightmost lowest point and name it p0 in the set S. As shown in Figure 22.10a, p0 is such a point. </a:t>
            </a:r>
          </a:p>
        </p:txBody>
      </p:sp>
      <p:sp>
        <p:nvSpPr>
          <p:cNvPr id="57346" name="Slide Number Placeholder 4">
            <a:extLst>
              <a:ext uri="{FF2B5EF4-FFF2-40B4-BE49-F238E27FC236}">
                <a16:creationId xmlns:a16="http://schemas.microsoft.com/office/drawing/2014/main" id="{65A837A2-7BB6-4BFE-A927-B59E420DDFC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90CA036-7973-4727-8724-A043D4A3CFDB}" type="slidenum">
              <a:rPr lang="en-US" altLang="en-US" sz="1400"/>
              <a:pPr>
                <a:spcBef>
                  <a:spcPct val="0"/>
                </a:spcBef>
                <a:buClrTx/>
                <a:buSzTx/>
                <a:buFontTx/>
                <a:buNone/>
              </a:pPr>
              <a:t>51</a:t>
            </a:fld>
            <a:endParaRPr lang="en-US" altLang="en-US" sz="1400"/>
          </a:p>
        </p:txBody>
      </p:sp>
      <p:sp>
        <p:nvSpPr>
          <p:cNvPr id="57356" name="Rectangle 13">
            <a:extLst>
              <a:ext uri="{FF2B5EF4-FFF2-40B4-BE49-F238E27FC236}">
                <a16:creationId xmlns:a16="http://schemas.microsoft.com/office/drawing/2014/main" id="{39A2B2FD-09E9-4219-A00D-B1032CD16BAB}"/>
              </a:ext>
            </a:extLst>
          </p:cNvPr>
          <p:cNvSpPr>
            <a:spLocks noChangeArrowheads="1"/>
          </p:cNvSpPr>
          <p:nvPr/>
        </p:nvSpPr>
        <p:spPr bwMode="auto">
          <a:xfrm>
            <a:off x="2438400" y="2209800"/>
            <a:ext cx="6400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t>Sort the points in S angularly along the x-axis with p0 as the center. If there is a tie and two points have the same angle, discard the one that is closest to p0. The points in S are now sorted as p0, p1, p2, ..., pn-1.</a:t>
            </a:r>
          </a:p>
        </p:txBody>
      </p:sp>
      <p:graphicFrame>
        <p:nvGraphicFramePr>
          <p:cNvPr id="57358" name="Object 16">
            <a:extLst>
              <a:ext uri="{FF2B5EF4-FFF2-40B4-BE49-F238E27FC236}">
                <a16:creationId xmlns:a16="http://schemas.microsoft.com/office/drawing/2014/main" id="{0A31DC7B-A584-4569-B269-9FD3A53F77CC}"/>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24090633"/>
              </p:ext>
            </p:extLst>
          </p:nvPr>
        </p:nvGraphicFramePr>
        <p:xfrm>
          <a:off x="152400" y="990600"/>
          <a:ext cx="1981200" cy="1119188"/>
        </p:xfrm>
        <a:graphic>
          <a:graphicData uri="http://schemas.openxmlformats.org/presentationml/2006/ole">
            <mc:AlternateContent xmlns:mc="http://schemas.openxmlformats.org/markup-compatibility/2006">
              <mc:Choice xmlns:v="urn:schemas-microsoft-com:vml" Requires="v">
                <p:oleObj name="Picture" r:id="rId2" imgW="1803400" imgH="1016000" progId="Word.Picture.8">
                  <p:embed/>
                </p:oleObj>
              </mc:Choice>
              <mc:Fallback>
                <p:oleObj name="Picture" r:id="rId2" imgW="1803400" imgH="1016000" progId="Word.Picture.8">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90600"/>
                        <a:ext cx="1981200"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0" name="Object 18">
            <a:extLst>
              <a:ext uri="{FF2B5EF4-FFF2-40B4-BE49-F238E27FC236}">
                <a16:creationId xmlns:a16="http://schemas.microsoft.com/office/drawing/2014/main" id="{78D931BA-3220-4FFB-ACD7-B954EF83E74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76467607"/>
              </p:ext>
            </p:extLst>
          </p:nvPr>
        </p:nvGraphicFramePr>
        <p:xfrm>
          <a:off x="152400" y="2362200"/>
          <a:ext cx="1981200" cy="1119188"/>
        </p:xfrm>
        <a:graphic>
          <a:graphicData uri="http://schemas.openxmlformats.org/presentationml/2006/ole">
            <mc:AlternateContent xmlns:mc="http://schemas.openxmlformats.org/markup-compatibility/2006">
              <mc:Choice xmlns:v="urn:schemas-microsoft-com:vml" Requires="v">
                <p:oleObj name="Picture" r:id="rId4" imgW="1803400" imgH="1016000" progId="Word.Picture.8">
                  <p:embed/>
                </p:oleObj>
              </mc:Choice>
              <mc:Fallback>
                <p:oleObj name="Picture" r:id="rId4" imgW="1803400" imgH="1016000" progId="Word.Picture.8">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2362200"/>
                        <a:ext cx="1981200"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61" name="Rectangle 20">
            <a:extLst>
              <a:ext uri="{FF2B5EF4-FFF2-40B4-BE49-F238E27FC236}">
                <a16:creationId xmlns:a16="http://schemas.microsoft.com/office/drawing/2014/main" id="{CCCF0C35-C00F-45DD-9F14-E66EA8D7A36F}"/>
              </a:ext>
            </a:extLst>
          </p:cNvPr>
          <p:cNvSpPr>
            <a:spLocks noChangeArrowheads="1"/>
          </p:cNvSpPr>
          <p:nvPr/>
        </p:nvSpPr>
        <p:spPr bwMode="auto">
          <a:xfrm>
            <a:off x="2514600" y="3657600"/>
            <a:ext cx="6629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t>The convex hull is discovered incrementally. Initially, p0, p1, and p2 form a convex hull. Consider p3. p3 is outside of the current convex hull since points are sorted in increasing order of their angles. If p3 is strictly on the left side of the line from p1 to p2, push p3 into H. Now p0, p1, p2, and p3 form a convex hull. If p3 is on the right side of the line from p1 to p2 (see Figure 22.10d), pop p2 out of H and push p3 into H. Now p0, p1, and p3 form a convex hull and p2 is inside of this convex hull. </a:t>
            </a:r>
          </a:p>
        </p:txBody>
      </p:sp>
      <p:graphicFrame>
        <p:nvGraphicFramePr>
          <p:cNvPr id="57363" name="Object 21">
            <a:extLst>
              <a:ext uri="{FF2B5EF4-FFF2-40B4-BE49-F238E27FC236}">
                <a16:creationId xmlns:a16="http://schemas.microsoft.com/office/drawing/2014/main" id="{19598B34-EF49-4780-8893-58FC536EA52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17443634"/>
              </p:ext>
            </p:extLst>
          </p:nvPr>
        </p:nvGraphicFramePr>
        <p:xfrm>
          <a:off x="152400" y="3810000"/>
          <a:ext cx="1524000" cy="1119188"/>
        </p:xfrm>
        <a:graphic>
          <a:graphicData uri="http://schemas.openxmlformats.org/presentationml/2006/ole">
            <mc:AlternateContent xmlns:mc="http://schemas.openxmlformats.org/markup-compatibility/2006">
              <mc:Choice xmlns:v="urn:schemas-microsoft-com:vml" Requires="v">
                <p:oleObj name="Picture" r:id="rId6" imgW="1384300" imgH="1016000" progId="Word.Picture.8">
                  <p:embed/>
                </p:oleObj>
              </mc:Choice>
              <mc:Fallback>
                <p:oleObj name="Picture" r:id="rId6" imgW="1384300" imgH="1016000" progId="Word.Picture.8">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3810000"/>
                        <a:ext cx="1524000"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5" name="Object 23">
            <a:extLst>
              <a:ext uri="{FF2B5EF4-FFF2-40B4-BE49-F238E27FC236}">
                <a16:creationId xmlns:a16="http://schemas.microsoft.com/office/drawing/2014/main" id="{3EE76DFC-FBA7-4CCB-B1F2-D8154EFB6AB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55110183"/>
              </p:ext>
            </p:extLst>
          </p:nvPr>
        </p:nvGraphicFramePr>
        <p:xfrm>
          <a:off x="152400" y="5257800"/>
          <a:ext cx="1524000" cy="1119188"/>
        </p:xfrm>
        <a:graphic>
          <a:graphicData uri="http://schemas.openxmlformats.org/presentationml/2006/ole">
            <mc:AlternateContent xmlns:mc="http://schemas.openxmlformats.org/markup-compatibility/2006">
              <mc:Choice xmlns:v="urn:schemas-microsoft-com:vml" Requires="v">
                <p:oleObj name="Picture" r:id="rId8" imgW="1384300" imgH="1016000" progId="Word.Picture.8">
                  <p:embed/>
                </p:oleObj>
              </mc:Choice>
              <mc:Fallback>
                <p:oleObj name="Picture" r:id="rId8" imgW="1384300" imgH="1016000" progId="Word.Picture.8">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 y="5257800"/>
                        <a:ext cx="1524000"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a:extLst>
              <a:ext uri="{FF2B5EF4-FFF2-40B4-BE49-F238E27FC236}">
                <a16:creationId xmlns:a16="http://schemas.microsoft.com/office/drawing/2014/main" id="{486F4818-AEDA-4185-A198-5226C86736B0}"/>
              </a:ext>
            </a:extLst>
          </p:cNvPr>
          <p:cNvSpPr>
            <a:spLocks noGrp="1" noChangeArrowheads="1"/>
          </p:cNvSpPr>
          <p:nvPr>
            <p:ph type="title"/>
          </p:nvPr>
        </p:nvSpPr>
        <p:spPr>
          <a:xfrm>
            <a:off x="685800" y="228600"/>
            <a:ext cx="7772400" cy="685800"/>
          </a:xfrm>
          <a:noFill/>
        </p:spPr>
        <p:txBody>
          <a:bodyPr/>
          <a:lstStyle/>
          <a:p>
            <a:r>
              <a:rPr lang="en-US" altLang="en-US" dirty="0">
                <a:cs typeface="Courier New" panose="02070309020205020404" pitchFamily="49" charset="0"/>
              </a:rPr>
              <a:t>Graham’s Algorithm Time</a:t>
            </a:r>
            <a:endParaRPr lang="en-US" altLang="en-US" dirty="0"/>
          </a:p>
        </p:txBody>
      </p:sp>
      <p:sp>
        <p:nvSpPr>
          <p:cNvPr id="58372" name="Rectangle 3">
            <a:extLst>
              <a:ext uri="{FF2B5EF4-FFF2-40B4-BE49-F238E27FC236}">
                <a16:creationId xmlns:a16="http://schemas.microsoft.com/office/drawing/2014/main" id="{C6A5FB0C-BA64-4571-BA9C-B55986850229}"/>
              </a:ext>
            </a:extLst>
          </p:cNvPr>
          <p:cNvSpPr>
            <a:spLocks noGrp="1" noChangeArrowheads="1"/>
          </p:cNvSpPr>
          <p:nvPr>
            <p:ph idx="1"/>
          </p:nvPr>
        </p:nvSpPr>
        <p:spPr>
          <a:xfrm>
            <a:off x="228600" y="1295400"/>
            <a:ext cx="8763000" cy="4953000"/>
          </a:xfrm>
          <a:noFill/>
        </p:spPr>
        <p:txBody>
          <a:bodyPr/>
          <a:lstStyle/>
          <a:p>
            <a:pPr marL="0" indent="0">
              <a:buFont typeface="Monotype Sorts"/>
              <a:buNone/>
            </a:pPr>
            <a:r>
              <a:rPr lang="en-US" altLang="en-US" sz="3600"/>
              <a:t>O(nlogn)</a:t>
            </a:r>
          </a:p>
        </p:txBody>
      </p:sp>
      <p:sp>
        <p:nvSpPr>
          <p:cNvPr id="58370" name="Slide Number Placeholder 4">
            <a:extLst>
              <a:ext uri="{FF2B5EF4-FFF2-40B4-BE49-F238E27FC236}">
                <a16:creationId xmlns:a16="http://schemas.microsoft.com/office/drawing/2014/main" id="{82D5D871-F999-4D5E-B228-0214992C92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0153DE2-57B9-4D59-A2CF-154C1A3DCC9F}" type="slidenum">
              <a:rPr lang="en-US" altLang="en-US" sz="1400"/>
              <a:pPr>
                <a:spcBef>
                  <a:spcPct val="0"/>
                </a:spcBef>
                <a:buClrTx/>
                <a:buSzTx/>
                <a:buFontTx/>
                <a:buNone/>
              </a:pPr>
              <a:t>52</a:t>
            </a:fld>
            <a:endParaRPr lang="en-US" altLang="en-US"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9B534C82-FD62-44CC-8749-D1DB23064003}"/>
              </a:ext>
            </a:extLst>
          </p:cNvPr>
          <p:cNvSpPr>
            <a:spLocks noGrp="1" noChangeArrowheads="1"/>
          </p:cNvSpPr>
          <p:nvPr>
            <p:ph type="title"/>
          </p:nvPr>
        </p:nvSpPr>
        <p:spPr>
          <a:xfrm>
            <a:off x="685800" y="228600"/>
            <a:ext cx="7772400" cy="685800"/>
          </a:xfrm>
          <a:noFill/>
        </p:spPr>
        <p:txBody>
          <a:bodyPr/>
          <a:lstStyle/>
          <a:p>
            <a:r>
              <a:rPr lang="en-US" altLang="en-US"/>
              <a:t>Practical Considerations</a:t>
            </a:r>
          </a:p>
        </p:txBody>
      </p:sp>
      <p:sp>
        <p:nvSpPr>
          <p:cNvPr id="59396" name="Rectangle 3">
            <a:extLst>
              <a:ext uri="{FF2B5EF4-FFF2-40B4-BE49-F238E27FC236}">
                <a16:creationId xmlns:a16="http://schemas.microsoft.com/office/drawing/2014/main" id="{F30AD1AA-5408-451D-9D92-22EF63B82198}"/>
              </a:ext>
            </a:extLst>
          </p:cNvPr>
          <p:cNvSpPr>
            <a:spLocks noGrp="1" noChangeArrowheads="1"/>
          </p:cNvSpPr>
          <p:nvPr>
            <p:ph idx="1"/>
          </p:nvPr>
        </p:nvSpPr>
        <p:spPr>
          <a:xfrm>
            <a:off x="228600" y="1066800"/>
            <a:ext cx="8763000" cy="5105400"/>
          </a:xfrm>
          <a:noFill/>
        </p:spPr>
        <p:txBody>
          <a:bodyPr/>
          <a:lstStyle/>
          <a:p>
            <a:pPr>
              <a:lnSpc>
                <a:spcPct val="135000"/>
              </a:lnSpc>
              <a:spcBef>
                <a:spcPct val="0"/>
              </a:spcBef>
              <a:buFont typeface="Wingdings" panose="05000000000000000000" pitchFamily="2" charset="2"/>
              <a:buChar char="§"/>
            </a:pPr>
            <a:r>
              <a:rPr lang="en-US" altLang="en-US" sz="2800" dirty="0"/>
              <a:t>The big O notation provides a good theoretical estimate of algorithm efficiency. </a:t>
            </a:r>
          </a:p>
          <a:p>
            <a:pPr>
              <a:lnSpc>
                <a:spcPct val="135000"/>
              </a:lnSpc>
              <a:spcBef>
                <a:spcPct val="0"/>
              </a:spcBef>
              <a:buFont typeface="Wingdings" panose="05000000000000000000" pitchFamily="2" charset="2"/>
              <a:buChar char="§"/>
            </a:pPr>
            <a:r>
              <a:rPr lang="en-US" altLang="en-US" sz="2800" dirty="0"/>
              <a:t>However, two algorithms of the same time complexity are not necessarily equally efficient. </a:t>
            </a:r>
          </a:p>
          <a:p>
            <a:pPr>
              <a:lnSpc>
                <a:spcPct val="135000"/>
              </a:lnSpc>
              <a:spcBef>
                <a:spcPct val="0"/>
              </a:spcBef>
              <a:buFont typeface="Wingdings" panose="05000000000000000000" pitchFamily="2" charset="2"/>
              <a:buChar char="§"/>
            </a:pPr>
            <a:r>
              <a:rPr lang="en-US" altLang="en-US" sz="2800" dirty="0"/>
              <a:t>As shown in the preceding example, both algorithms in Listings 5.6 and 22.2 have the same complexity, but the one in Listing 22.2 is obviously better practically. </a:t>
            </a:r>
          </a:p>
        </p:txBody>
      </p:sp>
      <p:sp>
        <p:nvSpPr>
          <p:cNvPr id="59394" name="Slide Number Placeholder 4">
            <a:extLst>
              <a:ext uri="{FF2B5EF4-FFF2-40B4-BE49-F238E27FC236}">
                <a16:creationId xmlns:a16="http://schemas.microsoft.com/office/drawing/2014/main" id="{23DB3B91-1C8A-44D6-BE7B-A8920778DE5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BB36AF5-8747-4EEE-AB80-C1670F5AE741}" type="slidenum">
              <a:rPr lang="en-US" altLang="en-US" sz="1400"/>
              <a:pPr>
                <a:spcBef>
                  <a:spcPct val="0"/>
                </a:spcBef>
                <a:buClrTx/>
                <a:buSzTx/>
                <a:buFontTx/>
                <a:buNone/>
              </a:pPr>
              <a:t>53</a:t>
            </a:fld>
            <a:endParaRPr lang="en-US" altLang="en-US" sz="1400"/>
          </a:p>
        </p:txBody>
      </p:sp>
    </p:spTree>
  </p:cSld>
  <p:clrMapOvr>
    <a:masterClrMapping/>
  </p:clrMapOvr>
</p:sld>
</file>

<file path=ppt/theme/theme1.xml><?xml version="1.0" encoding="utf-8"?>
<a:theme xmlns:a="http://schemas.openxmlformats.org/drawingml/2006/main" name="Internat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21_Sets and Maps</Template>
  <TotalTime>31478</TotalTime>
  <Words>3957</Words>
  <Application>Microsoft Office PowerPoint</Application>
  <PresentationFormat>On-screen Show (4:3)</PresentationFormat>
  <Paragraphs>446</Paragraphs>
  <Slides>53</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53</vt:i4>
      </vt:variant>
    </vt:vector>
  </HeadingPairs>
  <TitlesOfParts>
    <vt:vector size="64" baseType="lpstr">
      <vt:lpstr>Arial</vt:lpstr>
      <vt:lpstr>Book Antiqua</vt:lpstr>
      <vt:lpstr>Courier New</vt:lpstr>
      <vt:lpstr>Forte</vt:lpstr>
      <vt:lpstr>Monotype Sorts</vt:lpstr>
      <vt:lpstr>Times New Roman</vt:lpstr>
      <vt:lpstr>Wingdings</vt:lpstr>
      <vt:lpstr>International</vt:lpstr>
      <vt:lpstr>Picture</vt:lpstr>
      <vt:lpstr>Equation</vt:lpstr>
      <vt:lpstr>Microsoft Word Picture</vt:lpstr>
      <vt:lpstr>Chapter 22 Developing Efficient Algorithms</vt:lpstr>
      <vt:lpstr>Objectives</vt:lpstr>
      <vt:lpstr>Executing Time </vt:lpstr>
      <vt:lpstr>Growth Rate </vt:lpstr>
      <vt:lpstr>Big O Notation </vt:lpstr>
      <vt:lpstr>Best, Worst, and Average Cases </vt:lpstr>
      <vt:lpstr>Ignoring Multiplicative Constants </vt:lpstr>
      <vt:lpstr>Ignoring Non-Dominating Terms</vt:lpstr>
      <vt:lpstr>Useful Mathematic Summations</vt:lpstr>
      <vt:lpstr>Examples: Determining Big-O</vt:lpstr>
      <vt:lpstr>Repetition: Simple Loops</vt:lpstr>
      <vt:lpstr>Repetition: Nested Loops</vt:lpstr>
      <vt:lpstr>Repetition: Nested Loops</vt:lpstr>
      <vt:lpstr>Repetition: Nested Loops</vt:lpstr>
      <vt:lpstr>Sequence</vt:lpstr>
      <vt:lpstr>Selection</vt:lpstr>
      <vt:lpstr>Constant Time</vt:lpstr>
      <vt:lpstr>Linear Search Animation</vt:lpstr>
      <vt:lpstr>Binary Search Animation</vt:lpstr>
      <vt:lpstr>Logarithm: Analyzing Binary Search</vt:lpstr>
      <vt:lpstr>Logarithmic Time</vt:lpstr>
      <vt:lpstr>Selection Sort Animation</vt:lpstr>
      <vt:lpstr>Analyzing Selection Sort</vt:lpstr>
      <vt:lpstr>Quadratic Time</vt:lpstr>
      <vt:lpstr>Common Recurrence Relations</vt:lpstr>
      <vt:lpstr>Comparing Common Growth Functions</vt:lpstr>
      <vt:lpstr>Comparing Common Growth Functions</vt:lpstr>
      <vt:lpstr>Case Study: Fibonacci Numbers</vt:lpstr>
      <vt:lpstr>Complexity for Recursive Fibonacci Numbers</vt:lpstr>
      <vt:lpstr>Case Study: Non-recursive version of Fibonacci Numbers</vt:lpstr>
      <vt:lpstr>Non-recursive version of Fibonacci Numbers</vt:lpstr>
      <vt:lpstr>Dynamic Programming</vt:lpstr>
      <vt:lpstr>Case Study: GCD Algorithms Version 1</vt:lpstr>
      <vt:lpstr>Case Study: GCD Algorithms</vt:lpstr>
      <vt:lpstr>Case Study: GCD Algorithms Version 2</vt:lpstr>
      <vt:lpstr>Case Study: GCD Algorithms Version 3</vt:lpstr>
      <vt:lpstr>Euclid’s algorithm</vt:lpstr>
      <vt:lpstr>Euclid’s Algorithm Implementation</vt:lpstr>
      <vt:lpstr>Finding Prime Numbers</vt:lpstr>
      <vt:lpstr>Divide-and-Conquer</vt:lpstr>
      <vt:lpstr>Case Study: Closest Pair of Points</vt:lpstr>
      <vt:lpstr>Case Study: Closest Pair of Points</vt:lpstr>
      <vt:lpstr>Case Study: Closest Pair of Points</vt:lpstr>
      <vt:lpstr>Eight Queens</vt:lpstr>
      <vt:lpstr>Backtracking</vt:lpstr>
      <vt:lpstr>Eight Queens</vt:lpstr>
      <vt:lpstr>Convex Hull Animation</vt:lpstr>
      <vt:lpstr>Convex Hull</vt:lpstr>
      <vt:lpstr>Gift-Wrapping</vt:lpstr>
      <vt:lpstr>Gift-Wrapping Algorithm Time</vt:lpstr>
      <vt:lpstr>Graham’s Algorithm</vt:lpstr>
      <vt:lpstr>Graham’s Algorithm Time</vt:lpstr>
      <vt:lpstr>Practical Considerations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Multithreading</dc:title>
  <dc:creator>Y. Daniel Liang</dc:creator>
  <cp:lastModifiedBy>Nguyen, Phuong Tran Lan</cp:lastModifiedBy>
  <cp:revision>258</cp:revision>
  <dcterms:created xsi:type="dcterms:W3CDTF">1995-06-10T17:31:50Z</dcterms:created>
  <dcterms:modified xsi:type="dcterms:W3CDTF">2025-10-11T04:22:39Z</dcterms:modified>
</cp:coreProperties>
</file>