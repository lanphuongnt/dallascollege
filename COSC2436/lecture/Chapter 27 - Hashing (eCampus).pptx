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3" r:id="rId3"/>
    <p:sldId id="358" r:id="rId4"/>
    <p:sldId id="404" r:id="rId5"/>
    <p:sldId id="405" r:id="rId6"/>
    <p:sldId id="406" r:id="rId7"/>
    <p:sldId id="392" r:id="rId8"/>
    <p:sldId id="414" r:id="rId9"/>
    <p:sldId id="413" r:id="rId10"/>
    <p:sldId id="408" r:id="rId11"/>
    <p:sldId id="409" r:id="rId12"/>
    <p:sldId id="410" r:id="rId13"/>
    <p:sldId id="411" r:id="rId14"/>
    <p:sldId id="510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58450" autoAdjust="0"/>
  </p:normalViewPr>
  <p:slideViewPr>
    <p:cSldViewPr>
      <p:cViewPr varScale="1">
        <p:scale>
          <a:sx n="48" d="100"/>
          <a:sy n="48" d="100"/>
        </p:scale>
        <p:origin x="1908" y="30"/>
      </p:cViewPr>
      <p:guideLst>
        <p:guide orient="horz" pos="57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04" y="-7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4C00968-AE3B-416F-AFE1-C66B2503B9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ACDCBB7-2BAA-4674-8AFC-9645A5ACE03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4C9A7A5-9F69-4D3B-8208-48D5A0AB5EB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CF90972-941E-46E3-ACBF-7AE39F9CDE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6A88475-91A1-43D2-8066-1F880540F5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AAD55A5D-426B-4128-86CC-707E6D8629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932C86E9-B04B-4D0F-81A1-DDC9D6184A9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-&gt; (k + 1^2) -&gt; (k + 2^2) -&gt; (k + 3^2) -&gt; ….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86E9-B04B-4D0F-81A1-DDC9D6184A91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818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H(k) + h’(k) -&gt; h(k) + 2 * h’(k) -&gt; h(k) + 3 * h’(k)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86E9-B04B-4D0F-81A1-DDC9D6184A91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1447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cái</a:t>
            </a:r>
            <a:r>
              <a:rPr lang="en-US" dirty="0"/>
              <a:t> linked list or 1 </a:t>
            </a:r>
            <a:r>
              <a:rPr lang="en-US" dirty="0" err="1"/>
              <a:t>ArrayList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(</a:t>
            </a:r>
            <a:r>
              <a:rPr lang="en-US" dirty="0" err="1"/>
              <a:t>ArrayList</a:t>
            </a:r>
            <a:r>
              <a:rPr lang="en-US" dirty="0"/>
              <a:t> </a:t>
            </a:r>
            <a:r>
              <a:rPr lang="en-US" dirty="0" err="1"/>
              <a:t>chứ</a:t>
            </a:r>
            <a:r>
              <a:rPr lang="en-US" dirty="0"/>
              <a:t> k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/>
              <a:t>array)</a:t>
            </a:r>
          </a:p>
          <a:p>
            <a:br>
              <a:rPr lang="en-US" dirty="0"/>
            </a:b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chain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tang size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hashtable</a:t>
            </a:r>
            <a:endParaRPr lang="en-US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86E9-B04B-4D0F-81A1-DDC9D6184A9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360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86E9-B04B-4D0F-81A1-DDC9D6184A91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57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>
            <a:extLst>
              <a:ext uri="{FF2B5EF4-FFF2-40B4-BE49-F238E27FC236}">
                <a16:creationId xmlns:a16="http://schemas.microsoft.com/office/drawing/2014/main" id="{61FC91DB-7ADF-4F5A-BE25-54B5E3D6A24C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71927960-2F8B-4333-9003-3DB92F56F48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40FC582F-6612-4C14-99AD-1BEEABB34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A42B4868-8E85-4E67-9A7E-0EA85A09658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BDD480BE-E0B8-4DCC-9F8D-21628FAF58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>
                  <a:extLst>
                    <a:ext uri="{FF2B5EF4-FFF2-40B4-BE49-F238E27FC236}">
                      <a16:creationId xmlns:a16="http://schemas.microsoft.com/office/drawing/2014/main" id="{168EE059-6BB5-42C5-96E3-66D90C9B9F3D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>
                  <a:extLst>
                    <a:ext uri="{FF2B5EF4-FFF2-40B4-BE49-F238E27FC236}">
                      <a16:creationId xmlns:a16="http://schemas.microsoft.com/office/drawing/2014/main" id="{9E5D42EF-22AB-4645-BBFD-4F6971CB47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>
                  <a:extLst>
                    <a:ext uri="{FF2B5EF4-FFF2-40B4-BE49-F238E27FC236}">
                      <a16:creationId xmlns:a16="http://schemas.microsoft.com/office/drawing/2014/main" id="{897446EE-2740-42A8-9EEB-118C99368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>
                  <a:extLst>
                    <a:ext uri="{FF2B5EF4-FFF2-40B4-BE49-F238E27FC236}">
                      <a16:creationId xmlns:a16="http://schemas.microsoft.com/office/drawing/2014/main" id="{D28D7690-CB0B-4620-8A92-57BCA6DA9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>
                  <a:extLst>
                    <a:ext uri="{FF2B5EF4-FFF2-40B4-BE49-F238E27FC236}">
                      <a16:creationId xmlns:a16="http://schemas.microsoft.com/office/drawing/2014/main" id="{5765BC86-DECA-4DEA-B069-2914D53EAEF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09888EB4-3B26-49B0-9054-3F442DFD260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B9D4BEEF-5BB3-4E90-9095-AE08BE9896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59EF1FB1-AEFF-4676-AD82-C39B502E736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6C75F2F0-4B08-40AC-8E73-2B8D8891CD6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A2D58DBB-835B-4D45-BE27-3DF11D0E8FA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437C4EB7-F055-4001-A409-0D3789A09CC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A3A9430C-E256-41E4-8B42-D8AEF67883F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49630AAD-236C-42D4-8D0B-AFA88CAC1DA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41CB7C81-78CF-4FC3-BB43-86D7CBD86D0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4887CB1A-7B48-42EC-8EF9-958FA9F7EDA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3D576805-FD94-4E3A-A504-AA3284929A8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9A7D591C-25D2-47D8-9E77-26523B70EB7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444B6402-191B-411F-B107-16522A1671B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35E915C1-8462-4C34-8587-DF5E6C68EB6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980DC663-7CCB-4F15-BA5D-6DE0D251F96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9E29EFC0-9E25-4A72-A0E4-77E4F9ABFEA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F753A5FB-8918-4B2A-8F58-FD5C09DFC44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>
                  <a:extLst>
                    <a:ext uri="{FF2B5EF4-FFF2-40B4-BE49-F238E27FC236}">
                      <a16:creationId xmlns:a16="http://schemas.microsoft.com/office/drawing/2014/main" id="{FE3649D4-B83D-4B05-91BE-D908C376424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8ECC7FBC-6EC0-4D53-9EBE-5ED45CBDD82E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359AF7C1-C766-45D7-A86F-28F8AB04C41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8F400BA4-6A40-46F1-B7AC-59CB57C74BD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530FE8AD-9622-4D9C-87BB-64811E0DE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FD20E48A-B6FB-4B76-95F8-3BCC5E596D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58B47F6-4769-4ED2-A517-9ED6AA83A42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59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A1450D0-5C6B-4A7D-9DD3-12ABC6CE7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7C3EC62-E8ED-4B3A-A7A4-D2AC4B0772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4D045B-F43F-4E2B-8CA1-F49541AF852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66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4D14C60-F19C-4EB2-AD48-30730C4566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A7531466-45D1-4A3D-AD82-112BB8F642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8B4299-B2D0-42B5-9ED6-75991F204DB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78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68F10D1-1835-4088-AD0B-6C7BADD595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29AAEAB9-5939-47B3-869D-BB65143F91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DC0ED-17F6-414F-B6D5-274BFEB7CA3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92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C09A7E37-3E64-47AD-9ADC-4BD16748D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2694643A-125A-4E28-A1E6-1B4FDDA666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16543C-F5CF-44D8-9463-E586F711152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06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391C5B43-3D44-4A5D-BB40-26F113E38E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2094C956-0F22-4D91-B62A-26663564D2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4E4BD7-99F4-49D5-995B-49FB28B612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87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BC947A72-855F-404F-9E57-C8FFAA973E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F121E76E-222C-4DD0-B702-E2DEE761CE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802D14-F9FE-40CE-8F08-E97FEB0E025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58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0B25BBF2-0F2C-4F7A-A9C7-E1BA50459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80CB4D2C-1260-4158-8D07-953D305F20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E6DC0-E1C4-44C4-B30A-94F5BFA29B9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213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B6E36BF-FAC7-4094-AC32-501A1DB4DD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EB0E6CA6-653C-48AC-AC21-4339465C6A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3E2EB3-147C-4342-B6BB-F1C54A5881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04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46254852-8B45-4626-BCE8-A641E6889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DBE0E510-CD38-4382-89DE-C76584A1A7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2E8BD3-7A72-4718-AB1B-FB448B128AF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95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0D7007F0-B9D5-4051-892C-827B841066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D3B930A4-2CF8-45C1-83CE-984693168F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22EE17-A057-41CA-BB9A-DB72306D307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358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C712761A-9C89-4D5B-9404-D6576D290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588E4D5C-8884-4A84-A016-83EEE4093C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6890CF-CB90-433E-8498-1273A0CAC00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44527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C3EC5D4F-7241-4D48-A4A7-0981C8FB188A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EBFA5783-58D9-4D35-9CD0-554773E52F0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4" name="Group 28">
              <a:extLst>
                <a:ext uri="{FF2B5EF4-FFF2-40B4-BE49-F238E27FC236}">
                  <a16:creationId xmlns:a16="http://schemas.microsoft.com/office/drawing/2014/main" id="{1739EB3B-E772-4FC7-BDBA-76ED5FAF2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5" name="Freeform 3">
                <a:extLst>
                  <a:ext uri="{FF2B5EF4-FFF2-40B4-BE49-F238E27FC236}">
                    <a16:creationId xmlns:a16="http://schemas.microsoft.com/office/drawing/2014/main" id="{E390AD0B-045C-45AF-B2EA-4FD6A867967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Line 4">
                <a:extLst>
                  <a:ext uri="{FF2B5EF4-FFF2-40B4-BE49-F238E27FC236}">
                    <a16:creationId xmlns:a16="http://schemas.microsoft.com/office/drawing/2014/main" id="{29DDE5CF-6ED8-4BEC-A2AB-A210289ACA4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5">
                <a:extLst>
                  <a:ext uri="{FF2B5EF4-FFF2-40B4-BE49-F238E27FC236}">
                    <a16:creationId xmlns:a16="http://schemas.microsoft.com/office/drawing/2014/main" id="{EA4D0DE6-A17E-4CD0-909A-7835D04A2F2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Line 6">
                <a:extLst>
                  <a:ext uri="{FF2B5EF4-FFF2-40B4-BE49-F238E27FC236}">
                    <a16:creationId xmlns:a16="http://schemas.microsoft.com/office/drawing/2014/main" id="{B0C4E214-2BC7-4E89-9C34-E60765C9C33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9" name="Freeform 7">
                <a:extLst>
                  <a:ext uri="{FF2B5EF4-FFF2-40B4-BE49-F238E27FC236}">
                    <a16:creationId xmlns:a16="http://schemas.microsoft.com/office/drawing/2014/main" id="{4EBC01BC-C4AC-4FBE-A8D9-67FBD691B2C3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" name="Oval 8">
                <a:extLst>
                  <a:ext uri="{FF2B5EF4-FFF2-40B4-BE49-F238E27FC236}">
                    <a16:creationId xmlns:a16="http://schemas.microsoft.com/office/drawing/2014/main" id="{B5EFB3FB-0C0E-4A82-A156-B8549CFB8D8E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1" name="Group 27">
                <a:extLst>
                  <a:ext uri="{FF2B5EF4-FFF2-40B4-BE49-F238E27FC236}">
                    <a16:creationId xmlns:a16="http://schemas.microsoft.com/office/drawing/2014/main" id="{7DAA45A8-E4FF-4B83-876D-31C506D7FA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2" name="Freeform 9">
                  <a:extLst>
                    <a:ext uri="{FF2B5EF4-FFF2-40B4-BE49-F238E27FC236}">
                      <a16:creationId xmlns:a16="http://schemas.microsoft.com/office/drawing/2014/main" id="{10AF373A-5478-4732-8B93-C7FA2214DC0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0">
                  <a:extLst>
                    <a:ext uri="{FF2B5EF4-FFF2-40B4-BE49-F238E27FC236}">
                      <a16:creationId xmlns:a16="http://schemas.microsoft.com/office/drawing/2014/main" id="{18C3FF5F-1087-4A14-B05C-EF93FED535E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1">
                  <a:extLst>
                    <a:ext uri="{FF2B5EF4-FFF2-40B4-BE49-F238E27FC236}">
                      <a16:creationId xmlns:a16="http://schemas.microsoft.com/office/drawing/2014/main" id="{768B6B30-DD10-4951-9D6F-0FE59F9AEC7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2">
                  <a:extLst>
                    <a:ext uri="{FF2B5EF4-FFF2-40B4-BE49-F238E27FC236}">
                      <a16:creationId xmlns:a16="http://schemas.microsoft.com/office/drawing/2014/main" id="{F59CCDAA-0C06-4A12-A642-F7BE4F4AB7B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3">
                  <a:extLst>
                    <a:ext uri="{FF2B5EF4-FFF2-40B4-BE49-F238E27FC236}">
                      <a16:creationId xmlns:a16="http://schemas.microsoft.com/office/drawing/2014/main" id="{088C8B6F-F05E-44F8-9265-BBB3EDA55A4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4">
                  <a:extLst>
                    <a:ext uri="{FF2B5EF4-FFF2-40B4-BE49-F238E27FC236}">
                      <a16:creationId xmlns:a16="http://schemas.microsoft.com/office/drawing/2014/main" id="{E48D41F2-F24F-45D4-842F-BD116865DBE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5">
                  <a:extLst>
                    <a:ext uri="{FF2B5EF4-FFF2-40B4-BE49-F238E27FC236}">
                      <a16:creationId xmlns:a16="http://schemas.microsoft.com/office/drawing/2014/main" id="{6E3BF754-3A1F-40DB-A2B5-41FCE932A98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6">
                  <a:extLst>
                    <a:ext uri="{FF2B5EF4-FFF2-40B4-BE49-F238E27FC236}">
                      <a16:creationId xmlns:a16="http://schemas.microsoft.com/office/drawing/2014/main" id="{318B4698-4323-4853-8C17-9F1F9E9F3D4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7">
                  <a:extLst>
                    <a:ext uri="{FF2B5EF4-FFF2-40B4-BE49-F238E27FC236}">
                      <a16:creationId xmlns:a16="http://schemas.microsoft.com/office/drawing/2014/main" id="{28585D53-7679-4221-AB50-808FA417F75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8">
                  <a:extLst>
                    <a:ext uri="{FF2B5EF4-FFF2-40B4-BE49-F238E27FC236}">
                      <a16:creationId xmlns:a16="http://schemas.microsoft.com/office/drawing/2014/main" id="{CAEDA6BB-ABDC-44FF-B8F1-57AF8920E62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19">
                  <a:extLst>
                    <a:ext uri="{FF2B5EF4-FFF2-40B4-BE49-F238E27FC236}">
                      <a16:creationId xmlns:a16="http://schemas.microsoft.com/office/drawing/2014/main" id="{B52588C3-F7A7-4750-8958-9E46DC30128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0">
                  <a:extLst>
                    <a:ext uri="{FF2B5EF4-FFF2-40B4-BE49-F238E27FC236}">
                      <a16:creationId xmlns:a16="http://schemas.microsoft.com/office/drawing/2014/main" id="{1B242CA3-251C-49A8-9F8B-3C36D19DAF9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1">
                  <a:extLst>
                    <a:ext uri="{FF2B5EF4-FFF2-40B4-BE49-F238E27FC236}">
                      <a16:creationId xmlns:a16="http://schemas.microsoft.com/office/drawing/2014/main" id="{934A00C5-C8F2-4AB7-9F6D-983AF931C1B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2">
                  <a:extLst>
                    <a:ext uri="{FF2B5EF4-FFF2-40B4-BE49-F238E27FC236}">
                      <a16:creationId xmlns:a16="http://schemas.microsoft.com/office/drawing/2014/main" id="{56A807CD-D73B-4E85-BD9C-E48E63EFE8A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3">
                  <a:extLst>
                    <a:ext uri="{FF2B5EF4-FFF2-40B4-BE49-F238E27FC236}">
                      <a16:creationId xmlns:a16="http://schemas.microsoft.com/office/drawing/2014/main" id="{E7FCF25E-43F2-47F9-84CA-88DA94BC6C9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4">
                  <a:extLst>
                    <a:ext uri="{FF2B5EF4-FFF2-40B4-BE49-F238E27FC236}">
                      <a16:creationId xmlns:a16="http://schemas.microsoft.com/office/drawing/2014/main" id="{941BF1B0-B0FC-4B26-87D2-8E92F0B923B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" name="Freeform 25">
                  <a:extLst>
                    <a:ext uri="{FF2B5EF4-FFF2-40B4-BE49-F238E27FC236}">
                      <a16:creationId xmlns:a16="http://schemas.microsoft.com/office/drawing/2014/main" id="{58386E5A-8831-41BF-A518-26785185183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" name="Freeform 26">
                  <a:extLst>
                    <a:ext uri="{FF2B5EF4-FFF2-40B4-BE49-F238E27FC236}">
                      <a16:creationId xmlns:a16="http://schemas.microsoft.com/office/drawing/2014/main" id="{42A36C76-0897-4DBC-8C24-F1DE13438B1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0C33E6C5-337F-4255-A1DA-43C86CD19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7299F587-A84B-44B9-8C48-AC1437FF5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039852B9-9585-4786-86B9-2B6A70406C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121C8707-69C6-4ACD-BD95-09F063A7B0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6890CF-CB90-433E-8498-1273A0CAC00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C1639140-DF82-447C-8940-97C93664B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B16DA2B3-3106-4A65-A620-A5451B6A9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AC703D-15C9-428A-8C4D-DE5F49AD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 and Data Structures, Twelfth Edition, (c) 2020  Pearson Education,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527959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dsanimation/LinearProbingeBook.html" TargetMode="External"/><Relationship Id="rId2" Type="http://schemas.openxmlformats.org/officeDocument/2006/relationships/hyperlink" Target="http://www.cs.armstrong.edu/liang/animation/HashingLinearProbingAnimation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veexample.pearsoncmg.com/dsanimation/QuadraticProbingeBook.html" TargetMode="External"/><Relationship Id="rId4" Type="http://schemas.openxmlformats.org/officeDocument/2006/relationships/hyperlink" Target="http://www.cs.armstrong.edu/liang/animation/HashingLinearProbingAnimation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veexample.pearsoncmg.com/dsanimation/QuadraticProbingeBook.html" TargetMode="External"/><Relationship Id="rId4" Type="http://schemas.openxmlformats.org/officeDocument/2006/relationships/hyperlink" Target="http://www.cs.armstrong.edu/liang/animation/HashingLinearProbingAnimatio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armstrong.edu/liang/animation/HashingUsingSeparateChainingAnimation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liveexample.pearsoncmg.com/dsanimation/SeparateChainingeBook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6F1DD20B-3C9B-4BD6-8819-944CC2F1B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676400"/>
            <a:ext cx="8534400" cy="1524000"/>
          </a:xfrm>
        </p:spPr>
        <p:txBody>
          <a:bodyPr/>
          <a:lstStyle/>
          <a:p>
            <a:r>
              <a:rPr lang="en-US" altLang="en-US"/>
              <a:t>Chapter 27 Hashing</a:t>
            </a:r>
          </a:p>
        </p:txBody>
      </p:sp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578F3D8E-1CCF-4444-85AB-3C16106E7F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DAF91F-AE31-40C3-A511-D471E318306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D67A4E80-3C18-4ABA-8FE7-242CDDA33C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52450"/>
          </a:xfrm>
        </p:spPr>
        <p:txBody>
          <a:bodyPr/>
          <a:lstStyle/>
          <a:p>
            <a:r>
              <a:rPr lang="en-US" altLang="en-US"/>
              <a:t>Objectives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88106FA8-6520-409F-80F5-9F343456A4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638800"/>
          </a:xfrm>
        </p:spPr>
        <p:txBody>
          <a:bodyPr/>
          <a:lstStyle/>
          <a:p>
            <a:pPr marL="457200" indent="-284163"/>
            <a:r>
              <a:rPr lang="en-US" altLang="en-US" sz="2800" dirty="0"/>
              <a:t>To know what hashing is for (§27.3).</a:t>
            </a:r>
          </a:p>
          <a:p>
            <a:pPr marL="457200" indent="-284163"/>
            <a:r>
              <a:rPr lang="en-US" altLang="en-US" sz="2800" dirty="0"/>
              <a:t>To obtain the hash code for an object and design the hash function to map a key to an index (§27.4).</a:t>
            </a:r>
          </a:p>
          <a:p>
            <a:pPr marL="457200" indent="-284163"/>
            <a:r>
              <a:rPr lang="en-US" altLang="en-US" sz="2800" dirty="0"/>
              <a:t>To handle collisions using open addressing (§27.5).</a:t>
            </a:r>
          </a:p>
          <a:p>
            <a:pPr marL="457200" indent="-284163"/>
            <a:r>
              <a:rPr lang="en-US" altLang="en-US" sz="2800" dirty="0"/>
              <a:t>To know the differences among linear probing, quadratic probing, and double hashing (§27.5).</a:t>
            </a:r>
          </a:p>
          <a:p>
            <a:pPr marL="457200" indent="-284163"/>
            <a:r>
              <a:rPr lang="en-US" altLang="en-US" sz="2800" dirty="0"/>
              <a:t>To handle collisions using separate chaining (§27.6).</a:t>
            </a:r>
          </a:p>
          <a:p>
            <a:pPr marL="457200" indent="-284163"/>
            <a:r>
              <a:rPr lang="en-US" altLang="en-US" sz="2800" dirty="0"/>
              <a:t>To understand the load factor and the need for rehashing (§27.7).</a:t>
            </a:r>
          </a:p>
          <a:p>
            <a:pPr marL="457200" indent="-284163"/>
            <a:r>
              <a:rPr lang="en-US" altLang="en-US" sz="2800" dirty="0"/>
              <a:t>To implement </a:t>
            </a:r>
            <a:r>
              <a:rPr lang="en-US" altLang="en-US" sz="2800" dirty="0" err="1"/>
              <a:t>MyHashMap</a:t>
            </a:r>
            <a:r>
              <a:rPr lang="en-US" altLang="en-US" sz="2800" dirty="0"/>
              <a:t> using hashing (§27.8).</a:t>
            </a:r>
          </a:p>
        </p:txBody>
      </p:sp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48EA161F-30EC-4F38-A0BE-574270897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8B3C80-2066-4A1E-8ED4-04A8FF0B076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17C61526-372F-4F04-AD13-19B08C48C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Why Hashing? </a:t>
            </a:r>
          </a:p>
        </p:txBody>
      </p:sp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6C2B498C-2FFA-4A40-9387-030CB98FEB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263B50-C0A5-41A0-9622-1B1185148E7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EDE34BD8-2E57-44E5-B690-13B2B1B12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The preceding chapters introduced search trees. 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An element can be found in O(</a:t>
            </a:r>
            <a:r>
              <a:rPr lang="en-US" altLang="en-US" sz="2400" dirty="0" err="1"/>
              <a:t>logn</a:t>
            </a:r>
            <a:r>
              <a:rPr lang="en-US" altLang="en-US" sz="2400" dirty="0"/>
              <a:t>) time in a well-balanced search tree. Is there a more efficient way to search for an element in a container? 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This chapter introduces a technique called </a:t>
            </a:r>
            <a:r>
              <a:rPr lang="en-US" altLang="en-US" sz="2400" b="1" dirty="0"/>
              <a:t>hashing</a:t>
            </a:r>
            <a:r>
              <a:rPr lang="en-US" altLang="en-US" sz="2400" dirty="0"/>
              <a:t>. You can use hashing to implement a map or a set to search, insert, and delete an element in  </a:t>
            </a:r>
            <a:r>
              <a:rPr lang="en-US" altLang="en-US" sz="2400" dirty="0">
                <a:highlight>
                  <a:srgbClr val="FFFF00"/>
                </a:highlight>
              </a:rPr>
              <a:t>O(1) </a:t>
            </a:r>
            <a:r>
              <a:rPr lang="en-US" altLang="en-US" sz="2400" dirty="0"/>
              <a:t>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0DD07329-98E4-4D53-9FF1-A8E7E4843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Map </a:t>
            </a:r>
          </a:p>
        </p:txBody>
      </p:sp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3CE510B9-6403-4891-BC60-BA6B9EE1A9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DF864D-3503-4A4D-A99D-4B641F2760C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B500C384-324E-485C-BC89-0AE68433D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A </a:t>
            </a:r>
            <a:r>
              <a:rPr lang="en-US" altLang="en-US" sz="2400" b="1" dirty="0"/>
              <a:t>map</a:t>
            </a:r>
            <a:r>
              <a:rPr lang="en-US" altLang="en-US" sz="2400" dirty="0"/>
              <a:t> is a data structure that stores entries. 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Each entry contains two parts: </a:t>
            </a:r>
            <a:r>
              <a:rPr lang="en-US" altLang="en-US" sz="2400" b="1" dirty="0"/>
              <a:t>key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value</a:t>
            </a:r>
            <a:r>
              <a:rPr lang="en-US" altLang="en-US" sz="2400" dirty="0"/>
              <a:t>. 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The key is also called a </a:t>
            </a:r>
            <a:r>
              <a:rPr lang="en-US" altLang="en-US" sz="2400" b="1" dirty="0"/>
              <a:t>search key</a:t>
            </a:r>
            <a:r>
              <a:rPr lang="en-US" altLang="en-US" sz="2400" dirty="0"/>
              <a:t>, which is used to search for the corresponding value. 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For example, a dictionary can be stored in a map, where the words are the keys and the definitions of the words are the values.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A map is also called a </a:t>
            </a:r>
            <a:r>
              <a:rPr lang="en-US" altLang="en-US" sz="2400" b="1" dirty="0"/>
              <a:t>dictionary</a:t>
            </a:r>
            <a:r>
              <a:rPr lang="en-US" altLang="en-US" sz="2400" dirty="0"/>
              <a:t>, a </a:t>
            </a:r>
            <a:r>
              <a:rPr lang="en-US" altLang="en-US" sz="2400" b="1" dirty="0"/>
              <a:t>hash table</a:t>
            </a:r>
            <a:r>
              <a:rPr lang="en-US" altLang="en-US" sz="2400" dirty="0"/>
              <a:t>, or an </a:t>
            </a:r>
            <a:r>
              <a:rPr lang="en-US" altLang="en-US" sz="2400" b="1" dirty="0"/>
              <a:t>associative array</a:t>
            </a:r>
            <a:r>
              <a:rPr lang="en-US" altLang="en-US" sz="2400" dirty="0"/>
              <a:t>. </a:t>
            </a:r>
          </a:p>
          <a:p>
            <a:pPr marL="342900" indent="-342900"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The new trend is to use the term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00245248-4E02-430B-841D-9D628B0A1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2400" cy="704850"/>
          </a:xfrm>
        </p:spPr>
        <p:txBody>
          <a:bodyPr/>
          <a:lstStyle/>
          <a:p>
            <a:r>
              <a:rPr lang="en-US" altLang="en-US"/>
              <a:t>What is Hashing? </a:t>
            </a:r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78352BE0-D05E-441F-BB10-B75635150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8A7AE8-453F-401C-B36B-02A83324C23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0D62FE69-B955-4D80-B089-653875C9D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If you know the index of an element in the array, you can </a:t>
            </a:r>
            <a:r>
              <a:rPr lang="en-US" altLang="en-US" sz="2400" dirty="0">
                <a:highlight>
                  <a:srgbClr val="FFFF00"/>
                </a:highlight>
              </a:rPr>
              <a:t>retrieve the element using the index in </a:t>
            </a:r>
            <a:r>
              <a:rPr lang="en-US" altLang="en-US" sz="2400" b="1" dirty="0">
                <a:highlight>
                  <a:srgbClr val="FFFF00"/>
                </a:highlight>
              </a:rPr>
              <a:t>O(1)</a:t>
            </a:r>
            <a:r>
              <a:rPr lang="en-US" altLang="en-US" sz="2400" dirty="0">
                <a:highlight>
                  <a:srgbClr val="FFFF00"/>
                </a:highlight>
              </a:rPr>
              <a:t> time.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So, can we store the values in an array and use the key as the index to find the value? The answer is yes if you can map a key to an index.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The array that stores the values is called </a:t>
            </a:r>
            <a:r>
              <a:rPr lang="en-US" altLang="en-US" sz="2400" dirty="0">
                <a:highlight>
                  <a:srgbClr val="FFFF00"/>
                </a:highlight>
              </a:rPr>
              <a:t>a </a:t>
            </a:r>
            <a:r>
              <a:rPr lang="en-US" altLang="en-US" sz="2400" b="1" dirty="0">
                <a:highlight>
                  <a:srgbClr val="FFFF00"/>
                </a:highlight>
              </a:rPr>
              <a:t>hash table</a:t>
            </a:r>
            <a:r>
              <a:rPr lang="en-US" altLang="en-US" sz="2400" dirty="0"/>
              <a:t>.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/>
              <a:t>The function that maps a key to an index in the hash table is called </a:t>
            </a:r>
            <a:r>
              <a:rPr lang="en-US" altLang="en-US" sz="2400" dirty="0">
                <a:highlight>
                  <a:srgbClr val="FFFF00"/>
                </a:highlight>
              </a:rPr>
              <a:t>a </a:t>
            </a:r>
            <a:r>
              <a:rPr lang="en-US" altLang="en-US" sz="2400" b="1" dirty="0">
                <a:highlight>
                  <a:srgbClr val="FFFF00"/>
                </a:highlight>
              </a:rPr>
              <a:t>hash function</a:t>
            </a:r>
            <a:r>
              <a:rPr lang="en-US" altLang="en-US" sz="2400" dirty="0">
                <a:highlight>
                  <a:srgbClr val="FFFF00"/>
                </a:highlight>
              </a:rPr>
              <a:t>.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b="1" dirty="0"/>
              <a:t>Hashing</a:t>
            </a:r>
            <a:r>
              <a:rPr lang="en-US" altLang="en-US" sz="2400" dirty="0"/>
              <a:t> is a technique that </a:t>
            </a:r>
            <a:r>
              <a:rPr lang="en-US" altLang="en-US" sz="2400" dirty="0">
                <a:highlight>
                  <a:srgbClr val="FFFF00"/>
                </a:highlight>
              </a:rPr>
              <a:t>retrieves the value using the index </a:t>
            </a:r>
            <a:r>
              <a:rPr lang="en-US" altLang="en-US" sz="2400" dirty="0"/>
              <a:t>obtained from key without performing a search. </a:t>
            </a:r>
          </a:p>
          <a:p>
            <a:pPr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b="1" dirty="0"/>
              <a:t>Load factor </a:t>
            </a:r>
            <a:r>
              <a:rPr lang="en-US" altLang="en-US" sz="2400" dirty="0"/>
              <a:t> is a measurement of </a:t>
            </a:r>
            <a:r>
              <a:rPr lang="en-US" altLang="en-US" sz="2400" dirty="0">
                <a:highlight>
                  <a:srgbClr val="FFFF00"/>
                </a:highlight>
              </a:rPr>
              <a:t>how full a hash table is</a:t>
            </a:r>
            <a:r>
              <a:rPr lang="en-US" altLang="en-US" sz="2400" dirty="0"/>
              <a:t> and if the </a:t>
            </a:r>
            <a:r>
              <a:rPr lang="en-US" altLang="en-US" sz="2400" dirty="0">
                <a:highlight>
                  <a:srgbClr val="FFFF00"/>
                </a:highlight>
              </a:rPr>
              <a:t>table should be increased.</a:t>
            </a:r>
            <a:endParaRPr lang="en-US" altLang="en-US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C4C8DF0C-6243-4B5B-8FA4-0D30F4D53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153400" cy="933450"/>
          </a:xfrm>
        </p:spPr>
        <p:txBody>
          <a:bodyPr/>
          <a:lstStyle/>
          <a:p>
            <a:r>
              <a:rPr lang="en-US" altLang="en-US"/>
              <a:t>Hash Function and Hash Codes </a:t>
            </a:r>
          </a:p>
        </p:txBody>
      </p:sp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5DEB5950-444E-4665-993A-F150F06426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1F2B4B-97DA-4332-8A7D-EAC2B526AD2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9A041277-42F0-4CD4-AEA3-0A6C2E95B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50950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A typical hash function first converts a search key to an integer value </a:t>
            </a:r>
            <a:r>
              <a:rPr lang="en-US" altLang="en-US" sz="2400" dirty="0">
                <a:highlight>
                  <a:srgbClr val="FFFF00"/>
                </a:highlight>
              </a:rPr>
              <a:t>called a </a:t>
            </a:r>
            <a:r>
              <a:rPr lang="en-US" altLang="en-US" sz="2400" b="1" dirty="0">
                <a:highlight>
                  <a:srgbClr val="FFFF00"/>
                </a:highlight>
              </a:rPr>
              <a:t>hash code</a:t>
            </a:r>
            <a:r>
              <a:rPr lang="en-US" altLang="en-US" sz="2400" dirty="0">
                <a:highlight>
                  <a:srgbClr val="FFFF00"/>
                </a:highlight>
              </a:rPr>
              <a:t>, </a:t>
            </a:r>
            <a:r>
              <a:rPr lang="en-US" altLang="en-US" sz="2400" dirty="0"/>
              <a:t>and then compresses the hash code into an index to the hash table. </a:t>
            </a:r>
          </a:p>
        </p:txBody>
      </p:sp>
      <p:pic>
        <p:nvPicPr>
          <p:cNvPr id="9226" name="Picture 11">
            <a:extLst>
              <a:ext uri="{FF2B5EF4-FFF2-40B4-BE49-F238E27FC236}">
                <a16:creationId xmlns:a16="http://schemas.microsoft.com/office/drawing/2014/main" id="{282CC825-D3A9-4D05-9D3A-7FEFEE55D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2362200"/>
            <a:ext cx="6819900" cy="409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AA33BFE-EA06-43F3-BAE5-6AF2E43F2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 dirty="0">
                <a:highlight>
                  <a:srgbClr val="FFFF00"/>
                </a:highlight>
              </a:rPr>
              <a:t>Linear Probing Animation</a:t>
            </a:r>
          </a:p>
        </p:txBody>
      </p:sp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C7E22D17-1E3D-40D1-987A-0C42C05EF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253424-863D-429D-8CDA-8104DED7058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pic>
        <p:nvPicPr>
          <p:cNvPr id="10257" name="Picture 18">
            <a:extLst>
              <a:ext uri="{FF2B5EF4-FFF2-40B4-BE49-F238E27FC236}">
                <a16:creationId xmlns:a16="http://schemas.microsoft.com/office/drawing/2014/main" id="{6A1EA8E6-B42C-44B4-BD8C-91B236170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524000"/>
            <a:ext cx="8066088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D7A9C8-BBAA-457E-9CCF-F822D0174ABD}"/>
              </a:ext>
            </a:extLst>
          </p:cNvPr>
          <p:cNvSpPr txBox="1"/>
          <p:nvPr/>
        </p:nvSpPr>
        <p:spPr>
          <a:xfrm>
            <a:off x="444500" y="883156"/>
            <a:ext cx="816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When a collision occurs during the insertion of an entry to a hash table, </a:t>
            </a:r>
            <a:r>
              <a:rPr lang="en-US" sz="1600" b="1" dirty="0"/>
              <a:t>linear probing</a:t>
            </a:r>
            <a:r>
              <a:rPr lang="en-US" sz="1600" dirty="0"/>
              <a:t> finds the next available location sequentially.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62360-7122-4C26-9A90-4FD4B1190CE6}"/>
              </a:ext>
            </a:extLst>
          </p:cNvPr>
          <p:cNvSpPr txBox="1"/>
          <p:nvPr/>
        </p:nvSpPr>
        <p:spPr>
          <a:xfrm>
            <a:off x="394494" y="5758369"/>
            <a:ext cx="816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When </a:t>
            </a:r>
            <a:r>
              <a:rPr lang="en-US" sz="1600" i="1" dirty="0">
                <a:highlight>
                  <a:srgbClr val="FFFF00"/>
                </a:highlight>
              </a:rPr>
              <a:t>probing reaches the end of the table, it goes back </a:t>
            </a:r>
            <a:r>
              <a:rPr lang="en-US" sz="1600" i="1" dirty="0"/>
              <a:t>to the </a:t>
            </a:r>
            <a:r>
              <a:rPr lang="en-US" sz="1600" i="1" dirty="0">
                <a:highlight>
                  <a:srgbClr val="FFFF00"/>
                </a:highlight>
              </a:rPr>
              <a:t>beginning</a:t>
            </a:r>
            <a:r>
              <a:rPr lang="en-US" sz="1600" i="1" dirty="0"/>
              <a:t> of the table.  Thus, the hash table is treated as if it were circular.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AA33BFE-EA06-43F3-BAE5-6AF2E43F2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 dirty="0"/>
              <a:t>Linear Probing</a:t>
            </a:r>
          </a:p>
        </p:txBody>
      </p:sp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C7E22D17-1E3D-40D1-987A-0C42C05EF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253424-863D-429D-8CDA-8104DED7058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D7A9C8-BBAA-457E-9CCF-F822D0174ABD}"/>
              </a:ext>
            </a:extLst>
          </p:cNvPr>
          <p:cNvSpPr txBox="1"/>
          <p:nvPr/>
        </p:nvSpPr>
        <p:spPr>
          <a:xfrm>
            <a:off x="320799" y="874455"/>
            <a:ext cx="8166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Linear probing often causes groups of consecutive cells in the hash table to be occupied.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group is called a </a:t>
            </a:r>
            <a:r>
              <a:rPr lang="en-US" sz="2000" b="1" dirty="0"/>
              <a:t>cluster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must search through a cluster when retrieving, adding, or removing an entry.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 clusters get bigger, they may merge with other clusters, slowing down search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a big disadvantage of linear probing.</a:t>
            </a:r>
          </a:p>
        </p:txBody>
      </p:sp>
      <p:pic>
        <p:nvPicPr>
          <p:cNvPr id="7" name="Picture 18">
            <a:extLst>
              <a:ext uri="{FF2B5EF4-FFF2-40B4-BE49-F238E27FC236}">
                <a16:creationId xmlns:a16="http://schemas.microsoft.com/office/drawing/2014/main" id="{FAC09198-03DF-4E78-8502-38A32FA4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08413"/>
            <a:ext cx="4965700" cy="2572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85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5942F3B0-D33D-4873-A7C7-940FD6F7C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/>
              <a:t>Linear Probing Animation</a:t>
            </a:r>
          </a:p>
        </p:txBody>
      </p:sp>
      <p:sp>
        <p:nvSpPr>
          <p:cNvPr id="11266" name="Slide Number Placeholder 4">
            <a:extLst>
              <a:ext uri="{FF2B5EF4-FFF2-40B4-BE49-F238E27FC236}">
                <a16:creationId xmlns:a16="http://schemas.microsoft.com/office/drawing/2014/main" id="{E4949383-2841-469E-80E3-33FC41707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633130-917E-4004-ABEF-5AA4665596F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1280" name="Rounded Rectangle 1">
            <a:hlinkClick r:id="rId2"/>
            <a:extLst>
              <a:ext uri="{FF2B5EF4-FFF2-40B4-BE49-F238E27FC236}">
                <a16:creationId xmlns:a16="http://schemas.microsoft.com/office/drawing/2014/main" id="{8BD03B7E-6A67-4C16-A47B-678D1B885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11213"/>
            <a:ext cx="8077200" cy="457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u="sng" dirty="0">
                <a:solidFill>
                  <a:srgbClr val="002060"/>
                </a:solidFill>
              </a:rPr>
              <a:t>https://liveexample.pearsoncmg.com/dsanimation/LinearProbingeBook.html </a:t>
            </a:r>
          </a:p>
        </p:txBody>
      </p:sp>
      <p:sp>
        <p:nvSpPr>
          <p:cNvPr id="11281" name="AutoShape 30">
            <a:hlinkClick r:id="rId3" highlightClick="1"/>
            <a:extLst>
              <a:ext uri="{FF2B5EF4-FFF2-40B4-BE49-F238E27FC236}">
                <a16:creationId xmlns:a16="http://schemas.microsoft.com/office/drawing/2014/main" id="{0486E77A-3F20-4123-B4DA-304C4F676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921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11282" name="Picture 18">
            <a:extLst>
              <a:ext uri="{FF2B5EF4-FFF2-40B4-BE49-F238E27FC236}">
                <a16:creationId xmlns:a16="http://schemas.microsoft.com/office/drawing/2014/main" id="{7B9B5194-1394-440A-9A00-B257AFD25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1285875"/>
            <a:ext cx="6313488" cy="499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AB3B0624-7367-4C57-AF22-56CE00A42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6913" y="106363"/>
            <a:ext cx="8153400" cy="503237"/>
          </a:xfrm>
        </p:spPr>
        <p:txBody>
          <a:bodyPr/>
          <a:lstStyle/>
          <a:p>
            <a:r>
              <a:rPr lang="en-US" altLang="en-US"/>
              <a:t>Quadratic Probing </a:t>
            </a:r>
          </a:p>
        </p:txBody>
      </p:sp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C34A932B-A793-4526-80E9-8400AB58F6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7036C2-15E0-4D27-BC14-2E635D16B23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2294" name="Text Box 5">
            <a:extLst>
              <a:ext uri="{FF2B5EF4-FFF2-40B4-BE49-F238E27FC236}">
                <a16:creationId xmlns:a16="http://schemas.microsoft.com/office/drawing/2014/main" id="{A4820183-6D70-4D21-B7B1-55D1FBC87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066800"/>
            <a:ext cx="8610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     Quadratic probing can avoid the clustering problem in linear probing. Linear probing looks at the consecutive cells beginning at index k. Quadratic probing increases the index </a:t>
            </a:r>
            <a:r>
              <a:rPr lang="en-US" altLang="en-US" sz="2400" b="1" dirty="0">
                <a:highlight>
                  <a:srgbClr val="FFFF00"/>
                </a:highlight>
              </a:rPr>
              <a:t>by j^2 for j = 1, 2, 3, ..</a:t>
            </a:r>
            <a:r>
              <a:rPr lang="en-US" altLang="en-US" sz="2400" dirty="0"/>
              <a:t>. The actual index searched are k, k + 1, k + 4, …</a:t>
            </a:r>
          </a:p>
        </p:txBody>
      </p:sp>
      <p:pic>
        <p:nvPicPr>
          <p:cNvPr id="12301" name="Picture 14">
            <a:extLst>
              <a:ext uri="{FF2B5EF4-FFF2-40B4-BE49-F238E27FC236}">
                <a16:creationId xmlns:a16="http://schemas.microsoft.com/office/drawing/2014/main" id="{0604D0CB-9558-4D8C-B06F-803C9A127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90800"/>
            <a:ext cx="70866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302" name="Rounded Rectangle 1">
            <a:hlinkClick r:id="rId4"/>
            <a:extLst>
              <a:ext uri="{FF2B5EF4-FFF2-40B4-BE49-F238E27FC236}">
                <a16:creationId xmlns:a16="http://schemas.microsoft.com/office/drawing/2014/main" id="{184CBEBD-C34B-464A-BD92-60C5101F2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04850"/>
            <a:ext cx="8382000" cy="457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/>
              <a:buNone/>
            </a:pPr>
            <a:r>
              <a:rPr lang="en-US" altLang="en-US" sz="2000" u="sng" dirty="0">
                <a:solidFill>
                  <a:srgbClr val="002060"/>
                </a:solidFill>
              </a:rPr>
              <a:t>https://liveexample.pearsoncmg.com/dsanimation/QuadraticProbingeBook.html </a:t>
            </a:r>
          </a:p>
        </p:txBody>
      </p:sp>
      <p:sp>
        <p:nvSpPr>
          <p:cNvPr id="12303" name="AutoShape 30">
            <a:hlinkClick r:id="rId5" highlightClick="1"/>
            <a:extLst>
              <a:ext uri="{FF2B5EF4-FFF2-40B4-BE49-F238E27FC236}">
                <a16:creationId xmlns:a16="http://schemas.microsoft.com/office/drawing/2014/main" id="{CB977C2B-7DA8-4A0B-85C8-6DF604631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921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BCE34885-F4E0-4E41-9952-552837A15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153400" cy="476250"/>
          </a:xfrm>
        </p:spPr>
        <p:txBody>
          <a:bodyPr/>
          <a:lstStyle/>
          <a:p>
            <a:r>
              <a:rPr lang="en-US" altLang="en-US"/>
              <a:t>Double Hashing </a:t>
            </a:r>
          </a:p>
        </p:txBody>
      </p:sp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2C8B3EEB-37A4-429C-A346-D377A4BAD3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20ED05-A75E-4882-856F-1C63B31D27C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606373EB-2A9F-4B9E-9D23-5C3443E5B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8610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Double hashing uses a secondary hash function on the keys to determine the increments to avoid the clustering problem.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h’(k) = 7 – k % 7;</a:t>
            </a:r>
          </a:p>
        </p:txBody>
      </p:sp>
      <p:pic>
        <p:nvPicPr>
          <p:cNvPr id="13324" name="Picture 13">
            <a:extLst>
              <a:ext uri="{FF2B5EF4-FFF2-40B4-BE49-F238E27FC236}">
                <a16:creationId xmlns:a16="http://schemas.microsoft.com/office/drawing/2014/main" id="{3AE66C6F-00EE-46E4-8F5C-DC750849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2865438"/>
            <a:ext cx="8445500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3325" name="Rounded Rectangle 1">
            <a:hlinkClick r:id="rId4"/>
            <a:extLst>
              <a:ext uri="{FF2B5EF4-FFF2-40B4-BE49-F238E27FC236}">
                <a16:creationId xmlns:a16="http://schemas.microsoft.com/office/drawing/2014/main" id="{504B2DB4-CD2E-411A-9DFF-58CC1012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04850"/>
            <a:ext cx="8382000" cy="4572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/>
              <a:buNone/>
            </a:pPr>
            <a:r>
              <a:rPr lang="en-US" altLang="en-US" sz="2000" u="sng" dirty="0">
                <a:solidFill>
                  <a:srgbClr val="002060"/>
                </a:solidFill>
              </a:rPr>
              <a:t>https://liveexample.pearsoncmg.com/dsanimation/DoubleHashingeBook.html </a:t>
            </a:r>
          </a:p>
        </p:txBody>
      </p:sp>
      <p:sp>
        <p:nvSpPr>
          <p:cNvPr id="13326" name="AutoShape 30">
            <a:hlinkClick r:id="rId5" highlightClick="1"/>
            <a:extLst>
              <a:ext uri="{FF2B5EF4-FFF2-40B4-BE49-F238E27FC236}">
                <a16:creationId xmlns:a16="http://schemas.microsoft.com/office/drawing/2014/main" id="{8913116A-6DC2-49F2-8F1D-DA0AFB125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921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02C134A4-39EF-4BB3-BE78-9A0395C1B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85750"/>
            <a:ext cx="8991600" cy="628650"/>
          </a:xfrm>
        </p:spPr>
        <p:txBody>
          <a:bodyPr/>
          <a:lstStyle/>
          <a:p>
            <a:r>
              <a:rPr lang="en-US" altLang="en-US" sz="3700" dirty="0"/>
              <a:t>Handling Collisions Using Separate Chaining </a:t>
            </a:r>
          </a:p>
        </p:txBody>
      </p:sp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3774531E-7194-4E18-B558-A11D36671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8DCE5C-575A-48BF-8DB7-AE654003B4F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50D84487-E5B7-476B-8FB5-3724AD359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33463"/>
            <a:ext cx="8610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The separate chaining scheme places all entries with the same hash index into the same location, rather than finding new locations. </a:t>
            </a:r>
            <a:r>
              <a:rPr lang="en-US" altLang="en-US" sz="2400" dirty="0">
                <a:highlight>
                  <a:srgbClr val="FFFF00"/>
                </a:highlight>
              </a:rPr>
              <a:t>Each location in the separate chaining scheme is called a </a:t>
            </a:r>
            <a:r>
              <a:rPr lang="en-US" altLang="en-US" sz="2400" i="1" dirty="0">
                <a:highlight>
                  <a:srgbClr val="FFFF00"/>
                </a:highlight>
              </a:rPr>
              <a:t>bucket</a:t>
            </a:r>
            <a:r>
              <a:rPr lang="en-US" altLang="en-US" sz="2400" dirty="0">
                <a:highlight>
                  <a:srgbClr val="FFFF00"/>
                </a:highlight>
              </a:rPr>
              <a:t>.</a:t>
            </a:r>
            <a:r>
              <a:rPr lang="en-US" altLang="en-US" sz="2400" dirty="0"/>
              <a:t> A bucket is a container that holds multiple entries.</a:t>
            </a:r>
          </a:p>
        </p:txBody>
      </p:sp>
      <p:pic>
        <p:nvPicPr>
          <p:cNvPr id="14349" name="Picture 14">
            <a:extLst>
              <a:ext uri="{FF2B5EF4-FFF2-40B4-BE49-F238E27FC236}">
                <a16:creationId xmlns:a16="http://schemas.microsoft.com/office/drawing/2014/main" id="{250F0D4A-34C5-4D2D-8805-2DA9DA686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2613025"/>
            <a:ext cx="7000875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48C9F9E5-A1DD-49DD-8337-80593D648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685800"/>
          </a:xfrm>
        </p:spPr>
        <p:txBody>
          <a:bodyPr/>
          <a:lstStyle/>
          <a:p>
            <a:r>
              <a:rPr lang="en-US" altLang="en-US"/>
              <a:t>Separate Chaining Animation</a:t>
            </a:r>
          </a:p>
        </p:txBody>
      </p:sp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B766A118-B73F-4A74-9153-AE64055FD1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DFA881-FB13-454B-BBAB-5AAF8C8E2EC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5374" name="Rounded Rectangle 1">
            <a:hlinkClick r:id="rId3"/>
            <a:extLst>
              <a:ext uri="{FF2B5EF4-FFF2-40B4-BE49-F238E27FC236}">
                <a16:creationId xmlns:a16="http://schemas.microsoft.com/office/drawing/2014/main" id="{0F873801-1ABC-449D-B113-0BDA09C2D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833438"/>
            <a:ext cx="8382000" cy="533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/>
              <a:buNone/>
            </a:pPr>
            <a:r>
              <a:rPr lang="en-US" altLang="en-US" sz="2000" u="sng" dirty="0">
                <a:solidFill>
                  <a:srgbClr val="002060"/>
                </a:solidFill>
              </a:rPr>
              <a:t>https://liveexample.pearsoncmg.com/dsanimation/SeparateChainingeBook.html </a:t>
            </a:r>
          </a:p>
        </p:txBody>
      </p:sp>
      <p:sp>
        <p:nvSpPr>
          <p:cNvPr id="15375" name="AutoShape 30">
            <a:hlinkClick r:id="rId4" highlightClick="1"/>
            <a:extLst>
              <a:ext uri="{FF2B5EF4-FFF2-40B4-BE49-F238E27FC236}">
                <a16:creationId xmlns:a16="http://schemas.microsoft.com/office/drawing/2014/main" id="{8DE04377-B273-4F2B-A969-FFA561B2B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692150"/>
            <a:ext cx="468312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15376" name="Picture 16">
            <a:extLst>
              <a:ext uri="{FF2B5EF4-FFF2-40B4-BE49-F238E27FC236}">
                <a16:creationId xmlns:a16="http://schemas.microsoft.com/office/drawing/2014/main" id="{14172B16-F5BB-4D24-A04F-58E7FBF8F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38250"/>
            <a:ext cx="6477000" cy="512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1096244-FA14-4775-8A05-DAFD07324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19050"/>
            <a:ext cx="7239000" cy="552450"/>
          </a:xfrm>
        </p:spPr>
        <p:txBody>
          <a:bodyPr/>
          <a:lstStyle/>
          <a:p>
            <a:r>
              <a:rPr lang="en-US" altLang="en-US"/>
              <a:t>HashMap Example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5893659-2340-4DF1-B558-EDC996CA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4572000" cy="5713413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 typeface="Monotype Sorts"/>
              <a:buNone/>
            </a:pPr>
            <a:endParaRPr lang="en-US" altLang="en-US" sz="500" b="1">
              <a:latin typeface="Consolas" panose="020B0609020204030204" pitchFamily="49" charset="0"/>
            </a:endParaRP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import java.util.HashMap;</a:t>
            </a:r>
            <a:endParaRPr lang="en-US" altLang="en-US" sz="1200">
              <a:latin typeface="Consolas" panose="020B0609020204030204" pitchFamily="49" charset="0"/>
            </a:endParaRPr>
          </a:p>
          <a:p>
            <a:pPr marL="0" indent="0">
              <a:buFont typeface="Monotype Sorts"/>
              <a:buNone/>
            </a:pPr>
            <a:endParaRPr lang="en-US" altLang="en-US" sz="1200">
              <a:latin typeface="Consolas" panose="020B0609020204030204" pitchFamily="49" charset="0"/>
            </a:endParaRP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public static void main(String[] args)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Create a HashMap object called mortgages with</a:t>
            </a:r>
          </a:p>
          <a:p>
            <a:pPr marL="0" indent="0">
              <a:buFont typeface="Monotype Sorts"/>
              <a:buNone/>
            </a:pPr>
            <a:r>
              <a:rPr lang="en-US" altLang="en-US" sz="1200" i="1">
                <a:latin typeface="Consolas" panose="020B0609020204030204" pitchFamily="49" charset="0"/>
              </a:rPr>
              <a:t>    //     customer name and mortgage amount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HashMap&lt;String, Double&gt; mortgages = 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       new HashMap&lt;String, Double&gt;();</a:t>
            </a:r>
          </a:p>
          <a:p>
            <a:pPr marL="0" indent="0">
              <a:buFont typeface="Monotype Sorts"/>
              <a:buNone/>
            </a:pPr>
            <a:endParaRPr lang="en-US" altLang="en-US" sz="1200">
              <a:latin typeface="Consolas" panose="020B0609020204030204" pitchFamily="49" charset="0"/>
            </a:endParaRP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Add keys and values (Country, City)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mortgages.put("Bob", 95000.00);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mortgages.put("Jill", 150000.00);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mortgages.put("Andrew", 139000.00);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mortgages.put("Alice", 176000.00);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System.out.println(mortgages);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get and print Jill's mortgage amount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System.out.println("Jill's Mortgage: " + 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     mortgages.get("Jill"));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remove Andrew's mortgage from the map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mortgages.remove("Andrew");</a:t>
            </a:r>
          </a:p>
          <a:p>
            <a:pPr marL="0" indent="0"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</a:t>
            </a:r>
            <a:endParaRPr lang="en-US" altLang="en-US" sz="1200">
              <a:latin typeface="Consolas" panose="020B0609020204030204" pitchFamily="49" charset="0"/>
            </a:endParaRP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print the size of the map</a:t>
            </a:r>
          </a:p>
          <a:p>
            <a:pPr marL="0" indent="0"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System.out.println(mortgages.size());</a:t>
            </a:r>
            <a:endParaRPr lang="en-US" altLang="en-US" sz="1200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A79378A7-54A0-462F-9C9B-4A165C50F3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C5AA78-4204-454E-B13B-6BB0F3864A4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4821" name="Content Placeholder 2">
            <a:extLst>
              <a:ext uri="{FF2B5EF4-FFF2-40B4-BE49-F238E27FC236}">
                <a16:creationId xmlns:a16="http://schemas.microsoft.com/office/drawing/2014/main" id="{2CCECAC8-6C5A-4399-91F3-64DB00A2879F}"/>
              </a:ext>
            </a:extLst>
          </p:cNvPr>
          <p:cNvSpPr txBox="1">
            <a:spLocks/>
          </p:cNvSpPr>
          <p:nvPr/>
        </p:nvSpPr>
        <p:spPr bwMode="auto">
          <a:xfrm>
            <a:off x="4572000" y="685800"/>
            <a:ext cx="4572000" cy="5713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/>
              <a:buNone/>
            </a:pPr>
            <a:endParaRPr lang="en-US" altLang="en-US" sz="1200" b="1">
              <a:latin typeface="Consolas" panose="020B0609020204030204" pitchFamily="49" charset="0"/>
            </a:endParaRP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print all the keys by using the keySet() </a:t>
            </a:r>
            <a:br>
              <a:rPr lang="en-US" altLang="en-US" sz="1200" i="1">
                <a:latin typeface="Consolas" panose="020B0609020204030204" pitchFamily="49" charset="0"/>
              </a:rPr>
            </a:br>
            <a:r>
              <a:rPr lang="en-US" altLang="en-US" sz="1200" i="1">
                <a:latin typeface="Consolas" panose="020B0609020204030204" pitchFamily="49" charset="0"/>
              </a:rPr>
              <a:t>          method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for (String k : mortgages.keySet()) 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    System.out.print(k + "  ");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System.out.println();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print all the values by using the values()</a:t>
            </a:r>
            <a:br>
              <a:rPr lang="en-US" altLang="en-US" sz="1200" i="1">
                <a:latin typeface="Consolas" panose="020B0609020204030204" pitchFamily="49" charset="0"/>
              </a:rPr>
            </a:br>
            <a:r>
              <a:rPr lang="en-US" altLang="en-US" sz="1200" i="1">
                <a:latin typeface="Consolas" panose="020B0609020204030204" pitchFamily="49" charset="0"/>
              </a:rPr>
              <a:t>          method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for (Double v : mortgages.values()) 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    System.out.print(v + "  ");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System.out.println();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Print keys and values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b="1">
                <a:latin typeface="Consolas" panose="020B0609020204030204" pitchFamily="49" charset="0"/>
              </a:rPr>
              <a:t>for (String i : mortgages.keySet()) 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    System.out.println("key: " + i + " value: " 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            + mortgages.get(i));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System.out.println();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    </a:t>
            </a:r>
            <a:r>
              <a:rPr lang="en-US" altLang="en-US" sz="1200" i="1">
                <a:latin typeface="Consolas" panose="020B0609020204030204" pitchFamily="49" charset="0"/>
              </a:rPr>
              <a:t>// another way to print keys and values </a:t>
            </a:r>
          </a:p>
          <a:p>
            <a:pPr>
              <a:buFont typeface="Monotype Sorts"/>
              <a:buNone/>
            </a:pPr>
            <a:r>
              <a:rPr lang="en-US" altLang="en-US" sz="1200" i="1">
                <a:latin typeface="Consolas" panose="020B0609020204030204" pitchFamily="49" charset="0"/>
              </a:rPr>
              <a:t>    //   (using the built-in toString for the class)</a:t>
            </a:r>
          </a:p>
          <a:p>
            <a:pPr>
              <a:buFont typeface="Monotype Sorts"/>
              <a:buNone/>
            </a:pPr>
            <a:r>
              <a:rPr lang="en-US" altLang="en-US" sz="1200" b="1">
                <a:latin typeface="Consolas" panose="020B0609020204030204" pitchFamily="49" charset="0"/>
              </a:rPr>
              <a:t>    System.out.println(mortgages);</a:t>
            </a:r>
          </a:p>
          <a:p>
            <a:pPr>
              <a:buFont typeface="Monotype Sorts"/>
              <a:buNone/>
            </a:pPr>
            <a:r>
              <a:rPr lang="en-US" altLang="en-US" sz="1200">
                <a:latin typeface="Consolas" panose="020B0609020204030204" pitchFamily="49" charset="0"/>
              </a:rPr>
              <a:t>}</a:t>
            </a:r>
          </a:p>
          <a:p>
            <a:pPr>
              <a:buFont typeface="Monotype Sorts"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25 - Binary Search Trees</Template>
  <TotalTime>25821</TotalTime>
  <Words>1207</Words>
  <Application>Microsoft Office PowerPoint</Application>
  <PresentationFormat>On-screen Show (4:3)</PresentationFormat>
  <Paragraphs>122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Consolas</vt:lpstr>
      <vt:lpstr>Monotype Sorts</vt:lpstr>
      <vt:lpstr>Times New Roman</vt:lpstr>
      <vt:lpstr>Wingdings</vt:lpstr>
      <vt:lpstr>International</vt:lpstr>
      <vt:lpstr>Chapter 27 Hashing</vt:lpstr>
      <vt:lpstr>Objectives</vt:lpstr>
      <vt:lpstr>Why Hashing? </vt:lpstr>
      <vt:lpstr>Map </vt:lpstr>
      <vt:lpstr>What is Hashing? </vt:lpstr>
      <vt:lpstr>Hash Function and Hash Codes </vt:lpstr>
      <vt:lpstr>Linear Probing Animation</vt:lpstr>
      <vt:lpstr>Linear Probing</vt:lpstr>
      <vt:lpstr>Linear Probing Animation</vt:lpstr>
      <vt:lpstr>Quadratic Probing </vt:lpstr>
      <vt:lpstr>Double Hashing </vt:lpstr>
      <vt:lpstr>Handling Collisions Using Separate Chaining </vt:lpstr>
      <vt:lpstr>Separate Chaining Animation</vt:lpstr>
      <vt:lpstr>HashMap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Objects and Classes</dc:title>
  <dc:creator>Y. Daniel Liang</dc:creator>
  <cp:lastModifiedBy>Nguyen, Phuong Tran Lan</cp:lastModifiedBy>
  <cp:revision>260</cp:revision>
  <dcterms:created xsi:type="dcterms:W3CDTF">1995-06-10T17:31:50Z</dcterms:created>
  <dcterms:modified xsi:type="dcterms:W3CDTF">2025-11-20T16:30:24Z</dcterms:modified>
</cp:coreProperties>
</file>