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83" r:id="rId3"/>
    <p:sldId id="358" r:id="rId4"/>
    <p:sldId id="386" r:id="rId5"/>
    <p:sldId id="392" r:id="rId6"/>
    <p:sldId id="368" r:id="rId7"/>
    <p:sldId id="387" r:id="rId8"/>
    <p:sldId id="388" r:id="rId9"/>
    <p:sldId id="389" r:id="rId10"/>
    <p:sldId id="390" r:id="rId11"/>
    <p:sldId id="391" r:id="rId12"/>
    <p:sldId id="39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82" autoAdjust="0"/>
    <p:restoredTop sz="94630" autoAdjust="0"/>
  </p:normalViewPr>
  <p:slideViewPr>
    <p:cSldViewPr>
      <p:cViewPr varScale="1">
        <p:scale>
          <a:sx n="53" d="100"/>
          <a:sy n="53" d="100"/>
        </p:scale>
        <p:origin x="51" y="582"/>
      </p:cViewPr>
      <p:guideLst>
        <p:guide orient="horz" pos="57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3101" y="5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F9363F4-D7B0-49A2-A284-BF63F42F60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79D27E9-03F9-4CD3-BADB-C541DBAF81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F9DE175-62A1-47B9-844D-8C5E4D14A85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2E5DC46-5B52-4F11-9133-35B4522B16C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5E664A3-1AFB-4C26-B167-5D23A7EC48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D21B9ECA-1359-4176-B190-D7D0D4D457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50DC3CEC-680E-4175-916D-948BFFB7507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>
            <a:extLst>
              <a:ext uri="{FF2B5EF4-FFF2-40B4-BE49-F238E27FC236}">
                <a16:creationId xmlns:a16="http://schemas.microsoft.com/office/drawing/2014/main" id="{61FC91DB-7ADF-4F5A-BE25-54B5E3D6A24C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71927960-2F8B-4333-9003-3DB92F56F48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6" name="Group 30">
              <a:extLst>
                <a:ext uri="{FF2B5EF4-FFF2-40B4-BE49-F238E27FC236}">
                  <a16:creationId xmlns:a16="http://schemas.microsoft.com/office/drawing/2014/main" id="{40FC582F-6612-4C14-99AD-1BEEABB34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A42B4868-8E85-4E67-9A7E-0EA85A09658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BDD480BE-E0B8-4DCC-9F8D-21628FAF58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>
                  <a:extLst>
                    <a:ext uri="{FF2B5EF4-FFF2-40B4-BE49-F238E27FC236}">
                      <a16:creationId xmlns:a16="http://schemas.microsoft.com/office/drawing/2014/main" id="{168EE059-6BB5-42C5-96E3-66D90C9B9F3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>
                  <a:extLst>
                    <a:ext uri="{FF2B5EF4-FFF2-40B4-BE49-F238E27FC236}">
                      <a16:creationId xmlns:a16="http://schemas.microsoft.com/office/drawing/2014/main" id="{9E5D42EF-22AB-4645-BBFD-4F6971CB47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>
                  <a:extLst>
                    <a:ext uri="{FF2B5EF4-FFF2-40B4-BE49-F238E27FC236}">
                      <a16:creationId xmlns:a16="http://schemas.microsoft.com/office/drawing/2014/main" id="{897446EE-2740-42A8-9EEB-118C99368C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>
                  <a:extLst>
                    <a:ext uri="{FF2B5EF4-FFF2-40B4-BE49-F238E27FC236}">
                      <a16:creationId xmlns:a16="http://schemas.microsoft.com/office/drawing/2014/main" id="{D28D7690-CB0B-4620-8A92-57BCA6DA9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>
                  <a:extLst>
                    <a:ext uri="{FF2B5EF4-FFF2-40B4-BE49-F238E27FC236}">
                      <a16:creationId xmlns:a16="http://schemas.microsoft.com/office/drawing/2014/main" id="{5765BC86-DECA-4DEA-B069-2914D53EAEF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09888EB4-3B26-49B0-9054-3F442DFD260B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" name="Group 29">
                <a:extLst>
                  <a:ext uri="{FF2B5EF4-FFF2-40B4-BE49-F238E27FC236}">
                    <a16:creationId xmlns:a16="http://schemas.microsoft.com/office/drawing/2014/main" id="{B9D4BEEF-5BB3-4E90-9095-AE08BE9896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59EF1FB1-AEFF-4676-AD82-C39B502E736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6C75F2F0-4B08-40AC-8E73-2B8D8891CD6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>
                  <a:extLst>
                    <a:ext uri="{FF2B5EF4-FFF2-40B4-BE49-F238E27FC236}">
                      <a16:creationId xmlns:a16="http://schemas.microsoft.com/office/drawing/2014/main" id="{A2D58DBB-835B-4D45-BE27-3DF11D0E8FA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437C4EB7-F055-4001-A409-0D3789A09CC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>
                  <a:extLst>
                    <a:ext uri="{FF2B5EF4-FFF2-40B4-BE49-F238E27FC236}">
                      <a16:creationId xmlns:a16="http://schemas.microsoft.com/office/drawing/2014/main" id="{A3A9430C-E256-41E4-8B42-D8AEF67883F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49630AAD-236C-42D4-8D0B-AFA88CAC1DA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41CB7C81-78CF-4FC3-BB43-86D7CBD86D0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4887CB1A-7B48-42EC-8EF9-958FA9F7EDA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>
                  <a:extLst>
                    <a:ext uri="{FF2B5EF4-FFF2-40B4-BE49-F238E27FC236}">
                      <a16:creationId xmlns:a16="http://schemas.microsoft.com/office/drawing/2014/main" id="{3D576805-FD94-4E3A-A504-AA3284929A8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9A7D591C-25D2-47D8-9E77-26523B70EB7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444B6402-191B-411F-B107-16522A1671B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35E915C1-8462-4C34-8587-DF5E6C68EB6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>
                  <a:extLst>
                    <a:ext uri="{FF2B5EF4-FFF2-40B4-BE49-F238E27FC236}">
                      <a16:creationId xmlns:a16="http://schemas.microsoft.com/office/drawing/2014/main" id="{980DC663-7CCB-4F15-BA5D-6DE0D251F96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9E29EFC0-9E25-4A72-A0E4-77E4F9ABFEA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F753A5FB-8918-4B2A-8F58-FD5C09DFC44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>
                  <a:extLst>
                    <a:ext uri="{FF2B5EF4-FFF2-40B4-BE49-F238E27FC236}">
                      <a16:creationId xmlns:a16="http://schemas.microsoft.com/office/drawing/2014/main" id="{FE3649D4-B83D-4B05-91BE-D908C376424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>
                  <a:extLst>
                    <a:ext uri="{FF2B5EF4-FFF2-40B4-BE49-F238E27FC236}">
                      <a16:creationId xmlns:a16="http://schemas.microsoft.com/office/drawing/2014/main" id="{8ECC7FBC-6EC0-4D53-9EBE-5ED45CBDD82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359AF7C1-C766-45D7-A86F-28F8AB04C41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8F400BA4-6A40-46F1-B7AC-59CB57C74BD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530FE8AD-9622-4D9C-87BB-64811E0DE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FD20E48A-B6FB-4B76-95F8-3BCC5E596D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3F007CF-E63E-43FA-822D-E0C9C5EC037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60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7A1450D0-5C6B-4A7D-9DD3-12ABC6CE7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7C3EC62-E8ED-4B3A-A7A4-D2AC4B0772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64B5A-7212-4737-85A6-1D95D616A29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0636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74D14C60-F19C-4EB2-AD48-30730C4566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A7531466-45D1-4A3D-AD82-112BB8F642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F77FB3-CA25-4A29-BE35-A6501CD9160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08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068F10D1-1835-4088-AD0B-6C7BADD595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29AAEAB9-5939-47B3-869D-BB65143F91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847E45-11F2-421F-BFD4-0C43D92FA71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01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C09A7E37-3E64-47AD-9ADC-4BD16748D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2694643A-125A-4E28-A1E6-1B4FDDA666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1BD65-F8FA-4A52-83BB-15A41D62605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129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391C5B43-3D44-4A5D-BB40-26F113E38E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2094C956-0F22-4D91-B62A-26663564D2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27BC2A-B44E-428B-AEA8-8263832F4D0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80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BC947A72-855F-404F-9E57-C8FFAA973E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F121E76E-222C-4DD0-B702-E2DEE761CE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2A2B28-A837-4F09-A412-25C69033758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3942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0B25BBF2-0F2C-4F7A-A9C7-E1BA50459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80CB4D2C-1260-4158-8D07-953D305F20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A4D7AA-CF94-4CB4-8067-A103C33FDCE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44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B6E36BF-FAC7-4094-AC32-501A1DB4DD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EB0E6CA6-653C-48AC-AC21-4339465C6A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007645-994F-4FCB-98D7-98AB5D665B4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04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46254852-8B45-4626-BCE8-A641E6889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DBE0E510-CD38-4382-89DE-C76584A1A7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A4D49-35CE-433F-B3DA-E28D9B2429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43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0D7007F0-B9D5-4051-892C-827B841066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D3B930A4-2CF8-45C1-83CE-984693168F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B64528-2ED6-4E97-AAD4-B32204247C8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3514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C712761A-9C89-4D5B-9404-D6576D290A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588E4D5C-8884-4A84-A016-83EEE4093C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009EE-504B-4EFB-84F0-AE82CAE01C3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36738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>
            <a:extLst>
              <a:ext uri="{FF2B5EF4-FFF2-40B4-BE49-F238E27FC236}">
                <a16:creationId xmlns:a16="http://schemas.microsoft.com/office/drawing/2014/main" id="{C3EC5D4F-7241-4D48-A4A7-0981C8FB188A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EBFA5783-58D9-4D35-9CD0-554773E52F0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4" name="Group 28">
              <a:extLst>
                <a:ext uri="{FF2B5EF4-FFF2-40B4-BE49-F238E27FC236}">
                  <a16:creationId xmlns:a16="http://schemas.microsoft.com/office/drawing/2014/main" id="{1739EB3B-E772-4FC7-BDBA-76ED5FAF22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5" name="Freeform 3">
                <a:extLst>
                  <a:ext uri="{FF2B5EF4-FFF2-40B4-BE49-F238E27FC236}">
                    <a16:creationId xmlns:a16="http://schemas.microsoft.com/office/drawing/2014/main" id="{E390AD0B-045C-45AF-B2EA-4FD6A867967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Line 4">
                <a:extLst>
                  <a:ext uri="{FF2B5EF4-FFF2-40B4-BE49-F238E27FC236}">
                    <a16:creationId xmlns:a16="http://schemas.microsoft.com/office/drawing/2014/main" id="{29DDE5CF-6ED8-4BEC-A2AB-A210289ACA4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5">
                <a:extLst>
                  <a:ext uri="{FF2B5EF4-FFF2-40B4-BE49-F238E27FC236}">
                    <a16:creationId xmlns:a16="http://schemas.microsoft.com/office/drawing/2014/main" id="{EA4D0DE6-A17E-4CD0-909A-7835D04A2F2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Line 6">
                <a:extLst>
                  <a:ext uri="{FF2B5EF4-FFF2-40B4-BE49-F238E27FC236}">
                    <a16:creationId xmlns:a16="http://schemas.microsoft.com/office/drawing/2014/main" id="{B0C4E214-2BC7-4E89-9C34-E60765C9C33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9" name="Freeform 7">
                <a:extLst>
                  <a:ext uri="{FF2B5EF4-FFF2-40B4-BE49-F238E27FC236}">
                    <a16:creationId xmlns:a16="http://schemas.microsoft.com/office/drawing/2014/main" id="{4EBC01BC-C4AC-4FBE-A8D9-67FBD691B2C3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" name="Oval 8">
                <a:extLst>
                  <a:ext uri="{FF2B5EF4-FFF2-40B4-BE49-F238E27FC236}">
                    <a16:creationId xmlns:a16="http://schemas.microsoft.com/office/drawing/2014/main" id="{B5EFB3FB-0C0E-4A82-A156-B8549CFB8D8E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1" name="Group 27">
                <a:extLst>
                  <a:ext uri="{FF2B5EF4-FFF2-40B4-BE49-F238E27FC236}">
                    <a16:creationId xmlns:a16="http://schemas.microsoft.com/office/drawing/2014/main" id="{7DAA45A8-E4FF-4B83-876D-31C506D7FA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2" name="Freeform 9">
                  <a:extLst>
                    <a:ext uri="{FF2B5EF4-FFF2-40B4-BE49-F238E27FC236}">
                      <a16:creationId xmlns:a16="http://schemas.microsoft.com/office/drawing/2014/main" id="{10AF373A-5478-4732-8B93-C7FA2214DC0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0">
                  <a:extLst>
                    <a:ext uri="{FF2B5EF4-FFF2-40B4-BE49-F238E27FC236}">
                      <a16:creationId xmlns:a16="http://schemas.microsoft.com/office/drawing/2014/main" id="{18C3FF5F-1087-4A14-B05C-EF93FED535E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1">
                  <a:extLst>
                    <a:ext uri="{FF2B5EF4-FFF2-40B4-BE49-F238E27FC236}">
                      <a16:creationId xmlns:a16="http://schemas.microsoft.com/office/drawing/2014/main" id="{768B6B30-DD10-4951-9D6F-0FE59F9AEC7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2">
                  <a:extLst>
                    <a:ext uri="{FF2B5EF4-FFF2-40B4-BE49-F238E27FC236}">
                      <a16:creationId xmlns:a16="http://schemas.microsoft.com/office/drawing/2014/main" id="{F59CCDAA-0C06-4A12-A642-F7BE4F4AB7B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3">
                  <a:extLst>
                    <a:ext uri="{FF2B5EF4-FFF2-40B4-BE49-F238E27FC236}">
                      <a16:creationId xmlns:a16="http://schemas.microsoft.com/office/drawing/2014/main" id="{088C8B6F-F05E-44F8-9265-BBB3EDA55A4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4">
                  <a:extLst>
                    <a:ext uri="{FF2B5EF4-FFF2-40B4-BE49-F238E27FC236}">
                      <a16:creationId xmlns:a16="http://schemas.microsoft.com/office/drawing/2014/main" id="{E48D41F2-F24F-45D4-842F-BD116865DBE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5">
                  <a:extLst>
                    <a:ext uri="{FF2B5EF4-FFF2-40B4-BE49-F238E27FC236}">
                      <a16:creationId xmlns:a16="http://schemas.microsoft.com/office/drawing/2014/main" id="{6E3BF754-3A1F-40DB-A2B5-41FCE932A98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6">
                  <a:extLst>
                    <a:ext uri="{FF2B5EF4-FFF2-40B4-BE49-F238E27FC236}">
                      <a16:creationId xmlns:a16="http://schemas.microsoft.com/office/drawing/2014/main" id="{318B4698-4323-4853-8C17-9F1F9E9F3D4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7">
                  <a:extLst>
                    <a:ext uri="{FF2B5EF4-FFF2-40B4-BE49-F238E27FC236}">
                      <a16:creationId xmlns:a16="http://schemas.microsoft.com/office/drawing/2014/main" id="{28585D53-7679-4221-AB50-808FA417F75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8">
                  <a:extLst>
                    <a:ext uri="{FF2B5EF4-FFF2-40B4-BE49-F238E27FC236}">
                      <a16:creationId xmlns:a16="http://schemas.microsoft.com/office/drawing/2014/main" id="{CAEDA6BB-ABDC-44FF-B8F1-57AF8920E62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19">
                  <a:extLst>
                    <a:ext uri="{FF2B5EF4-FFF2-40B4-BE49-F238E27FC236}">
                      <a16:creationId xmlns:a16="http://schemas.microsoft.com/office/drawing/2014/main" id="{B52588C3-F7A7-4750-8958-9E46DC30128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0">
                  <a:extLst>
                    <a:ext uri="{FF2B5EF4-FFF2-40B4-BE49-F238E27FC236}">
                      <a16:creationId xmlns:a16="http://schemas.microsoft.com/office/drawing/2014/main" id="{1B242CA3-251C-49A8-9F8B-3C36D19DAF9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1">
                  <a:extLst>
                    <a:ext uri="{FF2B5EF4-FFF2-40B4-BE49-F238E27FC236}">
                      <a16:creationId xmlns:a16="http://schemas.microsoft.com/office/drawing/2014/main" id="{934A00C5-C8F2-4AB7-9F6D-983AF931C1B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2">
                  <a:extLst>
                    <a:ext uri="{FF2B5EF4-FFF2-40B4-BE49-F238E27FC236}">
                      <a16:creationId xmlns:a16="http://schemas.microsoft.com/office/drawing/2014/main" id="{56A807CD-D73B-4E85-BD9C-E48E63EFE8A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3">
                  <a:extLst>
                    <a:ext uri="{FF2B5EF4-FFF2-40B4-BE49-F238E27FC236}">
                      <a16:creationId xmlns:a16="http://schemas.microsoft.com/office/drawing/2014/main" id="{E7FCF25E-43F2-47F9-84CA-88DA94BC6C9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4">
                  <a:extLst>
                    <a:ext uri="{FF2B5EF4-FFF2-40B4-BE49-F238E27FC236}">
                      <a16:creationId xmlns:a16="http://schemas.microsoft.com/office/drawing/2014/main" id="{941BF1B0-B0FC-4B26-87D2-8E92F0B923B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" name="Freeform 25">
                  <a:extLst>
                    <a:ext uri="{FF2B5EF4-FFF2-40B4-BE49-F238E27FC236}">
                      <a16:creationId xmlns:a16="http://schemas.microsoft.com/office/drawing/2014/main" id="{58386E5A-8831-41BF-A518-26785185183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" name="Freeform 26">
                  <a:extLst>
                    <a:ext uri="{FF2B5EF4-FFF2-40B4-BE49-F238E27FC236}">
                      <a16:creationId xmlns:a16="http://schemas.microsoft.com/office/drawing/2014/main" id="{42A36C76-0897-4DBC-8C24-F1DE13438B1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>
            <a:extLst>
              <a:ext uri="{FF2B5EF4-FFF2-40B4-BE49-F238E27FC236}">
                <a16:creationId xmlns:a16="http://schemas.microsoft.com/office/drawing/2014/main" id="{0C33E6C5-337F-4255-A1DA-43C86CD19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1">
            <a:extLst>
              <a:ext uri="{FF2B5EF4-FFF2-40B4-BE49-F238E27FC236}">
                <a16:creationId xmlns:a16="http://schemas.microsoft.com/office/drawing/2014/main" id="{7299F587-A84B-44B9-8C48-AC1437FF5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039852B9-9585-4786-86B9-2B6A70406C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121C8707-69C6-4ACD-BD95-09F063A7B0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8009EE-504B-4EFB-84F0-AE82CAE01C3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31" name="Rectangle 35">
            <a:extLst>
              <a:ext uri="{FF2B5EF4-FFF2-40B4-BE49-F238E27FC236}">
                <a16:creationId xmlns:a16="http://schemas.microsoft.com/office/drawing/2014/main" id="{C1639140-DF82-447C-8940-97C93664B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B16DA2B3-3106-4A65-A620-A5451B6A9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AC703D-15C9-428A-8C4D-DE5F49AD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>
                <a:latin typeface="Arial" panose="020B0604020202020204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85102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dsanimation/AVLTree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TestAVLTree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example.pearsoncmg.com/html/AVLTre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71A28EE9-8F8A-4126-BE5C-FD72BE75E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676400"/>
            <a:ext cx="8534400" cy="1524000"/>
          </a:xfrm>
        </p:spPr>
        <p:txBody>
          <a:bodyPr/>
          <a:lstStyle/>
          <a:p>
            <a:r>
              <a:rPr lang="en-US" altLang="en-US"/>
              <a:t>Chapter 26 AVL Trees</a:t>
            </a:r>
          </a:p>
        </p:txBody>
      </p:sp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C930653E-6FF8-4A7C-B263-FAA6EC7F67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D767D7-BF6B-47D2-B914-6E566C07AB8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E7FC8BAB-0EA5-454D-AAF3-77AD65B1F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52450"/>
          </a:xfrm>
        </p:spPr>
        <p:txBody>
          <a:bodyPr/>
          <a:lstStyle/>
          <a:p>
            <a:r>
              <a:rPr lang="en-US" altLang="en-US"/>
              <a:t>Objectives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40D44CA-A307-4C1C-B16D-693E79E0E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638800"/>
          </a:xfrm>
        </p:spPr>
        <p:txBody>
          <a:bodyPr/>
          <a:lstStyle/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know what an AVL tree is (§26.1).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understand how to rebalance a tree using the LL rotation, LR rotation, RR rotation, and RL rotation (§26.2).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know how to design the AVLTree class (§26.3).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insert elements into an AVL tree (§26.4).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implement node rebalancing (§26.5).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delete elements from an AVL tree (§26.6).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implement the AVLTree class (§26.7).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test the AVLTree class (§26.8).</a:t>
            </a:r>
          </a:p>
          <a:p>
            <a:pPr marL="457200" indent="-284163">
              <a:lnSpc>
                <a:spcPct val="80000"/>
              </a:lnSpc>
            </a:pPr>
            <a:r>
              <a:rPr lang="en-US" altLang="en-US" sz="3000"/>
              <a:t>To analyze the complexity of search, insert, and delete operations in AVL trees (§26.9).</a:t>
            </a:r>
          </a:p>
        </p:txBody>
      </p:sp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7052ABF2-7302-4092-A9F6-104AC90635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2A6734-61CE-4C4E-A280-D7A80A240A6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855E91D6-463B-4DD8-BAFE-B19C65879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 dirty="0"/>
              <a:t>Why AVL Tree? </a:t>
            </a:r>
          </a:p>
        </p:txBody>
      </p:sp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46916F78-1840-4E1D-9959-7E30267404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464EE6-E407-4469-B2AE-441B6152589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002D12AD-926A-488A-B0F2-6349818F9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The search, insertion, and deletion time for a binary tree is dependent on the height of the tree.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In the worst case, the height is </a:t>
            </a:r>
            <a:r>
              <a:rPr lang="en-US" altLang="en-US" sz="2800" b="1" dirty="0"/>
              <a:t>O(n)</a:t>
            </a:r>
            <a:r>
              <a:rPr lang="en-US" altLang="en-US" sz="2800" dirty="0"/>
              <a:t>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If a tree is </a:t>
            </a:r>
            <a:r>
              <a:rPr lang="en-US" altLang="en-US" sz="2800" i="1" dirty="0"/>
              <a:t>perfectly balanced</a:t>
            </a:r>
            <a:r>
              <a:rPr lang="en-US" altLang="en-US" sz="2800" dirty="0"/>
              <a:t>, i.e., a complete binary tree, its height is </a:t>
            </a:r>
            <a:r>
              <a:rPr lang="en-US" altLang="en-US" sz="2800" b="1" dirty="0"/>
              <a:t>log n</a:t>
            </a:r>
            <a:r>
              <a:rPr lang="en-US" altLang="en-US" sz="2800" dirty="0"/>
              <a:t>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Can we maintain a perfectly balanced tree? Yes. But it will be costly to do so.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The compromise is to maintain a </a:t>
            </a:r>
            <a:r>
              <a:rPr lang="en-US" altLang="en-US" sz="2800" i="1" dirty="0"/>
              <a:t>well-balanced tree</a:t>
            </a:r>
            <a:r>
              <a:rPr lang="en-US" altLang="en-US" sz="2800" dirty="0"/>
              <a:t>, i.e., the heights of two subtrees for every node are about the same.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7D4206F0-4DD8-42EE-81CF-0B8560F08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What is an AVL Tree? </a:t>
            </a:r>
          </a:p>
        </p:txBody>
      </p:sp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6B54CC7A-B924-4850-B391-4A95C44CD1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3C0A32-5BC0-4569-AA05-DD782DEF649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8EB994B8-47A6-4015-A9C1-11697DF0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571500" indent="-5715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3600" b="1" dirty="0">
                <a:highlight>
                  <a:srgbClr val="FFFF00"/>
                </a:highlight>
              </a:rPr>
              <a:t>AVL trees</a:t>
            </a:r>
            <a:r>
              <a:rPr lang="en-US" altLang="en-US" sz="3600" dirty="0">
                <a:highlight>
                  <a:srgbClr val="FFFF00"/>
                </a:highlight>
              </a:rPr>
              <a:t> are well-balanced</a:t>
            </a:r>
            <a:r>
              <a:rPr lang="en-US" altLang="en-US" sz="3600" dirty="0"/>
              <a:t>. </a:t>
            </a:r>
          </a:p>
          <a:p>
            <a:pPr marL="571500" indent="-5715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3600" dirty="0"/>
              <a:t>AVL trees were invented by two Russian computer scientists G. M. Adelson-</a:t>
            </a:r>
            <a:r>
              <a:rPr lang="en-US" altLang="en-US" sz="3600" dirty="0" err="1"/>
              <a:t>Velsky</a:t>
            </a:r>
            <a:r>
              <a:rPr lang="en-US" altLang="en-US" sz="3600" dirty="0"/>
              <a:t> and E. M. Landis in 1962. </a:t>
            </a:r>
          </a:p>
          <a:p>
            <a:pPr marL="571500" indent="-5715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3600" dirty="0"/>
              <a:t>In an AVL tree, </a:t>
            </a:r>
            <a:r>
              <a:rPr lang="en-US" altLang="en-US" sz="3600" dirty="0">
                <a:highlight>
                  <a:srgbClr val="FFFF00"/>
                </a:highlight>
              </a:rPr>
              <a:t>the difference between the heights of two subtrees for every node is </a:t>
            </a:r>
            <a:r>
              <a:rPr lang="en-US" altLang="en-US" sz="3600" u="sng" dirty="0">
                <a:highlight>
                  <a:srgbClr val="FFFF00"/>
                </a:highlight>
              </a:rPr>
              <a:t>0</a:t>
            </a:r>
            <a:r>
              <a:rPr lang="en-US" altLang="en-US" sz="3600" dirty="0">
                <a:highlight>
                  <a:srgbClr val="FFFF00"/>
                </a:highlight>
              </a:rPr>
              <a:t> or </a:t>
            </a:r>
            <a:r>
              <a:rPr lang="en-US" altLang="en-US" sz="3600" u="sng" dirty="0">
                <a:highlight>
                  <a:srgbClr val="FFFF00"/>
                </a:highlight>
              </a:rPr>
              <a:t>1</a:t>
            </a:r>
            <a:r>
              <a:rPr lang="en-US" altLang="en-US" sz="3600" dirty="0">
                <a:highlight>
                  <a:srgbClr val="FFFF00"/>
                </a:highlight>
              </a:rPr>
              <a:t>. </a:t>
            </a:r>
          </a:p>
          <a:p>
            <a:pPr marL="571500" indent="-5715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3600" dirty="0"/>
              <a:t>It can be </a:t>
            </a:r>
            <a:r>
              <a:rPr lang="en-US" altLang="en-US" sz="3600" dirty="0">
                <a:highlight>
                  <a:srgbClr val="FFFF00"/>
                </a:highlight>
              </a:rPr>
              <a:t>shown that the maximum height of an AVL tree is </a:t>
            </a:r>
            <a:r>
              <a:rPr lang="en-US" altLang="en-US" sz="3600" b="1" dirty="0">
                <a:highlight>
                  <a:srgbClr val="FFFF00"/>
                </a:highlight>
              </a:rPr>
              <a:t>O(</a:t>
            </a:r>
            <a:r>
              <a:rPr lang="en-US" altLang="en-US" sz="3600" b="1" dirty="0" err="1">
                <a:highlight>
                  <a:srgbClr val="FFFF00"/>
                </a:highlight>
              </a:rPr>
              <a:t>logn</a:t>
            </a:r>
            <a:r>
              <a:rPr lang="en-US" altLang="en-US" sz="3600" b="1" dirty="0">
                <a:highlight>
                  <a:srgbClr val="FFFF00"/>
                </a:highlight>
              </a:rPr>
              <a:t>)</a:t>
            </a:r>
            <a:r>
              <a:rPr lang="en-US" altLang="en-US" sz="3600" dirty="0">
                <a:highlight>
                  <a:srgbClr val="FFFF00"/>
                </a:highlight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D6A6FD47-E9EB-4873-B2FA-2DE83529E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 altLang="en-US"/>
              <a:t>AVL Tree Animation</a:t>
            </a:r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6ABB50DC-9ABC-45D8-8E35-2AD951668E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CCAE91-1B51-48A8-B75A-48DB5F4BF4E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D03C23FD-DA57-4F3E-8994-46BFA184F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r>
              <a:rPr lang="en-US" altLang="en-US" sz="2400">
                <a:cs typeface="Courier New" panose="02070309020205020404" pitchFamily="49" charset="0"/>
              </a:rPr>
              <a:t>https://liveexample.pearsoncmg.com/dsanimation/AVLTree.html</a:t>
            </a:r>
          </a:p>
        </p:txBody>
      </p:sp>
      <p:pic>
        <p:nvPicPr>
          <p:cNvPr id="8207" name="Picture 19">
            <a:extLst>
              <a:ext uri="{FF2B5EF4-FFF2-40B4-BE49-F238E27FC236}">
                <a16:creationId xmlns:a16="http://schemas.microsoft.com/office/drawing/2014/main" id="{893556E5-58E3-4B10-99A7-7140AF385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2155825"/>
            <a:ext cx="85344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8" name="AutoShape 19">
            <a:hlinkClick r:id="rId3" highlightClick="1"/>
            <a:extLst>
              <a:ext uri="{FF2B5EF4-FFF2-40B4-BE49-F238E27FC236}">
                <a16:creationId xmlns:a16="http://schemas.microsoft.com/office/drawing/2014/main" id="{123ED80E-9483-4D22-BCCD-CFC0A4E08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8431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758732DE-12AF-4908-9CCF-1E672F679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lang="en-US" altLang="en-US" sz="3600"/>
              <a:t>Balance Factor/Left-Heavy/Right-Heavy</a:t>
            </a:r>
            <a:r>
              <a:rPr lang="en-US" altLang="en-US"/>
              <a:t> </a:t>
            </a:r>
          </a:p>
        </p:txBody>
      </p:sp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883492BA-CE30-49E7-A5E8-4D7E92F7E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8B3740-FE29-4367-B5DD-47044B79805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9223" name="Text Box 9">
            <a:extLst>
              <a:ext uri="{FF2B5EF4-FFF2-40B4-BE49-F238E27FC236}">
                <a16:creationId xmlns:a16="http://schemas.microsoft.com/office/drawing/2014/main" id="{24E870D0-B7BC-48F0-822B-4DD0DC35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The process for inserting or deleting an element in an AVL tree is the same as in a regular binary search tree.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The difference is that you may have to rebalance the tree after an insertion or deletion operation.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The </a:t>
            </a:r>
            <a:r>
              <a:rPr lang="en-US" altLang="en-US" sz="2800" b="1" dirty="0"/>
              <a:t>balance factor </a:t>
            </a:r>
            <a:r>
              <a:rPr lang="en-US" altLang="en-US" sz="2800" dirty="0"/>
              <a:t>of a node is the height of its right subtree minus the height of its left subtree.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>
                <a:highlight>
                  <a:srgbClr val="FFFF00"/>
                </a:highlight>
              </a:rPr>
              <a:t>A node is said to be </a:t>
            </a:r>
            <a:r>
              <a:rPr lang="en-US" altLang="en-US" sz="2800" b="1" dirty="0">
                <a:highlight>
                  <a:srgbClr val="FFFF00"/>
                </a:highlight>
              </a:rPr>
              <a:t>balanced</a:t>
            </a:r>
            <a:r>
              <a:rPr lang="en-US" altLang="en-US" sz="2800" dirty="0">
                <a:highlight>
                  <a:srgbClr val="FFFF00"/>
                </a:highlight>
              </a:rPr>
              <a:t> if its balance factor is -1, 0, or 1.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>
                <a:highlight>
                  <a:srgbClr val="FFFF00"/>
                </a:highlight>
              </a:rPr>
              <a:t>A node is said to be </a:t>
            </a:r>
            <a:r>
              <a:rPr lang="en-US" altLang="en-US" sz="2800" b="1" dirty="0">
                <a:highlight>
                  <a:srgbClr val="FFFF00"/>
                </a:highlight>
              </a:rPr>
              <a:t>left-heavy</a:t>
            </a:r>
            <a:r>
              <a:rPr lang="en-US" altLang="en-US" sz="2800" dirty="0">
                <a:highlight>
                  <a:srgbClr val="FFFF00"/>
                </a:highlight>
              </a:rPr>
              <a:t> if its balance factor is -1.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>
                <a:highlight>
                  <a:srgbClr val="FFFF00"/>
                </a:highlight>
              </a:rPr>
              <a:t>A node is said to be </a:t>
            </a:r>
            <a:r>
              <a:rPr lang="en-US" altLang="en-US" sz="2800" b="1" dirty="0">
                <a:highlight>
                  <a:srgbClr val="FFFF00"/>
                </a:highlight>
              </a:rPr>
              <a:t>right-heavy</a:t>
            </a:r>
            <a:r>
              <a:rPr lang="en-US" altLang="en-US" sz="2800" dirty="0">
                <a:highlight>
                  <a:srgbClr val="FFFF00"/>
                </a:highlight>
              </a:rPr>
              <a:t> if its balance factor is +1.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1D28A4EB-BB8C-46D7-98CF-8527096E4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lang="en-US" altLang="en-US" sz="3600"/>
              <a:t>Balancing Trees</a:t>
            </a:r>
            <a:r>
              <a:rPr lang="en-US" altLang="en-US"/>
              <a:t> </a:t>
            </a:r>
          </a:p>
        </p:txBody>
      </p:sp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47B7C0BA-B032-4B66-B195-D28EE18726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BF18CE-ED64-4413-BB5D-7DB16439925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0247" name="Text Box 6">
            <a:extLst>
              <a:ext uri="{FF2B5EF4-FFF2-40B4-BE49-F238E27FC236}">
                <a16:creationId xmlns:a16="http://schemas.microsoft.com/office/drawing/2014/main" id="{C71B6942-927F-49B4-91EB-09170BF95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If a node is not balanced after an insertion or deletion operation, you need to rebalance it.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The process of rebalancing a node is called a </a:t>
            </a:r>
            <a:r>
              <a:rPr lang="en-US" altLang="en-US" sz="2800" b="1" dirty="0"/>
              <a:t>rotation</a:t>
            </a:r>
            <a:r>
              <a:rPr lang="en-US" altLang="en-US" sz="2800" dirty="0"/>
              <a:t>. 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dirty="0"/>
              <a:t>There are four possible rotations.</a:t>
            </a:r>
            <a:r>
              <a:rPr lang="en-US" altLang="en-US" sz="2400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BCAAB652-CA40-4FDA-8CBB-4A063E3D1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lang="en-US" altLang="en-US"/>
              <a:t>LL imbalance and LL rotation  </a:t>
            </a:r>
          </a:p>
        </p:txBody>
      </p:sp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2221A12D-DC76-4E88-A215-F7B64C8E6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35A379-186B-47DE-A028-FA7C9FF1F20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1271" name="Text Box 6">
            <a:extLst>
              <a:ext uri="{FF2B5EF4-FFF2-40B4-BE49-F238E27FC236}">
                <a16:creationId xmlns:a16="http://schemas.microsoft.com/office/drawing/2014/main" id="{8B813C2D-B7DA-496E-A43E-EB61A6AF7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/>
              <a:t>LL Rotation</a:t>
            </a:r>
            <a:r>
              <a:rPr lang="en-US" altLang="en-US" sz="2400" dirty="0"/>
              <a:t>: An </a:t>
            </a:r>
            <a:r>
              <a:rPr lang="en-US" altLang="en-US" sz="2400" b="1" dirty="0"/>
              <a:t>LL imbalance</a:t>
            </a:r>
            <a:r>
              <a:rPr lang="en-US" altLang="en-US" sz="2400" dirty="0"/>
              <a:t> occurs at a node A such that A has a balance factor -2 and a left child B with a balance factor -1 or 0. This type of imbalance can be fixed by performing a single right rotation at A.</a:t>
            </a:r>
          </a:p>
        </p:txBody>
      </p:sp>
      <p:graphicFrame>
        <p:nvGraphicFramePr>
          <p:cNvPr id="11273" name="Object 8">
            <a:extLst>
              <a:ext uri="{FF2B5EF4-FFF2-40B4-BE49-F238E27FC236}">
                <a16:creationId xmlns:a16="http://schemas.microsoft.com/office/drawing/2014/main" id="{645C6347-7262-4144-A222-B3C221D7C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739027"/>
              </p:ext>
            </p:extLst>
          </p:nvPr>
        </p:nvGraphicFramePr>
        <p:xfrm>
          <a:off x="685800" y="3124200"/>
          <a:ext cx="4343400" cy="314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867303" imgH="2084619" progId="Word.Picture.8">
                  <p:embed/>
                </p:oleObj>
              </mc:Choice>
              <mc:Fallback>
                <p:oleObj name="Picture" r:id="rId2" imgW="2867303" imgH="2084619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24200"/>
                        <a:ext cx="4343400" cy="314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0">
            <a:extLst>
              <a:ext uri="{FF2B5EF4-FFF2-40B4-BE49-F238E27FC236}">
                <a16:creationId xmlns:a16="http://schemas.microsoft.com/office/drawing/2014/main" id="{6772DCAD-1B2A-4704-8D73-E971E5457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620090"/>
              </p:ext>
            </p:extLst>
          </p:nvPr>
        </p:nvGraphicFramePr>
        <p:xfrm>
          <a:off x="5029200" y="3124200"/>
          <a:ext cx="3336925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2225040" imgH="2080260" progId="Word.Picture.8">
                  <p:embed/>
                </p:oleObj>
              </mc:Choice>
              <mc:Fallback>
                <p:oleObj name="Picture" r:id="rId4" imgW="2225040" imgH="2080260" progId="Word.Picture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24200"/>
                        <a:ext cx="3336925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C33F057A-93D7-4906-9654-4DAF2C99F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85750"/>
            <a:ext cx="8686800" cy="704850"/>
          </a:xfrm>
        </p:spPr>
        <p:txBody>
          <a:bodyPr/>
          <a:lstStyle/>
          <a:p>
            <a:r>
              <a:rPr lang="en-US" altLang="en-US"/>
              <a:t>RR imbalance and RR rotation  </a:t>
            </a:r>
          </a:p>
        </p:txBody>
      </p:sp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6CE6822F-7D92-4EF3-906E-1F933FC41C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1BAD44-990D-4FEF-A094-5761BDEFA43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2295" name="Text Box 6">
            <a:extLst>
              <a:ext uri="{FF2B5EF4-FFF2-40B4-BE49-F238E27FC236}">
                <a16:creationId xmlns:a16="http://schemas.microsoft.com/office/drawing/2014/main" id="{911FD4EF-1874-4FC1-8B88-7AA79B5C6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8610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/>
              <a:t>RR Rotation</a:t>
            </a:r>
            <a:r>
              <a:rPr lang="en-US" altLang="en-US" sz="2400" dirty="0"/>
              <a:t>: An </a:t>
            </a:r>
            <a:r>
              <a:rPr lang="en-US" altLang="en-US" sz="2400" b="1" dirty="0"/>
              <a:t>RR imbalance </a:t>
            </a:r>
            <a:r>
              <a:rPr lang="en-US" altLang="en-US" sz="2400" dirty="0"/>
              <a:t>occurs at a node A such that A has a balance factor +2 and a right child B with a balance factor +1 or 0. This type of imbalance can be fixed by performing a single left rotation at A.</a:t>
            </a:r>
          </a:p>
        </p:txBody>
      </p:sp>
      <p:graphicFrame>
        <p:nvGraphicFramePr>
          <p:cNvPr id="12299" name="Object 11">
            <a:extLst>
              <a:ext uri="{FF2B5EF4-FFF2-40B4-BE49-F238E27FC236}">
                <a16:creationId xmlns:a16="http://schemas.microsoft.com/office/drawing/2014/main" id="{3710E604-6EFE-443A-9D22-48452C6A7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492521"/>
              </p:ext>
            </p:extLst>
          </p:nvPr>
        </p:nvGraphicFramePr>
        <p:xfrm>
          <a:off x="609600" y="3048000"/>
          <a:ext cx="4572000" cy="321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031758" imgH="2135630" progId="Word.Picture.8">
                  <p:embed/>
                </p:oleObj>
              </mc:Choice>
              <mc:Fallback>
                <p:oleObj name="Picture" r:id="rId2" imgW="3031758" imgH="2135630" progId="Word.Picture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48000"/>
                        <a:ext cx="4572000" cy="321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>
            <a:extLst>
              <a:ext uri="{FF2B5EF4-FFF2-40B4-BE49-F238E27FC236}">
                <a16:creationId xmlns:a16="http://schemas.microsoft.com/office/drawing/2014/main" id="{69CCB4FF-BE74-4A41-B1DE-BE060190D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906081"/>
              </p:ext>
            </p:extLst>
          </p:nvPr>
        </p:nvGraphicFramePr>
        <p:xfrm>
          <a:off x="5181600" y="3048000"/>
          <a:ext cx="314325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2097024" imgH="2132076" progId="Word.Picture.8">
                  <p:embed/>
                </p:oleObj>
              </mc:Choice>
              <mc:Fallback>
                <p:oleObj name="Picture" r:id="rId4" imgW="2097024" imgH="2132076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048000"/>
                        <a:ext cx="314325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A319B2E9-6A91-4D29-A752-1AB8F0250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85750"/>
            <a:ext cx="8686800" cy="552450"/>
          </a:xfrm>
        </p:spPr>
        <p:txBody>
          <a:bodyPr/>
          <a:lstStyle/>
          <a:p>
            <a:r>
              <a:rPr lang="en-US" altLang="en-US"/>
              <a:t>LR imbalance and LR rotation  </a:t>
            </a:r>
          </a:p>
        </p:txBody>
      </p:sp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4261B8B8-3332-4B89-9DAB-7A747EEA75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B42BE5-D98B-436F-BD6F-3D76021DFAE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500D511C-8100-467E-B744-849F469C0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86106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/>
              <a:t>LR Rotation</a:t>
            </a:r>
            <a:r>
              <a:rPr lang="en-US" altLang="en-US" sz="2400" dirty="0"/>
              <a:t>: An </a:t>
            </a:r>
            <a:r>
              <a:rPr lang="en-US" altLang="en-US" sz="2400" b="1" dirty="0"/>
              <a:t>LR imbalance </a:t>
            </a:r>
            <a:r>
              <a:rPr lang="en-US" altLang="en-US" sz="2400" dirty="0"/>
              <a:t>occurs at a node A such that A has a balance factor -2 and a left child B with a balance </a:t>
            </a:r>
            <a:r>
              <a:rPr lang="en-US" altLang="en-US" sz="2400"/>
              <a:t>factor 1 or 0. </a:t>
            </a:r>
            <a:r>
              <a:rPr lang="en-US" altLang="en-US" sz="2400" dirty="0"/>
              <a:t>Assume B’s right child is C. This type of imbalance can be fixed by performing a double rotation (first a single left rotation at B and then a single right rotation at A). </a:t>
            </a:r>
          </a:p>
        </p:txBody>
      </p:sp>
      <p:graphicFrame>
        <p:nvGraphicFramePr>
          <p:cNvPr id="13324" name="Object 13">
            <a:extLst>
              <a:ext uri="{FF2B5EF4-FFF2-40B4-BE49-F238E27FC236}">
                <a16:creationId xmlns:a16="http://schemas.microsoft.com/office/drawing/2014/main" id="{A65EB63A-7258-4D29-90DD-4ED8FF4BB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640158"/>
              </p:ext>
            </p:extLst>
          </p:nvPr>
        </p:nvGraphicFramePr>
        <p:xfrm>
          <a:off x="685800" y="3276600"/>
          <a:ext cx="3962400" cy="310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727211" imgH="2135630" progId="Word.Picture.8">
                  <p:embed/>
                </p:oleObj>
              </mc:Choice>
              <mc:Fallback>
                <p:oleObj name="Picture" r:id="rId2" imgW="2727211" imgH="2135630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3962400" cy="310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15">
            <a:extLst>
              <a:ext uri="{FF2B5EF4-FFF2-40B4-BE49-F238E27FC236}">
                <a16:creationId xmlns:a16="http://schemas.microsoft.com/office/drawing/2014/main" id="{187596CA-1049-4E8B-AB49-B7360E190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688064"/>
              </p:ext>
            </p:extLst>
          </p:nvPr>
        </p:nvGraphicFramePr>
        <p:xfrm>
          <a:off x="4648200" y="3276600"/>
          <a:ext cx="3733800" cy="309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2689143" imgH="2224710" progId="Word.Picture.8">
                  <p:embed/>
                </p:oleObj>
              </mc:Choice>
              <mc:Fallback>
                <p:oleObj name="Picture" r:id="rId4" imgW="2689143" imgH="2224710" progId="Word.Picture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276600"/>
                        <a:ext cx="3733800" cy="309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34BCF244-7362-4937-8F71-105A37EE1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 altLang="en-US"/>
              <a:t>RL imbalance and RL rotation  </a:t>
            </a:r>
          </a:p>
        </p:txBody>
      </p:sp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25B4F228-5D26-4765-9AA1-8F9A9511FE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10C8B8-FDB7-4C32-A2EF-48F2E512BA5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97046AC0-8917-428F-B4DD-24E63BE0E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/>
              <a:t>RL Rotation</a:t>
            </a:r>
            <a:r>
              <a:rPr lang="en-US" altLang="en-US" sz="2400" dirty="0"/>
              <a:t>: An </a:t>
            </a:r>
            <a:r>
              <a:rPr lang="en-US" altLang="en-US" sz="2400" i="1" dirty="0"/>
              <a:t>RL imbalance</a:t>
            </a:r>
            <a:r>
              <a:rPr lang="en-US" altLang="en-US" sz="2400" dirty="0"/>
              <a:t> occurs at a node A such that A has a balance factor +2 and a right child B with a balance factor -1. Assume B’s left child is C. This type of imbalance can be fixed by performing a double rotation (first a single right rotation at B and then a single left rotation at A).</a:t>
            </a:r>
          </a:p>
        </p:txBody>
      </p:sp>
      <p:graphicFrame>
        <p:nvGraphicFramePr>
          <p:cNvPr id="14350" name="Object 14">
            <a:extLst>
              <a:ext uri="{FF2B5EF4-FFF2-40B4-BE49-F238E27FC236}">
                <a16:creationId xmlns:a16="http://schemas.microsoft.com/office/drawing/2014/main" id="{BA658045-27B7-4AC5-BC9D-BC5733C2F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7895"/>
              </p:ext>
            </p:extLst>
          </p:nvPr>
        </p:nvGraphicFramePr>
        <p:xfrm>
          <a:off x="609600" y="3276600"/>
          <a:ext cx="4114800" cy="315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778223" imgH="2135630" progId="Word.Picture.8">
                  <p:embed/>
                </p:oleObj>
              </mc:Choice>
              <mc:Fallback>
                <p:oleObj name="Picture" r:id="rId2" imgW="2778223" imgH="2135630" progId="Word.Picture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76600"/>
                        <a:ext cx="4114800" cy="315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6">
            <a:extLst>
              <a:ext uri="{FF2B5EF4-FFF2-40B4-BE49-F238E27FC236}">
                <a16:creationId xmlns:a16="http://schemas.microsoft.com/office/drawing/2014/main" id="{C33714DB-525F-4459-963B-0FD6ECFD6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662902"/>
              </p:ext>
            </p:extLst>
          </p:nvPr>
        </p:nvGraphicFramePr>
        <p:xfrm>
          <a:off x="4724400" y="3276600"/>
          <a:ext cx="3810000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2689143" imgH="2224710" progId="Word.Picture.8">
                  <p:embed/>
                </p:oleObj>
              </mc:Choice>
              <mc:Fallback>
                <p:oleObj name="Picture" r:id="rId4" imgW="2689143" imgH="2224710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276600"/>
                        <a:ext cx="3810000" cy="315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3">
            <a:extLst>
              <a:ext uri="{FF2B5EF4-FFF2-40B4-BE49-F238E27FC236}">
                <a16:creationId xmlns:a16="http://schemas.microsoft.com/office/drawing/2014/main" id="{B1906D47-3BB8-415C-9A51-392F5FD3B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82750"/>
            <a:ext cx="7467600" cy="482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5364" name="Rectangle 2">
            <a:extLst>
              <a:ext uri="{FF2B5EF4-FFF2-40B4-BE49-F238E27FC236}">
                <a16:creationId xmlns:a16="http://schemas.microsoft.com/office/drawing/2014/main" id="{D3DD22D5-BD9D-41C1-9265-037F6FCDB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 altLang="en-US"/>
              <a:t>Designing Classes for AVL Trees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69762D21-E785-4CCE-BD1B-8AA9659163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3DE56C-DBDF-4FC9-90BE-389D9C4A2CD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5368" name="Text Box 6">
            <a:extLst>
              <a:ext uri="{FF2B5EF4-FFF2-40B4-BE49-F238E27FC236}">
                <a16:creationId xmlns:a16="http://schemas.microsoft.com/office/drawing/2014/main" id="{3A144937-F358-466D-9F8E-BE07F9EF1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An AVL tree is a binary tree. So, you can define the </a:t>
            </a:r>
            <a:r>
              <a:rPr lang="en-US" altLang="en-US" sz="2400" dirty="0" err="1"/>
              <a:t>AVLTree</a:t>
            </a:r>
            <a:r>
              <a:rPr lang="en-US" altLang="en-US" sz="2400" dirty="0"/>
              <a:t> class to extend the BST class. </a:t>
            </a:r>
          </a:p>
        </p:txBody>
      </p:sp>
      <p:sp>
        <p:nvSpPr>
          <p:cNvPr id="15378" name="Rectangle 23">
            <a:hlinkClick r:id="rId3"/>
            <a:extLst>
              <a:ext uri="{FF2B5EF4-FFF2-40B4-BE49-F238E27FC236}">
                <a16:creationId xmlns:a16="http://schemas.microsoft.com/office/drawing/2014/main" id="{D1A1CF61-2D06-453D-A6AB-76AFE1B25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5486400"/>
            <a:ext cx="1536700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TestAVLTree</a:t>
            </a:r>
          </a:p>
        </p:txBody>
      </p:sp>
      <p:sp>
        <p:nvSpPr>
          <p:cNvPr id="15379" name="Rectangle 25">
            <a:hlinkClick r:id="rId4"/>
            <a:extLst>
              <a:ext uri="{FF2B5EF4-FFF2-40B4-BE49-F238E27FC236}">
                <a16:creationId xmlns:a16="http://schemas.microsoft.com/office/drawing/2014/main" id="{A9E102E7-B33D-4F12-A495-1F3775439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600200"/>
            <a:ext cx="1400175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AVLTree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ti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25 - Binary Search Trees</Template>
  <TotalTime>19069</TotalTime>
  <Words>757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Courier New</vt:lpstr>
      <vt:lpstr>Monotype Sorts</vt:lpstr>
      <vt:lpstr>Times New Roman</vt:lpstr>
      <vt:lpstr>Wingdings</vt:lpstr>
      <vt:lpstr>International</vt:lpstr>
      <vt:lpstr>Picture</vt:lpstr>
      <vt:lpstr>Chapter 26 AVL Trees</vt:lpstr>
      <vt:lpstr>Objectives</vt:lpstr>
      <vt:lpstr>Why AVL Tree? </vt:lpstr>
      <vt:lpstr>What is an AVL Tree? </vt:lpstr>
      <vt:lpstr>AVL Tree Animation</vt:lpstr>
      <vt:lpstr>Balance Factor/Left-Heavy/Right-Heavy </vt:lpstr>
      <vt:lpstr>Balancing Trees </vt:lpstr>
      <vt:lpstr>LL imbalance and LL rotation  </vt:lpstr>
      <vt:lpstr>RR imbalance and RR rotation  </vt:lpstr>
      <vt:lpstr>LR imbalance and LR rotation  </vt:lpstr>
      <vt:lpstr>RL imbalance and RL rotation  </vt:lpstr>
      <vt:lpstr>Designing Classes for AVL 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Objects and Classes</dc:title>
  <dc:creator>Y. Daniel Liang</dc:creator>
  <cp:lastModifiedBy>Nguyen, Phuong Tran Lan</cp:lastModifiedBy>
  <cp:revision>238</cp:revision>
  <dcterms:created xsi:type="dcterms:W3CDTF">1995-06-10T17:31:50Z</dcterms:created>
  <dcterms:modified xsi:type="dcterms:W3CDTF">2025-11-13T16:29:42Z</dcterms:modified>
</cp:coreProperties>
</file>