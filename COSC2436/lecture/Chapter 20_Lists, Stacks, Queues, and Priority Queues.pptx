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8"/>
  </p:notesMasterIdLst>
  <p:handoutMasterIdLst>
    <p:handoutMasterId r:id="rId59"/>
  </p:handoutMasterIdLst>
  <p:sldIdLst>
    <p:sldId id="438" r:id="rId2"/>
    <p:sldId id="488" r:id="rId3"/>
    <p:sldId id="440" r:id="rId4"/>
    <p:sldId id="505" r:id="rId5"/>
    <p:sldId id="441" r:id="rId6"/>
    <p:sldId id="443" r:id="rId7"/>
    <p:sldId id="476" r:id="rId8"/>
    <p:sldId id="517" r:id="rId9"/>
    <p:sldId id="552" r:id="rId10"/>
    <p:sldId id="516" r:id="rId11"/>
    <p:sldId id="513" r:id="rId12"/>
    <p:sldId id="508" r:id="rId13"/>
    <p:sldId id="514" r:id="rId14"/>
    <p:sldId id="507" r:id="rId15"/>
    <p:sldId id="454" r:id="rId16"/>
    <p:sldId id="455" r:id="rId17"/>
    <p:sldId id="550" r:id="rId18"/>
    <p:sldId id="551" r:id="rId19"/>
    <p:sldId id="460" r:id="rId20"/>
    <p:sldId id="518" r:id="rId21"/>
    <p:sldId id="519" r:id="rId22"/>
    <p:sldId id="484" r:id="rId23"/>
    <p:sldId id="520" r:id="rId24"/>
    <p:sldId id="548" r:id="rId25"/>
    <p:sldId id="549" r:id="rId26"/>
    <p:sldId id="521" r:id="rId27"/>
    <p:sldId id="525" r:id="rId28"/>
    <p:sldId id="494" r:id="rId29"/>
    <p:sldId id="522" r:id="rId30"/>
    <p:sldId id="458" r:id="rId31"/>
    <p:sldId id="515" r:id="rId32"/>
    <p:sldId id="453" r:id="rId33"/>
    <p:sldId id="477" r:id="rId34"/>
    <p:sldId id="510" r:id="rId35"/>
    <p:sldId id="506" r:id="rId36"/>
    <p:sldId id="509" r:id="rId37"/>
    <p:sldId id="511" r:id="rId38"/>
    <p:sldId id="512" r:id="rId39"/>
    <p:sldId id="467" r:id="rId40"/>
    <p:sldId id="486" r:id="rId41"/>
    <p:sldId id="461" r:id="rId42"/>
    <p:sldId id="462" r:id="rId43"/>
    <p:sldId id="463" r:id="rId44"/>
    <p:sldId id="465" r:id="rId45"/>
    <p:sldId id="523" r:id="rId46"/>
    <p:sldId id="545" r:id="rId47"/>
    <p:sldId id="524" r:id="rId48"/>
    <p:sldId id="500" r:id="rId49"/>
    <p:sldId id="526" r:id="rId50"/>
    <p:sldId id="495" r:id="rId51"/>
    <p:sldId id="496" r:id="rId52"/>
    <p:sldId id="547" r:id="rId53"/>
    <p:sldId id="504" r:id="rId54"/>
    <p:sldId id="501" r:id="rId55"/>
    <p:sldId id="502" r:id="rId56"/>
    <p:sldId id="503" r:id="rId5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40961-E064-2F07-E0B6-DFF874EBBE68}" v="55" dt="2023-09-07T14:14:54.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132" autoAdjust="0"/>
    <p:restoredTop sz="94670" autoAdjust="0"/>
  </p:normalViewPr>
  <p:slideViewPr>
    <p:cSldViewPr>
      <p:cViewPr varScale="1">
        <p:scale>
          <a:sx n="50" d="100"/>
          <a:sy n="50" d="100"/>
        </p:scale>
        <p:origin x="30" y="498"/>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696"/>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andra Toler" userId="S::clt8412@dcccd.edu::0e4f3232-aab9-43ef-a1e3-8ae7c077ad25" providerId="AD" clId="Web-{26C40961-E064-2F07-E0B6-DFF874EBBE68}"/>
    <pc:docChg chg="modSld">
      <pc:chgData name="Casandra Toler" userId="S::clt8412@dcccd.edu::0e4f3232-aab9-43ef-a1e3-8ae7c077ad25" providerId="AD" clId="Web-{26C40961-E064-2F07-E0B6-DFF874EBBE68}" dt="2023-09-07T14:14:48.613" v="52" actId="20577"/>
      <pc:docMkLst>
        <pc:docMk/>
      </pc:docMkLst>
      <pc:sldChg chg="modSp">
        <pc:chgData name="Casandra Toler" userId="S::clt8412@dcccd.edu::0e4f3232-aab9-43ef-a1e3-8ae7c077ad25" providerId="AD" clId="Web-{26C40961-E064-2F07-E0B6-DFF874EBBE68}" dt="2023-09-07T13:43:34.831" v="5" actId="20577"/>
        <pc:sldMkLst>
          <pc:docMk/>
          <pc:sldMk cId="0" sldId="476"/>
        </pc:sldMkLst>
        <pc:spChg chg="mod">
          <ac:chgData name="Casandra Toler" userId="S::clt8412@dcccd.edu::0e4f3232-aab9-43ef-a1e3-8ae7c077ad25" providerId="AD" clId="Web-{26C40961-E064-2F07-E0B6-DFF874EBBE68}" dt="2023-09-07T13:43:34.831" v="5" actId="20577"/>
          <ac:spMkLst>
            <pc:docMk/>
            <pc:sldMk cId="0" sldId="476"/>
            <ac:spMk id="10245" creationId="{F4442C79-6ACC-4E94-978B-95D0BEB2EF34}"/>
          </ac:spMkLst>
        </pc:spChg>
      </pc:sldChg>
      <pc:sldChg chg="modSp">
        <pc:chgData name="Casandra Toler" userId="S::clt8412@dcccd.edu::0e4f3232-aab9-43ef-a1e3-8ae7c077ad25" providerId="AD" clId="Web-{26C40961-E064-2F07-E0B6-DFF874EBBE68}" dt="2023-09-07T13:45:02.678" v="29" actId="20577"/>
        <pc:sldMkLst>
          <pc:docMk/>
          <pc:sldMk cId="704258092" sldId="517"/>
        </pc:sldMkLst>
        <pc:spChg chg="mod">
          <ac:chgData name="Casandra Toler" userId="S::clt8412@dcccd.edu::0e4f3232-aab9-43ef-a1e3-8ae7c077ad25" providerId="AD" clId="Web-{26C40961-E064-2F07-E0B6-DFF874EBBE68}" dt="2023-09-07T13:45:02.678" v="29" actId="20577"/>
          <ac:spMkLst>
            <pc:docMk/>
            <pc:sldMk cId="704258092" sldId="517"/>
            <ac:spMk id="3" creationId="{F6FD2DAA-E21C-436C-9E42-D00F759598C6}"/>
          </ac:spMkLst>
        </pc:spChg>
      </pc:sldChg>
      <pc:sldChg chg="modSp">
        <pc:chgData name="Casandra Toler" userId="S::clt8412@dcccd.edu::0e4f3232-aab9-43ef-a1e3-8ae7c077ad25" providerId="AD" clId="Web-{26C40961-E064-2F07-E0B6-DFF874EBBE68}" dt="2023-09-07T14:14:48.613" v="52" actId="20577"/>
        <pc:sldMkLst>
          <pc:docMk/>
          <pc:sldMk cId="2052981261" sldId="551"/>
        </pc:sldMkLst>
        <pc:spChg chg="mod">
          <ac:chgData name="Casandra Toler" userId="S::clt8412@dcccd.edu::0e4f3232-aab9-43ef-a1e3-8ae7c077ad25" providerId="AD" clId="Web-{26C40961-E064-2F07-E0B6-DFF874EBBE68}" dt="2023-09-07T14:14:48.613" v="52" actId="20577"/>
          <ac:spMkLst>
            <pc:docMk/>
            <pc:sldMk cId="2052981261" sldId="551"/>
            <ac:spMk id="10245" creationId="{F4442C79-6ACC-4E94-978B-95D0BEB2EF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7D8601A-9610-4DB5-B1DF-60F50B5025A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D2B9765F-E146-47CD-BAC5-41AB0EE21AF2}"/>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076" name="Rectangle 4">
            <a:extLst>
              <a:ext uri="{FF2B5EF4-FFF2-40B4-BE49-F238E27FC236}">
                <a16:creationId xmlns:a16="http://schemas.microsoft.com/office/drawing/2014/main" id="{9E2D4195-91E0-4E41-B9FE-3869B0844C9E}"/>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5E20E5D7-6BEC-4A19-9920-635F6D54B2A6}"/>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934F8405-F5AB-4F04-8A1C-4F929BB8A112}"/>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D1A14C0A-B3B0-4F69-8AE5-F4B55E9C74EA}"/>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4E5877F8-366B-4A1B-AAE6-50AE7AD1FBE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dirty="0"/>
              <a:t>L</a:t>
            </a:r>
            <a:endParaRPr lang="vi-VN" dirty="0"/>
          </a:p>
        </p:txBody>
      </p:sp>
      <p:sp>
        <p:nvSpPr>
          <p:cNvPr id="4" name="Slide Number Placeholder 3"/>
          <p:cNvSpPr>
            <a:spLocks noGrp="1"/>
          </p:cNvSpPr>
          <p:nvPr>
            <p:ph type="sldNum" sz="quarter" idx="5"/>
          </p:nvPr>
        </p:nvSpPr>
        <p:spPr/>
        <p:txBody>
          <a:bodyPr/>
          <a:lstStyle/>
          <a:p>
            <a:fld id="{4E5877F8-366B-4A1B-AAE6-50AE7AD1FBEB}" type="slidenum">
              <a:rPr lang="en-US" altLang="en-US" smtClean="0"/>
              <a:pPr/>
              <a:t>8</a:t>
            </a:fld>
            <a:endParaRPr lang="en-US" altLang="en-US"/>
          </a:p>
        </p:txBody>
      </p:sp>
    </p:spTree>
    <p:extLst>
      <p:ext uri="{BB962C8B-B14F-4D97-AF65-F5344CB8AC3E}">
        <p14:creationId xmlns:p14="http://schemas.microsoft.com/office/powerpoint/2010/main" val="2579005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dirty="0" err="1"/>
              <a:t>ArrayList</a:t>
            </a:r>
            <a:r>
              <a:rPr lang="en-US" dirty="0"/>
              <a:t> </a:t>
            </a:r>
            <a:r>
              <a:rPr lang="en-US" dirty="0" err="1"/>
              <a:t>kiểu</a:t>
            </a:r>
            <a:r>
              <a:rPr lang="en-US" dirty="0"/>
              <a:t> access random </a:t>
            </a:r>
            <a:r>
              <a:rPr lang="en-US" dirty="0" err="1"/>
              <a:t>như</a:t>
            </a:r>
            <a:r>
              <a:rPr lang="en-US" dirty="0"/>
              <a:t> </a:t>
            </a:r>
            <a:r>
              <a:rPr lang="en-US" dirty="0" err="1"/>
              <a:t>arr</a:t>
            </a:r>
            <a:r>
              <a:rPr lang="en-US" dirty="0"/>
              <a:t>[index]</a:t>
            </a:r>
            <a:br>
              <a:rPr lang="en-US" dirty="0"/>
            </a:br>
            <a:r>
              <a:rPr lang="en-US" dirty="0" err="1"/>
              <a:t>Còn</a:t>
            </a:r>
            <a:r>
              <a:rPr lang="en-US" dirty="0"/>
              <a:t> LinkedList </a:t>
            </a:r>
            <a:r>
              <a:rPr lang="en-US" dirty="0" err="1"/>
              <a:t>thì</a:t>
            </a:r>
            <a:r>
              <a:rPr lang="en-US" dirty="0"/>
              <a:t> access </a:t>
            </a:r>
            <a:r>
              <a:rPr lang="en-US" dirty="0" err="1"/>
              <a:t>theo</a:t>
            </a:r>
            <a:r>
              <a:rPr lang="en-US" dirty="0"/>
              <a:t> </a:t>
            </a:r>
            <a:r>
              <a:rPr lang="en-US" dirty="0" err="1"/>
              <a:t>thứ</a:t>
            </a:r>
            <a:r>
              <a:rPr lang="en-US" dirty="0"/>
              <a:t> </a:t>
            </a:r>
            <a:r>
              <a:rPr lang="en-US" dirty="0" err="1"/>
              <a:t>tự</a:t>
            </a:r>
            <a:r>
              <a:rPr lang="en-US" dirty="0"/>
              <a:t> </a:t>
            </a:r>
            <a:r>
              <a:rPr lang="en-US" dirty="0" err="1"/>
              <a:t>từ</a:t>
            </a:r>
            <a:r>
              <a:rPr lang="en-US" dirty="0"/>
              <a:t> </a:t>
            </a:r>
            <a:r>
              <a:rPr lang="en-US" dirty="0" err="1"/>
              <a:t>đầu</a:t>
            </a:r>
            <a:r>
              <a:rPr lang="en-US" dirty="0"/>
              <a:t> </a:t>
            </a:r>
            <a:r>
              <a:rPr lang="en-US" dirty="0" err="1"/>
              <a:t>tới</a:t>
            </a:r>
            <a:r>
              <a:rPr lang="en-US" dirty="0"/>
              <a:t> </a:t>
            </a:r>
            <a:r>
              <a:rPr lang="en-US" dirty="0" err="1"/>
              <a:t>cuối</a:t>
            </a:r>
            <a:endParaRPr lang="vi-VN" dirty="0"/>
          </a:p>
        </p:txBody>
      </p:sp>
      <p:sp>
        <p:nvSpPr>
          <p:cNvPr id="4" name="Slide Number Placeholder 3"/>
          <p:cNvSpPr>
            <a:spLocks noGrp="1"/>
          </p:cNvSpPr>
          <p:nvPr>
            <p:ph type="sldNum" sz="quarter" idx="5"/>
          </p:nvPr>
        </p:nvSpPr>
        <p:spPr/>
        <p:txBody>
          <a:bodyPr/>
          <a:lstStyle/>
          <a:p>
            <a:fld id="{4E5877F8-366B-4A1B-AAE6-50AE7AD1FBEB}" type="slidenum">
              <a:rPr lang="en-US" altLang="en-US" smtClean="0"/>
              <a:pPr/>
              <a:t>19</a:t>
            </a:fld>
            <a:endParaRPr lang="en-US" altLang="en-US"/>
          </a:p>
        </p:txBody>
      </p:sp>
    </p:spTree>
    <p:extLst>
      <p:ext uri="{BB962C8B-B14F-4D97-AF65-F5344CB8AC3E}">
        <p14:creationId xmlns:p14="http://schemas.microsoft.com/office/powerpoint/2010/main" val="3801197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50BFFAC5-474F-496B-B60F-3D413C2129B1}"/>
              </a:ext>
            </a:extLst>
          </p:cNvPr>
          <p:cNvSpPr>
            <a:spLocks noGrp="1" noRot="1" noChangeAspect="1" noChangeArrowheads="1" noTextEdit="1"/>
          </p:cNvSpPr>
          <p:nvPr>
            <p:ph type="sldImg"/>
          </p:nvPr>
        </p:nvSpPr>
        <p:spPr>
          <a:xfrm>
            <a:off x="1150938" y="692150"/>
            <a:ext cx="4556125" cy="3416300"/>
          </a:xfrm>
          <a:ln/>
        </p:spPr>
      </p:sp>
      <p:sp>
        <p:nvSpPr>
          <p:cNvPr id="21507" name="Notes Placeholder 2">
            <a:extLst>
              <a:ext uri="{FF2B5EF4-FFF2-40B4-BE49-F238E27FC236}">
                <a16:creationId xmlns:a16="http://schemas.microsoft.com/office/drawing/2014/main" id="{AF9EA5A3-21E3-4E53-A293-056A55564610}"/>
              </a:ext>
            </a:extLst>
          </p:cNvPr>
          <p:cNvSpPr>
            <a:spLocks noGrp="1" noChangeArrowheads="1"/>
          </p:cNvSpPr>
          <p:nvPr>
            <p:ph type="body" idx="1"/>
          </p:nvPr>
        </p:nvSpPr>
        <p:spPr>
          <a:noFill/>
        </p:spPr>
        <p:txBody>
          <a:bodyPr/>
          <a:lstStyle/>
          <a:p>
            <a:endParaRPr lang="en-US" altLang="en-US"/>
          </a:p>
        </p:txBody>
      </p:sp>
      <p:sp>
        <p:nvSpPr>
          <p:cNvPr id="21508" name="Slide Number Placeholder 3">
            <a:extLst>
              <a:ext uri="{FF2B5EF4-FFF2-40B4-BE49-F238E27FC236}">
                <a16:creationId xmlns:a16="http://schemas.microsoft.com/office/drawing/2014/main" id="{A444C534-3993-4595-B617-12C3F9D8A835}"/>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2C47DA5-105F-4EA8-969F-FCFF6FF7E506}" type="slidenum">
              <a:rPr lang="en-US" altLang="en-US" sz="1000"/>
              <a:pPr/>
              <a:t>33</a:t>
            </a:fld>
            <a:endParaRPr lang="en-US"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87BC85E6-AD4D-41F3-AE10-B9EE11931B80}"/>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E9B60764-9CFB-4CAC-8FA2-BDCC572228F0}"/>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E200FD87-194A-4C3A-9D90-4E5824485F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1F6A99DE-26CD-4EA9-817D-7A290C936BBF}"/>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F39AEC38-7524-49CE-ACD7-731583D89B0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FB8BC28F-9AC9-44E4-8211-29C56DAD6FEF}"/>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23CF6E81-BBBE-491A-BE05-970DB64B75F6}"/>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C84B725E-AD1B-4E2A-A1E6-968D91618208}"/>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827FAF89-237A-48F9-8619-C1CEBD07C0CD}"/>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BAA39EF1-51A3-4337-AE58-01FD6C58D668}"/>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12CB1E6B-BDC4-4A60-BB56-E640E414C571}"/>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9305BE7E-EBB5-436B-967C-351938981C2B}"/>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9A820A7A-4664-47F2-B997-15C250A7E740}"/>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8136A20C-F094-40C3-A6FD-03A31CE4E0DB}"/>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E08CD7FC-BD5B-4CA5-8B05-C12BFF7E6165}"/>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B24E71FE-00C6-4D07-8936-E45D1A1BBA34}"/>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0FADA598-C3EA-4420-9C3B-4AC67E4AE110}"/>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9696C31E-E54C-4396-8035-84AF50C7AB23}"/>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BBE4CD3E-3584-4F17-B768-D6AE2DB072C4}"/>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DE238376-463E-42A9-BFC0-B9587E2BF199}"/>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939AC8E5-B846-4BA4-8939-AE55EEDD8A7E}"/>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6AB9A6DB-F4CE-449A-AF85-FC623A3B558C}"/>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3B64C64A-E0AF-4588-8A71-FC8F3594456A}"/>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8BBE3CCA-D112-42D1-9CC2-BBF92F5A0A25}"/>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D39C6C5B-408D-442D-977E-920BD451EC15}"/>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8F39B401-103C-401B-8E8C-784D31079E5D}"/>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B1609D8C-9BE9-4D96-BC73-2219BF04506A}"/>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95B3F30B-F119-45C7-A46F-F8F6296846DD}"/>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F0DFF333-191B-4ECB-8307-8A7A447522B7}"/>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991C92DA-13F5-4579-8408-476A145B389F}"/>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15FDC815-0B0A-405A-8378-4457F2EFE87F}"/>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A7920222-9731-435A-9093-D6A8D3A3CA08}"/>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573C567F-EA75-42DC-92DA-FCDB628F5BE8}"/>
              </a:ext>
            </a:extLst>
          </p:cNvPr>
          <p:cNvSpPr>
            <a:spLocks noGrp="1" noChangeArrowheads="1"/>
          </p:cNvSpPr>
          <p:nvPr>
            <p:ph type="sldNum" sz="quarter" idx="12"/>
          </p:nvPr>
        </p:nvSpPr>
        <p:spPr>
          <a:xfrm>
            <a:off x="6553200" y="6400800"/>
            <a:ext cx="1905000" cy="457200"/>
          </a:xfrm>
        </p:spPr>
        <p:txBody>
          <a:bodyPr/>
          <a:lstStyle>
            <a:lvl1pPr>
              <a:defRPr/>
            </a:lvl1pPr>
          </a:lstStyle>
          <a:p>
            <a:fld id="{B6B56DCF-E350-4B92-82B7-D719C144C49D}" type="slidenum">
              <a:rPr lang="en-US" altLang="en-US"/>
              <a:pPr/>
              <a:t>‹#›</a:t>
            </a:fld>
            <a:endParaRPr lang="en-US" altLang="en-US"/>
          </a:p>
        </p:txBody>
      </p:sp>
    </p:spTree>
    <p:extLst>
      <p:ext uri="{BB962C8B-B14F-4D97-AF65-F5344CB8AC3E}">
        <p14:creationId xmlns:p14="http://schemas.microsoft.com/office/powerpoint/2010/main" val="1678899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94908529-44F9-475F-9549-10080E2CEF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406DACE4-1782-4F7A-A637-63E8D55DC26F}"/>
              </a:ext>
            </a:extLst>
          </p:cNvPr>
          <p:cNvSpPr>
            <a:spLocks noGrp="1" noChangeArrowheads="1"/>
          </p:cNvSpPr>
          <p:nvPr>
            <p:ph type="sldNum" sz="quarter" idx="11"/>
          </p:nvPr>
        </p:nvSpPr>
        <p:spPr>
          <a:ln/>
        </p:spPr>
        <p:txBody>
          <a:bodyPr/>
          <a:lstStyle>
            <a:lvl1pPr>
              <a:defRPr/>
            </a:lvl1pPr>
          </a:lstStyle>
          <a:p>
            <a:fld id="{566BF5F8-30B9-41F2-958F-D75A00416E71}" type="slidenum">
              <a:rPr lang="en-US" altLang="en-US"/>
              <a:pPr/>
              <a:t>‹#›</a:t>
            </a:fld>
            <a:endParaRPr lang="en-US" altLang="en-US"/>
          </a:p>
        </p:txBody>
      </p:sp>
    </p:spTree>
    <p:extLst>
      <p:ext uri="{BB962C8B-B14F-4D97-AF65-F5344CB8AC3E}">
        <p14:creationId xmlns:p14="http://schemas.microsoft.com/office/powerpoint/2010/main" val="174922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2062A9A-9248-4FBE-84D4-79558239DC8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EEE571-0BC5-4E65-92B6-00511912A274}"/>
              </a:ext>
            </a:extLst>
          </p:cNvPr>
          <p:cNvSpPr>
            <a:spLocks noGrp="1" noChangeArrowheads="1"/>
          </p:cNvSpPr>
          <p:nvPr>
            <p:ph type="sldNum" sz="quarter" idx="11"/>
          </p:nvPr>
        </p:nvSpPr>
        <p:spPr>
          <a:ln/>
        </p:spPr>
        <p:txBody>
          <a:bodyPr/>
          <a:lstStyle>
            <a:lvl1pPr>
              <a:defRPr/>
            </a:lvl1pPr>
          </a:lstStyle>
          <a:p>
            <a:fld id="{9461108C-3143-4804-8036-E54559BD38BC}" type="slidenum">
              <a:rPr lang="en-US" altLang="en-US"/>
              <a:pPr/>
              <a:t>‹#›</a:t>
            </a:fld>
            <a:endParaRPr lang="en-US" altLang="en-US"/>
          </a:p>
        </p:txBody>
      </p:sp>
    </p:spTree>
    <p:extLst>
      <p:ext uri="{BB962C8B-B14F-4D97-AF65-F5344CB8AC3E}">
        <p14:creationId xmlns:p14="http://schemas.microsoft.com/office/powerpoint/2010/main" val="2260548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3182E7F7-1506-49E8-9317-B5B3E008B0C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67DF1AF1-FC67-49D5-873E-E6512D742AD4}"/>
              </a:ext>
            </a:extLst>
          </p:cNvPr>
          <p:cNvSpPr>
            <a:spLocks noGrp="1" noChangeArrowheads="1"/>
          </p:cNvSpPr>
          <p:nvPr>
            <p:ph type="sldNum" sz="quarter" idx="11"/>
          </p:nvPr>
        </p:nvSpPr>
        <p:spPr>
          <a:ln/>
        </p:spPr>
        <p:txBody>
          <a:bodyPr/>
          <a:lstStyle>
            <a:lvl1pPr>
              <a:defRPr/>
            </a:lvl1pPr>
          </a:lstStyle>
          <a:p>
            <a:fld id="{5E209757-4226-4BE5-AEF8-FB9AEABED6AC}" type="slidenum">
              <a:rPr lang="en-US" altLang="en-US"/>
              <a:pPr/>
              <a:t>‹#›</a:t>
            </a:fld>
            <a:endParaRPr lang="en-US" altLang="en-US"/>
          </a:p>
        </p:txBody>
      </p:sp>
    </p:spTree>
    <p:extLst>
      <p:ext uri="{BB962C8B-B14F-4D97-AF65-F5344CB8AC3E}">
        <p14:creationId xmlns:p14="http://schemas.microsoft.com/office/powerpoint/2010/main" val="2880243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55A2BFB3-D3C2-4551-BF2E-562B6901457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FAD9CC66-5708-4A74-9776-01FCE290506A}"/>
              </a:ext>
            </a:extLst>
          </p:cNvPr>
          <p:cNvSpPr>
            <a:spLocks noGrp="1" noChangeArrowheads="1"/>
          </p:cNvSpPr>
          <p:nvPr>
            <p:ph type="sldNum" sz="quarter" idx="11"/>
          </p:nvPr>
        </p:nvSpPr>
        <p:spPr>
          <a:ln/>
        </p:spPr>
        <p:txBody>
          <a:bodyPr/>
          <a:lstStyle>
            <a:lvl1pPr>
              <a:defRPr/>
            </a:lvl1pPr>
          </a:lstStyle>
          <a:p>
            <a:fld id="{46ABE348-CA42-408A-AA2C-51ADE955C69B}" type="slidenum">
              <a:rPr lang="en-US" altLang="en-US"/>
              <a:pPr/>
              <a:t>‹#›</a:t>
            </a:fld>
            <a:endParaRPr lang="en-US" altLang="en-US"/>
          </a:p>
        </p:txBody>
      </p:sp>
    </p:spTree>
    <p:extLst>
      <p:ext uri="{BB962C8B-B14F-4D97-AF65-F5344CB8AC3E}">
        <p14:creationId xmlns:p14="http://schemas.microsoft.com/office/powerpoint/2010/main" val="3543259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DCB9D8AC-2429-480D-8DA6-EC4303E0BE5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AAAED37A-3831-4483-A63C-462A08DEA141}"/>
              </a:ext>
            </a:extLst>
          </p:cNvPr>
          <p:cNvSpPr>
            <a:spLocks noGrp="1" noChangeArrowheads="1"/>
          </p:cNvSpPr>
          <p:nvPr>
            <p:ph type="sldNum" sz="quarter" idx="11"/>
          </p:nvPr>
        </p:nvSpPr>
        <p:spPr>
          <a:ln/>
        </p:spPr>
        <p:txBody>
          <a:bodyPr/>
          <a:lstStyle>
            <a:lvl1pPr>
              <a:defRPr/>
            </a:lvl1pPr>
          </a:lstStyle>
          <a:p>
            <a:fld id="{0823E38E-3CA2-4319-BFD6-E56FA57378A5}" type="slidenum">
              <a:rPr lang="en-US" altLang="en-US"/>
              <a:pPr/>
              <a:t>‹#›</a:t>
            </a:fld>
            <a:endParaRPr lang="en-US" altLang="en-US"/>
          </a:p>
        </p:txBody>
      </p:sp>
    </p:spTree>
    <p:extLst>
      <p:ext uri="{BB962C8B-B14F-4D97-AF65-F5344CB8AC3E}">
        <p14:creationId xmlns:p14="http://schemas.microsoft.com/office/powerpoint/2010/main" val="3602906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E421A68F-52CC-43B4-9836-4F93E4B3628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74FB83FD-F037-4CB8-9925-D2430F7B3BE6}"/>
              </a:ext>
            </a:extLst>
          </p:cNvPr>
          <p:cNvSpPr>
            <a:spLocks noGrp="1" noChangeArrowheads="1"/>
          </p:cNvSpPr>
          <p:nvPr>
            <p:ph type="sldNum" sz="quarter" idx="11"/>
          </p:nvPr>
        </p:nvSpPr>
        <p:spPr>
          <a:ln/>
        </p:spPr>
        <p:txBody>
          <a:bodyPr/>
          <a:lstStyle>
            <a:lvl1pPr>
              <a:defRPr/>
            </a:lvl1pPr>
          </a:lstStyle>
          <a:p>
            <a:fld id="{FA7FAC8B-1F74-4057-A84F-8AB91AAF7E68}" type="slidenum">
              <a:rPr lang="en-US" altLang="en-US"/>
              <a:pPr/>
              <a:t>‹#›</a:t>
            </a:fld>
            <a:endParaRPr lang="en-US" altLang="en-US"/>
          </a:p>
        </p:txBody>
      </p:sp>
    </p:spTree>
    <p:extLst>
      <p:ext uri="{BB962C8B-B14F-4D97-AF65-F5344CB8AC3E}">
        <p14:creationId xmlns:p14="http://schemas.microsoft.com/office/powerpoint/2010/main" val="1065626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1EB65D13-45F1-4DDF-8EC7-9AEF2598F1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FAB2A0D-7078-42BF-B055-F46966CC8846}"/>
              </a:ext>
            </a:extLst>
          </p:cNvPr>
          <p:cNvSpPr>
            <a:spLocks noGrp="1" noChangeArrowheads="1"/>
          </p:cNvSpPr>
          <p:nvPr>
            <p:ph type="sldNum" sz="quarter" idx="11"/>
          </p:nvPr>
        </p:nvSpPr>
        <p:spPr>
          <a:ln/>
        </p:spPr>
        <p:txBody>
          <a:bodyPr/>
          <a:lstStyle>
            <a:lvl1pPr>
              <a:defRPr/>
            </a:lvl1pPr>
          </a:lstStyle>
          <a:p>
            <a:fld id="{CDD2DB18-C58D-45A9-8635-0F5904DD563B}" type="slidenum">
              <a:rPr lang="en-US" altLang="en-US"/>
              <a:pPr/>
              <a:t>‹#›</a:t>
            </a:fld>
            <a:endParaRPr lang="en-US" altLang="en-US"/>
          </a:p>
        </p:txBody>
      </p:sp>
    </p:spTree>
    <p:extLst>
      <p:ext uri="{BB962C8B-B14F-4D97-AF65-F5344CB8AC3E}">
        <p14:creationId xmlns:p14="http://schemas.microsoft.com/office/powerpoint/2010/main" val="4006380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1B0D1DB-A238-4C87-90F9-4BC51725FD1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CC31255-2890-4E9C-9857-D817A90A1C41}"/>
              </a:ext>
            </a:extLst>
          </p:cNvPr>
          <p:cNvSpPr>
            <a:spLocks noGrp="1" noChangeArrowheads="1"/>
          </p:cNvSpPr>
          <p:nvPr>
            <p:ph type="sldNum" sz="quarter" idx="11"/>
          </p:nvPr>
        </p:nvSpPr>
        <p:spPr>
          <a:ln/>
        </p:spPr>
        <p:txBody>
          <a:bodyPr/>
          <a:lstStyle>
            <a:lvl1pPr>
              <a:defRPr/>
            </a:lvl1pPr>
          </a:lstStyle>
          <a:p>
            <a:fld id="{C95ED89B-AE6A-4BA4-A52A-4CC6F4769505}" type="slidenum">
              <a:rPr lang="en-US" altLang="en-US"/>
              <a:pPr/>
              <a:t>‹#›</a:t>
            </a:fld>
            <a:endParaRPr lang="en-US" altLang="en-US"/>
          </a:p>
        </p:txBody>
      </p:sp>
    </p:spTree>
    <p:extLst>
      <p:ext uri="{BB962C8B-B14F-4D97-AF65-F5344CB8AC3E}">
        <p14:creationId xmlns:p14="http://schemas.microsoft.com/office/powerpoint/2010/main" val="1419945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4CB25D5-E580-4454-8D2C-CA43E4466D4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CEEA93B7-4C33-4310-B3AA-D58E8C5BC509}"/>
              </a:ext>
            </a:extLst>
          </p:cNvPr>
          <p:cNvSpPr>
            <a:spLocks noGrp="1" noChangeArrowheads="1"/>
          </p:cNvSpPr>
          <p:nvPr>
            <p:ph type="sldNum" sz="quarter" idx="11"/>
          </p:nvPr>
        </p:nvSpPr>
        <p:spPr>
          <a:ln/>
        </p:spPr>
        <p:txBody>
          <a:bodyPr/>
          <a:lstStyle>
            <a:lvl1pPr>
              <a:defRPr/>
            </a:lvl1pPr>
          </a:lstStyle>
          <a:p>
            <a:fld id="{226DB958-F499-4A42-91A9-5E75AA2C5F2C}" type="slidenum">
              <a:rPr lang="en-US" altLang="en-US"/>
              <a:pPr/>
              <a:t>‹#›</a:t>
            </a:fld>
            <a:endParaRPr lang="en-US" altLang="en-US"/>
          </a:p>
        </p:txBody>
      </p:sp>
    </p:spTree>
    <p:extLst>
      <p:ext uri="{BB962C8B-B14F-4D97-AF65-F5344CB8AC3E}">
        <p14:creationId xmlns:p14="http://schemas.microsoft.com/office/powerpoint/2010/main" val="326186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8F2C7BBC-4AED-44B3-A31F-EED78944B2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E6140E75-DAE8-41DC-9EA1-4DCF57647EE6}"/>
              </a:ext>
            </a:extLst>
          </p:cNvPr>
          <p:cNvSpPr>
            <a:spLocks noGrp="1" noChangeArrowheads="1"/>
          </p:cNvSpPr>
          <p:nvPr>
            <p:ph type="sldNum" sz="quarter" idx="11"/>
          </p:nvPr>
        </p:nvSpPr>
        <p:spPr>
          <a:ln/>
        </p:spPr>
        <p:txBody>
          <a:bodyPr/>
          <a:lstStyle>
            <a:lvl1pPr>
              <a:defRPr/>
            </a:lvl1pPr>
          </a:lstStyle>
          <a:p>
            <a:fld id="{3E475D11-01DB-48AA-B4FE-6EFAC57784DD}" type="slidenum">
              <a:rPr lang="en-US" altLang="en-US"/>
              <a:pPr/>
              <a:t>‹#›</a:t>
            </a:fld>
            <a:endParaRPr lang="en-US" altLang="en-US"/>
          </a:p>
        </p:txBody>
      </p:sp>
    </p:spTree>
    <p:extLst>
      <p:ext uri="{BB962C8B-B14F-4D97-AF65-F5344CB8AC3E}">
        <p14:creationId xmlns:p14="http://schemas.microsoft.com/office/powerpoint/2010/main" val="368288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4B279C9B-76E3-425A-BD73-60B7CF49E1E2}"/>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F3D68D09-9321-4F3A-A4BF-81A81D76C392}"/>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07DA412A-BD9A-4666-9512-3046B41FDFE8}"/>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64856D4B-7DC5-42D9-BA57-695B7C7FBC5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C0E62C71-CD35-4C3F-B64B-746EC730F8D9}"/>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A8E209CE-1DD6-49C7-B874-0829CD74DF0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ED2AF9D5-B7A9-4D6C-8A8C-81709C8DFE0B}"/>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3301C980-57C5-4EDF-B160-9F53E8D91D8F}"/>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F2E52065-A976-4DE8-BE0E-D39657EE181C}"/>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6572E641-60CD-4667-ADBC-7706C97AEF12}"/>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07902467-933C-4BCA-BCB0-087E7D88621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3BB7BBCD-3A58-4AAB-BD0F-AB63C9A794A9}"/>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E8804604-03B0-4788-AA33-59C2A2879B47}"/>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E81D3AB4-FD68-45CD-B014-677E8851837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B1E3CDF8-7B3F-4C74-B0F0-475413D21F67}"/>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094DFDEA-410D-47F8-9412-302D35A3E60C}"/>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D18C8D97-DCCE-4C33-9A08-5D428BD9F95F}"/>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95A49231-67C0-4312-902E-25423256FF6D}"/>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2D269C4F-40D6-4427-8FB6-85454B320B69}"/>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A1256E5A-38E3-4824-A51B-0023EA918DD5}"/>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B097DD69-B3C1-43C3-AE9B-9B886B465FCE}"/>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3B1BCF79-B044-414F-B194-F8476549CA8D}"/>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77FFE96A-9776-44B1-A8F9-C4A8E61C3A6A}"/>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25684859-4580-4D6E-A331-298FA984644B}"/>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0CEE778E-97B3-408B-8CA3-3501CEB1C9BE}"/>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D1CFFE5B-50C0-4E01-8CF0-D9A20D8650F0}"/>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B29A4039-5EC5-479A-B6A8-E6208DC0A9B4}"/>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EE7E4C3E-3487-45F8-968F-94C21E75F7F8}"/>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3C21F879-606A-416E-A8DB-51BEEA0F2513}"/>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589759D-EC8D-45B2-ACE3-42C24D96F1D1}"/>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A1A987FB-81BA-4637-8F10-FF5C6B85A52C}"/>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59B5B4E1-C31A-4B47-983F-A210C147CB13}"/>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9C06E1FD-C166-40AB-9987-2466E90AE15C}" type="slidenum">
              <a:rPr lang="en-US" altLang="en-US"/>
              <a:pPr/>
              <a:t>‹#›</a:t>
            </a:fld>
            <a:endParaRPr lang="en-US" altLang="en-US"/>
          </a:p>
        </p:txBody>
      </p:sp>
      <p:sp>
        <p:nvSpPr>
          <p:cNvPr id="1031" name="Rectangle 35">
            <a:extLst>
              <a:ext uri="{FF2B5EF4-FFF2-40B4-BE49-F238E27FC236}">
                <a16:creationId xmlns:a16="http://schemas.microsoft.com/office/drawing/2014/main" id="{9CF8FB22-54E2-4BD5-A10C-5FC1EEA7E266}"/>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Tree>
  </p:cSld>
  <p:clrMap bg1="lt1" tx1="dk1" bg2="lt2" tx2="dk2" accent1="accent1" accent2="accent2" accent3="accent3" accent4="accent4" accent5="accent5" accent6="accent6" hlink="hlink" folHlink="folHlink"/>
  <p:sldLayoutIdLst>
    <p:sldLayoutId id="2147483899"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hyperlink" Target="https://liveexample.pearsoncmg.com/dsanimation/Figure20_2v2.html" TargetMode="External"/><Relationship Id="rId4" Type="http://schemas.openxmlformats.org/officeDocument/2006/relationships/hyperlink" Target="https://liveexample.pearsoncmg.com/html/TestCollectio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iveexample.pearsoncmg.com/html/TestIterator.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iveexample.pearsoncmg.com/html/TestForEach.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liveexample.pearsoncmg.com/html/TestForEach.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liveexample.pearsoncmg.com/html/TestArrayAndLinkedList.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liveexample.pearsoncmg.com/html/TestComparator.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liveexample.pearsoncmg.com/html/GeometricObjectComparator.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iveexample.pearsoncmg.com/html/SortStringByLength.html" TargetMode="External"/><Relationship Id="rId2" Type="http://schemas.openxmlformats.org/officeDocument/2006/relationships/hyperlink" Target="https://liveexample.pearsoncmg.com/html/SortStringIgnoreCase.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liveexample.pearsoncmg.com/dsanimation/StackeBook.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yongdanielliang.github.io/animation/web/Queue.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liveexample.pearsoncmg.com/html/PriorityQueueDemo.html"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liveexample.pearsoncmg.com/html/MyPriorityQueue.html"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liveexample.pearsoncmg.com/html/TestPriorityQueue.html" TargetMode="Externa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liveexample.pearsoncmg.com/html/EvaluateExpression.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2608E172-8526-47D1-8BA0-F732271163B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A4F2E2E-CA6A-4A1B-93C7-D3E566EBC676}" type="slidenum">
              <a:rPr lang="en-US" altLang="en-US" sz="1400"/>
              <a:pPr>
                <a:spcBef>
                  <a:spcPct val="0"/>
                </a:spcBef>
                <a:buClrTx/>
                <a:buSzTx/>
                <a:buFontTx/>
                <a:buNone/>
              </a:pPr>
              <a:t>1</a:t>
            </a:fld>
            <a:endParaRPr lang="en-US" altLang="en-US" sz="1400"/>
          </a:p>
        </p:txBody>
      </p:sp>
      <p:sp>
        <p:nvSpPr>
          <p:cNvPr id="4099" name="Rectangle 2">
            <a:extLst>
              <a:ext uri="{FF2B5EF4-FFF2-40B4-BE49-F238E27FC236}">
                <a16:creationId xmlns:a16="http://schemas.microsoft.com/office/drawing/2014/main" id="{CAAB25EC-0105-42BA-8D83-64E78D134F47}"/>
              </a:ext>
            </a:extLst>
          </p:cNvPr>
          <p:cNvSpPr>
            <a:spLocks noGrp="1" noChangeArrowheads="1"/>
          </p:cNvSpPr>
          <p:nvPr>
            <p:ph type="title"/>
          </p:nvPr>
        </p:nvSpPr>
        <p:spPr>
          <a:xfrm>
            <a:off x="685800" y="285750"/>
            <a:ext cx="7924800" cy="2152650"/>
          </a:xfrm>
          <a:noFill/>
        </p:spPr>
        <p:txBody>
          <a:bodyPr/>
          <a:lstStyle/>
          <a:p>
            <a:r>
              <a:rPr lang="en-US" altLang="en-US" sz="4000"/>
              <a:t>Chapter 20 </a:t>
            </a:r>
            <a:r>
              <a:rPr lang="en-US" altLang="en-US"/>
              <a:t>Lists, Stacks, Queues, and Priority Queues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B4FECE8E-43B6-4A51-934E-E2397AD297E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1161B7E-7119-4DC9-A4D9-705711ACE85C}" type="slidenum">
              <a:rPr lang="en-US" altLang="en-US" sz="1400"/>
              <a:pPr>
                <a:spcBef>
                  <a:spcPct val="0"/>
                </a:spcBef>
                <a:buClrTx/>
                <a:buSzTx/>
                <a:buFontTx/>
                <a:buNone/>
              </a:pPr>
              <a:t>2</a:t>
            </a:fld>
            <a:endParaRPr lang="en-US" altLang="en-US" sz="1400"/>
          </a:p>
        </p:txBody>
      </p:sp>
      <p:sp>
        <p:nvSpPr>
          <p:cNvPr id="5123" name="Rectangle 2">
            <a:extLst>
              <a:ext uri="{FF2B5EF4-FFF2-40B4-BE49-F238E27FC236}">
                <a16:creationId xmlns:a16="http://schemas.microsoft.com/office/drawing/2014/main" id="{1465E04E-01C3-4BD3-9D73-DAD6B0B4C6C7}"/>
              </a:ext>
            </a:extLst>
          </p:cNvPr>
          <p:cNvSpPr>
            <a:spLocks noGrp="1" noChangeArrowheads="1"/>
          </p:cNvSpPr>
          <p:nvPr>
            <p:ph type="title"/>
          </p:nvPr>
        </p:nvSpPr>
        <p:spPr>
          <a:xfrm>
            <a:off x="685800" y="152400"/>
            <a:ext cx="7772400" cy="457200"/>
          </a:xfrm>
          <a:noFill/>
        </p:spPr>
        <p:txBody>
          <a:bodyPr/>
          <a:lstStyle/>
          <a:p>
            <a:r>
              <a:rPr lang="en-US" altLang="en-US"/>
              <a:t>Objectives</a:t>
            </a:r>
          </a:p>
        </p:txBody>
      </p:sp>
      <p:sp>
        <p:nvSpPr>
          <p:cNvPr id="5124" name="Rectangle 3">
            <a:extLst>
              <a:ext uri="{FF2B5EF4-FFF2-40B4-BE49-F238E27FC236}">
                <a16:creationId xmlns:a16="http://schemas.microsoft.com/office/drawing/2014/main" id="{99AA697E-DC38-43A9-80AE-AFC0CCCF01E2}"/>
              </a:ext>
            </a:extLst>
          </p:cNvPr>
          <p:cNvSpPr>
            <a:spLocks noGrp="1" noChangeArrowheads="1"/>
          </p:cNvSpPr>
          <p:nvPr>
            <p:ph type="body" idx="1"/>
          </p:nvPr>
        </p:nvSpPr>
        <p:spPr>
          <a:xfrm>
            <a:off x="152400" y="685800"/>
            <a:ext cx="8763000" cy="5791200"/>
          </a:xfrm>
          <a:noFill/>
        </p:spPr>
        <p:txBody>
          <a:bodyPr/>
          <a:lstStyle/>
          <a:p>
            <a:r>
              <a:rPr lang="en-US" altLang="en-US" sz="1800" dirty="0"/>
              <a:t>To explore the relationship between interfaces and classes in the Java Collections Framework hierarchy (§20.2).</a:t>
            </a:r>
          </a:p>
          <a:p>
            <a:r>
              <a:rPr lang="en-US" altLang="en-US" sz="1800" dirty="0"/>
              <a:t>To use the common methods defined in the </a:t>
            </a:r>
            <a:r>
              <a:rPr lang="en-US" altLang="en-US" sz="1800" b="1" dirty="0"/>
              <a:t>Collection</a:t>
            </a:r>
            <a:r>
              <a:rPr lang="en-US" altLang="en-US" sz="1800" dirty="0"/>
              <a:t> interface for operating collections (§20.2).</a:t>
            </a:r>
          </a:p>
          <a:p>
            <a:r>
              <a:rPr lang="en-US" altLang="en-US" sz="1800" dirty="0"/>
              <a:t>To use the </a:t>
            </a:r>
            <a:r>
              <a:rPr lang="en-US" altLang="en-US" sz="1800" b="1" dirty="0"/>
              <a:t>Iterator</a:t>
            </a:r>
            <a:r>
              <a:rPr lang="en-US" altLang="en-US" sz="1800" dirty="0"/>
              <a:t> interface to traverse the elements in a collection (§20.3).</a:t>
            </a:r>
          </a:p>
          <a:p>
            <a:r>
              <a:rPr lang="en-US" altLang="en-US" sz="1800" dirty="0"/>
              <a:t>To use a foreach loop to traverse the elements in a collection (§20.3).</a:t>
            </a:r>
          </a:p>
          <a:p>
            <a:r>
              <a:rPr lang="en-US" altLang="en-US" sz="1800" dirty="0"/>
              <a:t>To use a </a:t>
            </a:r>
            <a:r>
              <a:rPr lang="en-US" altLang="en-US" sz="1800" b="1" dirty="0"/>
              <a:t>forEach</a:t>
            </a:r>
            <a:r>
              <a:rPr lang="en-US" altLang="en-US" sz="1800" dirty="0"/>
              <a:t> method to perform an action on each element in a collection (§20.4).</a:t>
            </a:r>
          </a:p>
          <a:p>
            <a:r>
              <a:rPr lang="en-US" altLang="en-US" sz="1800" dirty="0"/>
              <a:t>To explore how and when to use </a:t>
            </a:r>
            <a:r>
              <a:rPr lang="en-US" altLang="en-US" sz="1800" b="1" dirty="0"/>
              <a:t>ArrayList</a:t>
            </a:r>
            <a:r>
              <a:rPr lang="en-US" altLang="en-US" sz="1800" dirty="0"/>
              <a:t> or </a:t>
            </a:r>
            <a:r>
              <a:rPr lang="en-US" altLang="en-US" sz="1800" b="1" dirty="0"/>
              <a:t>LinkedList</a:t>
            </a:r>
            <a:r>
              <a:rPr lang="en-US" altLang="en-US" sz="1800" dirty="0"/>
              <a:t> to store a list of elements (§20.5).</a:t>
            </a:r>
          </a:p>
          <a:p>
            <a:r>
              <a:rPr lang="en-US" altLang="en-US" sz="1800" dirty="0"/>
              <a:t>To compare elements using the </a:t>
            </a:r>
            <a:r>
              <a:rPr lang="en-US" altLang="en-US" sz="1800" b="1" dirty="0"/>
              <a:t>Comparable</a:t>
            </a:r>
            <a:r>
              <a:rPr lang="en-US" altLang="en-US" sz="1800" dirty="0"/>
              <a:t> interface and the </a:t>
            </a:r>
            <a:r>
              <a:rPr lang="en-US" altLang="en-US" sz="1800" b="1" dirty="0"/>
              <a:t>Comparator</a:t>
            </a:r>
            <a:r>
              <a:rPr lang="en-US" altLang="en-US" sz="1800" dirty="0"/>
              <a:t> interface (§20.6).</a:t>
            </a:r>
          </a:p>
          <a:p>
            <a:r>
              <a:rPr lang="en-US" altLang="en-US" sz="1800" dirty="0"/>
              <a:t>To use the static utility methods in the </a:t>
            </a:r>
            <a:r>
              <a:rPr lang="en-US" altLang="en-US" sz="1800" b="1" dirty="0"/>
              <a:t>Collections</a:t>
            </a:r>
            <a:r>
              <a:rPr lang="en-US" altLang="en-US" sz="1800" dirty="0"/>
              <a:t> class for sorting, searching, shuffling lists, and finding the largest and smallest element in collections (§20.7).</a:t>
            </a:r>
          </a:p>
          <a:p>
            <a:r>
              <a:rPr lang="en-US" altLang="en-US" sz="1800" dirty="0"/>
              <a:t>To develop a multiple bouncing balls application using </a:t>
            </a:r>
            <a:r>
              <a:rPr lang="en-US" altLang="en-US" sz="1800" b="1" dirty="0"/>
              <a:t>ArrayList</a:t>
            </a:r>
            <a:r>
              <a:rPr lang="en-US" altLang="en-US" sz="1800" dirty="0"/>
              <a:t> (§20.8).</a:t>
            </a:r>
          </a:p>
          <a:p>
            <a:r>
              <a:rPr lang="en-US" altLang="en-US" sz="1800" dirty="0"/>
              <a:t>To distinguish between </a:t>
            </a:r>
            <a:r>
              <a:rPr lang="en-US" altLang="en-US" sz="1800" b="1" dirty="0"/>
              <a:t>Vector</a:t>
            </a:r>
            <a:r>
              <a:rPr lang="en-US" altLang="en-US" sz="1800" dirty="0"/>
              <a:t> and </a:t>
            </a:r>
            <a:r>
              <a:rPr lang="en-US" altLang="en-US" sz="1800" b="1" dirty="0"/>
              <a:t>ArrayList</a:t>
            </a:r>
            <a:r>
              <a:rPr lang="en-US" altLang="en-US" sz="1800" dirty="0"/>
              <a:t> and to use the </a:t>
            </a:r>
            <a:r>
              <a:rPr lang="en-US" altLang="en-US" sz="1800" b="1" dirty="0"/>
              <a:t>Stack</a:t>
            </a:r>
            <a:r>
              <a:rPr lang="en-US" altLang="en-US" sz="1800" dirty="0"/>
              <a:t> class for creating stacks (§20.9).</a:t>
            </a:r>
          </a:p>
          <a:p>
            <a:r>
              <a:rPr lang="en-US" altLang="en-US" sz="1800" dirty="0"/>
              <a:t>To explore the relationships among </a:t>
            </a:r>
            <a:r>
              <a:rPr lang="en-US" altLang="en-US" sz="1800" b="1" dirty="0"/>
              <a:t>Collection</a:t>
            </a:r>
            <a:r>
              <a:rPr lang="en-US" altLang="en-US" sz="1800" dirty="0"/>
              <a:t>, </a:t>
            </a:r>
            <a:r>
              <a:rPr lang="en-US" altLang="en-US" sz="1800" b="1" dirty="0"/>
              <a:t>Queue</a:t>
            </a:r>
            <a:r>
              <a:rPr lang="en-US" altLang="en-US" sz="1800" dirty="0"/>
              <a:t>, </a:t>
            </a:r>
            <a:r>
              <a:rPr lang="en-US" altLang="en-US" sz="1800" b="1" dirty="0"/>
              <a:t>LinkedList</a:t>
            </a:r>
            <a:r>
              <a:rPr lang="en-US" altLang="en-US" sz="1800" dirty="0"/>
              <a:t>, and </a:t>
            </a:r>
            <a:r>
              <a:rPr lang="en-US" altLang="en-US" sz="1800" b="1" dirty="0" err="1"/>
              <a:t>PriorityQueue</a:t>
            </a:r>
            <a:r>
              <a:rPr lang="en-US" altLang="en-US" sz="1800" dirty="0"/>
              <a:t> and to create priority queues using the </a:t>
            </a:r>
            <a:r>
              <a:rPr lang="en-US" altLang="en-US" sz="1800" b="1" dirty="0" err="1"/>
              <a:t>PriorityQueue</a:t>
            </a:r>
            <a:r>
              <a:rPr lang="en-US" altLang="en-US" sz="1800" dirty="0"/>
              <a:t> class (§20.10).</a:t>
            </a:r>
          </a:p>
          <a:p>
            <a:r>
              <a:rPr lang="en-US" altLang="en-US" sz="1800" dirty="0"/>
              <a:t>To use stacks to write a program to evaluate expressions (§20.11).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76896C5C-1F8E-4936-BF4F-66C3FDE8392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64265AB-A752-45BD-8B97-1C0EB127E33A}" type="slidenum">
              <a:rPr lang="en-US" altLang="en-US" sz="1400"/>
              <a:pPr>
                <a:spcBef>
                  <a:spcPct val="0"/>
                </a:spcBef>
                <a:buClrTx/>
                <a:buSzTx/>
                <a:buFontTx/>
                <a:buNone/>
              </a:pPr>
              <a:t>3</a:t>
            </a:fld>
            <a:endParaRPr lang="en-US" altLang="en-US" sz="1400"/>
          </a:p>
        </p:txBody>
      </p:sp>
      <p:sp>
        <p:nvSpPr>
          <p:cNvPr id="6147" name="Rectangle 2">
            <a:extLst>
              <a:ext uri="{FF2B5EF4-FFF2-40B4-BE49-F238E27FC236}">
                <a16:creationId xmlns:a16="http://schemas.microsoft.com/office/drawing/2014/main" id="{AF2AC065-F734-4D79-96B4-418EF78711E2}"/>
              </a:ext>
            </a:extLst>
          </p:cNvPr>
          <p:cNvSpPr>
            <a:spLocks noGrp="1" noChangeArrowheads="1"/>
          </p:cNvSpPr>
          <p:nvPr>
            <p:ph type="title"/>
          </p:nvPr>
        </p:nvSpPr>
        <p:spPr>
          <a:xfrm>
            <a:off x="685800" y="228600"/>
            <a:ext cx="7924800" cy="1143000"/>
          </a:xfrm>
          <a:noFill/>
        </p:spPr>
        <p:txBody>
          <a:bodyPr/>
          <a:lstStyle/>
          <a:p>
            <a:r>
              <a:rPr lang="en-US" altLang="en-US"/>
              <a:t>What is Data Structure?</a:t>
            </a:r>
          </a:p>
        </p:txBody>
      </p:sp>
      <p:sp>
        <p:nvSpPr>
          <p:cNvPr id="6148" name="Rectangle 3">
            <a:extLst>
              <a:ext uri="{FF2B5EF4-FFF2-40B4-BE49-F238E27FC236}">
                <a16:creationId xmlns:a16="http://schemas.microsoft.com/office/drawing/2014/main" id="{B84010FA-79DD-4C85-A5EE-85A66F260AF6}"/>
              </a:ext>
            </a:extLst>
          </p:cNvPr>
          <p:cNvSpPr>
            <a:spLocks noGrp="1" noChangeArrowheads="1"/>
          </p:cNvSpPr>
          <p:nvPr>
            <p:ph type="body" idx="1"/>
          </p:nvPr>
        </p:nvSpPr>
        <p:spPr>
          <a:xfrm>
            <a:off x="457200" y="1676400"/>
            <a:ext cx="8305800" cy="4343400"/>
          </a:xfrm>
          <a:solidFill>
            <a:schemeClr val="bg1"/>
          </a:solidFill>
        </p:spPr>
        <p:txBody>
          <a:bodyPr/>
          <a:lstStyle/>
          <a:p>
            <a:pPr>
              <a:buFont typeface="Wingdings" panose="05000000000000000000" pitchFamily="2" charset="2"/>
              <a:buChar char="§"/>
            </a:pPr>
            <a:r>
              <a:rPr lang="en-US" altLang="en-US" sz="3600" dirty="0">
                <a:cs typeface="Times New Roman" panose="02020603050405020304" pitchFamily="18" charset="0"/>
              </a:rPr>
              <a:t>A data structure is a collection of data organized in some fashion. </a:t>
            </a:r>
          </a:p>
          <a:p>
            <a:pPr>
              <a:buFont typeface="Wingdings" panose="05000000000000000000" pitchFamily="2" charset="2"/>
              <a:buChar char="§"/>
            </a:pPr>
            <a:r>
              <a:rPr lang="en-US" altLang="en-US" sz="3600" dirty="0">
                <a:cs typeface="Times New Roman" panose="02020603050405020304" pitchFamily="18" charset="0"/>
              </a:rPr>
              <a:t>The structure not only stores data, but also supports operations for accessing and manipulating the data.</a:t>
            </a:r>
          </a:p>
          <a:p>
            <a:pPr>
              <a:buFont typeface="Wingdings" panose="05000000000000000000" pitchFamily="2" charset="2"/>
              <a:buChar char="§"/>
            </a:pPr>
            <a:r>
              <a:rPr lang="en-US" sz="3600" dirty="0">
                <a:cs typeface="Times New Roman" panose="02020603050405020304" pitchFamily="18" charset="0"/>
              </a:rPr>
              <a:t>The right data structure will help (or hurt) the efficiency of your program</a:t>
            </a:r>
          </a:p>
          <a:p>
            <a:pPr>
              <a:buFont typeface="Wingdings" panose="05000000000000000000" pitchFamily="2" charset="2"/>
              <a:buChar char="§"/>
            </a:pPr>
            <a:endParaRPr lang="en-US" altLang="en-US" sz="3600" noProof="1">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593F58FB-9375-45A0-B21E-70B5F9B5595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F112E34-16BB-4554-B4D8-947810A458BE}" type="slidenum">
              <a:rPr lang="en-US" altLang="en-US" sz="1400"/>
              <a:pPr>
                <a:spcBef>
                  <a:spcPct val="0"/>
                </a:spcBef>
                <a:buClrTx/>
                <a:buSzTx/>
                <a:buFontTx/>
                <a:buNone/>
              </a:pPr>
              <a:t>4</a:t>
            </a:fld>
            <a:endParaRPr lang="en-US" altLang="en-US" sz="1400"/>
          </a:p>
        </p:txBody>
      </p:sp>
      <p:sp>
        <p:nvSpPr>
          <p:cNvPr id="7171" name="Rectangle 2">
            <a:extLst>
              <a:ext uri="{FF2B5EF4-FFF2-40B4-BE49-F238E27FC236}">
                <a16:creationId xmlns:a16="http://schemas.microsoft.com/office/drawing/2014/main" id="{3C890044-6549-4C6B-BDCD-CE768E3B8BEF}"/>
              </a:ext>
            </a:extLst>
          </p:cNvPr>
          <p:cNvSpPr>
            <a:spLocks noGrp="1" noChangeArrowheads="1"/>
          </p:cNvSpPr>
          <p:nvPr>
            <p:ph type="title"/>
          </p:nvPr>
        </p:nvSpPr>
        <p:spPr>
          <a:xfrm>
            <a:off x="685800" y="228600"/>
            <a:ext cx="7924800" cy="1143000"/>
          </a:xfrm>
          <a:noFill/>
        </p:spPr>
        <p:txBody>
          <a:bodyPr/>
          <a:lstStyle/>
          <a:p>
            <a:r>
              <a:rPr lang="en-US" altLang="en-US"/>
              <a:t>Java Collection Framework hierarchy</a:t>
            </a:r>
          </a:p>
        </p:txBody>
      </p:sp>
      <p:sp>
        <p:nvSpPr>
          <p:cNvPr id="7172" name="Rectangle 3">
            <a:extLst>
              <a:ext uri="{FF2B5EF4-FFF2-40B4-BE49-F238E27FC236}">
                <a16:creationId xmlns:a16="http://schemas.microsoft.com/office/drawing/2014/main" id="{719BEEA6-616C-48C7-A441-233D641244AB}"/>
              </a:ext>
            </a:extLst>
          </p:cNvPr>
          <p:cNvSpPr>
            <a:spLocks noGrp="1" noChangeArrowheads="1"/>
          </p:cNvSpPr>
          <p:nvPr>
            <p:ph type="body" idx="1"/>
          </p:nvPr>
        </p:nvSpPr>
        <p:spPr>
          <a:xfrm>
            <a:off x="457200" y="1676400"/>
            <a:ext cx="8305800" cy="4648200"/>
          </a:xfrm>
        </p:spPr>
        <p:txBody>
          <a:bodyPr/>
          <a:lstStyle/>
          <a:p>
            <a:pPr marL="0" indent="0">
              <a:buFont typeface="Monotype Sorts"/>
              <a:buNone/>
              <a:defRPr/>
            </a:pPr>
            <a:r>
              <a:rPr lang="en-US" altLang="en-US" sz="3300" dirty="0">
                <a:cs typeface="Times New Roman" panose="02020603050405020304" pitchFamily="18" charset="0"/>
              </a:rPr>
              <a:t>A </a:t>
            </a:r>
            <a:r>
              <a:rPr lang="en-US" altLang="en-US" sz="3300" b="1" i="1" dirty="0">
                <a:cs typeface="Times New Roman" panose="02020603050405020304" pitchFamily="18" charset="0"/>
              </a:rPr>
              <a:t>collection</a:t>
            </a:r>
            <a:r>
              <a:rPr lang="en-US" altLang="en-US" sz="3300" dirty="0">
                <a:cs typeface="Times New Roman" panose="02020603050405020304" pitchFamily="18" charset="0"/>
              </a:rPr>
              <a:t> is a container object that holds a group of objects, often referred to as </a:t>
            </a:r>
            <a:r>
              <a:rPr lang="en-US" altLang="en-US" sz="3300" i="1" dirty="0">
                <a:cs typeface="Times New Roman" panose="02020603050405020304" pitchFamily="18" charset="0"/>
              </a:rPr>
              <a:t>elements</a:t>
            </a:r>
            <a:r>
              <a:rPr lang="en-US" altLang="en-US" sz="3300" dirty="0">
                <a:cs typeface="Times New Roman" panose="02020603050405020304" pitchFamily="18" charset="0"/>
              </a:rPr>
              <a:t>. The Java Collections Framework supports two types of collections:</a:t>
            </a:r>
          </a:p>
          <a:p>
            <a:pPr>
              <a:buFont typeface="Wingdings" panose="05000000000000000000" pitchFamily="2" charset="2"/>
              <a:buChar char="§"/>
              <a:defRPr/>
            </a:pPr>
            <a:r>
              <a:rPr lang="en-US" altLang="en-US" sz="3000" dirty="0">
                <a:cs typeface="Times New Roman" panose="02020603050405020304" pitchFamily="18" charset="0"/>
              </a:rPr>
              <a:t>One, for storing a collection , is simply called collection.</a:t>
            </a:r>
          </a:p>
          <a:p>
            <a:pPr>
              <a:buFont typeface="Wingdings" panose="05000000000000000000" pitchFamily="2" charset="2"/>
              <a:buChar char="§"/>
              <a:defRPr/>
            </a:pPr>
            <a:r>
              <a:rPr lang="en-US" altLang="en-US" sz="3000" dirty="0">
                <a:cs typeface="Times New Roman" panose="02020603050405020304" pitchFamily="18" charset="0"/>
              </a:rPr>
              <a:t>The other, for storing key/value pairs, is called a </a:t>
            </a:r>
            <a:r>
              <a:rPr lang="en-US" altLang="en-US" sz="3000" b="1" dirty="0">
                <a:cs typeface="Times New Roman" panose="02020603050405020304" pitchFamily="18" charset="0"/>
              </a:rPr>
              <a:t>map</a:t>
            </a:r>
            <a:r>
              <a:rPr lang="en-US" altLang="en-US" sz="3000" dirty="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B1B63312-8F7E-40DA-A393-6E3CDB17E76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85DBF76-AD4E-49A7-8135-254D48E4B935}" type="slidenum">
              <a:rPr lang="en-US" altLang="en-US" sz="1400"/>
              <a:pPr>
                <a:spcBef>
                  <a:spcPct val="0"/>
                </a:spcBef>
                <a:buClrTx/>
                <a:buSzTx/>
                <a:buFontTx/>
                <a:buNone/>
              </a:pPr>
              <a:t>5</a:t>
            </a:fld>
            <a:endParaRPr lang="en-US" altLang="en-US" sz="1400"/>
          </a:p>
        </p:txBody>
      </p:sp>
      <p:sp>
        <p:nvSpPr>
          <p:cNvPr id="8195" name="Rectangle 2">
            <a:extLst>
              <a:ext uri="{FF2B5EF4-FFF2-40B4-BE49-F238E27FC236}">
                <a16:creationId xmlns:a16="http://schemas.microsoft.com/office/drawing/2014/main" id="{00C97348-FFA7-488B-A8AB-0F87F5B6D802}"/>
              </a:ext>
            </a:extLst>
          </p:cNvPr>
          <p:cNvSpPr>
            <a:spLocks noGrp="1" noChangeArrowheads="1"/>
          </p:cNvSpPr>
          <p:nvPr>
            <p:ph type="title"/>
          </p:nvPr>
        </p:nvSpPr>
        <p:spPr>
          <a:xfrm>
            <a:off x="685800" y="228600"/>
            <a:ext cx="7924800" cy="1143000"/>
          </a:xfrm>
          <a:noFill/>
        </p:spPr>
        <p:txBody>
          <a:bodyPr/>
          <a:lstStyle/>
          <a:p>
            <a:r>
              <a:rPr lang="en-US" altLang="en-US"/>
              <a:t>Java Collection Framework hierarchy, cont.</a:t>
            </a:r>
          </a:p>
        </p:txBody>
      </p:sp>
      <p:sp>
        <p:nvSpPr>
          <p:cNvPr id="8197" name="Rectangle 7">
            <a:extLst>
              <a:ext uri="{FF2B5EF4-FFF2-40B4-BE49-F238E27FC236}">
                <a16:creationId xmlns:a16="http://schemas.microsoft.com/office/drawing/2014/main" id="{35E51C40-F8E6-4E45-B727-17C6B09D978D}"/>
              </a:ext>
            </a:extLst>
          </p:cNvPr>
          <p:cNvSpPr>
            <a:spLocks noGrp="1" noChangeArrowheads="1"/>
          </p:cNvSpPr>
          <p:nvPr>
            <p:ph type="body" idx="1"/>
          </p:nvPr>
        </p:nvSpPr>
        <p:spPr>
          <a:xfrm>
            <a:off x="349250" y="1676400"/>
            <a:ext cx="8458200" cy="530225"/>
          </a:xfrm>
          <a:noFill/>
        </p:spPr>
        <p:txBody>
          <a:bodyPr/>
          <a:lstStyle/>
          <a:p>
            <a:pPr marL="0" indent="0">
              <a:buFont typeface="Monotype Sorts"/>
              <a:buNone/>
            </a:pPr>
            <a:r>
              <a:rPr lang="en-US" altLang="en-US">
                <a:cs typeface="Times New Roman" panose="02020603050405020304" pitchFamily="18" charset="0"/>
              </a:rPr>
              <a:t>Set and List are subinterfaces of Collection.</a:t>
            </a:r>
          </a:p>
        </p:txBody>
      </p:sp>
      <p:pic>
        <p:nvPicPr>
          <p:cNvPr id="8200" name="Picture 9">
            <a:extLst>
              <a:ext uri="{FF2B5EF4-FFF2-40B4-BE49-F238E27FC236}">
                <a16:creationId xmlns:a16="http://schemas.microsoft.com/office/drawing/2014/main" id="{7286B506-3A46-4905-BD72-EA2C0E38337D}"/>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2439988"/>
            <a:ext cx="846455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BA76F8C3-EDAC-4497-89F5-7C1D8FBA171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85545F6-7B67-4637-91F4-F67F966C6F3B}" type="slidenum">
              <a:rPr lang="en-US" altLang="en-US" sz="1400"/>
              <a:pPr>
                <a:spcBef>
                  <a:spcPct val="0"/>
                </a:spcBef>
                <a:buClrTx/>
                <a:buSzTx/>
                <a:buFontTx/>
                <a:buNone/>
              </a:pPr>
              <a:t>6</a:t>
            </a:fld>
            <a:endParaRPr lang="en-US" altLang="en-US" sz="1400"/>
          </a:p>
        </p:txBody>
      </p:sp>
      <p:sp>
        <p:nvSpPr>
          <p:cNvPr id="9219" name="Rectangle 2">
            <a:extLst>
              <a:ext uri="{FF2B5EF4-FFF2-40B4-BE49-F238E27FC236}">
                <a16:creationId xmlns:a16="http://schemas.microsoft.com/office/drawing/2014/main" id="{FB6B38DF-5B76-424A-BCD3-885AEE1234E6}"/>
              </a:ext>
            </a:extLst>
          </p:cNvPr>
          <p:cNvSpPr>
            <a:spLocks noGrp="1" noChangeArrowheads="1"/>
          </p:cNvSpPr>
          <p:nvPr>
            <p:ph type="title"/>
          </p:nvPr>
        </p:nvSpPr>
        <p:spPr>
          <a:xfrm>
            <a:off x="4876800" y="76200"/>
            <a:ext cx="4114800" cy="381000"/>
          </a:xfrm>
          <a:noFill/>
        </p:spPr>
        <p:txBody>
          <a:bodyPr/>
          <a:lstStyle/>
          <a:p>
            <a:r>
              <a:rPr lang="en-US" altLang="en-US" sz="2400" dirty="0"/>
              <a:t>The Collection Interface</a:t>
            </a:r>
          </a:p>
        </p:txBody>
      </p:sp>
      <p:sp>
        <p:nvSpPr>
          <p:cNvPr id="9228" name="Rectangle 4">
            <a:extLst>
              <a:ext uri="{FF2B5EF4-FFF2-40B4-BE49-F238E27FC236}">
                <a16:creationId xmlns:a16="http://schemas.microsoft.com/office/drawing/2014/main" id="{3CA40F2D-FB4A-41F0-8115-DABE06496901}"/>
              </a:ext>
            </a:extLst>
          </p:cNvPr>
          <p:cNvSpPr>
            <a:spLocks noGrp="1" noChangeArrowheads="1"/>
          </p:cNvSpPr>
          <p:nvPr>
            <p:ph type="body" idx="1"/>
          </p:nvPr>
        </p:nvSpPr>
        <p:spPr>
          <a:xfrm>
            <a:off x="4114800" y="1150938"/>
            <a:ext cx="4800600" cy="698500"/>
          </a:xfrm>
        </p:spPr>
        <p:txBody>
          <a:bodyPr/>
          <a:lstStyle/>
          <a:p>
            <a:pPr marL="0" indent="0">
              <a:lnSpc>
                <a:spcPct val="90000"/>
              </a:lnSpc>
              <a:spcBef>
                <a:spcPct val="0"/>
              </a:spcBef>
              <a:buFont typeface="Monotype Sorts"/>
              <a:buNone/>
            </a:pPr>
            <a:r>
              <a:rPr lang="en-US" altLang="en-US" sz="1800" dirty="0">
                <a:solidFill>
                  <a:srgbClr val="C00000"/>
                </a:solidFill>
                <a:cs typeface="Times New Roman" panose="02020603050405020304" pitchFamily="18" charset="0"/>
              </a:rPr>
              <a:t>The Collection interface is for manipulating a collection of objects.</a:t>
            </a:r>
            <a:r>
              <a:rPr lang="en-US" altLang="en-US" sz="2400" dirty="0">
                <a:solidFill>
                  <a:srgbClr val="C00000"/>
                </a:solidFill>
                <a:latin typeface="Courier"/>
                <a:cs typeface="Times New Roman" panose="02020603050405020304" pitchFamily="18" charset="0"/>
              </a:rPr>
              <a:t> </a:t>
            </a:r>
            <a:endParaRPr lang="en-US" altLang="en-US" sz="2400" noProof="1">
              <a:solidFill>
                <a:srgbClr val="C00000"/>
              </a:solidFill>
              <a:latin typeface="Courier"/>
              <a:cs typeface="Times New Roman" panose="02020603050405020304" pitchFamily="18" charset="0"/>
            </a:endParaRPr>
          </a:p>
        </p:txBody>
      </p:sp>
      <p:graphicFrame>
        <p:nvGraphicFramePr>
          <p:cNvPr id="9230" name="Object 2" descr="Java Iterable UML diagram">
            <a:extLst>
              <a:ext uri="{FF2B5EF4-FFF2-40B4-BE49-F238E27FC236}">
                <a16:creationId xmlns:a16="http://schemas.microsoft.com/office/drawing/2014/main" id="{888E61D4-BD88-43B3-AFFE-A2751C066FD7}"/>
              </a:ext>
            </a:extLst>
          </p:cNvPr>
          <p:cNvGraphicFramePr>
            <a:graphicFrameLocks noChangeAspect="1"/>
          </p:cNvGraphicFramePr>
          <p:nvPr>
            <p:extLst>
              <p:ext uri="{D42A27DB-BD31-4B8C-83A1-F6EECF244321}">
                <p14:modId xmlns:p14="http://schemas.microsoft.com/office/powerpoint/2010/main" val="1816262713"/>
              </p:ext>
            </p:extLst>
          </p:nvPr>
        </p:nvGraphicFramePr>
        <p:xfrm>
          <a:off x="306388" y="1588"/>
          <a:ext cx="6700837" cy="6502400"/>
        </p:xfrm>
        <a:graphic>
          <a:graphicData uri="http://schemas.openxmlformats.org/presentationml/2006/ole">
            <mc:AlternateContent xmlns:mc="http://schemas.openxmlformats.org/markup-compatibility/2006">
              <mc:Choice xmlns:v="urn:schemas-microsoft-com:vml" Requires="v">
                <p:oleObj name="Picture" r:id="rId2" imgW="4833692" imgH="4678502" progId="Word.Picture.8">
                  <p:embed/>
                </p:oleObj>
              </mc:Choice>
              <mc:Fallback>
                <p:oleObj name="Picture" r:id="rId2" imgW="4833692" imgH="4678502"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1588"/>
                        <a:ext cx="6700837" cy="650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1" name="Rectangle 8">
            <a:hlinkClick r:id="rId4"/>
            <a:extLst>
              <a:ext uri="{FF2B5EF4-FFF2-40B4-BE49-F238E27FC236}">
                <a16:creationId xmlns:a16="http://schemas.microsoft.com/office/drawing/2014/main" id="{C15A7506-CF8E-4374-8C9C-2CBEBCB4817C}"/>
              </a:ext>
            </a:extLst>
          </p:cNvPr>
          <p:cNvSpPr>
            <a:spLocks noChangeArrowheads="1"/>
          </p:cNvSpPr>
          <p:nvPr/>
        </p:nvSpPr>
        <p:spPr bwMode="auto">
          <a:xfrm>
            <a:off x="7075488" y="5516563"/>
            <a:ext cx="185102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TestCollection</a:t>
            </a:r>
          </a:p>
        </p:txBody>
      </p:sp>
      <p:sp>
        <p:nvSpPr>
          <p:cNvPr id="9232" name="Rectangle 8">
            <a:hlinkClick r:id="rId5"/>
            <a:extLst>
              <a:ext uri="{FF2B5EF4-FFF2-40B4-BE49-F238E27FC236}">
                <a16:creationId xmlns:a16="http://schemas.microsoft.com/office/drawing/2014/main" id="{E0E13C1A-A19D-4C63-AE8F-3D8DACF5512A}"/>
              </a:ext>
            </a:extLst>
          </p:cNvPr>
          <p:cNvSpPr>
            <a:spLocks noChangeArrowheads="1"/>
          </p:cNvSpPr>
          <p:nvPr/>
        </p:nvSpPr>
        <p:spPr bwMode="auto">
          <a:xfrm>
            <a:off x="7073900" y="4872038"/>
            <a:ext cx="18494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UML Diagram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3F10183-D658-4720-B100-39EB588FF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F55A25-6E2B-4211-BA00-ED24301BA8C4}" type="slidenum">
              <a:rPr lang="en-US" altLang="en-US" sz="1400"/>
              <a:pPr>
                <a:spcBef>
                  <a:spcPct val="0"/>
                </a:spcBef>
                <a:buClrTx/>
                <a:buSzTx/>
                <a:buFontTx/>
                <a:buNone/>
              </a:pPr>
              <a:t>7</a:t>
            </a:fld>
            <a:endParaRPr lang="en-US" altLang="en-US" sz="1400"/>
          </a:p>
        </p:txBody>
      </p:sp>
      <p:sp>
        <p:nvSpPr>
          <p:cNvPr id="10243" name="Rectangle 2">
            <a:extLst>
              <a:ext uri="{FF2B5EF4-FFF2-40B4-BE49-F238E27FC236}">
                <a16:creationId xmlns:a16="http://schemas.microsoft.com/office/drawing/2014/main" id="{146E42AC-FCAD-4344-8486-A49474BE15B0}"/>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Collections Interface</a:t>
            </a:r>
          </a:p>
        </p:txBody>
      </p:sp>
      <p:sp>
        <p:nvSpPr>
          <p:cNvPr id="10245" name="Rectangle 4">
            <a:extLst>
              <a:ext uri="{FF2B5EF4-FFF2-40B4-BE49-F238E27FC236}">
                <a16:creationId xmlns:a16="http://schemas.microsoft.com/office/drawing/2014/main" id="{F4442C79-6ACC-4E94-978B-95D0BEB2EF34}"/>
              </a:ext>
            </a:extLst>
          </p:cNvPr>
          <p:cNvSpPr>
            <a:spLocks noGrp="1" noChangeArrowheads="1"/>
          </p:cNvSpPr>
          <p:nvPr>
            <p:ph type="body" idx="1"/>
          </p:nvPr>
        </p:nvSpPr>
        <p:spPr>
          <a:xfrm>
            <a:off x="237836" y="1143000"/>
            <a:ext cx="8229600" cy="4800600"/>
          </a:xfrm>
          <a:solidFill>
            <a:schemeClr val="bg1"/>
          </a:solidFill>
        </p:spPr>
        <p:txBody>
          <a:bodyPr/>
          <a:lstStyle/>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Collection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interface defines the common operations for data structures (stacks, queues, lists, priority queues, lists, sets)</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is also a Collections class that has static methods inherited by all the subclasses</a:t>
            </a:r>
          </a:p>
          <a:p>
            <a:pPr marL="742950" marR="0" lvl="1" indent="-285750">
              <a:lnSpc>
                <a:spcPct val="107000"/>
              </a:lnSpc>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Sort, search, min/max find, reverse, etc. (They return null if it’s empty)</a:t>
            </a:r>
          </a:p>
          <a:p>
            <a:pPr>
              <a:spcBef>
                <a:spcPts val="0"/>
              </a:spcBef>
              <a:spcAft>
                <a:spcPts val="600"/>
              </a:spcAft>
              <a:buFont typeface="Wingdings" panose="05000000000000000000" pitchFamily="2" charset="2"/>
              <a:buChar char="§"/>
            </a:pPr>
            <a:r>
              <a:rPr lang="en-US" sz="1800" b="1" dirty="0">
                <a:effectLst/>
                <a:latin typeface="Calibri"/>
                <a:ea typeface="Calibri" panose="020F0502020204030204" pitchFamily="34" charset="0"/>
                <a:cs typeface="Times New Roman"/>
              </a:rPr>
              <a:t>Lists</a:t>
            </a:r>
            <a:r>
              <a:rPr lang="en-US" sz="1800" dirty="0">
                <a:effectLst/>
                <a:latin typeface="Calibri"/>
                <a:ea typeface="Calibri" panose="020F0502020204030204" pitchFamily="34" charset="0"/>
                <a:cs typeface="Times New Roman"/>
              </a:rPr>
              <a:t> store an ordered </a:t>
            </a:r>
            <a:r>
              <a:rPr lang="en-US" sz="1800" dirty="0">
                <a:latin typeface="Calibri"/>
                <a:ea typeface="Calibri" panose="020F0502020204030204" pitchFamily="34" charset="0"/>
                <a:cs typeface="Times New Roman"/>
              </a:rPr>
              <a:t>(not sorted) collection</a:t>
            </a:r>
            <a:r>
              <a:rPr lang="en-US" sz="1800" dirty="0">
                <a:effectLst/>
                <a:latin typeface="Calibri"/>
                <a:ea typeface="Calibri" panose="020F0502020204030204" pitchFamily="34" charset="0"/>
                <a:cs typeface="Times New Roman"/>
              </a:rPr>
              <a:t> of elements (duplicates ok)</a:t>
            </a:r>
          </a:p>
          <a:p>
            <a:pPr marR="0" lvl="0">
              <a:spcBef>
                <a:spcPts val="0"/>
              </a:spcBef>
              <a:spcAft>
                <a:spcPts val="600"/>
              </a:spcAft>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Sets</a:t>
            </a:r>
            <a:r>
              <a:rPr lang="en-US" sz="1800" dirty="0">
                <a:effectLst/>
                <a:latin typeface="Calibri" panose="020F0502020204030204" pitchFamily="34" charset="0"/>
                <a:ea typeface="Calibri" panose="020F0502020204030204" pitchFamily="34" charset="0"/>
                <a:cs typeface="Times New Roman" panose="02020603050405020304" pitchFamily="18" charset="0"/>
              </a:rPr>
              <a:t> store a group of nonduplicate elements</a:t>
            </a:r>
          </a:p>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Collections are sometimes called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containers</a:t>
            </a:r>
          </a:p>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They can store, manipulate, retrieve &amp; aggregate data</a:t>
            </a:r>
          </a:p>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Some containers just have a collection of elements</a:t>
            </a:r>
          </a:p>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Others, called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dirty="0">
                <a:effectLst/>
                <a:latin typeface="Calibri" panose="020F0502020204030204" pitchFamily="34" charset="0"/>
                <a:ea typeface="Calibri" panose="020F0502020204030204" pitchFamily="34" charset="0"/>
                <a:cs typeface="Times New Roman" panose="02020603050405020304" pitchFamily="18" charset="0"/>
              </a:rPr>
              <a:t>, store key/value pairs</a:t>
            </a:r>
          </a:p>
          <a:p>
            <a:pPr>
              <a:spcAft>
                <a:spcPts val="600"/>
              </a:spcAft>
              <a:buFont typeface="Wingdings" panose="05000000000000000000" pitchFamily="2" charset="2"/>
              <a:buChar char="§"/>
            </a:pPr>
            <a:r>
              <a:rPr lang="en-US" sz="1800" dirty="0">
                <a:effectLst/>
                <a:latin typeface="Calibri"/>
                <a:ea typeface="Calibri" panose="020F0502020204030204" pitchFamily="34" charset="0"/>
                <a:cs typeface="Times New Roman"/>
              </a:rPr>
              <a:t>Collections interface has add, remove &amp; query methods (size, </a:t>
            </a:r>
            <a:r>
              <a:rPr lang="en-US" sz="1800" dirty="0" err="1">
                <a:effectLst/>
                <a:latin typeface="Calibri"/>
                <a:ea typeface="Calibri" panose="020F0502020204030204" pitchFamily="34" charset="0"/>
                <a:cs typeface="Times New Roman"/>
              </a:rPr>
              <a:t>isEmpty</a:t>
            </a:r>
            <a:r>
              <a:rPr lang="en-US" sz="1800" dirty="0">
                <a:effectLst/>
                <a:latin typeface="Calibri"/>
                <a:ea typeface="Calibri" panose="020F0502020204030204" pitchFamily="34" charset="0"/>
                <a:cs typeface="Times New Roman"/>
              </a:rPr>
              <a:t>, contains…)</a:t>
            </a:r>
            <a:r>
              <a:rPr lang="en-US" sz="1800" dirty="0">
                <a:latin typeface="Calibri"/>
                <a:ea typeface="Calibri" panose="020F0502020204030204" pitchFamily="34" charset="0"/>
                <a:cs typeface="Times New Roman"/>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ts val="0"/>
              </a:spcBef>
              <a:spcAft>
                <a:spcPts val="600"/>
              </a:spcAft>
              <a:buFont typeface="Wingdings" panose="05000000000000000000" pitchFamily="2" charset="2"/>
              <a:buChar cha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toArray</a:t>
            </a:r>
            <a:r>
              <a:rPr lang="en-US" sz="1800" dirty="0">
                <a:effectLst/>
                <a:latin typeface="Calibri" panose="020F0502020204030204" pitchFamily="34" charset="0"/>
                <a:ea typeface="Calibri" panose="020F0502020204030204" pitchFamily="34" charset="0"/>
                <a:cs typeface="Times New Roman" panose="02020603050405020304" pitchFamily="18" charset="0"/>
              </a:rPr>
              <a:t>() will return an array of the elements</a:t>
            </a:r>
          </a:p>
          <a:p>
            <a:pPr marR="0" lvl="0">
              <a:spcBef>
                <a:spcPts val="0"/>
              </a:spcBef>
              <a:spcAft>
                <a:spcPts val="6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To convert from array to a list use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Arrays.asList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a:spcAft>
                <a:spcPts val="6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endParaRPr lang="en-US" altLang="en-US" sz="3600" dirty="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3FE77-55B2-4900-BCFA-5F29883959E2}"/>
              </a:ext>
            </a:extLst>
          </p:cNvPr>
          <p:cNvSpPr>
            <a:spLocks noGrp="1"/>
          </p:cNvSpPr>
          <p:nvPr>
            <p:ph type="title"/>
          </p:nvPr>
        </p:nvSpPr>
        <p:spPr/>
        <p:txBody>
          <a:bodyPr/>
          <a:lstStyle/>
          <a:p>
            <a:r>
              <a:rPr lang="en-US" dirty="0"/>
              <a:t>Collections Example</a:t>
            </a:r>
          </a:p>
        </p:txBody>
      </p:sp>
      <p:sp>
        <p:nvSpPr>
          <p:cNvPr id="3" name="Content Placeholder 2">
            <a:extLst>
              <a:ext uri="{FF2B5EF4-FFF2-40B4-BE49-F238E27FC236}">
                <a16:creationId xmlns:a16="http://schemas.microsoft.com/office/drawing/2014/main" id="{F6FD2DAA-E21C-436C-9E42-D00F759598C6}"/>
              </a:ext>
            </a:extLst>
          </p:cNvPr>
          <p:cNvSpPr>
            <a:spLocks noGrp="1"/>
          </p:cNvSpPr>
          <p:nvPr>
            <p:ph idx="1"/>
          </p:nvPr>
        </p:nvSpPr>
        <p:spPr>
          <a:xfrm>
            <a:off x="685800" y="1371599"/>
            <a:ext cx="7772400" cy="5027613"/>
          </a:xfrm>
          <a:solidFill>
            <a:schemeClr val="bg1"/>
          </a:solidFill>
        </p:spPr>
        <p:txBody>
          <a:bodyPr/>
          <a:lstStyle/>
          <a:p>
            <a:pPr marL="0" indent="0">
              <a:buNone/>
            </a:pPr>
            <a:r>
              <a:rPr lang="en-US" sz="1800" dirty="0"/>
              <a:t>import java.util.Arrays;</a:t>
            </a:r>
          </a:p>
          <a:p>
            <a:pPr marL="0" indent="0">
              <a:buNone/>
            </a:pPr>
            <a:r>
              <a:rPr lang="en-US" sz="1800" dirty="0"/>
              <a:t>import java.util.Collections;</a:t>
            </a:r>
          </a:p>
          <a:p>
            <a:pPr marL="0" indent="0">
              <a:buNone/>
            </a:pPr>
            <a:r>
              <a:rPr lang="en-US" sz="1800" dirty="0"/>
              <a:t>import java.util.List;</a:t>
            </a:r>
          </a:p>
          <a:p>
            <a:pPr marL="0" indent="0">
              <a:buNone/>
            </a:pPr>
            <a:endParaRPr lang="en-US" sz="1800" dirty="0"/>
          </a:p>
          <a:p>
            <a:pPr marL="0" indent="0">
              <a:buNone/>
            </a:pPr>
            <a:r>
              <a:rPr lang="en-US" sz="1800" dirty="0"/>
              <a:t>public class CollectionsExample </a:t>
            </a:r>
          </a:p>
          <a:p>
            <a:pPr marL="0" indent="0">
              <a:buNone/>
            </a:pPr>
            <a:r>
              <a:rPr lang="en-US" sz="1800" dirty="0"/>
              <a:t>{</a:t>
            </a:r>
          </a:p>
          <a:p>
            <a:pPr marL="0" indent="0">
              <a:buNone/>
            </a:pPr>
            <a:r>
              <a:rPr lang="en-US" sz="1800" dirty="0"/>
              <a:t>   public static void main(String[] </a:t>
            </a:r>
            <a:r>
              <a:rPr lang="en-US" sz="1800" dirty="0" err="1"/>
              <a:t>args</a:t>
            </a:r>
            <a:r>
              <a:rPr lang="en-US" sz="1800" dirty="0"/>
              <a:t>)    {</a:t>
            </a:r>
            <a:endParaRPr lang="en-US" sz="1800" dirty="0">
              <a:cs typeface="Times New Roman"/>
            </a:endParaRPr>
          </a:p>
          <a:p>
            <a:pPr marL="0" indent="0">
              <a:buNone/>
            </a:pPr>
            <a:r>
              <a:rPr lang="en-US" sz="1800" dirty="0">
                <a:cs typeface="Times New Roman"/>
              </a:rPr>
              <a:t>        Integer [ ] array1 = {31,1,82,3,105,89,13,21,34,55};</a:t>
            </a:r>
            <a:endParaRPr lang="en-US" sz="1800" dirty="0"/>
          </a:p>
          <a:p>
            <a:pPr marL="0" indent="0">
              <a:buNone/>
            </a:pPr>
            <a:r>
              <a:rPr lang="en-US" sz="1800" dirty="0"/>
              <a:t>        List&lt;Integer&gt; list1 = </a:t>
            </a:r>
            <a:r>
              <a:rPr lang="en-US" sz="1800" dirty="0" err="1"/>
              <a:t>Arrays.asList</a:t>
            </a:r>
            <a:r>
              <a:rPr lang="en-US" sz="1800" dirty="0"/>
              <a:t>(array1);</a:t>
            </a:r>
            <a:endParaRPr lang="en-US" sz="1800" dirty="0">
              <a:cs typeface="Times New Roman"/>
            </a:endParaRPr>
          </a:p>
          <a:p>
            <a:pPr marL="0" indent="0">
              <a:buNone/>
            </a:pPr>
            <a:r>
              <a:rPr lang="en-US" sz="1800" dirty="0"/>
              <a:t>        System.out.println(list1);</a:t>
            </a:r>
          </a:p>
          <a:p>
            <a:pPr marL="0" indent="0">
              <a:buNone/>
            </a:pPr>
            <a:r>
              <a:rPr lang="en-US" sz="1800" dirty="0"/>
              <a:t>        Collections.sort(list1);</a:t>
            </a:r>
          </a:p>
          <a:p>
            <a:pPr marL="0" indent="0">
              <a:buNone/>
            </a:pPr>
            <a:r>
              <a:rPr lang="en-US" sz="1800" dirty="0"/>
              <a:t>        System.out.println(list1);</a:t>
            </a:r>
          </a:p>
          <a:p>
            <a:pPr marL="0" indent="0">
              <a:buNone/>
            </a:pPr>
            <a:r>
              <a:rPr lang="en-US" sz="1800" dirty="0"/>
              <a:t>        System.out.println("position of 21: "+ Collections.binarySearch(list1, 21));  </a:t>
            </a:r>
          </a:p>
          <a:p>
            <a:pPr marL="0" indent="0">
              <a:buNone/>
            </a:pPr>
            <a:r>
              <a:rPr lang="en-US" sz="1800" dirty="0"/>
              <a:t>    }</a:t>
            </a:r>
          </a:p>
          <a:p>
            <a:pPr marL="0" indent="0">
              <a:buNone/>
            </a:pPr>
            <a:r>
              <a:rPr lang="en-US" sz="1800" dirty="0"/>
              <a:t>}</a:t>
            </a:r>
          </a:p>
        </p:txBody>
      </p:sp>
      <p:sp>
        <p:nvSpPr>
          <p:cNvPr id="4" name="Slide Number Placeholder 3">
            <a:extLst>
              <a:ext uri="{FF2B5EF4-FFF2-40B4-BE49-F238E27FC236}">
                <a16:creationId xmlns:a16="http://schemas.microsoft.com/office/drawing/2014/main" id="{A46B0094-AE43-4A56-A175-64638188D7D2}"/>
              </a:ext>
            </a:extLst>
          </p:cNvPr>
          <p:cNvSpPr>
            <a:spLocks noGrp="1"/>
          </p:cNvSpPr>
          <p:nvPr>
            <p:ph type="sldNum" sz="quarter" idx="11"/>
          </p:nvPr>
        </p:nvSpPr>
        <p:spPr/>
        <p:txBody>
          <a:bodyPr/>
          <a:lstStyle/>
          <a:p>
            <a:fld id="{566BF5F8-30B9-41F2-958F-D75A00416E71}" type="slidenum">
              <a:rPr lang="en-US" altLang="en-US" smtClean="0"/>
              <a:pPr/>
              <a:t>8</a:t>
            </a:fld>
            <a:endParaRPr lang="en-US" altLang="en-US"/>
          </a:p>
        </p:txBody>
      </p:sp>
    </p:spTree>
    <p:extLst>
      <p:ext uri="{BB962C8B-B14F-4D97-AF65-F5344CB8AC3E}">
        <p14:creationId xmlns:p14="http://schemas.microsoft.com/office/powerpoint/2010/main" val="704258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0D89-EB79-46B6-16AD-7194AD952672}"/>
              </a:ext>
            </a:extLst>
          </p:cNvPr>
          <p:cNvSpPr>
            <a:spLocks noGrp="1"/>
          </p:cNvSpPr>
          <p:nvPr>
            <p:ph type="title"/>
          </p:nvPr>
        </p:nvSpPr>
        <p:spPr/>
        <p:txBody>
          <a:bodyPr/>
          <a:lstStyle/>
          <a:p>
            <a:r>
              <a:rPr lang="en-US" dirty="0"/>
              <a:t>Collections Method</a:t>
            </a:r>
          </a:p>
        </p:txBody>
      </p:sp>
      <p:sp>
        <p:nvSpPr>
          <p:cNvPr id="3" name="Content Placeholder 2">
            <a:extLst>
              <a:ext uri="{FF2B5EF4-FFF2-40B4-BE49-F238E27FC236}">
                <a16:creationId xmlns:a16="http://schemas.microsoft.com/office/drawing/2014/main" id="{E7E281FF-8AE0-7AB2-DFCA-D6407D1575F6}"/>
              </a:ext>
            </a:extLst>
          </p:cNvPr>
          <p:cNvSpPr>
            <a:spLocks noGrp="1"/>
          </p:cNvSpPr>
          <p:nvPr>
            <p:ph idx="1"/>
          </p:nvPr>
        </p:nvSpPr>
        <p:spPr/>
        <p:txBody>
          <a:bodyPr/>
          <a:lstStyle/>
          <a:p>
            <a:r>
              <a:rPr lang="en-US" dirty="0"/>
              <a:t>Practice using contains, </a:t>
            </a:r>
            <a:r>
              <a:rPr lang="en-US" dirty="0" err="1"/>
              <a:t>removeAll</a:t>
            </a:r>
            <a:r>
              <a:rPr lang="en-US" dirty="0"/>
              <a:t>, &amp; </a:t>
            </a:r>
            <a:r>
              <a:rPr lang="en-US" dirty="0" err="1"/>
              <a:t>retainAll</a:t>
            </a:r>
            <a:endParaRPr lang="en-US" dirty="0"/>
          </a:p>
        </p:txBody>
      </p:sp>
      <p:sp>
        <p:nvSpPr>
          <p:cNvPr id="4" name="Slide Number Placeholder 3">
            <a:extLst>
              <a:ext uri="{FF2B5EF4-FFF2-40B4-BE49-F238E27FC236}">
                <a16:creationId xmlns:a16="http://schemas.microsoft.com/office/drawing/2014/main" id="{1036F6F4-4899-C4E6-D111-95E7717D91CE}"/>
              </a:ext>
            </a:extLst>
          </p:cNvPr>
          <p:cNvSpPr>
            <a:spLocks noGrp="1"/>
          </p:cNvSpPr>
          <p:nvPr>
            <p:ph type="sldNum" sz="quarter" idx="11"/>
          </p:nvPr>
        </p:nvSpPr>
        <p:spPr/>
        <p:txBody>
          <a:bodyPr/>
          <a:lstStyle/>
          <a:p>
            <a:fld id="{566BF5F8-30B9-41F2-958F-D75A00416E71}" type="slidenum">
              <a:rPr lang="en-US" altLang="en-US" smtClean="0"/>
              <a:pPr/>
              <a:t>9</a:t>
            </a:fld>
            <a:endParaRPr lang="en-US" altLang="en-US"/>
          </a:p>
        </p:txBody>
      </p:sp>
    </p:spTree>
    <p:extLst>
      <p:ext uri="{BB962C8B-B14F-4D97-AF65-F5344CB8AC3E}">
        <p14:creationId xmlns:p14="http://schemas.microsoft.com/office/powerpoint/2010/main" val="2542674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3F10183-D658-4720-B100-39EB588FF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F55A25-6E2B-4211-BA00-ED24301BA8C4}" type="slidenum">
              <a:rPr lang="en-US" altLang="en-US" sz="1400"/>
              <a:pPr>
                <a:spcBef>
                  <a:spcPct val="0"/>
                </a:spcBef>
                <a:buClrTx/>
                <a:buSzTx/>
                <a:buFontTx/>
                <a:buNone/>
              </a:pPr>
              <a:t>10</a:t>
            </a:fld>
            <a:endParaRPr lang="en-US" altLang="en-US" sz="1400"/>
          </a:p>
        </p:txBody>
      </p:sp>
      <p:sp>
        <p:nvSpPr>
          <p:cNvPr id="10243" name="Rectangle 2">
            <a:extLst>
              <a:ext uri="{FF2B5EF4-FFF2-40B4-BE49-F238E27FC236}">
                <a16:creationId xmlns:a16="http://schemas.microsoft.com/office/drawing/2014/main" id="{146E42AC-FCAD-4344-8486-A49474BE15B0}"/>
              </a:ext>
            </a:extLst>
          </p:cNvPr>
          <p:cNvSpPr>
            <a:spLocks noGrp="1" noChangeArrowheads="1"/>
          </p:cNvSpPr>
          <p:nvPr>
            <p:ph type="title"/>
          </p:nvPr>
        </p:nvSpPr>
        <p:spPr>
          <a:xfrm>
            <a:off x="685800" y="228600"/>
            <a:ext cx="7924800" cy="914400"/>
          </a:xfrm>
          <a:noFill/>
        </p:spPr>
        <p:txBody>
          <a:bodyPr/>
          <a:lstStyle/>
          <a:p>
            <a:r>
              <a:rPr lang="en-US" altLang="en-US">
                <a:cs typeface="Times New Roman" panose="02020603050405020304" pitchFamily="18" charset="0"/>
              </a:rPr>
              <a:t>Iterators</a:t>
            </a:r>
          </a:p>
        </p:txBody>
      </p:sp>
      <p:sp>
        <p:nvSpPr>
          <p:cNvPr id="10245" name="Rectangle 4">
            <a:extLst>
              <a:ext uri="{FF2B5EF4-FFF2-40B4-BE49-F238E27FC236}">
                <a16:creationId xmlns:a16="http://schemas.microsoft.com/office/drawing/2014/main" id="{F4442C79-6ACC-4E94-978B-95D0BEB2EF34}"/>
              </a:ext>
            </a:extLst>
          </p:cNvPr>
          <p:cNvSpPr>
            <a:spLocks noGrp="1" noChangeArrowheads="1"/>
          </p:cNvSpPr>
          <p:nvPr>
            <p:ph type="body" idx="1"/>
          </p:nvPr>
        </p:nvSpPr>
        <p:spPr>
          <a:xfrm>
            <a:off x="381000" y="1524000"/>
            <a:ext cx="8229600" cy="4038600"/>
          </a:xfrm>
          <a:solidFill>
            <a:schemeClr val="bg1"/>
          </a:solidFill>
        </p:spPr>
        <p:txBody>
          <a:bodyPr/>
          <a:lstStyle/>
          <a:p>
            <a:pPr>
              <a:spcAft>
                <a:spcPts val="600"/>
              </a:spcAft>
              <a:buFont typeface="Wingdings" panose="05000000000000000000" pitchFamily="2" charset="2"/>
              <a:buChar char="§"/>
            </a:pPr>
            <a:r>
              <a:rPr lang="en-US" altLang="en-US" sz="2000" dirty="0">
                <a:latin typeface="Calibri" panose="020F0502020204030204" pitchFamily="34" charset="0"/>
                <a:cs typeface="Calibri" panose="020F0502020204030204" pitchFamily="34" charset="0"/>
              </a:rPr>
              <a:t>An</a:t>
            </a:r>
            <a:r>
              <a:rPr lang="en-US" altLang="en-US" sz="2000" b="1" dirty="0">
                <a:latin typeface="Calibri" panose="020F0502020204030204" pitchFamily="34" charset="0"/>
                <a:cs typeface="Calibri" panose="020F0502020204030204" pitchFamily="34" charset="0"/>
              </a:rPr>
              <a:t> iterator</a:t>
            </a:r>
            <a:r>
              <a:rPr lang="en-US" altLang="en-US" sz="2000" dirty="0">
                <a:latin typeface="Calibri" panose="020F0502020204030204" pitchFamily="34" charset="0"/>
                <a:cs typeface="Calibri" panose="020F0502020204030204" pitchFamily="34" charset="0"/>
              </a:rPr>
              <a:t> is an object that will let you go through the elements in some type of collection.</a:t>
            </a:r>
          </a:p>
          <a:p>
            <a:pPr>
              <a:spcAft>
                <a:spcPts val="600"/>
              </a:spcAft>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The Collection interface extends the Iterator interface</a:t>
            </a:r>
          </a:p>
          <a:p>
            <a:pPr marL="342900" marR="0" lvl="0" indent="-342900">
              <a:lnSpc>
                <a:spcPct val="107000"/>
              </a:lnSpc>
              <a:spcBef>
                <a:spcPts val="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It has tools to go through the data structure &amp; hides the details of how data is stored and how Java gets to each element</a:t>
            </a:r>
          </a:p>
          <a:p>
            <a:pPr>
              <a:lnSpc>
                <a:spcPct val="107000"/>
              </a:lnSpc>
              <a:spcBef>
                <a:spcPts val="0"/>
              </a:spcBef>
              <a:spcAft>
                <a:spcPts val="6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Iterators</a:t>
            </a:r>
            <a:r>
              <a:rPr lang="en-US" sz="1800" dirty="0">
                <a:effectLst/>
                <a:latin typeface="Calibri" panose="020F0502020204030204" pitchFamily="34" charset="0"/>
                <a:ea typeface="Calibri" panose="020F0502020204030204" pitchFamily="34" charset="0"/>
                <a:cs typeface="Times New Roman" panose="02020603050405020304" pitchFamily="18" charset="0"/>
              </a:rPr>
              <a:t> has an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iterator()</a:t>
            </a:r>
            <a:r>
              <a:rPr lang="en-US" sz="1800" dirty="0">
                <a:effectLst/>
                <a:latin typeface="Calibri" panose="020F0502020204030204" pitchFamily="34" charset="0"/>
                <a:ea typeface="Calibri" panose="020F0502020204030204" pitchFamily="34" charset="0"/>
                <a:cs typeface="Times New Roman" panose="02020603050405020304" pitchFamily="18" charset="0"/>
              </a:rPr>
              <a:t> method and a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foreach()</a:t>
            </a:r>
            <a:r>
              <a:rPr lang="en-US" sz="1800" dirty="0">
                <a:effectLst/>
                <a:latin typeface="Calibri" panose="020F0502020204030204" pitchFamily="34" charset="0"/>
                <a:ea typeface="Calibri" panose="020F0502020204030204" pitchFamily="34" charset="0"/>
                <a:cs typeface="Times New Roman" panose="02020603050405020304" pitchFamily="18" charset="0"/>
              </a:rPr>
              <a:t> method</a:t>
            </a:r>
          </a:p>
          <a:p>
            <a:pPr marL="342900" marR="0" lvl="0" indent="-342900">
              <a:lnSpc>
                <a:spcPct val="107000"/>
              </a:lnSpc>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iterator</a:t>
            </a:r>
            <a:r>
              <a:rPr lang="en-US" sz="1800" dirty="0">
                <a:effectLst/>
                <a:latin typeface="Calibri" panose="020F0502020204030204" pitchFamily="34" charset="0"/>
                <a:ea typeface="Calibri" panose="020F0502020204030204" pitchFamily="34" charset="0"/>
                <a:cs typeface="Times New Roman" panose="02020603050405020304" pitchFamily="18" charset="0"/>
              </a:rPr>
              <a:t>() method returns an Iterator object</a:t>
            </a:r>
          </a:p>
          <a:p>
            <a:pPr marL="342900" marR="0" lvl="0" indent="-342900">
              <a:lnSpc>
                <a:spcPct val="107000"/>
              </a:lnSpc>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Iterator contains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hasNext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next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remove</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other methods</a:t>
            </a:r>
          </a:p>
          <a:p>
            <a:pPr marL="342900" marR="0" lvl="0" indent="-342900">
              <a:lnSpc>
                <a:spcPct val="107000"/>
              </a:lnSpc>
              <a:spcBef>
                <a:spcPts val="0"/>
              </a:spcBef>
              <a:spcAft>
                <a:spcPts val="6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is also another interface called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ListIterator</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 list collections</a:t>
            </a:r>
          </a:p>
          <a:p>
            <a:pPr marL="342900" marR="0" lvl="0" indent="-342900">
              <a:lnSpc>
                <a:spcPct val="107000"/>
              </a:lnSpc>
              <a:spcBef>
                <a:spcPts val="0"/>
              </a:spcBef>
              <a:spcAft>
                <a:spcPts val="600"/>
              </a:spcAft>
              <a:buFont typeface="Symbol" panose="05050102010706020507" pitchFamily="18" charset="2"/>
              <a:buChar char=""/>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ListIterator</a:t>
            </a:r>
            <a:r>
              <a:rPr lang="en-US" sz="1800" dirty="0">
                <a:effectLst/>
                <a:latin typeface="Calibri" panose="020F0502020204030204" pitchFamily="34" charset="0"/>
                <a:ea typeface="Calibri" panose="020F0502020204030204" pitchFamily="34" charset="0"/>
                <a:cs typeface="Times New Roman" panose="02020603050405020304" pitchFamily="18" charset="0"/>
              </a:rPr>
              <a:t> adds methods to go through list backwards: previous(),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hasPrevious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previousIndex</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Bef>
                <a:spcPts val="0"/>
              </a:spcBef>
              <a:spcAft>
                <a:spcPts val="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Font typeface="Monotype Sorts"/>
              <a:buNone/>
            </a:pPr>
            <a:endParaRPr lang="en-US" altLang="en-US" sz="3600" dirty="0">
              <a:cs typeface="Times New Roman" panose="02020603050405020304" pitchFamily="18" charset="0"/>
            </a:endParaRPr>
          </a:p>
        </p:txBody>
      </p:sp>
      <p:sp>
        <p:nvSpPr>
          <p:cNvPr id="10248" name="Rectangle 8">
            <a:hlinkClick r:id="rId2"/>
            <a:extLst>
              <a:ext uri="{FF2B5EF4-FFF2-40B4-BE49-F238E27FC236}">
                <a16:creationId xmlns:a16="http://schemas.microsoft.com/office/drawing/2014/main" id="{5363087E-928E-41DB-8AF3-D48D7F92D3EE}"/>
              </a:ext>
            </a:extLst>
          </p:cNvPr>
          <p:cNvSpPr>
            <a:spLocks noChangeArrowheads="1"/>
          </p:cNvSpPr>
          <p:nvPr/>
        </p:nvSpPr>
        <p:spPr bwMode="auto">
          <a:xfrm>
            <a:off x="5181600" y="5619750"/>
            <a:ext cx="18494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TestIterator</a:t>
            </a:r>
          </a:p>
        </p:txBody>
      </p:sp>
    </p:spTree>
    <p:extLst>
      <p:ext uri="{BB962C8B-B14F-4D97-AF65-F5344CB8AC3E}">
        <p14:creationId xmlns:p14="http://schemas.microsoft.com/office/powerpoint/2010/main" val="1075790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3F10183-D658-4720-B100-39EB588FF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F55A25-6E2B-4211-BA00-ED24301BA8C4}" type="slidenum">
              <a:rPr lang="en-US" altLang="en-US" sz="1400"/>
              <a:pPr>
                <a:spcBef>
                  <a:spcPct val="0"/>
                </a:spcBef>
                <a:buClrTx/>
                <a:buSzTx/>
                <a:buFontTx/>
                <a:buNone/>
              </a:pPr>
              <a:t>11</a:t>
            </a:fld>
            <a:endParaRPr lang="en-US" altLang="en-US" sz="1400"/>
          </a:p>
        </p:txBody>
      </p:sp>
      <p:sp>
        <p:nvSpPr>
          <p:cNvPr id="10243" name="Rectangle 2">
            <a:extLst>
              <a:ext uri="{FF2B5EF4-FFF2-40B4-BE49-F238E27FC236}">
                <a16:creationId xmlns:a16="http://schemas.microsoft.com/office/drawing/2014/main" id="{146E42AC-FCAD-4344-8486-A49474BE15B0}"/>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Iterators</a:t>
            </a:r>
          </a:p>
        </p:txBody>
      </p:sp>
      <p:sp>
        <p:nvSpPr>
          <p:cNvPr id="10245" name="Rectangle 4">
            <a:extLst>
              <a:ext uri="{FF2B5EF4-FFF2-40B4-BE49-F238E27FC236}">
                <a16:creationId xmlns:a16="http://schemas.microsoft.com/office/drawing/2014/main" id="{F4442C79-6ACC-4E94-978B-95D0BEB2EF34}"/>
              </a:ext>
            </a:extLst>
          </p:cNvPr>
          <p:cNvSpPr>
            <a:spLocks noGrp="1" noChangeArrowheads="1"/>
          </p:cNvSpPr>
          <p:nvPr>
            <p:ph type="body" idx="1"/>
          </p:nvPr>
        </p:nvSpPr>
        <p:spPr>
          <a:xfrm>
            <a:off x="457200" y="1077914"/>
            <a:ext cx="8229600" cy="5322886"/>
          </a:xfrm>
          <a:solidFill>
            <a:schemeClr val="bg1"/>
          </a:solidFill>
          <a:ln>
            <a:solidFill>
              <a:schemeClr val="tx1"/>
            </a:solidFill>
          </a:ln>
        </p:spPr>
        <p:txBody>
          <a:bodyPr/>
          <a:lstStyle/>
          <a:p>
            <a:pPr marL="0" indent="0" algn="l">
              <a:buNone/>
            </a:pPr>
            <a:r>
              <a:rPr lang="en-US" sz="1500" b="1" dirty="0"/>
              <a:t>import </a:t>
            </a:r>
            <a:r>
              <a:rPr lang="en-US" sz="1500" b="1" dirty="0" err="1"/>
              <a:t>java.util</a:t>
            </a:r>
            <a:r>
              <a:rPr lang="en-US" sz="1500" b="1" dirty="0"/>
              <a:t>.*;</a:t>
            </a:r>
          </a:p>
          <a:p>
            <a:pPr marL="0" indent="0" algn="l">
              <a:buNone/>
            </a:pPr>
            <a:endParaRPr lang="en-US" sz="1500" b="1" dirty="0"/>
          </a:p>
          <a:p>
            <a:pPr marL="0" indent="0" algn="l">
              <a:buNone/>
            </a:pPr>
            <a:r>
              <a:rPr lang="en-US" sz="1500" b="1" dirty="0"/>
              <a:t>public class </a:t>
            </a:r>
            <a:r>
              <a:rPr lang="en-US" sz="1500" b="1" dirty="0" err="1"/>
              <a:t>TestIterator</a:t>
            </a:r>
            <a:r>
              <a:rPr lang="en-US" sz="1500" b="1" dirty="0"/>
              <a:t> </a:t>
            </a:r>
          </a:p>
          <a:p>
            <a:pPr marL="0" indent="0" algn="l">
              <a:buNone/>
            </a:pPr>
            <a:r>
              <a:rPr lang="en-US" sz="1500" b="1" dirty="0"/>
              <a:t>{</a:t>
            </a:r>
          </a:p>
          <a:p>
            <a:pPr marL="400050" lvl="1" indent="0">
              <a:buNone/>
            </a:pPr>
            <a:r>
              <a:rPr lang="en-US" sz="1500" b="1" dirty="0"/>
              <a:t>public static void main(String[] args) </a:t>
            </a:r>
          </a:p>
          <a:p>
            <a:pPr marL="400050" lvl="1" indent="0">
              <a:buNone/>
            </a:pPr>
            <a:r>
              <a:rPr lang="en-US" sz="1500" b="1" dirty="0"/>
              <a:t>{</a:t>
            </a:r>
          </a:p>
          <a:p>
            <a:pPr marL="800100" lvl="2" indent="0">
              <a:buNone/>
            </a:pPr>
            <a:r>
              <a:rPr lang="en-US" sz="1500" b="1" dirty="0"/>
              <a:t>    Collection&lt;String&gt; collection = new ArrayList&lt;&gt;();</a:t>
            </a:r>
          </a:p>
          <a:p>
            <a:pPr marL="800100" lvl="2" indent="0">
              <a:buNone/>
            </a:pPr>
            <a:r>
              <a:rPr lang="en-US" sz="1500" b="1" dirty="0"/>
              <a:t>   </a:t>
            </a:r>
            <a:r>
              <a:rPr lang="en-US" sz="1500" b="1" dirty="0" err="1"/>
              <a:t>collection.add</a:t>
            </a:r>
            <a:r>
              <a:rPr lang="en-US" sz="1500" b="1" dirty="0"/>
              <a:t>("New York"); </a:t>
            </a:r>
          </a:p>
          <a:p>
            <a:pPr marL="800100" lvl="2" indent="0">
              <a:buNone/>
            </a:pPr>
            <a:r>
              <a:rPr lang="en-US" sz="1500" b="1" dirty="0"/>
              <a:t>   </a:t>
            </a:r>
            <a:r>
              <a:rPr lang="en-US" sz="1500" b="1" dirty="0" err="1"/>
              <a:t>collection.add</a:t>
            </a:r>
            <a:r>
              <a:rPr lang="en-US" sz="1500" b="1" dirty="0"/>
              <a:t>("Atlanta"); </a:t>
            </a:r>
          </a:p>
          <a:p>
            <a:pPr marL="800100" lvl="2" indent="0">
              <a:buNone/>
            </a:pPr>
            <a:r>
              <a:rPr lang="en-US" sz="1500" b="1" dirty="0"/>
              <a:t>   </a:t>
            </a:r>
            <a:r>
              <a:rPr lang="en-US" sz="1500" b="1" dirty="0" err="1"/>
              <a:t>collection.add</a:t>
            </a:r>
            <a:r>
              <a:rPr lang="en-US" sz="1500" b="1" dirty="0"/>
              <a:t>("Dallas"); </a:t>
            </a:r>
          </a:p>
          <a:p>
            <a:pPr marL="800100" lvl="2" indent="0">
              <a:buNone/>
            </a:pPr>
            <a:r>
              <a:rPr lang="en-US" sz="1500" b="1" dirty="0"/>
              <a:t>   </a:t>
            </a:r>
            <a:r>
              <a:rPr lang="en-US" sz="1500" b="1" dirty="0" err="1"/>
              <a:t>collection.add</a:t>
            </a:r>
            <a:r>
              <a:rPr lang="en-US" sz="1500" b="1" dirty="0"/>
              <a:t>("Madison"); </a:t>
            </a:r>
          </a:p>
          <a:p>
            <a:pPr marL="800100" lvl="2" indent="0">
              <a:buNone/>
            </a:pPr>
            <a:endParaRPr lang="en-US" sz="1500" b="1" dirty="0"/>
          </a:p>
          <a:p>
            <a:pPr marL="800100" lvl="2" indent="0">
              <a:buNone/>
            </a:pPr>
            <a:r>
              <a:rPr lang="en-US" sz="1500" b="1" dirty="0"/>
              <a:t>   Iterator&lt;String&gt; iterator1 = </a:t>
            </a:r>
            <a:r>
              <a:rPr lang="en-US" sz="1500" b="1" dirty="0" err="1"/>
              <a:t>collection.iterator</a:t>
            </a:r>
            <a:r>
              <a:rPr lang="en-US" sz="1500" b="1" dirty="0"/>
              <a:t>();</a:t>
            </a:r>
          </a:p>
          <a:p>
            <a:pPr marL="800100" lvl="2" indent="0">
              <a:buNone/>
            </a:pPr>
            <a:r>
              <a:rPr lang="en-US" sz="1500" b="1" dirty="0"/>
              <a:t>   while (iterator1.hasNext()) </a:t>
            </a:r>
          </a:p>
          <a:p>
            <a:pPr marL="800100" lvl="2" indent="0">
              <a:buNone/>
            </a:pPr>
            <a:r>
              <a:rPr lang="en-US" sz="1500" b="1" dirty="0"/>
              <a:t>           </a:t>
            </a:r>
            <a:r>
              <a:rPr lang="en-US" sz="1500" b="1" dirty="0" err="1"/>
              <a:t>System.out.print</a:t>
            </a:r>
            <a:r>
              <a:rPr lang="en-US" sz="1500" b="1" dirty="0"/>
              <a:t>(iterator1.next().</a:t>
            </a:r>
            <a:r>
              <a:rPr lang="en-US" sz="1500" b="1" dirty="0" err="1"/>
              <a:t>toUpperCase</a:t>
            </a:r>
            <a:r>
              <a:rPr lang="en-US" sz="1500" b="1" dirty="0"/>
              <a:t>() + " ");</a:t>
            </a:r>
          </a:p>
          <a:p>
            <a:pPr marL="800100" lvl="2" indent="0">
              <a:buNone/>
            </a:pPr>
            <a:r>
              <a:rPr lang="en-US" sz="1500" b="1" dirty="0"/>
              <a:t>    </a:t>
            </a:r>
          </a:p>
          <a:p>
            <a:pPr marL="800100" lvl="2" indent="0">
              <a:buNone/>
            </a:pPr>
            <a:r>
              <a:rPr lang="en-US" sz="1500" b="1" dirty="0"/>
              <a:t>    </a:t>
            </a:r>
            <a:r>
              <a:rPr lang="en-US" sz="1500" b="1" dirty="0" err="1"/>
              <a:t>System.out.println</a:t>
            </a:r>
            <a:r>
              <a:rPr lang="en-US" sz="1500" b="1" dirty="0"/>
              <a:t>();</a:t>
            </a:r>
          </a:p>
          <a:p>
            <a:pPr marL="400050" lvl="1" indent="0">
              <a:buNone/>
            </a:pPr>
            <a:r>
              <a:rPr lang="en-US" sz="1500" b="1" dirty="0"/>
              <a:t>}</a:t>
            </a:r>
          </a:p>
          <a:p>
            <a:pPr marL="0" indent="0" algn="l">
              <a:buNone/>
            </a:pPr>
            <a:r>
              <a:rPr lang="en-US" sz="1500" b="1" dirty="0"/>
              <a:t>}</a:t>
            </a:r>
            <a:endParaRPr lang="en-US" altLang="en-US" sz="1500" b="1" dirty="0"/>
          </a:p>
        </p:txBody>
      </p:sp>
    </p:spTree>
    <p:extLst>
      <p:ext uri="{BB962C8B-B14F-4D97-AF65-F5344CB8AC3E}">
        <p14:creationId xmlns:p14="http://schemas.microsoft.com/office/powerpoint/2010/main" val="55408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56BF5915-57B1-4A44-83C7-99C1392FA3B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DC915EF-1807-4B16-965D-BE27EA7FBE29}" type="slidenum">
              <a:rPr lang="en-US" altLang="en-US" sz="1400"/>
              <a:pPr>
                <a:spcBef>
                  <a:spcPct val="0"/>
                </a:spcBef>
                <a:buClrTx/>
                <a:buSzTx/>
                <a:buFontTx/>
                <a:buNone/>
              </a:pPr>
              <a:t>12</a:t>
            </a:fld>
            <a:endParaRPr lang="en-US" altLang="en-US" sz="1400"/>
          </a:p>
        </p:txBody>
      </p:sp>
      <p:sp>
        <p:nvSpPr>
          <p:cNvPr id="11267" name="Rectangle 2">
            <a:extLst>
              <a:ext uri="{FF2B5EF4-FFF2-40B4-BE49-F238E27FC236}">
                <a16:creationId xmlns:a16="http://schemas.microsoft.com/office/drawing/2014/main" id="{0913F421-AA7D-4EB5-91E5-380C97391FB3}"/>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Using the forEach Method</a:t>
            </a:r>
          </a:p>
        </p:txBody>
      </p:sp>
      <p:sp>
        <p:nvSpPr>
          <p:cNvPr id="11269" name="Rectangle 4">
            <a:extLst>
              <a:ext uri="{FF2B5EF4-FFF2-40B4-BE49-F238E27FC236}">
                <a16:creationId xmlns:a16="http://schemas.microsoft.com/office/drawing/2014/main" id="{96479A91-8E89-4414-A14F-49605D8256CD}"/>
              </a:ext>
            </a:extLst>
          </p:cNvPr>
          <p:cNvSpPr>
            <a:spLocks noGrp="1" noChangeArrowheads="1"/>
          </p:cNvSpPr>
          <p:nvPr>
            <p:ph type="body" idx="1"/>
          </p:nvPr>
        </p:nvSpPr>
        <p:spPr>
          <a:xfrm>
            <a:off x="381000" y="1524000"/>
            <a:ext cx="8229600" cy="3581400"/>
          </a:xfrm>
        </p:spPr>
        <p:txBody>
          <a:bodyPr/>
          <a:lstStyle/>
          <a:p>
            <a:pPr marL="0" indent="0">
              <a:buFont typeface="Monotype Sorts"/>
              <a:buNone/>
            </a:pPr>
            <a:r>
              <a:rPr lang="en-US" altLang="en-US" dirty="0"/>
              <a:t>Java 8 added a new forEach method in the </a:t>
            </a:r>
            <a:r>
              <a:rPr lang="en-US" altLang="en-US" dirty="0" err="1"/>
              <a:t>Iterable</a:t>
            </a:r>
            <a:r>
              <a:rPr lang="en-US" altLang="en-US" dirty="0"/>
              <a:t> interface. It functions like a foreach loop.</a:t>
            </a:r>
          </a:p>
          <a:p>
            <a:pPr marL="0" indent="0">
              <a:buFont typeface="Monotype Sorts"/>
              <a:buNone/>
            </a:pPr>
            <a:endParaRPr lang="en-US" altLang="en-US" sz="3600" dirty="0">
              <a:cs typeface="Times New Roman" panose="02020603050405020304" pitchFamily="18" charset="0"/>
            </a:endParaRPr>
          </a:p>
        </p:txBody>
      </p:sp>
      <p:sp>
        <p:nvSpPr>
          <p:cNvPr id="11272" name="Rectangle 8">
            <a:hlinkClick r:id="rId2"/>
            <a:extLst>
              <a:ext uri="{FF2B5EF4-FFF2-40B4-BE49-F238E27FC236}">
                <a16:creationId xmlns:a16="http://schemas.microsoft.com/office/drawing/2014/main" id="{29E4EA0A-0FB7-49ED-8F2B-53C77B1A0624}"/>
              </a:ext>
            </a:extLst>
          </p:cNvPr>
          <p:cNvSpPr>
            <a:spLocks noChangeArrowheads="1"/>
          </p:cNvSpPr>
          <p:nvPr/>
        </p:nvSpPr>
        <p:spPr bwMode="auto">
          <a:xfrm>
            <a:off x="5181600" y="5619750"/>
            <a:ext cx="18494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TestForEach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56BF5915-57B1-4A44-83C7-99C1392FA3B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DC915EF-1807-4B16-965D-BE27EA7FBE29}" type="slidenum">
              <a:rPr lang="en-US" altLang="en-US" sz="1400"/>
              <a:pPr>
                <a:spcBef>
                  <a:spcPct val="0"/>
                </a:spcBef>
                <a:buClrTx/>
                <a:buSzTx/>
                <a:buFontTx/>
                <a:buNone/>
              </a:pPr>
              <a:t>13</a:t>
            </a:fld>
            <a:endParaRPr lang="en-US" altLang="en-US" sz="1400"/>
          </a:p>
        </p:txBody>
      </p:sp>
      <p:sp>
        <p:nvSpPr>
          <p:cNvPr id="11267" name="Rectangle 2">
            <a:extLst>
              <a:ext uri="{FF2B5EF4-FFF2-40B4-BE49-F238E27FC236}">
                <a16:creationId xmlns:a16="http://schemas.microsoft.com/office/drawing/2014/main" id="{0913F421-AA7D-4EB5-91E5-380C97391FB3}"/>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Using the forEach Method</a:t>
            </a:r>
          </a:p>
        </p:txBody>
      </p:sp>
      <p:sp>
        <p:nvSpPr>
          <p:cNvPr id="11269" name="Rectangle 4">
            <a:extLst>
              <a:ext uri="{FF2B5EF4-FFF2-40B4-BE49-F238E27FC236}">
                <a16:creationId xmlns:a16="http://schemas.microsoft.com/office/drawing/2014/main" id="{96479A91-8E89-4414-A14F-49605D8256CD}"/>
              </a:ext>
            </a:extLst>
          </p:cNvPr>
          <p:cNvSpPr>
            <a:spLocks noGrp="1" noChangeArrowheads="1"/>
          </p:cNvSpPr>
          <p:nvPr>
            <p:ph type="body" idx="1"/>
          </p:nvPr>
        </p:nvSpPr>
        <p:spPr>
          <a:xfrm>
            <a:off x="381000" y="1350964"/>
            <a:ext cx="8229600" cy="4476749"/>
          </a:xfrm>
        </p:spPr>
        <p:txBody>
          <a:bodyPr/>
          <a:lstStyle/>
          <a:p>
            <a:pPr marL="0" indent="0" algn="l">
              <a:buNone/>
            </a:pPr>
            <a:r>
              <a:rPr lang="en-US" sz="1600" dirty="0"/>
              <a:t>import </a:t>
            </a:r>
            <a:r>
              <a:rPr lang="en-US" sz="1600" dirty="0" err="1"/>
              <a:t>java.util</a:t>
            </a:r>
            <a:r>
              <a:rPr lang="en-US" sz="1600" dirty="0"/>
              <a:t>.*;</a:t>
            </a:r>
          </a:p>
          <a:p>
            <a:pPr marL="0" indent="0" algn="l">
              <a:buNone/>
            </a:pPr>
            <a:endParaRPr lang="en-US" sz="1600" dirty="0"/>
          </a:p>
          <a:p>
            <a:pPr marL="0" indent="0" algn="l">
              <a:buNone/>
            </a:pPr>
            <a:r>
              <a:rPr lang="en-US" sz="1600" dirty="0"/>
              <a:t>public class </a:t>
            </a:r>
            <a:r>
              <a:rPr lang="en-US" sz="1600" dirty="0" err="1"/>
              <a:t>TestForEach</a:t>
            </a:r>
            <a:r>
              <a:rPr lang="en-US" sz="1600" dirty="0"/>
              <a:t> </a:t>
            </a:r>
          </a:p>
          <a:p>
            <a:pPr marL="0" indent="0" algn="l">
              <a:buNone/>
            </a:pPr>
            <a:r>
              <a:rPr lang="en-US" sz="1600" dirty="0"/>
              <a:t>{</a:t>
            </a:r>
          </a:p>
          <a:p>
            <a:pPr marL="400050" lvl="1" indent="0">
              <a:buNone/>
            </a:pPr>
            <a:r>
              <a:rPr lang="en-US" sz="1600" dirty="0"/>
              <a:t>public static void main(String[] args) </a:t>
            </a:r>
          </a:p>
          <a:p>
            <a:pPr marL="400050" lvl="1" indent="0">
              <a:buNone/>
            </a:pPr>
            <a:r>
              <a:rPr lang="en-US" sz="1600" dirty="0"/>
              <a:t>{</a:t>
            </a:r>
          </a:p>
          <a:p>
            <a:pPr marL="800100" lvl="2" indent="0">
              <a:buNone/>
            </a:pPr>
            <a:r>
              <a:rPr lang="en-US" sz="1600" dirty="0"/>
              <a:t>Collection&lt;String&gt; collection = new ArrayList&lt;&gt;();</a:t>
            </a:r>
          </a:p>
          <a:p>
            <a:pPr marL="800100" lvl="2" indent="0">
              <a:buNone/>
            </a:pPr>
            <a:r>
              <a:rPr lang="en-US" sz="1600" dirty="0" err="1"/>
              <a:t>collection.add</a:t>
            </a:r>
            <a:r>
              <a:rPr lang="en-US" sz="1600" dirty="0"/>
              <a:t>("New York"); </a:t>
            </a:r>
          </a:p>
          <a:p>
            <a:pPr marL="800100" lvl="2" indent="0">
              <a:buNone/>
            </a:pPr>
            <a:r>
              <a:rPr lang="en-US" sz="1600" dirty="0" err="1"/>
              <a:t>collection.add</a:t>
            </a:r>
            <a:r>
              <a:rPr lang="en-US" sz="1600" dirty="0"/>
              <a:t>("Atlanta"); </a:t>
            </a:r>
          </a:p>
          <a:p>
            <a:pPr marL="800100" lvl="2" indent="0">
              <a:buNone/>
            </a:pPr>
            <a:r>
              <a:rPr lang="en-US" sz="1600" dirty="0" err="1"/>
              <a:t>collection.add</a:t>
            </a:r>
            <a:r>
              <a:rPr lang="en-US" sz="1600" dirty="0"/>
              <a:t>("Dallas"); </a:t>
            </a:r>
          </a:p>
          <a:p>
            <a:pPr marL="800100" lvl="2" indent="0">
              <a:buNone/>
            </a:pPr>
            <a:r>
              <a:rPr lang="en-US" sz="1600" dirty="0" err="1"/>
              <a:t>collection.add</a:t>
            </a:r>
            <a:r>
              <a:rPr lang="en-US" sz="1600" dirty="0"/>
              <a:t>("Madison"); </a:t>
            </a:r>
          </a:p>
          <a:p>
            <a:pPr marL="800100" lvl="2" indent="0">
              <a:buNone/>
            </a:pPr>
            <a:endParaRPr lang="en-US" sz="1600" dirty="0"/>
          </a:p>
          <a:p>
            <a:pPr marL="800100" lvl="2" indent="0">
              <a:buNone/>
            </a:pPr>
            <a:r>
              <a:rPr lang="en-US" sz="1600" dirty="0" err="1"/>
              <a:t>collection.forEach</a:t>
            </a:r>
            <a:r>
              <a:rPr lang="en-US" sz="1600" dirty="0"/>
              <a:t>(e -&gt; </a:t>
            </a:r>
            <a:r>
              <a:rPr lang="en-US" sz="1600" dirty="0" err="1"/>
              <a:t>System.out.print</a:t>
            </a:r>
            <a:r>
              <a:rPr lang="en-US" sz="1600" dirty="0"/>
              <a:t>(</a:t>
            </a:r>
            <a:r>
              <a:rPr lang="en-US" sz="1600" dirty="0" err="1"/>
              <a:t>e.toUpperCase</a:t>
            </a:r>
            <a:r>
              <a:rPr lang="en-US" sz="1600" dirty="0"/>
              <a:t>() + " "));</a:t>
            </a:r>
          </a:p>
          <a:p>
            <a:pPr marL="400050" lvl="1" indent="0">
              <a:buNone/>
            </a:pPr>
            <a:r>
              <a:rPr lang="en-US" sz="1600" dirty="0"/>
              <a:t>}</a:t>
            </a:r>
          </a:p>
          <a:p>
            <a:pPr marL="0" indent="0" algn="l">
              <a:buNone/>
            </a:pPr>
            <a:r>
              <a:rPr lang="en-US" sz="1600" dirty="0"/>
              <a:t>}</a:t>
            </a:r>
            <a:endParaRPr lang="en-US" altLang="en-US" sz="1600" dirty="0"/>
          </a:p>
        </p:txBody>
      </p:sp>
      <p:sp>
        <p:nvSpPr>
          <p:cNvPr id="11272" name="Rectangle 8">
            <a:hlinkClick r:id="rId2"/>
            <a:extLst>
              <a:ext uri="{FF2B5EF4-FFF2-40B4-BE49-F238E27FC236}">
                <a16:creationId xmlns:a16="http://schemas.microsoft.com/office/drawing/2014/main" id="{29E4EA0A-0FB7-49ED-8F2B-53C77B1A0624}"/>
              </a:ext>
            </a:extLst>
          </p:cNvPr>
          <p:cNvSpPr>
            <a:spLocks noChangeArrowheads="1"/>
          </p:cNvSpPr>
          <p:nvPr/>
        </p:nvSpPr>
        <p:spPr bwMode="auto">
          <a:xfrm>
            <a:off x="7019131" y="6018213"/>
            <a:ext cx="18494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TestForEach</a:t>
            </a:r>
            <a:endParaRPr lang="en-US" altLang="en-US" sz="2000" dirty="0"/>
          </a:p>
        </p:txBody>
      </p:sp>
    </p:spTree>
    <p:extLst>
      <p:ext uri="{BB962C8B-B14F-4D97-AF65-F5344CB8AC3E}">
        <p14:creationId xmlns:p14="http://schemas.microsoft.com/office/powerpoint/2010/main" val="4223227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528788F6-5363-4CE4-A9C3-626BDFBCFFC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714308-8B32-4BBB-ABC6-6B4AAA08A860}" type="slidenum">
              <a:rPr lang="en-US" altLang="en-US" sz="1400"/>
              <a:pPr>
                <a:spcBef>
                  <a:spcPct val="0"/>
                </a:spcBef>
                <a:buClrTx/>
                <a:buSzTx/>
                <a:buFontTx/>
                <a:buNone/>
              </a:pPr>
              <a:t>14</a:t>
            </a:fld>
            <a:endParaRPr lang="en-US" altLang="en-US" sz="1400"/>
          </a:p>
        </p:txBody>
      </p:sp>
      <p:sp>
        <p:nvSpPr>
          <p:cNvPr id="12291" name="Rectangle 2">
            <a:extLst>
              <a:ext uri="{FF2B5EF4-FFF2-40B4-BE49-F238E27FC236}">
                <a16:creationId xmlns:a16="http://schemas.microsoft.com/office/drawing/2014/main" id="{040A868D-5FC0-4232-A0C4-CB4F65332774}"/>
              </a:ext>
            </a:extLst>
          </p:cNvPr>
          <p:cNvSpPr>
            <a:spLocks noGrp="1" noChangeArrowheads="1"/>
          </p:cNvSpPr>
          <p:nvPr>
            <p:ph type="title"/>
          </p:nvPr>
        </p:nvSpPr>
        <p:spPr>
          <a:xfrm>
            <a:off x="685800" y="228600"/>
            <a:ext cx="7924800" cy="914400"/>
          </a:xfrm>
          <a:noFill/>
        </p:spPr>
        <p:txBody>
          <a:bodyPr/>
          <a:lstStyle/>
          <a:p>
            <a:r>
              <a:rPr lang="en-US" altLang="en-US">
                <a:cs typeface="Times New Roman" panose="02020603050405020304" pitchFamily="18" charset="0"/>
              </a:rPr>
              <a:t>The List Interface</a:t>
            </a:r>
          </a:p>
        </p:txBody>
      </p:sp>
      <p:sp>
        <p:nvSpPr>
          <p:cNvPr id="12293" name="Rectangle 4">
            <a:extLst>
              <a:ext uri="{FF2B5EF4-FFF2-40B4-BE49-F238E27FC236}">
                <a16:creationId xmlns:a16="http://schemas.microsoft.com/office/drawing/2014/main" id="{072B35B6-F5B9-4881-A004-F53D5B6C43B0}"/>
              </a:ext>
            </a:extLst>
          </p:cNvPr>
          <p:cNvSpPr>
            <a:spLocks noGrp="1" noChangeArrowheads="1"/>
          </p:cNvSpPr>
          <p:nvPr>
            <p:ph type="body" idx="1"/>
          </p:nvPr>
        </p:nvSpPr>
        <p:spPr>
          <a:xfrm>
            <a:off x="381000" y="1524000"/>
            <a:ext cx="8229600" cy="3581400"/>
          </a:xfrm>
        </p:spPr>
        <p:txBody>
          <a:bodyPr/>
          <a:lstStyle/>
          <a:p>
            <a:pPr>
              <a:buFont typeface="Wingdings" panose="05000000000000000000" pitchFamily="2" charset="2"/>
              <a:buChar char="§"/>
            </a:pPr>
            <a:r>
              <a:rPr lang="en-US" altLang="en-US" dirty="0">
                <a:cs typeface="Times New Roman" panose="02020603050405020304" pitchFamily="18" charset="0"/>
              </a:rPr>
              <a:t>A list stores elements in a sequential order and allows the user to specify where the element is stored. </a:t>
            </a:r>
          </a:p>
          <a:p>
            <a:pPr>
              <a:buFont typeface="Wingdings" panose="05000000000000000000" pitchFamily="2" charset="2"/>
              <a:buChar char="§"/>
            </a:pPr>
            <a:r>
              <a:rPr lang="en-US" altLang="en-US" dirty="0">
                <a:cs typeface="Times New Roman" panose="02020603050405020304" pitchFamily="18" charset="0"/>
              </a:rPr>
              <a:t>The user can access the elements by index.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298FC2E7-E131-432A-9B35-C5E0B2328DC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1E1FC55-7677-47F2-861E-7E9AEF25F17B}" type="slidenum">
              <a:rPr lang="en-US" altLang="en-US" sz="1400"/>
              <a:pPr>
                <a:spcBef>
                  <a:spcPct val="0"/>
                </a:spcBef>
                <a:buClrTx/>
                <a:buSzTx/>
                <a:buFontTx/>
                <a:buNone/>
              </a:pPr>
              <a:t>15</a:t>
            </a:fld>
            <a:endParaRPr lang="en-US" altLang="en-US" sz="1400"/>
          </a:p>
        </p:txBody>
      </p:sp>
      <p:sp>
        <p:nvSpPr>
          <p:cNvPr id="13315" name="Rectangle 2">
            <a:extLst>
              <a:ext uri="{FF2B5EF4-FFF2-40B4-BE49-F238E27FC236}">
                <a16:creationId xmlns:a16="http://schemas.microsoft.com/office/drawing/2014/main" id="{FBBFAA07-CBED-4AB0-84E7-095A28374C83}"/>
              </a:ext>
            </a:extLst>
          </p:cNvPr>
          <p:cNvSpPr>
            <a:spLocks noGrp="1" noChangeArrowheads="1"/>
          </p:cNvSpPr>
          <p:nvPr>
            <p:ph type="title"/>
          </p:nvPr>
        </p:nvSpPr>
        <p:spPr>
          <a:xfrm>
            <a:off x="685800" y="228600"/>
            <a:ext cx="7924800" cy="609600"/>
          </a:xfrm>
          <a:noFill/>
        </p:spPr>
        <p:txBody>
          <a:bodyPr/>
          <a:lstStyle/>
          <a:p>
            <a:r>
              <a:rPr lang="en-US" altLang="en-US">
                <a:cs typeface="Times New Roman" panose="02020603050405020304" pitchFamily="18" charset="0"/>
              </a:rPr>
              <a:t>The List Interface, cont.</a:t>
            </a:r>
          </a:p>
        </p:txBody>
      </p:sp>
      <p:pic>
        <p:nvPicPr>
          <p:cNvPr id="13322" name="Picture 11">
            <a:extLst>
              <a:ext uri="{FF2B5EF4-FFF2-40B4-BE49-F238E27FC236}">
                <a16:creationId xmlns:a16="http://schemas.microsoft.com/office/drawing/2014/main" id="{6290FB00-AB5E-4093-99BD-51F0EDE5C15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1447800"/>
            <a:ext cx="87630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B7E970D5-1914-4A52-9070-40E1D3E97B9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B61058-3525-4AAE-A3FC-B05E83DC3CE1}" type="slidenum">
              <a:rPr lang="en-US" altLang="en-US" sz="1400"/>
              <a:pPr>
                <a:spcBef>
                  <a:spcPct val="0"/>
                </a:spcBef>
                <a:buClrTx/>
                <a:buSzTx/>
                <a:buFontTx/>
                <a:buNone/>
              </a:pPr>
              <a:t>16</a:t>
            </a:fld>
            <a:endParaRPr lang="en-US" altLang="en-US" sz="1400"/>
          </a:p>
        </p:txBody>
      </p:sp>
      <p:sp>
        <p:nvSpPr>
          <p:cNvPr id="14339" name="Rectangle 2">
            <a:extLst>
              <a:ext uri="{FF2B5EF4-FFF2-40B4-BE49-F238E27FC236}">
                <a16:creationId xmlns:a16="http://schemas.microsoft.com/office/drawing/2014/main" id="{11D43214-BDF6-4678-9C12-A2105A342802}"/>
              </a:ext>
            </a:extLst>
          </p:cNvPr>
          <p:cNvSpPr>
            <a:spLocks noGrp="1" noChangeArrowheads="1"/>
          </p:cNvSpPr>
          <p:nvPr>
            <p:ph type="title"/>
          </p:nvPr>
        </p:nvSpPr>
        <p:spPr>
          <a:xfrm>
            <a:off x="685800" y="228600"/>
            <a:ext cx="7924800" cy="914400"/>
          </a:xfrm>
          <a:noFill/>
        </p:spPr>
        <p:txBody>
          <a:bodyPr/>
          <a:lstStyle/>
          <a:p>
            <a:r>
              <a:rPr lang="en-US" altLang="en-US">
                <a:cs typeface="Times New Roman" panose="02020603050405020304" pitchFamily="18" charset="0"/>
              </a:rPr>
              <a:t>The List Iterator</a:t>
            </a:r>
          </a:p>
        </p:txBody>
      </p:sp>
      <p:pic>
        <p:nvPicPr>
          <p:cNvPr id="14347" name="Picture 12">
            <a:extLst>
              <a:ext uri="{FF2B5EF4-FFF2-40B4-BE49-F238E27FC236}">
                <a16:creationId xmlns:a16="http://schemas.microsoft.com/office/drawing/2014/main" id="{40FEB277-C733-4046-8AD4-C791843DC6A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1447800"/>
            <a:ext cx="859155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3F10183-D658-4720-B100-39EB588FF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F55A25-6E2B-4211-BA00-ED24301BA8C4}" type="slidenum">
              <a:rPr lang="en-US" altLang="en-US" sz="1400"/>
              <a:pPr>
                <a:spcBef>
                  <a:spcPct val="0"/>
                </a:spcBef>
                <a:buClrTx/>
                <a:buSzTx/>
                <a:buFontTx/>
                <a:buNone/>
              </a:pPr>
              <a:t>17</a:t>
            </a:fld>
            <a:endParaRPr lang="en-US" altLang="en-US" sz="1400"/>
          </a:p>
        </p:txBody>
      </p:sp>
      <p:sp>
        <p:nvSpPr>
          <p:cNvPr id="10243" name="Rectangle 2">
            <a:extLst>
              <a:ext uri="{FF2B5EF4-FFF2-40B4-BE49-F238E27FC236}">
                <a16:creationId xmlns:a16="http://schemas.microsoft.com/office/drawing/2014/main" id="{146E42AC-FCAD-4344-8486-A49474BE15B0}"/>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ListIterators</a:t>
            </a:r>
            <a:endParaRPr lang="en-US" altLang="en-US" dirty="0">
              <a:cs typeface="Times New Roman" panose="02020603050405020304" pitchFamily="18" charset="0"/>
            </a:endParaRPr>
          </a:p>
        </p:txBody>
      </p:sp>
      <p:sp>
        <p:nvSpPr>
          <p:cNvPr id="10245" name="Rectangle 4">
            <a:extLst>
              <a:ext uri="{FF2B5EF4-FFF2-40B4-BE49-F238E27FC236}">
                <a16:creationId xmlns:a16="http://schemas.microsoft.com/office/drawing/2014/main" id="{F4442C79-6ACC-4E94-978B-95D0BEB2EF34}"/>
              </a:ext>
            </a:extLst>
          </p:cNvPr>
          <p:cNvSpPr>
            <a:spLocks noGrp="1" noChangeArrowheads="1"/>
          </p:cNvSpPr>
          <p:nvPr>
            <p:ph type="body" idx="1"/>
          </p:nvPr>
        </p:nvSpPr>
        <p:spPr>
          <a:xfrm>
            <a:off x="457200" y="1077914"/>
            <a:ext cx="8229600" cy="5322886"/>
          </a:xfrm>
          <a:solidFill>
            <a:schemeClr val="bg1"/>
          </a:solidFill>
          <a:ln>
            <a:solidFill>
              <a:schemeClr val="tx1"/>
            </a:solidFill>
          </a:ln>
        </p:spPr>
        <p:txBody>
          <a:bodyPr/>
          <a:lstStyle/>
          <a:p>
            <a:r>
              <a:rPr lang="en-US" altLang="en-US" sz="2800" b="1" dirty="0"/>
              <a:t>Practice </a:t>
            </a:r>
          </a:p>
          <a:p>
            <a:pPr lvl="1"/>
            <a:r>
              <a:rPr lang="en-US" altLang="en-US" sz="2000" b="1" dirty="0"/>
              <a:t>Write a program to create an ArrayList and fill it with 10 random numbers.</a:t>
            </a:r>
          </a:p>
          <a:p>
            <a:pPr lvl="1"/>
            <a:r>
              <a:rPr lang="en-US" altLang="en-US" sz="2000" b="1" dirty="0"/>
              <a:t>Print the original list</a:t>
            </a:r>
          </a:p>
          <a:p>
            <a:pPr lvl="1"/>
            <a:r>
              <a:rPr lang="en-US" altLang="en-US" sz="2000" b="1" dirty="0"/>
              <a:t>Use a </a:t>
            </a:r>
            <a:r>
              <a:rPr lang="en-US" altLang="en-US" sz="2000" b="1" dirty="0" err="1"/>
              <a:t>ListIterator</a:t>
            </a:r>
            <a:r>
              <a:rPr lang="en-US" altLang="en-US" sz="2000" b="1" dirty="0"/>
              <a:t> to go through the list backward and print each element</a:t>
            </a:r>
          </a:p>
          <a:p>
            <a:endParaRPr lang="en-US" altLang="en-US" sz="2800" b="1" dirty="0"/>
          </a:p>
        </p:txBody>
      </p:sp>
    </p:spTree>
    <p:extLst>
      <p:ext uri="{BB962C8B-B14F-4D97-AF65-F5344CB8AC3E}">
        <p14:creationId xmlns:p14="http://schemas.microsoft.com/office/powerpoint/2010/main" val="1466519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3F10183-D658-4720-B100-39EB588FFCE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F55A25-6E2B-4211-BA00-ED24301BA8C4}" type="slidenum">
              <a:rPr lang="en-US" altLang="en-US" sz="1400"/>
              <a:pPr>
                <a:spcBef>
                  <a:spcPct val="0"/>
                </a:spcBef>
                <a:buClrTx/>
                <a:buSzTx/>
                <a:buFontTx/>
                <a:buNone/>
              </a:pPr>
              <a:t>18</a:t>
            </a:fld>
            <a:endParaRPr lang="en-US" altLang="en-US" sz="1400"/>
          </a:p>
        </p:txBody>
      </p:sp>
      <p:sp>
        <p:nvSpPr>
          <p:cNvPr id="10243" name="Rectangle 2">
            <a:extLst>
              <a:ext uri="{FF2B5EF4-FFF2-40B4-BE49-F238E27FC236}">
                <a16:creationId xmlns:a16="http://schemas.microsoft.com/office/drawing/2014/main" id="{146E42AC-FCAD-4344-8486-A49474BE15B0}"/>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ListIterators</a:t>
            </a:r>
            <a:endParaRPr lang="en-US" altLang="en-US" dirty="0">
              <a:cs typeface="Times New Roman" panose="02020603050405020304" pitchFamily="18" charset="0"/>
            </a:endParaRPr>
          </a:p>
        </p:txBody>
      </p:sp>
      <p:sp>
        <p:nvSpPr>
          <p:cNvPr id="10245" name="Rectangle 4">
            <a:extLst>
              <a:ext uri="{FF2B5EF4-FFF2-40B4-BE49-F238E27FC236}">
                <a16:creationId xmlns:a16="http://schemas.microsoft.com/office/drawing/2014/main" id="{F4442C79-6ACC-4E94-978B-95D0BEB2EF34}"/>
              </a:ext>
            </a:extLst>
          </p:cNvPr>
          <p:cNvSpPr>
            <a:spLocks noGrp="1" noChangeArrowheads="1"/>
          </p:cNvSpPr>
          <p:nvPr>
            <p:ph type="body" idx="1"/>
          </p:nvPr>
        </p:nvSpPr>
        <p:spPr>
          <a:xfrm>
            <a:off x="457200" y="1077914"/>
            <a:ext cx="8229600" cy="5322886"/>
          </a:xfrm>
          <a:solidFill>
            <a:schemeClr val="bg1"/>
          </a:solidFill>
          <a:ln>
            <a:solidFill>
              <a:schemeClr val="tx1"/>
            </a:solidFill>
          </a:ln>
        </p:spPr>
        <p:txBody>
          <a:bodyPr/>
          <a:lstStyle/>
          <a:p>
            <a:pPr marL="0" indent="0">
              <a:buNone/>
            </a:pPr>
            <a:r>
              <a:rPr lang="en-US" altLang="en-US" sz="1400" b="1" dirty="0"/>
              <a:t>        Random rand = new Random();        </a:t>
            </a:r>
          </a:p>
          <a:p>
            <a:pPr marL="0" indent="0">
              <a:buNone/>
            </a:pPr>
            <a:r>
              <a:rPr lang="en-US" altLang="en-US" sz="1400" b="1" dirty="0"/>
              <a:t>        ArrayList&lt;Integer&gt; </a:t>
            </a:r>
            <a:r>
              <a:rPr lang="en-US" altLang="en-US" sz="1400" b="1" dirty="0" err="1"/>
              <a:t>sList</a:t>
            </a:r>
            <a:r>
              <a:rPr lang="en-US" altLang="en-US" sz="1400" b="1" dirty="0"/>
              <a:t> = new ArrayList&lt;&gt;();</a:t>
            </a:r>
          </a:p>
          <a:p>
            <a:pPr marL="0" indent="0">
              <a:buNone/>
            </a:pPr>
            <a:r>
              <a:rPr lang="en-US" altLang="en-US" sz="1400" b="1" dirty="0"/>
              <a:t>        for (int </a:t>
            </a:r>
            <a:r>
              <a:rPr lang="en-US" altLang="en-US" sz="1400" b="1" dirty="0" err="1"/>
              <a:t>i</a:t>
            </a:r>
            <a:r>
              <a:rPr lang="en-US" altLang="en-US" sz="1400" b="1" dirty="0"/>
              <a:t> = 0; </a:t>
            </a:r>
            <a:r>
              <a:rPr lang="en-US" altLang="en-US" sz="1400" b="1" dirty="0" err="1"/>
              <a:t>i</a:t>
            </a:r>
            <a:r>
              <a:rPr lang="en-US" altLang="en-US" sz="1400" b="1" dirty="0"/>
              <a:t> &lt; 10; </a:t>
            </a:r>
            <a:r>
              <a:rPr lang="en-US" altLang="en-US" sz="1400" b="1" dirty="0" err="1"/>
              <a:t>i</a:t>
            </a:r>
            <a:r>
              <a:rPr lang="en-US" altLang="en-US" sz="1400" b="1" dirty="0"/>
              <a:t>++)</a:t>
            </a:r>
          </a:p>
          <a:p>
            <a:pPr marL="0" indent="0">
              <a:buNone/>
            </a:pPr>
            <a:r>
              <a:rPr lang="en-US" altLang="en-US" sz="1400" b="1" dirty="0"/>
              <a:t>            </a:t>
            </a:r>
            <a:r>
              <a:rPr lang="en-US" altLang="en-US" sz="1400" b="1" dirty="0" err="1"/>
              <a:t>sList.add</a:t>
            </a:r>
            <a:r>
              <a:rPr lang="en-US" altLang="en-US" sz="1400" b="1" dirty="0"/>
              <a:t>(</a:t>
            </a:r>
            <a:r>
              <a:rPr lang="en-US" altLang="en-US" sz="1400" b="1" dirty="0" err="1"/>
              <a:t>rand.nextInt</a:t>
            </a:r>
            <a:r>
              <a:rPr lang="en-US" altLang="en-US" sz="1400" b="1" dirty="0"/>
              <a:t>(101));</a:t>
            </a:r>
          </a:p>
          <a:p>
            <a:pPr marL="0" indent="0">
              <a:buNone/>
            </a:pPr>
            <a:r>
              <a:rPr lang="en-US" altLang="en-US" sz="1400" b="1" dirty="0"/>
              <a:t>        </a:t>
            </a:r>
          </a:p>
          <a:p>
            <a:pPr marL="0" indent="0">
              <a:buNone/>
            </a:pPr>
            <a:r>
              <a:rPr lang="en-US" altLang="en-US" sz="1400" b="1" dirty="0"/>
              <a:t>        </a:t>
            </a:r>
            <a:r>
              <a:rPr lang="en-US" altLang="en-US" sz="1400" b="1" dirty="0" err="1"/>
              <a:t>sList.forEach</a:t>
            </a:r>
            <a:r>
              <a:rPr lang="en-US" altLang="en-US" sz="1400" b="1" dirty="0"/>
              <a:t>(m-&gt;</a:t>
            </a:r>
            <a:r>
              <a:rPr lang="en-US" altLang="en-US" sz="1400" b="1" dirty="0" err="1"/>
              <a:t>System.out.print</a:t>
            </a:r>
            <a:r>
              <a:rPr lang="en-US" altLang="en-US" sz="1400" b="1" dirty="0"/>
              <a:t>(m + "  "));</a:t>
            </a:r>
          </a:p>
          <a:p>
            <a:pPr marL="0" indent="0">
              <a:buNone/>
            </a:pPr>
            <a:r>
              <a:rPr lang="en-US" altLang="en-US" sz="1400" b="1" dirty="0"/>
              <a:t>        </a:t>
            </a:r>
            <a:r>
              <a:rPr lang="en-US" altLang="en-US" sz="1400" b="1" dirty="0" err="1"/>
              <a:t>System.out.println</a:t>
            </a:r>
            <a:r>
              <a:rPr lang="en-US" altLang="en-US" sz="1400" b="1" dirty="0"/>
              <a:t>();</a:t>
            </a:r>
          </a:p>
          <a:p>
            <a:pPr marL="0" indent="0">
              <a:buNone/>
            </a:pPr>
            <a:r>
              <a:rPr lang="en-US" altLang="en-US" sz="1400" b="1" dirty="0"/>
              <a:t>        </a:t>
            </a:r>
          </a:p>
          <a:p>
            <a:pPr marL="0" indent="0">
              <a:buNone/>
            </a:pPr>
            <a:r>
              <a:rPr lang="en-US" altLang="en-US" sz="1400" b="1" dirty="0"/>
              <a:t>        </a:t>
            </a:r>
            <a:r>
              <a:rPr lang="en-US" altLang="en-US" sz="1400" b="1" dirty="0" err="1"/>
              <a:t>ListIterator</a:t>
            </a:r>
            <a:r>
              <a:rPr lang="en-US" altLang="en-US" sz="1400" b="1" dirty="0"/>
              <a:t>&lt;Integer&gt; it = </a:t>
            </a:r>
            <a:r>
              <a:rPr lang="en-US" altLang="en-US" sz="1400" b="1" dirty="0" err="1"/>
              <a:t>sList.listIterator</a:t>
            </a:r>
            <a:r>
              <a:rPr lang="en-US" altLang="en-US" sz="1400" b="1" dirty="0"/>
              <a:t>( </a:t>
            </a:r>
            <a:r>
              <a:rPr lang="en-US" altLang="en-US" sz="1400" b="1" dirty="0" err="1"/>
              <a:t>sList.size</a:t>
            </a:r>
            <a:r>
              <a:rPr lang="en-US" altLang="en-US" sz="1400" b="1" dirty="0"/>
              <a:t>() );</a:t>
            </a:r>
            <a:endParaRPr lang="en-US" altLang="en-US" sz="1400" b="1" dirty="0">
              <a:cs typeface="Times New Roman"/>
            </a:endParaRPr>
          </a:p>
          <a:p>
            <a:pPr marL="0" indent="0">
              <a:buNone/>
            </a:pPr>
            <a:r>
              <a:rPr lang="en-US" altLang="en-US" sz="1400" b="1" dirty="0"/>
              <a:t>               </a:t>
            </a:r>
          </a:p>
          <a:p>
            <a:pPr marL="0" indent="0">
              <a:buNone/>
            </a:pPr>
            <a:r>
              <a:rPr lang="en-US" altLang="en-US" sz="1400" b="1" dirty="0"/>
              <a:t>        while(</a:t>
            </a:r>
            <a:r>
              <a:rPr lang="en-US" altLang="en-US" sz="1400" b="1" dirty="0" err="1"/>
              <a:t>it.hasPrevious</a:t>
            </a:r>
            <a:r>
              <a:rPr lang="en-US" altLang="en-US" sz="1400" b="1" dirty="0"/>
              <a:t>())</a:t>
            </a:r>
            <a:endParaRPr lang="en-US" altLang="en-US" sz="1400" b="1" dirty="0">
              <a:cs typeface="Times New Roman"/>
            </a:endParaRPr>
          </a:p>
          <a:p>
            <a:pPr marL="0" indent="0">
              <a:buNone/>
            </a:pPr>
            <a:r>
              <a:rPr lang="en-US" altLang="en-US" sz="1400" b="1" dirty="0"/>
              <a:t>        {</a:t>
            </a:r>
          </a:p>
          <a:p>
            <a:pPr marL="0" indent="0">
              <a:buNone/>
            </a:pPr>
            <a:r>
              <a:rPr lang="en-US" altLang="en-US" sz="1400" b="1" dirty="0"/>
              <a:t>            </a:t>
            </a:r>
            <a:r>
              <a:rPr lang="en-US" altLang="en-US" sz="1400" b="1" dirty="0" err="1"/>
              <a:t>System.out.print</a:t>
            </a:r>
            <a:r>
              <a:rPr lang="en-US" altLang="en-US" sz="1400" b="1" dirty="0"/>
              <a:t>(</a:t>
            </a:r>
            <a:r>
              <a:rPr lang="en-US" altLang="en-US" sz="1400" b="1" dirty="0" err="1"/>
              <a:t>it.previous</a:t>
            </a:r>
            <a:r>
              <a:rPr lang="en-US" altLang="en-US" sz="1400" b="1" dirty="0"/>
              <a:t>() + "  ");</a:t>
            </a:r>
          </a:p>
          <a:p>
            <a:pPr marL="0" indent="0">
              <a:buNone/>
            </a:pPr>
            <a:r>
              <a:rPr lang="en-US" altLang="en-US" sz="1400" b="1" dirty="0"/>
              <a:t>        }</a:t>
            </a:r>
          </a:p>
          <a:p>
            <a:pPr marL="0" indent="0">
              <a:buNone/>
            </a:pPr>
            <a:r>
              <a:rPr lang="en-US" altLang="en-US" sz="1400" b="1" dirty="0"/>
              <a:t>        </a:t>
            </a:r>
            <a:r>
              <a:rPr lang="en-US" altLang="en-US" sz="1400" b="1" dirty="0" err="1"/>
              <a:t>System.out.println</a:t>
            </a:r>
            <a:r>
              <a:rPr lang="en-US" altLang="en-US" sz="1400" b="1" dirty="0"/>
              <a:t>();</a:t>
            </a:r>
          </a:p>
        </p:txBody>
      </p:sp>
    </p:spTree>
    <p:extLst>
      <p:ext uri="{BB962C8B-B14F-4D97-AF65-F5344CB8AC3E}">
        <p14:creationId xmlns:p14="http://schemas.microsoft.com/office/powerpoint/2010/main" val="2052981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19</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ArrayList and LinkedList</a:t>
            </a: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381000" y="1219199"/>
            <a:ext cx="8610600" cy="5180011"/>
          </a:xfrm>
          <a:solidFill>
            <a:schemeClr val="bg1"/>
          </a:solidFill>
        </p:spPr>
        <p:txBody>
          <a:bodyPr/>
          <a:lstStyle/>
          <a:p>
            <a:pPr>
              <a:lnSpc>
                <a:spcPct val="90000"/>
              </a:lnSpc>
              <a:spcBef>
                <a:spcPts val="0"/>
              </a:spcBef>
              <a:spcAft>
                <a:spcPts val="1200"/>
              </a:spcAft>
              <a:buFont typeface="Wingdings" panose="05000000000000000000" pitchFamily="2" charset="2"/>
              <a:buChar char="§"/>
            </a:pPr>
            <a:r>
              <a:rPr lang="en-US" altLang="en-US" sz="2400" dirty="0">
                <a:cs typeface="Times New Roman" panose="02020603050405020304" pitchFamily="18" charset="0"/>
              </a:rPr>
              <a:t>The </a:t>
            </a:r>
            <a:r>
              <a:rPr lang="en-US" altLang="en-US" sz="2400" b="1" dirty="0">
                <a:cs typeface="Times New Roman" panose="02020603050405020304" pitchFamily="18" charset="0"/>
              </a:rPr>
              <a:t>ArrayList</a:t>
            </a:r>
            <a:r>
              <a:rPr lang="en-US" altLang="en-US" sz="2400" dirty="0">
                <a:cs typeface="Times New Roman" panose="02020603050405020304" pitchFamily="18" charset="0"/>
              </a:rPr>
              <a:t> class and the </a:t>
            </a:r>
            <a:r>
              <a:rPr lang="en-US" altLang="en-US" sz="2400" b="1" dirty="0">
                <a:cs typeface="Times New Roman" panose="02020603050405020304" pitchFamily="18" charset="0"/>
              </a:rPr>
              <a:t>LinkedList</a:t>
            </a:r>
            <a:r>
              <a:rPr lang="en-US" altLang="en-US" sz="2400" dirty="0">
                <a:cs typeface="Times New Roman" panose="02020603050405020304" pitchFamily="18" charset="0"/>
              </a:rPr>
              <a:t> class are concrete implementations of the List interface. </a:t>
            </a:r>
          </a:p>
          <a:p>
            <a:pPr>
              <a:lnSpc>
                <a:spcPct val="90000"/>
              </a:lnSpc>
              <a:spcBef>
                <a:spcPts val="0"/>
              </a:spcBef>
              <a:spcAft>
                <a:spcPts val="1200"/>
              </a:spcAft>
              <a:buFont typeface="Wingdings" panose="05000000000000000000" pitchFamily="2" charset="2"/>
              <a:buChar char="§"/>
            </a:pPr>
            <a:r>
              <a:rPr lang="en-US" altLang="en-US" sz="2400" dirty="0">
                <a:cs typeface="Times New Roman" panose="02020603050405020304" pitchFamily="18" charset="0"/>
              </a:rPr>
              <a:t>Which of the two classes you use depends on your specific needs. </a:t>
            </a:r>
          </a:p>
          <a:p>
            <a:pPr lvl="1">
              <a:lnSpc>
                <a:spcPct val="90000"/>
              </a:lnSpc>
              <a:spcBef>
                <a:spcPts val="0"/>
              </a:spcBef>
              <a:spcAft>
                <a:spcPts val="1200"/>
              </a:spcAft>
              <a:buFont typeface="Wingdings" panose="05000000000000000000" pitchFamily="2" charset="2"/>
              <a:buChar char="§"/>
            </a:pPr>
            <a:r>
              <a:rPr lang="en-US" altLang="en-US" sz="2000" dirty="0">
                <a:cs typeface="Times New Roman" panose="02020603050405020304" pitchFamily="18" charset="0"/>
              </a:rPr>
              <a:t>If you need to support </a:t>
            </a:r>
            <a:r>
              <a:rPr lang="en-US" altLang="en-US" sz="2000" dirty="0">
                <a:highlight>
                  <a:srgbClr val="FFFF00"/>
                </a:highlight>
                <a:cs typeface="Times New Roman" panose="02020603050405020304" pitchFamily="18" charset="0"/>
              </a:rPr>
              <a:t>random access </a:t>
            </a:r>
            <a:r>
              <a:rPr lang="en-US" altLang="en-US" sz="2000" dirty="0">
                <a:cs typeface="Times New Roman" panose="02020603050405020304" pitchFamily="18" charset="0"/>
              </a:rPr>
              <a:t>through an index without inserting or removing elements from any place other than the end, ArrayList offers the most efficient collection. </a:t>
            </a:r>
          </a:p>
          <a:p>
            <a:pPr lvl="1">
              <a:lnSpc>
                <a:spcPct val="90000"/>
              </a:lnSpc>
              <a:spcBef>
                <a:spcPts val="0"/>
              </a:spcBef>
              <a:spcAft>
                <a:spcPts val="1200"/>
              </a:spcAft>
              <a:buFont typeface="Wingdings" panose="05000000000000000000" pitchFamily="2" charset="2"/>
              <a:buChar char="§"/>
            </a:pPr>
            <a:r>
              <a:rPr lang="en-US" altLang="en-US" sz="2000" dirty="0">
                <a:cs typeface="Times New Roman" panose="02020603050405020304" pitchFamily="18" charset="0"/>
              </a:rPr>
              <a:t>If, however, your application requires the </a:t>
            </a:r>
            <a:r>
              <a:rPr lang="en-US" altLang="en-US" sz="2000" dirty="0">
                <a:highlight>
                  <a:srgbClr val="FFFF00"/>
                </a:highlight>
                <a:cs typeface="Times New Roman" panose="02020603050405020304" pitchFamily="18" charset="0"/>
              </a:rPr>
              <a:t>insertion or deletion of elements from the beginning of the list, you should choose LinkedList. </a:t>
            </a:r>
          </a:p>
          <a:p>
            <a:pPr>
              <a:lnSpc>
                <a:spcPct val="90000"/>
              </a:lnSpc>
              <a:spcBef>
                <a:spcPts val="0"/>
              </a:spcBef>
              <a:spcAft>
                <a:spcPts val="1200"/>
              </a:spcAft>
              <a:buFont typeface="Wingdings" panose="05000000000000000000" pitchFamily="2" charset="2"/>
              <a:buChar char="§"/>
            </a:pPr>
            <a:r>
              <a:rPr lang="en-US" altLang="en-US" sz="2400" dirty="0">
                <a:cs typeface="Times New Roman" panose="02020603050405020304" pitchFamily="18" charset="0"/>
              </a:rPr>
              <a:t>A </a:t>
            </a:r>
            <a:r>
              <a:rPr lang="en-US" altLang="en-US" sz="2400" b="1" dirty="0">
                <a:cs typeface="Times New Roman" panose="02020603050405020304" pitchFamily="18" charset="0"/>
              </a:rPr>
              <a:t>list</a:t>
            </a:r>
            <a:r>
              <a:rPr lang="en-US" altLang="en-US" sz="2400" dirty="0">
                <a:cs typeface="Times New Roman" panose="02020603050405020304" pitchFamily="18" charset="0"/>
              </a:rPr>
              <a:t> can grow or shrink dynamically. </a:t>
            </a:r>
          </a:p>
          <a:p>
            <a:pPr>
              <a:lnSpc>
                <a:spcPct val="90000"/>
              </a:lnSpc>
              <a:spcBef>
                <a:spcPts val="0"/>
              </a:spcBef>
              <a:spcAft>
                <a:spcPts val="1200"/>
              </a:spcAft>
              <a:buFont typeface="Wingdings" panose="05000000000000000000" pitchFamily="2" charset="2"/>
              <a:buChar char="§"/>
            </a:pPr>
            <a:r>
              <a:rPr lang="en-US" altLang="en-US" sz="2400" dirty="0">
                <a:cs typeface="Times New Roman" panose="02020603050405020304" pitchFamily="18" charset="0"/>
              </a:rPr>
              <a:t>An </a:t>
            </a:r>
            <a:r>
              <a:rPr lang="en-US" altLang="en-US" sz="2400" b="1" dirty="0">
                <a:cs typeface="Times New Roman" panose="02020603050405020304" pitchFamily="18" charset="0"/>
              </a:rPr>
              <a:t>array</a:t>
            </a:r>
            <a:r>
              <a:rPr lang="en-US" altLang="en-US" sz="2400" dirty="0">
                <a:cs typeface="Times New Roman" panose="02020603050405020304" pitchFamily="18" charset="0"/>
              </a:rPr>
              <a:t> is fixed once it is created. If your application does not require insertion or deletion of elements, the most efficient data structure is the array.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20</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ArrayLists</a:t>
            </a:r>
            <a:endParaRPr lang="en-US" altLang="en-US" dirty="0">
              <a:cs typeface="Times New Roman" panose="02020603050405020304" pitchFamily="18" charset="0"/>
            </a:endParaRP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381000" y="1219199"/>
            <a:ext cx="8610600" cy="5180011"/>
          </a:xfrm>
          <a:solidFill>
            <a:schemeClr val="bg1"/>
          </a:solidFill>
        </p:spPr>
        <p:txBody>
          <a:bodyPr/>
          <a:lstStyle/>
          <a:p>
            <a:pPr lvl="0">
              <a:lnSpc>
                <a:spcPct val="107000"/>
              </a:lnSpc>
              <a:spcBef>
                <a:spcPts val="0"/>
              </a:spcBef>
              <a:spcAft>
                <a:spcPts val="600"/>
              </a:spcAft>
              <a:buFont typeface="Symbol" panose="05050102010706020507" pitchFamily="18" charset="2"/>
              <a:buChar char=""/>
            </a:pPr>
            <a:r>
              <a:rPr lang="en-US" sz="2400" b="1" dirty="0" err="1">
                <a:effectLst/>
                <a:latin typeface="+mj-lt"/>
                <a:ea typeface="Calibri" panose="020F0502020204030204" pitchFamily="34" charset="0"/>
                <a:cs typeface="Times New Roman" panose="02020603050405020304" pitchFamily="18" charset="0"/>
              </a:rPr>
              <a:t>ArrayLists</a:t>
            </a:r>
            <a:r>
              <a:rPr lang="en-US" sz="2400" dirty="0">
                <a:effectLst/>
                <a:latin typeface="+mj-lt"/>
                <a:ea typeface="Calibri" panose="020F0502020204030204" pitchFamily="34" charset="0"/>
                <a:cs typeface="Times New Roman" panose="02020603050405020304" pitchFamily="18" charset="0"/>
              </a:rPr>
              <a:t> let you get fast access to any element using </a:t>
            </a:r>
            <a:r>
              <a:rPr lang="en-US" sz="2400" dirty="0">
                <a:latin typeface="+mj-lt"/>
                <a:ea typeface="Calibri" panose="020F0502020204030204" pitchFamily="34" charset="0"/>
                <a:cs typeface="Times New Roman" panose="02020603050405020304" pitchFamily="18" charset="0"/>
              </a:rPr>
              <a:t>indexes.</a:t>
            </a:r>
          </a:p>
          <a:p>
            <a:pPr lvl="0">
              <a:lnSpc>
                <a:spcPct val="107000"/>
              </a:lnSpc>
              <a:spcBef>
                <a:spcPts val="0"/>
              </a:spcBef>
              <a:spcAft>
                <a:spcPts val="600"/>
              </a:spcAft>
              <a:buFont typeface="Symbol" panose="05050102010706020507" pitchFamily="18" charset="2"/>
              <a:buChar char=""/>
            </a:pPr>
            <a:r>
              <a:rPr lang="en-US" sz="2400" dirty="0">
                <a:latin typeface="+mj-lt"/>
                <a:ea typeface="Calibri" panose="020F0502020204030204" pitchFamily="34" charset="0"/>
                <a:cs typeface="Times New Roman" panose="02020603050405020304" pitchFamily="18" charset="0"/>
              </a:rPr>
              <a:t>Can also add/remove elements at given index</a:t>
            </a:r>
            <a:endParaRPr lang="en-US" sz="2400" dirty="0">
              <a:effectLst/>
              <a:latin typeface="+mj-l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Most used data structure</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Don’t have to give an initial size. Can grow and shrink as needed.</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Can add nulls to an ArrayList</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Duplicates are allowed</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The </a:t>
            </a:r>
            <a:r>
              <a:rPr lang="en-US" sz="2400" dirty="0" err="1">
                <a:effectLst/>
                <a:latin typeface="+mj-lt"/>
                <a:ea typeface="Calibri" panose="020F0502020204030204" pitchFamily="34" charset="0"/>
                <a:cs typeface="Times New Roman" panose="02020603050405020304" pitchFamily="18" charset="0"/>
              </a:rPr>
              <a:t>trimTo</a:t>
            </a:r>
            <a:r>
              <a:rPr lang="en-US" sz="2400" dirty="0">
                <a:effectLst/>
                <a:latin typeface="+mj-lt"/>
                <a:ea typeface="Calibri" panose="020F0502020204030204" pitchFamily="34" charset="0"/>
                <a:cs typeface="Times New Roman" panose="02020603050405020304" pitchFamily="18" charset="0"/>
              </a:rPr>
              <a:t>() method can reduce the size of the ArrayList to only fit the number of elements there</a:t>
            </a:r>
          </a:p>
        </p:txBody>
      </p:sp>
    </p:spTree>
    <p:extLst>
      <p:ext uri="{BB962C8B-B14F-4D97-AF65-F5344CB8AC3E}">
        <p14:creationId xmlns:p14="http://schemas.microsoft.com/office/powerpoint/2010/main" val="382245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21</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ArrayLists</a:t>
            </a:r>
            <a:endParaRPr lang="en-US" altLang="en-US" dirty="0">
              <a:cs typeface="Times New Roman" panose="02020603050405020304" pitchFamily="18" charset="0"/>
            </a:endParaRP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381000" y="1219199"/>
            <a:ext cx="8610600" cy="5180011"/>
          </a:xfrm>
          <a:solidFill>
            <a:schemeClr val="bg1"/>
          </a:solidFill>
        </p:spPr>
        <p:txBody>
          <a:bodyPr/>
          <a:lstStyle/>
          <a:p>
            <a:pPr marL="342900" marR="0" lvl="0" indent="-342900">
              <a:lnSpc>
                <a:spcPct val="107000"/>
              </a:lnSpc>
              <a:spcBef>
                <a:spcPts val="0"/>
              </a:spcBef>
              <a:spcAft>
                <a:spcPts val="600"/>
              </a:spcAft>
              <a:buFont typeface="Symbol" panose="05050102010706020507" pitchFamily="18" charset="2"/>
              <a:buChar char=""/>
            </a:pPr>
            <a:r>
              <a:rPr lang="en-US" sz="2400" dirty="0" err="1">
                <a:effectLst/>
                <a:latin typeface="+mj-lt"/>
                <a:ea typeface="Calibri" panose="020F0502020204030204" pitchFamily="34" charset="0"/>
                <a:cs typeface="Times New Roman" panose="02020603050405020304" pitchFamily="18" charset="0"/>
              </a:rPr>
              <a:t>ArrayLists</a:t>
            </a:r>
            <a:r>
              <a:rPr lang="en-US" sz="2400" dirty="0">
                <a:effectLst/>
                <a:latin typeface="+mj-lt"/>
                <a:ea typeface="Calibri" panose="020F0502020204030204" pitchFamily="34" charset="0"/>
                <a:cs typeface="Times New Roman" panose="02020603050405020304" pitchFamily="18" charset="0"/>
              </a:rPr>
              <a:t> use internal arrays for storage, which makes random access fast</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Can be time consuming to add elements in the middle because Java would have to move everything after the inserted element down one in the array where it’s keeping the values.  (Also slow to delete items in middle)</a:t>
            </a:r>
          </a:p>
          <a:p>
            <a:pPr marL="342900" marR="0" lvl="0" indent="-342900">
              <a:lnSpc>
                <a:spcPct val="107000"/>
              </a:lnSpc>
              <a:spcBef>
                <a:spcPts val="0"/>
              </a:spcBef>
              <a:spcAft>
                <a:spcPts val="60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Waste space if array not full.  Need to be resized when they reach capacity  (Done behind the scenes by Java but needs work and overhead.)</a:t>
            </a:r>
          </a:p>
        </p:txBody>
      </p:sp>
    </p:spTree>
    <p:extLst>
      <p:ext uri="{BB962C8B-B14F-4D97-AF65-F5344CB8AC3E}">
        <p14:creationId xmlns:p14="http://schemas.microsoft.com/office/powerpoint/2010/main" val="1464142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B13B1EB3-B43C-413F-94BB-AD6A44B3EC2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77F52BA-DB0C-4657-81F7-25A36B790010}" type="slidenum">
              <a:rPr lang="en-US" altLang="en-US" sz="1400"/>
              <a:pPr>
                <a:spcBef>
                  <a:spcPct val="0"/>
                </a:spcBef>
                <a:buClrTx/>
                <a:buSzTx/>
                <a:buFontTx/>
                <a:buNone/>
              </a:pPr>
              <a:t>22</a:t>
            </a:fld>
            <a:endParaRPr lang="en-US" altLang="en-US" sz="1400"/>
          </a:p>
        </p:txBody>
      </p:sp>
      <p:sp>
        <p:nvSpPr>
          <p:cNvPr id="16387" name="Rectangle 2">
            <a:extLst>
              <a:ext uri="{FF2B5EF4-FFF2-40B4-BE49-F238E27FC236}">
                <a16:creationId xmlns:a16="http://schemas.microsoft.com/office/drawing/2014/main" id="{62511049-0D3E-4041-9B3D-B555DEE9022F}"/>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java.util.ArrayList</a:t>
            </a:r>
            <a:endParaRPr lang="en-US" altLang="en-US" dirty="0">
              <a:cs typeface="Times New Roman" panose="02020603050405020304" pitchFamily="18" charset="0"/>
            </a:endParaRPr>
          </a:p>
        </p:txBody>
      </p:sp>
      <p:graphicFrame>
        <p:nvGraphicFramePr>
          <p:cNvPr id="16393" name="Object 10">
            <a:extLst>
              <a:ext uri="{FF2B5EF4-FFF2-40B4-BE49-F238E27FC236}">
                <a16:creationId xmlns:a16="http://schemas.microsoft.com/office/drawing/2014/main" id="{3CABF05F-158B-46B4-BA1D-0D09C19D26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28494855"/>
              </p:ext>
            </p:extLst>
          </p:nvPr>
        </p:nvGraphicFramePr>
        <p:xfrm>
          <a:off x="228600" y="1447800"/>
          <a:ext cx="8686800" cy="4833938"/>
        </p:xfrm>
        <a:graphic>
          <a:graphicData uri="http://schemas.openxmlformats.org/presentationml/2006/ole">
            <mc:AlternateContent xmlns:mc="http://schemas.openxmlformats.org/markup-compatibility/2006">
              <mc:Choice xmlns:v="urn:schemas-microsoft-com:vml" Requires="v">
                <p:oleObj name="Picture" r:id="rId2" imgW="4136861" imgH="2297411" progId="Word.Picture.8">
                  <p:embed/>
                </p:oleObj>
              </mc:Choice>
              <mc:Fallback>
                <p:oleObj name="Picture" r:id="rId2" imgW="4136861" imgH="2297411"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86868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0270986B-DD37-4FA9-AECF-2E8D4E2CE0F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EBF593-260C-403A-92E9-70D8ACB21FDD}" type="slidenum">
              <a:rPr lang="en-US" altLang="en-US" sz="1400"/>
              <a:pPr>
                <a:spcBef>
                  <a:spcPct val="0"/>
                </a:spcBef>
                <a:buClrTx/>
                <a:buSzTx/>
                <a:buFontTx/>
                <a:buNone/>
              </a:pPr>
              <a:t>23</a:t>
            </a:fld>
            <a:endParaRPr lang="en-US" altLang="en-US" sz="1400"/>
          </a:p>
        </p:txBody>
      </p:sp>
      <p:sp>
        <p:nvSpPr>
          <p:cNvPr id="18435" name="Rectangle 2">
            <a:extLst>
              <a:ext uri="{FF2B5EF4-FFF2-40B4-BE49-F238E27FC236}">
                <a16:creationId xmlns:a16="http://schemas.microsoft.com/office/drawing/2014/main" id="{647CED42-47F3-4209-8F40-7ACEE4978019}"/>
              </a:ext>
            </a:extLst>
          </p:cNvPr>
          <p:cNvSpPr>
            <a:spLocks noGrp="1" noChangeArrowheads="1"/>
          </p:cNvSpPr>
          <p:nvPr>
            <p:ph type="title"/>
          </p:nvPr>
        </p:nvSpPr>
        <p:spPr>
          <a:xfrm>
            <a:off x="685800" y="228600"/>
            <a:ext cx="7924800" cy="1143000"/>
          </a:xfrm>
          <a:noFill/>
        </p:spPr>
        <p:txBody>
          <a:bodyPr/>
          <a:lstStyle/>
          <a:p>
            <a:r>
              <a:rPr lang="en-US" altLang="en-US" dirty="0">
                <a:cs typeface="Times New Roman" panose="02020603050405020304" pitchFamily="18" charset="0"/>
              </a:rPr>
              <a:t>ArrayList Example</a:t>
            </a:r>
          </a:p>
        </p:txBody>
      </p:sp>
      <p:sp>
        <p:nvSpPr>
          <p:cNvPr id="18437" name="Rectangle 4">
            <a:extLst>
              <a:ext uri="{FF2B5EF4-FFF2-40B4-BE49-F238E27FC236}">
                <a16:creationId xmlns:a16="http://schemas.microsoft.com/office/drawing/2014/main" id="{6AB5ECC6-66D3-40FA-8AB9-04E381AA4AFC}"/>
              </a:ext>
            </a:extLst>
          </p:cNvPr>
          <p:cNvSpPr>
            <a:spLocks noGrp="1" noChangeArrowheads="1"/>
          </p:cNvSpPr>
          <p:nvPr>
            <p:ph type="body" idx="1"/>
          </p:nvPr>
        </p:nvSpPr>
        <p:spPr>
          <a:xfrm>
            <a:off x="76200" y="1524000"/>
            <a:ext cx="4876800" cy="4800600"/>
          </a:xfrm>
          <a:solidFill>
            <a:schemeClr val="bg1"/>
          </a:solidFill>
          <a:ln>
            <a:noFill/>
          </a:ln>
        </p:spPr>
        <p:txBody>
          <a:bodyPr/>
          <a:lstStyle/>
          <a:p>
            <a:pPr marL="0" indent="0" algn="l">
              <a:spcBef>
                <a:spcPts val="0"/>
              </a:spcBef>
              <a:buNone/>
            </a:pPr>
            <a:r>
              <a:rPr lang="en-US" sz="1400" b="1" dirty="0"/>
              <a:t>import java.util.*;</a:t>
            </a:r>
          </a:p>
          <a:p>
            <a:pPr marL="0" indent="0" algn="l">
              <a:spcBef>
                <a:spcPts val="0"/>
              </a:spcBef>
              <a:buNone/>
            </a:pPr>
            <a:endParaRPr lang="en-US" sz="1400" b="1" dirty="0"/>
          </a:p>
          <a:p>
            <a:pPr marL="0" indent="0" algn="l">
              <a:spcBef>
                <a:spcPts val="0"/>
              </a:spcBef>
              <a:buNone/>
            </a:pPr>
            <a:r>
              <a:rPr lang="en-US" sz="1400" b="1" dirty="0"/>
              <a:t>public class TestArrayList </a:t>
            </a:r>
          </a:p>
          <a:p>
            <a:pPr marL="0" indent="0" algn="l">
              <a:spcBef>
                <a:spcPts val="0"/>
              </a:spcBef>
              <a:buNone/>
            </a:pPr>
            <a:r>
              <a:rPr lang="en-US" sz="1400" b="1" dirty="0"/>
              <a:t>{</a:t>
            </a:r>
          </a:p>
          <a:p>
            <a:pPr marL="400050" lvl="1" indent="0">
              <a:spcBef>
                <a:spcPts val="0"/>
              </a:spcBef>
              <a:buNone/>
            </a:pPr>
            <a:r>
              <a:rPr lang="en-US" sz="1400" b="1" dirty="0"/>
              <a:t>  public static void main(String[] args) </a:t>
            </a:r>
          </a:p>
          <a:p>
            <a:pPr marL="400050" lvl="1" indent="0">
              <a:spcBef>
                <a:spcPts val="0"/>
              </a:spcBef>
              <a:buNone/>
            </a:pPr>
            <a:r>
              <a:rPr lang="en-US" sz="1400" b="1" dirty="0"/>
              <a:t>{</a:t>
            </a:r>
          </a:p>
          <a:p>
            <a:pPr marL="800100" lvl="2" indent="0">
              <a:spcBef>
                <a:spcPts val="0"/>
              </a:spcBef>
              <a:buNone/>
            </a:pPr>
            <a:r>
              <a:rPr lang="en-US" sz="1400" b="1" dirty="0"/>
              <a:t>ArrayList&lt;String&gt; aList = new ArrayList&lt;&gt;();</a:t>
            </a:r>
          </a:p>
          <a:p>
            <a:pPr marL="800100" lvl="2" indent="0">
              <a:spcBef>
                <a:spcPts val="0"/>
              </a:spcBef>
              <a:buNone/>
            </a:pPr>
            <a:r>
              <a:rPr lang="en-US" sz="1400" b="1" dirty="0"/>
              <a:t>aList.add(“Pluto”); </a:t>
            </a:r>
          </a:p>
          <a:p>
            <a:pPr marL="800100" lvl="2" indent="0">
              <a:spcBef>
                <a:spcPts val="0"/>
              </a:spcBef>
              <a:buNone/>
            </a:pPr>
            <a:r>
              <a:rPr lang="en-US" sz="1400" b="1" dirty="0"/>
              <a:t>aList.add(“Earth”);</a:t>
            </a:r>
          </a:p>
          <a:p>
            <a:pPr marL="800100" lvl="2" indent="0">
              <a:spcBef>
                <a:spcPts val="0"/>
              </a:spcBef>
              <a:buNone/>
            </a:pPr>
            <a:r>
              <a:rPr lang="en-US" sz="1400" b="1" dirty="0"/>
              <a:t>aList.add(“Jupiter”); </a:t>
            </a:r>
          </a:p>
          <a:p>
            <a:pPr marL="800100" lvl="2" indent="0">
              <a:spcBef>
                <a:spcPts val="0"/>
              </a:spcBef>
              <a:buNone/>
            </a:pPr>
            <a:endParaRPr lang="en-US" sz="1400" b="1" dirty="0"/>
          </a:p>
          <a:p>
            <a:pPr marL="800100" lvl="2" indent="0">
              <a:spcBef>
                <a:spcPts val="0"/>
              </a:spcBef>
              <a:buNone/>
            </a:pPr>
            <a:r>
              <a:rPr lang="en-US" sz="1400" b="1" dirty="0"/>
              <a:t>System.out.println("Original List: " + aList);</a:t>
            </a:r>
          </a:p>
          <a:p>
            <a:pPr marL="800100" lvl="2" indent="0">
              <a:spcBef>
                <a:spcPts val="0"/>
              </a:spcBef>
              <a:buNone/>
            </a:pPr>
            <a:endParaRPr lang="en-US" sz="1400" b="1" dirty="0"/>
          </a:p>
          <a:p>
            <a:pPr marL="800100" lvl="2" indent="0">
              <a:spcBef>
                <a:spcPts val="0"/>
              </a:spcBef>
              <a:buNone/>
            </a:pPr>
            <a:r>
              <a:rPr lang="en-US" sz="1400" b="1" dirty="0"/>
              <a:t>aList.add(0, “Venus”);</a:t>
            </a:r>
          </a:p>
          <a:p>
            <a:pPr marL="800100" lvl="2" indent="0">
              <a:spcBef>
                <a:spcPts val="0"/>
              </a:spcBef>
              <a:buNone/>
            </a:pPr>
            <a:r>
              <a:rPr lang="en-US" sz="1400" b="1" dirty="0"/>
              <a:t>aList.add(3, “Saturn”);</a:t>
            </a:r>
          </a:p>
          <a:p>
            <a:pPr marL="800100" lvl="2" indent="0">
              <a:spcBef>
                <a:spcPts val="0"/>
              </a:spcBef>
              <a:buNone/>
            </a:pPr>
            <a:endParaRPr lang="en-US" sz="1400" b="1" dirty="0"/>
          </a:p>
          <a:p>
            <a:pPr marL="800100" lvl="2" indent="0">
              <a:spcBef>
                <a:spcPts val="0"/>
              </a:spcBef>
              <a:buNone/>
            </a:pPr>
            <a:r>
              <a:rPr lang="en-US" sz="1400" b="1" dirty="0"/>
              <a:t>System.out.println(“Updated List: " + aList);</a:t>
            </a:r>
          </a:p>
          <a:p>
            <a:pPr marL="800100" lvl="2" indent="0">
              <a:spcBef>
                <a:spcPts val="0"/>
              </a:spcBef>
              <a:buNone/>
            </a:pPr>
            <a:r>
              <a:rPr lang="en-US" sz="1400" b="1" dirty="0"/>
              <a:t>System.out.println(aList.get(2));</a:t>
            </a:r>
          </a:p>
          <a:p>
            <a:pPr marL="800100" lvl="2" indent="0">
              <a:spcBef>
                <a:spcPts val="0"/>
              </a:spcBef>
              <a:buNone/>
            </a:pPr>
            <a:endParaRPr lang="en-US" sz="1400" b="1" dirty="0"/>
          </a:p>
          <a:p>
            <a:pPr marL="400050" lvl="1" indent="0">
              <a:spcBef>
                <a:spcPts val="0"/>
              </a:spcBef>
              <a:buNone/>
            </a:pPr>
            <a:r>
              <a:rPr lang="en-US" sz="1400" b="1" dirty="0"/>
              <a:t>}</a:t>
            </a:r>
          </a:p>
          <a:p>
            <a:pPr marL="0" indent="0">
              <a:spcBef>
                <a:spcPts val="0"/>
              </a:spcBef>
              <a:buNone/>
            </a:pPr>
            <a:r>
              <a:rPr lang="en-US" sz="1400" b="1" dirty="0"/>
              <a:t>}</a:t>
            </a:r>
          </a:p>
        </p:txBody>
      </p:sp>
      <p:sp>
        <p:nvSpPr>
          <p:cNvPr id="8" name="Rectangle 4">
            <a:extLst>
              <a:ext uri="{FF2B5EF4-FFF2-40B4-BE49-F238E27FC236}">
                <a16:creationId xmlns:a16="http://schemas.microsoft.com/office/drawing/2014/main" id="{A8D27802-F0E4-4BB1-9139-7E4EB904CC96}"/>
              </a:ext>
            </a:extLst>
          </p:cNvPr>
          <p:cNvSpPr txBox="1">
            <a:spLocks noChangeArrowheads="1"/>
          </p:cNvSpPr>
          <p:nvPr/>
        </p:nvSpPr>
        <p:spPr bwMode="auto">
          <a:xfrm>
            <a:off x="4724400" y="1523997"/>
            <a:ext cx="4191000" cy="129540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Monotype Sorts"/>
              <a:buNone/>
            </a:pPr>
            <a:r>
              <a:rPr lang="en-US" sz="1200" dirty="0"/>
              <a:t>  </a:t>
            </a:r>
            <a:r>
              <a:rPr lang="en-US" sz="1800" b="1" u="sng" dirty="0"/>
              <a:t>Output</a:t>
            </a:r>
            <a:endParaRPr lang="en-US" sz="1200" b="1" u="sng" dirty="0"/>
          </a:p>
          <a:p>
            <a:pPr marL="0" indent="0">
              <a:buFont typeface="Monotype Sorts"/>
              <a:buNone/>
            </a:pPr>
            <a:r>
              <a:rPr lang="en-US" sz="1400" b="1" dirty="0">
                <a:solidFill>
                  <a:srgbClr val="002060"/>
                </a:solidFill>
              </a:rPr>
              <a:t>Original List: [Pluto, Earth, Jupiter]</a:t>
            </a:r>
          </a:p>
          <a:p>
            <a:pPr marL="0" indent="0">
              <a:buFont typeface="Monotype Sorts"/>
              <a:buNone/>
            </a:pPr>
            <a:r>
              <a:rPr lang="en-US" sz="1400" b="1" dirty="0">
                <a:solidFill>
                  <a:srgbClr val="002060"/>
                </a:solidFill>
              </a:rPr>
              <a:t>Updated List: [Venus, Pluto, Earth, Saturn, Jupiter]</a:t>
            </a:r>
          </a:p>
          <a:p>
            <a:pPr marL="0" indent="0">
              <a:buFont typeface="Monotype Sorts"/>
              <a:buNone/>
            </a:pPr>
            <a:r>
              <a:rPr lang="en-US" sz="1400" b="1" dirty="0">
                <a:solidFill>
                  <a:srgbClr val="002060"/>
                </a:solidFill>
              </a:rPr>
              <a:t>Earth</a:t>
            </a:r>
          </a:p>
        </p:txBody>
      </p:sp>
    </p:spTree>
    <p:extLst>
      <p:ext uri="{BB962C8B-B14F-4D97-AF65-F5344CB8AC3E}">
        <p14:creationId xmlns:p14="http://schemas.microsoft.com/office/powerpoint/2010/main" val="1299645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76797-D33B-7D4D-7ED0-8A533282D53F}"/>
              </a:ext>
            </a:extLst>
          </p:cNvPr>
          <p:cNvSpPr>
            <a:spLocks noGrp="1"/>
          </p:cNvSpPr>
          <p:nvPr>
            <p:ph idx="1"/>
          </p:nvPr>
        </p:nvSpPr>
        <p:spPr/>
        <p:txBody>
          <a:bodyPr/>
          <a:lstStyle/>
          <a:p>
            <a:r>
              <a:rPr lang="en-US" dirty="0"/>
              <a:t>Write a method that receives an ArrayList of Strings and creates a second cloned list from it.</a:t>
            </a:r>
          </a:p>
          <a:p>
            <a:r>
              <a:rPr lang="en-US" dirty="0"/>
              <a:t>Sort the cloned list</a:t>
            </a:r>
          </a:p>
          <a:p>
            <a:r>
              <a:rPr lang="en-US" dirty="0"/>
              <a:t>Use the forEach function to print both lists</a:t>
            </a:r>
          </a:p>
        </p:txBody>
      </p:sp>
      <p:sp>
        <p:nvSpPr>
          <p:cNvPr id="4" name="Slide Number Placeholder 3">
            <a:extLst>
              <a:ext uri="{FF2B5EF4-FFF2-40B4-BE49-F238E27FC236}">
                <a16:creationId xmlns:a16="http://schemas.microsoft.com/office/drawing/2014/main" id="{ADF692AD-1F29-1FCD-2B15-859B3066611D}"/>
              </a:ext>
            </a:extLst>
          </p:cNvPr>
          <p:cNvSpPr>
            <a:spLocks noGrp="1"/>
          </p:cNvSpPr>
          <p:nvPr>
            <p:ph type="sldNum" sz="quarter" idx="11"/>
          </p:nvPr>
        </p:nvSpPr>
        <p:spPr/>
        <p:txBody>
          <a:bodyPr/>
          <a:lstStyle/>
          <a:p>
            <a:fld id="{566BF5F8-30B9-41F2-958F-D75A00416E71}" type="slidenum">
              <a:rPr lang="en-US" altLang="en-US" smtClean="0"/>
              <a:pPr/>
              <a:t>24</a:t>
            </a:fld>
            <a:endParaRPr lang="en-US" altLang="en-US"/>
          </a:p>
        </p:txBody>
      </p:sp>
      <p:sp>
        <p:nvSpPr>
          <p:cNvPr id="6" name="Rectangle 2">
            <a:extLst>
              <a:ext uri="{FF2B5EF4-FFF2-40B4-BE49-F238E27FC236}">
                <a16:creationId xmlns:a16="http://schemas.microsoft.com/office/drawing/2014/main" id="{C7F6A2FA-7350-12D4-EC99-4079323FC96C}"/>
              </a:ext>
            </a:extLst>
          </p:cNvPr>
          <p:cNvSpPr>
            <a:spLocks noGrp="1" noChangeArrowheads="1"/>
          </p:cNvSpPr>
          <p:nvPr>
            <p:ph type="title"/>
          </p:nvPr>
        </p:nvSpPr>
        <p:spPr>
          <a:xfrm>
            <a:off x="685800" y="228600"/>
            <a:ext cx="7924800" cy="1143000"/>
          </a:xfrm>
          <a:noFill/>
        </p:spPr>
        <p:txBody>
          <a:bodyPr/>
          <a:lstStyle/>
          <a:p>
            <a:r>
              <a:rPr lang="en-US" altLang="en-US" dirty="0">
                <a:cs typeface="Times New Roman" panose="02020603050405020304" pitchFamily="18" charset="0"/>
              </a:rPr>
              <a:t>ArrayList Example</a:t>
            </a:r>
          </a:p>
        </p:txBody>
      </p:sp>
    </p:spTree>
    <p:extLst>
      <p:ext uri="{BB962C8B-B14F-4D97-AF65-F5344CB8AC3E}">
        <p14:creationId xmlns:p14="http://schemas.microsoft.com/office/powerpoint/2010/main" val="3932478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76797-D33B-7D4D-7ED0-8A533282D53F}"/>
              </a:ext>
            </a:extLst>
          </p:cNvPr>
          <p:cNvSpPr>
            <a:spLocks noGrp="1"/>
          </p:cNvSpPr>
          <p:nvPr>
            <p:ph idx="1"/>
          </p:nvPr>
        </p:nvSpPr>
        <p:spPr>
          <a:xfrm>
            <a:off x="685800" y="1219199"/>
            <a:ext cx="7772400" cy="5180013"/>
          </a:xfrm>
        </p:spPr>
        <p:txBody>
          <a:bodyPr/>
          <a:lstStyle/>
          <a:p>
            <a:pPr marL="0" indent="0">
              <a:buNone/>
            </a:pPr>
            <a:r>
              <a:rPr lang="en-US" sz="1400" dirty="0"/>
              <a:t>        ArrayList&lt;String&gt; </a:t>
            </a:r>
            <a:r>
              <a:rPr lang="en-US" sz="1400" dirty="0" err="1"/>
              <a:t>sList</a:t>
            </a:r>
            <a:r>
              <a:rPr lang="en-US" sz="1400" dirty="0"/>
              <a:t> = new ArrayList&lt;&gt;();</a:t>
            </a:r>
          </a:p>
          <a:p>
            <a:pPr marL="0" indent="0">
              <a:buNone/>
            </a:pPr>
            <a:r>
              <a:rPr lang="en-US" sz="1400" dirty="0"/>
              <a:t>        ArrayList&lt;String&gt; </a:t>
            </a:r>
            <a:r>
              <a:rPr lang="en-US" sz="1400" dirty="0" err="1"/>
              <a:t>secondList</a:t>
            </a:r>
            <a:r>
              <a:rPr lang="en-US" sz="1400" dirty="0"/>
              <a:t> = new ArrayList&lt;&gt;();</a:t>
            </a:r>
          </a:p>
          <a:p>
            <a:pPr marL="0" indent="0">
              <a:buNone/>
            </a:pPr>
            <a:r>
              <a:rPr lang="en-US" sz="1400" dirty="0"/>
              <a:t>        File </a:t>
            </a:r>
            <a:r>
              <a:rPr lang="en-US" sz="1400" dirty="0" err="1"/>
              <a:t>inputfile</a:t>
            </a:r>
            <a:r>
              <a:rPr lang="en-US" sz="1400" dirty="0"/>
              <a:t> = new File("Colleges.txt");</a:t>
            </a:r>
          </a:p>
          <a:p>
            <a:pPr marL="0" indent="0">
              <a:buNone/>
            </a:pPr>
            <a:r>
              <a:rPr lang="en-US" sz="1400" dirty="0"/>
              <a:t>        Scanner </a:t>
            </a:r>
            <a:r>
              <a:rPr lang="en-US" sz="1400" dirty="0" err="1"/>
              <a:t>infile</a:t>
            </a:r>
            <a:r>
              <a:rPr lang="en-US" sz="1400" dirty="0"/>
              <a:t> = new Scanner(</a:t>
            </a:r>
            <a:r>
              <a:rPr lang="en-US" sz="1400" dirty="0" err="1"/>
              <a:t>inputfile</a:t>
            </a:r>
            <a:r>
              <a:rPr lang="en-US" sz="1400" dirty="0"/>
              <a:t>);</a:t>
            </a:r>
          </a:p>
          <a:p>
            <a:pPr marL="0" indent="0">
              <a:buNone/>
            </a:pPr>
            <a:r>
              <a:rPr lang="en-US" sz="1400" dirty="0"/>
              <a:t>        </a:t>
            </a:r>
          </a:p>
          <a:p>
            <a:pPr marL="0" indent="0">
              <a:buNone/>
            </a:pPr>
            <a:r>
              <a:rPr lang="en-US" sz="1400" dirty="0"/>
              <a:t>        while (</a:t>
            </a:r>
            <a:r>
              <a:rPr lang="en-US" sz="1400" dirty="0" err="1"/>
              <a:t>infile.hasNext</a:t>
            </a:r>
            <a:r>
              <a:rPr lang="en-US" sz="1400" dirty="0"/>
              <a:t>())</a:t>
            </a:r>
          </a:p>
          <a:p>
            <a:pPr marL="0" indent="0">
              <a:buNone/>
            </a:pPr>
            <a:r>
              <a:rPr lang="en-US" sz="1400" dirty="0"/>
              <a:t>        {</a:t>
            </a:r>
          </a:p>
          <a:p>
            <a:pPr marL="0" indent="0">
              <a:buNone/>
            </a:pPr>
            <a:r>
              <a:rPr lang="en-US" sz="1400" dirty="0"/>
              <a:t>            String s = </a:t>
            </a:r>
            <a:r>
              <a:rPr lang="en-US" sz="1400" dirty="0" err="1"/>
              <a:t>infile.nextLine</a:t>
            </a:r>
            <a:r>
              <a:rPr lang="en-US" sz="1400" dirty="0"/>
              <a:t>();</a:t>
            </a:r>
          </a:p>
          <a:p>
            <a:pPr marL="0" indent="0">
              <a:buNone/>
            </a:pPr>
            <a:r>
              <a:rPr lang="en-US" sz="1400" dirty="0"/>
              <a:t>            </a:t>
            </a:r>
            <a:r>
              <a:rPr lang="en-US" sz="1400" dirty="0" err="1"/>
              <a:t>sList.add</a:t>
            </a:r>
            <a:r>
              <a:rPr lang="en-US" sz="1400" dirty="0"/>
              <a:t>(s);</a:t>
            </a:r>
          </a:p>
          <a:p>
            <a:pPr marL="0" indent="0">
              <a:buNone/>
            </a:pPr>
            <a:r>
              <a:rPr lang="en-US" sz="1400" dirty="0"/>
              <a:t>        }</a:t>
            </a:r>
          </a:p>
          <a:p>
            <a:pPr marL="0" indent="0">
              <a:buNone/>
            </a:pPr>
            <a:r>
              <a:rPr lang="en-US" sz="1400" dirty="0"/>
              <a:t>        </a:t>
            </a:r>
            <a:r>
              <a:rPr lang="en-US" sz="1400" dirty="0" err="1"/>
              <a:t>System.out.print</a:t>
            </a:r>
            <a:r>
              <a:rPr lang="en-US" sz="1400" dirty="0"/>
              <a:t>("First List: ");</a:t>
            </a:r>
          </a:p>
          <a:p>
            <a:pPr marL="0" indent="0">
              <a:buNone/>
            </a:pPr>
            <a:r>
              <a:rPr lang="en-US" sz="1400" dirty="0"/>
              <a:t>        </a:t>
            </a:r>
            <a:r>
              <a:rPr lang="en-US" sz="1400" dirty="0" err="1"/>
              <a:t>sList.forEach</a:t>
            </a:r>
            <a:r>
              <a:rPr lang="en-US" sz="1400" dirty="0"/>
              <a:t>(e-&gt;</a:t>
            </a:r>
            <a:r>
              <a:rPr lang="en-US" sz="1400" dirty="0" err="1"/>
              <a:t>System.out.print</a:t>
            </a:r>
            <a:r>
              <a:rPr lang="en-US" sz="1400" dirty="0"/>
              <a:t>("   " + e));</a:t>
            </a:r>
          </a:p>
          <a:p>
            <a:pPr marL="0" indent="0">
              <a:buNone/>
            </a:pPr>
            <a:r>
              <a:rPr lang="en-US" sz="1400" dirty="0"/>
              <a:t>        </a:t>
            </a:r>
            <a:r>
              <a:rPr lang="en-US" sz="1400" dirty="0" err="1"/>
              <a:t>System.out.println</a:t>
            </a:r>
            <a:r>
              <a:rPr lang="en-US" sz="1400" dirty="0"/>
              <a:t>();</a:t>
            </a:r>
          </a:p>
          <a:p>
            <a:pPr marL="0" indent="0">
              <a:buNone/>
            </a:pPr>
            <a:r>
              <a:rPr lang="en-US" sz="1400" dirty="0"/>
              <a:t>        </a:t>
            </a:r>
          </a:p>
          <a:p>
            <a:pPr marL="0" indent="0">
              <a:buNone/>
            </a:pPr>
            <a:r>
              <a:rPr lang="en-US" sz="1400" dirty="0"/>
              <a:t>        </a:t>
            </a:r>
            <a:r>
              <a:rPr lang="en-US" sz="1400" dirty="0" err="1"/>
              <a:t>secondList</a:t>
            </a:r>
            <a:r>
              <a:rPr lang="en-US" sz="1400" dirty="0"/>
              <a:t> = </a:t>
            </a:r>
            <a:r>
              <a:rPr lang="en-US" sz="1400" b="1" dirty="0"/>
              <a:t>(ArrayList)</a:t>
            </a:r>
            <a:r>
              <a:rPr lang="en-US" sz="1400" b="1" dirty="0" err="1"/>
              <a:t>sList.clone</a:t>
            </a:r>
            <a:r>
              <a:rPr lang="en-US" sz="1400" b="1" dirty="0"/>
              <a:t>();</a:t>
            </a:r>
          </a:p>
          <a:p>
            <a:pPr marL="0" indent="0">
              <a:buNone/>
            </a:pPr>
            <a:r>
              <a:rPr lang="en-US" sz="1400" dirty="0"/>
              <a:t>        </a:t>
            </a:r>
            <a:r>
              <a:rPr lang="en-US" sz="1400" b="1" dirty="0" err="1"/>
              <a:t>Collections.sort</a:t>
            </a:r>
            <a:r>
              <a:rPr lang="en-US" sz="1400" dirty="0"/>
              <a:t>(</a:t>
            </a:r>
            <a:r>
              <a:rPr lang="en-US" sz="1400" dirty="0" err="1"/>
              <a:t>secondList</a:t>
            </a:r>
            <a:r>
              <a:rPr lang="en-US" sz="1400" dirty="0"/>
              <a:t>);</a:t>
            </a:r>
          </a:p>
          <a:p>
            <a:pPr marL="0" indent="0">
              <a:buNone/>
            </a:pPr>
            <a:r>
              <a:rPr lang="en-US" sz="1400" dirty="0"/>
              <a:t>        </a:t>
            </a:r>
            <a:r>
              <a:rPr lang="en-US" sz="1400" dirty="0" err="1"/>
              <a:t>System.out.print</a:t>
            </a:r>
            <a:r>
              <a:rPr lang="en-US" sz="1400" dirty="0"/>
              <a:t>("Second List: ");</a:t>
            </a:r>
          </a:p>
          <a:p>
            <a:pPr marL="0" indent="0">
              <a:buNone/>
            </a:pPr>
            <a:r>
              <a:rPr lang="en-US" sz="1400" dirty="0"/>
              <a:t>        </a:t>
            </a:r>
            <a:r>
              <a:rPr lang="en-US" sz="1400" dirty="0" err="1"/>
              <a:t>secondList.forEach</a:t>
            </a:r>
            <a:r>
              <a:rPr lang="en-US" sz="1400" dirty="0"/>
              <a:t>(e-&gt;</a:t>
            </a:r>
            <a:r>
              <a:rPr lang="en-US" sz="1400" dirty="0" err="1"/>
              <a:t>System.out.print</a:t>
            </a:r>
            <a:r>
              <a:rPr lang="en-US" sz="1400" dirty="0"/>
              <a:t>("   " + e));</a:t>
            </a:r>
          </a:p>
          <a:p>
            <a:pPr marL="0" indent="0">
              <a:buNone/>
            </a:pPr>
            <a:r>
              <a:rPr lang="en-US" sz="1400" dirty="0"/>
              <a:t>        </a:t>
            </a:r>
            <a:r>
              <a:rPr lang="en-US" sz="1400" dirty="0" err="1"/>
              <a:t>System.out.println</a:t>
            </a:r>
            <a:r>
              <a:rPr lang="en-US" sz="1400" dirty="0"/>
              <a:t>();</a:t>
            </a:r>
          </a:p>
        </p:txBody>
      </p:sp>
      <p:sp>
        <p:nvSpPr>
          <p:cNvPr id="4" name="Slide Number Placeholder 3">
            <a:extLst>
              <a:ext uri="{FF2B5EF4-FFF2-40B4-BE49-F238E27FC236}">
                <a16:creationId xmlns:a16="http://schemas.microsoft.com/office/drawing/2014/main" id="{ADF692AD-1F29-1FCD-2B15-859B3066611D}"/>
              </a:ext>
            </a:extLst>
          </p:cNvPr>
          <p:cNvSpPr>
            <a:spLocks noGrp="1"/>
          </p:cNvSpPr>
          <p:nvPr>
            <p:ph type="sldNum" sz="quarter" idx="11"/>
          </p:nvPr>
        </p:nvSpPr>
        <p:spPr/>
        <p:txBody>
          <a:bodyPr/>
          <a:lstStyle/>
          <a:p>
            <a:fld id="{566BF5F8-30B9-41F2-958F-D75A00416E71}" type="slidenum">
              <a:rPr lang="en-US" altLang="en-US" smtClean="0"/>
              <a:pPr/>
              <a:t>25</a:t>
            </a:fld>
            <a:endParaRPr lang="en-US" altLang="en-US"/>
          </a:p>
        </p:txBody>
      </p:sp>
      <p:sp>
        <p:nvSpPr>
          <p:cNvPr id="6" name="Rectangle 2">
            <a:extLst>
              <a:ext uri="{FF2B5EF4-FFF2-40B4-BE49-F238E27FC236}">
                <a16:creationId xmlns:a16="http://schemas.microsoft.com/office/drawing/2014/main" id="{C7F6A2FA-7350-12D4-EC99-4079323FC96C}"/>
              </a:ext>
            </a:extLst>
          </p:cNvPr>
          <p:cNvSpPr>
            <a:spLocks noGrp="1" noChangeArrowheads="1"/>
          </p:cNvSpPr>
          <p:nvPr>
            <p:ph type="title"/>
          </p:nvPr>
        </p:nvSpPr>
        <p:spPr>
          <a:xfrm>
            <a:off x="685800" y="228600"/>
            <a:ext cx="7924800" cy="1143000"/>
          </a:xfrm>
          <a:noFill/>
        </p:spPr>
        <p:txBody>
          <a:bodyPr/>
          <a:lstStyle/>
          <a:p>
            <a:r>
              <a:rPr lang="en-US" altLang="en-US" dirty="0">
                <a:cs typeface="Times New Roman" panose="02020603050405020304" pitchFamily="18" charset="0"/>
              </a:rPr>
              <a:t>ArrayList Example</a:t>
            </a:r>
          </a:p>
        </p:txBody>
      </p:sp>
    </p:spTree>
    <p:extLst>
      <p:ext uri="{BB962C8B-B14F-4D97-AF65-F5344CB8AC3E}">
        <p14:creationId xmlns:p14="http://schemas.microsoft.com/office/powerpoint/2010/main" val="119621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26</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err="1">
                <a:cs typeface="Times New Roman" panose="02020603050405020304" pitchFamily="18" charset="0"/>
              </a:rPr>
              <a:t>LinkedLists</a:t>
            </a:r>
            <a:endParaRPr lang="en-US" altLang="en-US" dirty="0">
              <a:cs typeface="Times New Roman" panose="02020603050405020304" pitchFamily="18" charset="0"/>
            </a:endParaRP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137970" y="2286000"/>
            <a:ext cx="8929829" cy="4000282"/>
          </a:xfrm>
          <a:solidFill>
            <a:schemeClr val="bg1"/>
          </a:solidFill>
        </p:spPr>
        <p:txBody>
          <a:bodyPr/>
          <a:lstStyle/>
          <a:p>
            <a:pPr lvl="0">
              <a:lnSpc>
                <a:spcPct val="107000"/>
              </a:lnSpc>
              <a:spcBef>
                <a:spcPts val="0"/>
              </a:spcBef>
              <a:spcAft>
                <a:spcPts val="600"/>
              </a:spcAft>
              <a:buFont typeface="Symbol" panose="05050102010706020507" pitchFamily="18" charset="2"/>
              <a:buChar char=""/>
            </a:pPr>
            <a:r>
              <a:rPr lang="en-US" sz="2000" b="1" dirty="0" err="1">
                <a:effectLst/>
                <a:latin typeface="+mj-lt"/>
                <a:ea typeface="Calibri" panose="020F0502020204030204" pitchFamily="34" charset="0"/>
                <a:cs typeface="Times New Roman" panose="02020603050405020304" pitchFamily="18" charset="0"/>
              </a:rPr>
              <a:t>LinkedLists</a:t>
            </a:r>
            <a:r>
              <a:rPr lang="en-US" sz="2000" dirty="0">
                <a:effectLst/>
                <a:latin typeface="+mj-lt"/>
                <a:ea typeface="Calibri" panose="020F0502020204030204" pitchFamily="34" charset="0"/>
                <a:cs typeface="Times New Roman" panose="02020603050405020304" pitchFamily="18" charset="0"/>
              </a:rPr>
              <a:t> are collections of elements that are joined together with links (pointers) to each other. </a:t>
            </a:r>
            <a:r>
              <a:rPr lang="en-US" sz="2000" i="1" dirty="0">
                <a:effectLst/>
                <a:latin typeface="+mj-lt"/>
                <a:ea typeface="Calibri" panose="020F0502020204030204" pitchFamily="34" charset="0"/>
                <a:cs typeface="Times New Roman" panose="02020603050405020304" pitchFamily="18" charset="0"/>
              </a:rPr>
              <a:t>(Before Java 7, you had to create them yourself.)</a:t>
            </a:r>
          </a:p>
          <a:p>
            <a:pPr marL="342900" marR="0" lvl="0" indent="-342900">
              <a:lnSpc>
                <a:spcPct val="107000"/>
              </a:lnSpc>
              <a:spcBef>
                <a:spcPts val="0"/>
              </a:spcBef>
              <a:spcAft>
                <a:spcPts val="600"/>
              </a:spcAft>
              <a:buFont typeface="Symbol" panose="05050102010706020507" pitchFamily="18" charset="2"/>
              <a:buChar char=""/>
            </a:pPr>
            <a:r>
              <a:rPr lang="en-US" sz="2000" dirty="0">
                <a:latin typeface="+mj-lt"/>
                <a:cs typeface="Times New Roman" panose="02020603050405020304" pitchFamily="18" charset="0"/>
              </a:rPr>
              <a:t>Actually, uses a doubly linked list – which means that each node has a pointer to the next node and a pointer to the previous node</a:t>
            </a:r>
          </a:p>
          <a:p>
            <a:pPr marL="342900" marR="0" lvl="0" indent="-342900">
              <a:lnSpc>
                <a:spcPct val="107000"/>
              </a:lnSpc>
              <a:spcBef>
                <a:spcPts val="0"/>
              </a:spcBef>
              <a:spcAft>
                <a:spcPts val="600"/>
              </a:spcAft>
              <a:buFont typeface="Symbol" panose="05050102010706020507" pitchFamily="18" charset="2"/>
              <a:buChar char=""/>
            </a:pPr>
            <a:r>
              <a:rPr lang="en-US" sz="2000" dirty="0">
                <a:latin typeface="+mj-lt"/>
                <a:cs typeface="Times New Roman" panose="02020603050405020304" pitchFamily="18" charset="0"/>
              </a:rPr>
              <a:t>So, you can go either direction – </a:t>
            </a:r>
            <a:r>
              <a:rPr lang="en-US" sz="2000" b="1" dirty="0">
                <a:latin typeface="+mj-lt"/>
                <a:cs typeface="Times New Roman" panose="02020603050405020304" pitchFamily="18" charset="0"/>
              </a:rPr>
              <a:t>forward or backward</a:t>
            </a:r>
          </a:p>
          <a:p>
            <a:pPr marL="342900" marR="0" lvl="0" indent="-342900">
              <a:lnSpc>
                <a:spcPct val="107000"/>
              </a:lnSpc>
              <a:spcBef>
                <a:spcPts val="0"/>
              </a:spcBef>
              <a:spcAft>
                <a:spcPts val="600"/>
              </a:spcAft>
              <a:buFont typeface="Symbol" panose="05050102010706020507" pitchFamily="18" charset="2"/>
              <a:buChar char=""/>
            </a:pPr>
            <a:r>
              <a:rPr lang="en-US" sz="2000" dirty="0">
                <a:latin typeface="+mj-lt"/>
                <a:cs typeface="Times New Roman" panose="02020603050405020304" pitchFamily="18" charset="0"/>
              </a:rPr>
              <a:t>Use a </a:t>
            </a:r>
            <a:r>
              <a:rPr lang="en-US" sz="2000" b="1" dirty="0" err="1">
                <a:latin typeface="+mj-lt"/>
                <a:cs typeface="Times New Roman" panose="02020603050405020304" pitchFamily="18" charset="0"/>
              </a:rPr>
              <a:t>ListIterator</a:t>
            </a:r>
            <a:r>
              <a:rPr lang="en-US" sz="2000" dirty="0">
                <a:latin typeface="+mj-lt"/>
                <a:cs typeface="Times New Roman" panose="02020603050405020304" pitchFamily="18" charset="0"/>
              </a:rPr>
              <a:t> object to travel backwards</a:t>
            </a:r>
          </a:p>
          <a:p>
            <a:pPr marL="342900" marR="0" lvl="0" indent="-342900">
              <a:lnSpc>
                <a:spcPct val="107000"/>
              </a:lnSpc>
              <a:spcBef>
                <a:spcPts val="0"/>
              </a:spcBef>
              <a:spcAft>
                <a:spcPts val="600"/>
              </a:spcAft>
              <a:buFont typeface="Symbol" panose="05050102010706020507" pitchFamily="18" charset="2"/>
              <a:buChar char=""/>
            </a:pPr>
            <a:r>
              <a:rPr lang="en-US" sz="2000" dirty="0">
                <a:latin typeface="+mj-lt"/>
                <a:cs typeface="Times New Roman" panose="02020603050405020304" pitchFamily="18" charset="0"/>
              </a:rPr>
              <a:t>Last item’s pointer points to Null to show that it’s the end of the list</a:t>
            </a:r>
          </a:p>
          <a:p>
            <a:pPr>
              <a:lnSpc>
                <a:spcPct val="107000"/>
              </a:lnSpc>
              <a:spcBef>
                <a:spcPts val="0"/>
              </a:spcBef>
              <a:spcAft>
                <a:spcPts val="600"/>
              </a:spcAft>
              <a:buFont typeface="Symbol" panose="05050102010706020507" pitchFamily="18" charset="2"/>
              <a:buChar char=""/>
            </a:pPr>
            <a:r>
              <a:rPr lang="en-US" sz="2000" dirty="0">
                <a:latin typeface="+mj-lt"/>
                <a:cs typeface="Times New Roman" panose="02020603050405020304" pitchFamily="18" charset="0"/>
              </a:rPr>
              <a:t>Good if you’ll be adding elements to middle or end of list because it doesn’t take as much overhead as it does to do that with an ArrayList</a:t>
            </a:r>
          </a:p>
          <a:p>
            <a:pPr>
              <a:lnSpc>
                <a:spcPct val="107000"/>
              </a:lnSpc>
              <a:spcBef>
                <a:spcPts val="0"/>
              </a:spcBef>
              <a:spcAft>
                <a:spcPts val="600"/>
              </a:spcAft>
              <a:buFont typeface="Symbol" panose="05050102010706020507" pitchFamily="18" charset="2"/>
              <a:buChar char=""/>
            </a:pPr>
            <a:r>
              <a:rPr lang="en-US" sz="2000" dirty="0">
                <a:effectLst/>
                <a:latin typeface="+mj-lt"/>
                <a:ea typeface="Calibri" panose="020F0502020204030204" pitchFamily="34" charset="0"/>
                <a:cs typeface="Times New Roman" panose="02020603050405020304" pitchFamily="18" charset="0"/>
              </a:rPr>
              <a:t>Many data structures are built using linked lists</a:t>
            </a:r>
          </a:p>
          <a:p>
            <a:pPr>
              <a:lnSpc>
                <a:spcPct val="107000"/>
              </a:lnSpc>
              <a:spcBef>
                <a:spcPts val="0"/>
              </a:spcBef>
              <a:spcAft>
                <a:spcPts val="600"/>
              </a:spcAft>
              <a:buFont typeface="Symbol" panose="05050102010706020507" pitchFamily="18" charset="2"/>
              <a:buChar char=""/>
            </a:pPr>
            <a:endParaRPr lang="en-US" sz="2000" dirty="0">
              <a:latin typeface="+mj-lt"/>
              <a:cs typeface="Times New Roman" panose="02020603050405020304" pitchFamily="18" charset="0"/>
            </a:endParaRPr>
          </a:p>
        </p:txBody>
      </p:sp>
      <p:sp>
        <p:nvSpPr>
          <p:cNvPr id="4" name="TextBox 3">
            <a:extLst>
              <a:ext uri="{FF2B5EF4-FFF2-40B4-BE49-F238E27FC236}">
                <a16:creationId xmlns:a16="http://schemas.microsoft.com/office/drawing/2014/main" id="{F06BA704-0097-4AD3-BB18-7936AC1AA459}"/>
              </a:ext>
            </a:extLst>
          </p:cNvPr>
          <p:cNvSpPr txBox="1"/>
          <p:nvPr/>
        </p:nvSpPr>
        <p:spPr>
          <a:xfrm>
            <a:off x="533400" y="1447800"/>
            <a:ext cx="685800" cy="338554"/>
          </a:xfrm>
          <a:prstGeom prst="rect">
            <a:avLst/>
          </a:prstGeom>
          <a:noFill/>
          <a:ln>
            <a:solidFill>
              <a:schemeClr val="tx1"/>
            </a:solidFill>
          </a:ln>
        </p:spPr>
        <p:txBody>
          <a:bodyPr wrap="square" rtlCol="0">
            <a:spAutoFit/>
          </a:bodyPr>
          <a:lstStyle/>
          <a:p>
            <a:r>
              <a:rPr lang="en-US" sz="1600" dirty="0"/>
              <a:t>milk</a:t>
            </a:r>
          </a:p>
        </p:txBody>
      </p:sp>
      <p:cxnSp>
        <p:nvCxnSpPr>
          <p:cNvPr id="6" name="Straight Connector 5">
            <a:extLst>
              <a:ext uri="{FF2B5EF4-FFF2-40B4-BE49-F238E27FC236}">
                <a16:creationId xmlns:a16="http://schemas.microsoft.com/office/drawing/2014/main" id="{9F37D110-4680-4A07-9282-9906555BE99A}"/>
              </a:ext>
              <a:ext uri="{C183D7F6-B498-43B3-948B-1728B52AA6E4}">
                <adec:decorative xmlns:adec="http://schemas.microsoft.com/office/drawing/2017/decorative" val="1"/>
              </a:ext>
            </a:extLst>
          </p:cNvPr>
          <p:cNvCxnSpPr/>
          <p:nvPr/>
        </p:nvCxnSpPr>
        <p:spPr bwMode="auto">
          <a:xfrm>
            <a:off x="10668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7ECE1596-C09E-46E3-9592-1BB777927C57}"/>
              </a:ext>
            </a:extLst>
          </p:cNvPr>
          <p:cNvSpPr txBox="1"/>
          <p:nvPr/>
        </p:nvSpPr>
        <p:spPr>
          <a:xfrm>
            <a:off x="1828800" y="1447800"/>
            <a:ext cx="764310" cy="338554"/>
          </a:xfrm>
          <a:prstGeom prst="rect">
            <a:avLst/>
          </a:prstGeom>
          <a:noFill/>
          <a:ln>
            <a:solidFill>
              <a:schemeClr val="tx1"/>
            </a:solidFill>
          </a:ln>
        </p:spPr>
        <p:txBody>
          <a:bodyPr wrap="square" rtlCol="0">
            <a:spAutoFit/>
          </a:bodyPr>
          <a:lstStyle/>
          <a:p>
            <a:r>
              <a:rPr lang="en-US" sz="1600" dirty="0"/>
              <a:t>bread</a:t>
            </a:r>
          </a:p>
        </p:txBody>
      </p:sp>
      <p:cxnSp>
        <p:nvCxnSpPr>
          <p:cNvPr id="12" name="Straight Connector 11">
            <a:extLst>
              <a:ext uri="{FF2B5EF4-FFF2-40B4-BE49-F238E27FC236}">
                <a16:creationId xmlns:a16="http://schemas.microsoft.com/office/drawing/2014/main" id="{8D75DFBB-BE35-4205-98D0-DBB15511632D}"/>
              </a:ext>
              <a:ext uri="{C183D7F6-B498-43B3-948B-1728B52AA6E4}">
                <adec:decorative xmlns:adec="http://schemas.microsoft.com/office/drawing/2017/decorative" val="1"/>
              </a:ext>
            </a:extLst>
          </p:cNvPr>
          <p:cNvCxnSpPr/>
          <p:nvPr/>
        </p:nvCxnSpPr>
        <p:spPr bwMode="auto">
          <a:xfrm>
            <a:off x="244071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047469FC-E5F4-4FCE-B203-CD17BFC2A8E2}"/>
              </a:ext>
            </a:extLst>
          </p:cNvPr>
          <p:cNvSpPr txBox="1"/>
          <p:nvPr/>
        </p:nvSpPr>
        <p:spPr>
          <a:xfrm>
            <a:off x="2895600" y="1447800"/>
            <a:ext cx="685800" cy="338554"/>
          </a:xfrm>
          <a:prstGeom prst="rect">
            <a:avLst/>
          </a:prstGeom>
          <a:noFill/>
          <a:ln>
            <a:solidFill>
              <a:schemeClr val="tx1"/>
            </a:solidFill>
          </a:ln>
        </p:spPr>
        <p:txBody>
          <a:bodyPr wrap="square" rtlCol="0">
            <a:spAutoFit/>
          </a:bodyPr>
          <a:lstStyle/>
          <a:p>
            <a:r>
              <a:rPr lang="en-US" sz="1600" dirty="0"/>
              <a:t>eggs</a:t>
            </a:r>
          </a:p>
        </p:txBody>
      </p:sp>
      <p:cxnSp>
        <p:nvCxnSpPr>
          <p:cNvPr id="14" name="Straight Connector 13">
            <a:extLst>
              <a:ext uri="{FF2B5EF4-FFF2-40B4-BE49-F238E27FC236}">
                <a16:creationId xmlns:a16="http://schemas.microsoft.com/office/drawing/2014/main" id="{E5C184DF-5422-4A1B-BCFE-4B36D0194595}"/>
              </a:ext>
              <a:ext uri="{C183D7F6-B498-43B3-948B-1728B52AA6E4}">
                <adec:decorative xmlns:adec="http://schemas.microsoft.com/office/drawing/2017/decorative" val="1"/>
              </a:ext>
            </a:extLst>
          </p:cNvPr>
          <p:cNvCxnSpPr/>
          <p:nvPr/>
        </p:nvCxnSpPr>
        <p:spPr bwMode="auto">
          <a:xfrm>
            <a:off x="34290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a:extLst>
              <a:ext uri="{FF2B5EF4-FFF2-40B4-BE49-F238E27FC236}">
                <a16:creationId xmlns:a16="http://schemas.microsoft.com/office/drawing/2014/main" id="{83DC8DDD-ED71-4957-8AF5-022DB87C8812}"/>
              </a:ext>
            </a:extLst>
          </p:cNvPr>
          <p:cNvSpPr txBox="1"/>
          <p:nvPr/>
        </p:nvSpPr>
        <p:spPr>
          <a:xfrm>
            <a:off x="3962400" y="1447800"/>
            <a:ext cx="824351" cy="338554"/>
          </a:xfrm>
          <a:prstGeom prst="rect">
            <a:avLst/>
          </a:prstGeom>
          <a:noFill/>
          <a:ln>
            <a:solidFill>
              <a:schemeClr val="tx1"/>
            </a:solidFill>
          </a:ln>
        </p:spPr>
        <p:txBody>
          <a:bodyPr wrap="square" rtlCol="0">
            <a:spAutoFit/>
          </a:bodyPr>
          <a:lstStyle/>
          <a:p>
            <a:r>
              <a:rPr lang="en-US" sz="1600" dirty="0"/>
              <a:t>butter</a:t>
            </a:r>
          </a:p>
        </p:txBody>
      </p:sp>
      <p:cxnSp>
        <p:nvCxnSpPr>
          <p:cNvPr id="16" name="Straight Connector 15">
            <a:extLst>
              <a:ext uri="{FF2B5EF4-FFF2-40B4-BE49-F238E27FC236}">
                <a16:creationId xmlns:a16="http://schemas.microsoft.com/office/drawing/2014/main" id="{85175FFC-A945-43D1-8ECA-070ECCC75D9D}"/>
              </a:ext>
              <a:ext uri="{C183D7F6-B498-43B3-948B-1728B52AA6E4}">
                <adec:decorative xmlns:adec="http://schemas.microsoft.com/office/drawing/2017/decorative" val="1"/>
              </a:ext>
            </a:extLst>
          </p:cNvPr>
          <p:cNvCxnSpPr/>
          <p:nvPr/>
        </p:nvCxnSpPr>
        <p:spPr bwMode="auto">
          <a:xfrm>
            <a:off x="46482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48324ABA-87D6-4A4C-8D52-F67C64F272F2}"/>
              </a:ext>
            </a:extLst>
          </p:cNvPr>
          <p:cNvSpPr txBox="1"/>
          <p:nvPr/>
        </p:nvSpPr>
        <p:spPr>
          <a:xfrm>
            <a:off x="5060375" y="1447800"/>
            <a:ext cx="959425" cy="338554"/>
          </a:xfrm>
          <a:prstGeom prst="rect">
            <a:avLst/>
          </a:prstGeom>
          <a:noFill/>
          <a:ln>
            <a:solidFill>
              <a:schemeClr val="tx1"/>
            </a:solidFill>
          </a:ln>
        </p:spPr>
        <p:txBody>
          <a:bodyPr wrap="square" rtlCol="0">
            <a:spAutoFit/>
          </a:bodyPr>
          <a:lstStyle/>
          <a:p>
            <a:r>
              <a:rPr lang="en-US" sz="1600" dirty="0"/>
              <a:t>cookies</a:t>
            </a:r>
          </a:p>
        </p:txBody>
      </p:sp>
      <p:cxnSp>
        <p:nvCxnSpPr>
          <p:cNvPr id="18" name="Straight Connector 17">
            <a:extLst>
              <a:ext uri="{FF2B5EF4-FFF2-40B4-BE49-F238E27FC236}">
                <a16:creationId xmlns:a16="http://schemas.microsoft.com/office/drawing/2014/main" id="{F762B14D-56A4-4808-BCD8-76EA0427385A}"/>
              </a:ext>
              <a:ext uri="{C183D7F6-B498-43B3-948B-1728B52AA6E4}">
                <adec:decorative xmlns:adec="http://schemas.microsoft.com/office/drawing/2017/decorative" val="1"/>
              </a:ext>
            </a:extLst>
          </p:cNvPr>
          <p:cNvCxnSpPr/>
          <p:nvPr/>
        </p:nvCxnSpPr>
        <p:spPr bwMode="auto">
          <a:xfrm>
            <a:off x="5881249"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47C1F703-C73E-45DE-8086-75FFC3DDD5A7}"/>
              </a:ext>
              <a:ext uri="{C183D7F6-B498-43B3-948B-1728B52AA6E4}">
                <adec:decorative xmlns:adec="http://schemas.microsoft.com/office/drawing/2017/decorative" val="1"/>
              </a:ext>
            </a:extLst>
          </p:cNvPr>
          <p:cNvCxnSpPr>
            <a:stCxn id="4" idx="3"/>
            <a:endCxn id="11" idx="1"/>
          </p:cNvCxnSpPr>
          <p:nvPr/>
        </p:nvCxnSpPr>
        <p:spPr bwMode="auto">
          <a:xfrm>
            <a:off x="1219200" y="1617077"/>
            <a:ext cx="6096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Arrow Connector 20">
            <a:extLst>
              <a:ext uri="{FF2B5EF4-FFF2-40B4-BE49-F238E27FC236}">
                <a16:creationId xmlns:a16="http://schemas.microsoft.com/office/drawing/2014/main" id="{E60FC6FA-DCE2-4AD1-8BED-F93A13B9E33B}"/>
              </a:ext>
              <a:ext uri="{C183D7F6-B498-43B3-948B-1728B52AA6E4}">
                <adec:decorative xmlns:adec="http://schemas.microsoft.com/office/drawing/2017/decorative" val="1"/>
              </a:ext>
            </a:extLst>
          </p:cNvPr>
          <p:cNvCxnSpPr/>
          <p:nvPr/>
        </p:nvCxnSpPr>
        <p:spPr bwMode="auto">
          <a:xfrm>
            <a:off x="2590800" y="1617077"/>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8032CA1-F80B-464B-ACD8-3AEA73A4583E}"/>
              </a:ext>
              <a:ext uri="{C183D7F6-B498-43B3-948B-1728B52AA6E4}">
                <adec:decorative xmlns:adec="http://schemas.microsoft.com/office/drawing/2017/decorative" val="1"/>
              </a:ext>
            </a:extLst>
          </p:cNvPr>
          <p:cNvCxnSpPr>
            <a:endCxn id="15" idx="1"/>
          </p:cNvCxnSpPr>
          <p:nvPr/>
        </p:nvCxnSpPr>
        <p:spPr bwMode="auto">
          <a:xfrm flipV="1">
            <a:off x="3581400" y="1617077"/>
            <a:ext cx="381000" cy="5332"/>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a:extLst>
              <a:ext uri="{FF2B5EF4-FFF2-40B4-BE49-F238E27FC236}">
                <a16:creationId xmlns:a16="http://schemas.microsoft.com/office/drawing/2014/main" id="{8D3C0F63-63E7-4397-ABDD-02999C821FD7}"/>
              </a:ext>
              <a:ext uri="{C183D7F6-B498-43B3-948B-1728B52AA6E4}">
                <adec:decorative xmlns:adec="http://schemas.microsoft.com/office/drawing/2017/decorative" val="1"/>
              </a:ext>
            </a:extLst>
          </p:cNvPr>
          <p:cNvCxnSpPr/>
          <p:nvPr/>
        </p:nvCxnSpPr>
        <p:spPr bwMode="auto">
          <a:xfrm>
            <a:off x="4786751" y="1617077"/>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762CD04E-D4F6-484C-A17F-6FEB6ADABA20}"/>
              </a:ext>
            </a:extLst>
          </p:cNvPr>
          <p:cNvSpPr txBox="1"/>
          <p:nvPr/>
        </p:nvSpPr>
        <p:spPr>
          <a:xfrm>
            <a:off x="96407" y="914499"/>
            <a:ext cx="1257299" cy="307777"/>
          </a:xfrm>
          <a:prstGeom prst="rect">
            <a:avLst/>
          </a:prstGeom>
          <a:noFill/>
        </p:spPr>
        <p:txBody>
          <a:bodyPr wrap="square" rtlCol="0">
            <a:spAutoFit/>
          </a:bodyPr>
          <a:lstStyle/>
          <a:p>
            <a:r>
              <a:rPr lang="en-US" sz="1400" b="1" dirty="0" err="1"/>
              <a:t>GroceryList</a:t>
            </a:r>
            <a:endParaRPr lang="en-US" sz="1400" b="1" dirty="0"/>
          </a:p>
        </p:txBody>
      </p:sp>
      <p:cxnSp>
        <p:nvCxnSpPr>
          <p:cNvPr id="26" name="Straight Arrow Connector 25">
            <a:extLst>
              <a:ext uri="{FF2B5EF4-FFF2-40B4-BE49-F238E27FC236}">
                <a16:creationId xmlns:a16="http://schemas.microsoft.com/office/drawing/2014/main" id="{776E8ECD-D06A-4326-A15E-2352696593C3}"/>
              </a:ext>
              <a:ext uri="{C183D7F6-B498-43B3-948B-1728B52AA6E4}">
                <adec:decorative xmlns:adec="http://schemas.microsoft.com/office/drawing/2017/decorative" val="1"/>
              </a:ext>
            </a:extLst>
          </p:cNvPr>
          <p:cNvCxnSpPr/>
          <p:nvPr/>
        </p:nvCxnSpPr>
        <p:spPr bwMode="auto">
          <a:xfrm>
            <a:off x="934029" y="1182638"/>
            <a:ext cx="132771" cy="265162"/>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Arrow Connector 29">
            <a:extLst>
              <a:ext uri="{FF2B5EF4-FFF2-40B4-BE49-F238E27FC236}">
                <a16:creationId xmlns:a16="http://schemas.microsoft.com/office/drawing/2014/main" id="{2D648697-3153-47A8-9B18-90074B6EC58F}"/>
              </a:ext>
              <a:ext uri="{C183D7F6-B498-43B3-948B-1728B52AA6E4}">
                <adec:decorative xmlns:adec="http://schemas.microsoft.com/office/drawing/2017/decorative" val="1"/>
              </a:ext>
            </a:extLst>
          </p:cNvPr>
          <p:cNvCxnSpPr/>
          <p:nvPr/>
        </p:nvCxnSpPr>
        <p:spPr bwMode="auto">
          <a:xfrm>
            <a:off x="6019800" y="1622409"/>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Box 26">
            <a:extLst>
              <a:ext uri="{FF2B5EF4-FFF2-40B4-BE49-F238E27FC236}">
                <a16:creationId xmlns:a16="http://schemas.microsoft.com/office/drawing/2014/main" id="{6B93C9A3-5DA8-4170-9226-866EDBFC7575}"/>
              </a:ext>
            </a:extLst>
          </p:cNvPr>
          <p:cNvSpPr txBox="1"/>
          <p:nvPr/>
        </p:nvSpPr>
        <p:spPr>
          <a:xfrm>
            <a:off x="6248400" y="1447800"/>
            <a:ext cx="609599" cy="307777"/>
          </a:xfrm>
          <a:prstGeom prst="rect">
            <a:avLst/>
          </a:prstGeom>
          <a:noFill/>
        </p:spPr>
        <p:txBody>
          <a:bodyPr wrap="square" rtlCol="0">
            <a:spAutoFit/>
          </a:bodyPr>
          <a:lstStyle/>
          <a:p>
            <a:r>
              <a:rPr lang="en-US" sz="1400" i="1" dirty="0"/>
              <a:t>Null</a:t>
            </a:r>
          </a:p>
        </p:txBody>
      </p:sp>
      <p:cxnSp>
        <p:nvCxnSpPr>
          <p:cNvPr id="29" name="Connector: Elbow 28">
            <a:extLst>
              <a:ext uri="{FF2B5EF4-FFF2-40B4-BE49-F238E27FC236}">
                <a16:creationId xmlns:a16="http://schemas.microsoft.com/office/drawing/2014/main" id="{344E24C2-D710-4AF8-8D32-0FA5F235794C}"/>
              </a:ext>
              <a:ext uri="{C183D7F6-B498-43B3-948B-1728B52AA6E4}">
                <adec:decorative xmlns:adec="http://schemas.microsoft.com/office/drawing/2017/decorative" val="1"/>
              </a:ext>
            </a:extLst>
          </p:cNvPr>
          <p:cNvCxnSpPr/>
          <p:nvPr/>
        </p:nvCxnSpPr>
        <p:spPr bwMode="auto">
          <a:xfrm rot="5400000">
            <a:off x="5300806" y="1209948"/>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or: Elbow 33">
            <a:extLst>
              <a:ext uri="{FF2B5EF4-FFF2-40B4-BE49-F238E27FC236}">
                <a16:creationId xmlns:a16="http://schemas.microsoft.com/office/drawing/2014/main" id="{603E7BB3-085F-4F76-A6EA-741DE6B3491B}"/>
              </a:ext>
              <a:ext uri="{C183D7F6-B498-43B3-948B-1728B52AA6E4}">
                <adec:decorative xmlns:adec="http://schemas.microsoft.com/office/drawing/2017/decorative" val="1"/>
              </a:ext>
            </a:extLst>
          </p:cNvPr>
          <p:cNvCxnSpPr/>
          <p:nvPr/>
        </p:nvCxnSpPr>
        <p:spPr bwMode="auto">
          <a:xfrm rot="5400000">
            <a:off x="3982894" y="1208930"/>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or: Elbow 34">
            <a:extLst>
              <a:ext uri="{FF2B5EF4-FFF2-40B4-BE49-F238E27FC236}">
                <a16:creationId xmlns:a16="http://schemas.microsoft.com/office/drawing/2014/main" id="{2799672A-2A10-4804-880F-3A6E5B77F19C}"/>
              </a:ext>
              <a:ext uri="{C183D7F6-B498-43B3-948B-1728B52AA6E4}">
                <adec:decorative xmlns:adec="http://schemas.microsoft.com/office/drawing/2017/decorative" val="1"/>
              </a:ext>
            </a:extLst>
          </p:cNvPr>
          <p:cNvCxnSpPr/>
          <p:nvPr/>
        </p:nvCxnSpPr>
        <p:spPr bwMode="auto">
          <a:xfrm rot="5400000">
            <a:off x="2687494" y="1204615"/>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or: Elbow 36">
            <a:extLst>
              <a:ext uri="{FF2B5EF4-FFF2-40B4-BE49-F238E27FC236}">
                <a16:creationId xmlns:a16="http://schemas.microsoft.com/office/drawing/2014/main" id="{7EAA4997-F07A-4FE1-BF08-7188E72BB185}"/>
              </a:ext>
              <a:ext uri="{C183D7F6-B498-43B3-948B-1728B52AA6E4}">
                <adec:decorative xmlns:adec="http://schemas.microsoft.com/office/drawing/2017/decorative" val="1"/>
              </a:ext>
            </a:extLst>
          </p:cNvPr>
          <p:cNvCxnSpPr/>
          <p:nvPr/>
        </p:nvCxnSpPr>
        <p:spPr bwMode="auto">
          <a:xfrm rot="5400000">
            <a:off x="1427601" y="1214480"/>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66020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27</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LinkedList Pros &amp; Cons</a:t>
            </a: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137970" y="2286000"/>
            <a:ext cx="8929829" cy="4000282"/>
          </a:xfrm>
          <a:solidFill>
            <a:schemeClr val="bg1"/>
          </a:solidFill>
        </p:spPr>
        <p:txBody>
          <a:bodyPr/>
          <a:lstStyle/>
          <a:p>
            <a:pPr marL="342900" marR="0" lvl="0" indent="-342900">
              <a:lnSpc>
                <a:spcPct val="107000"/>
              </a:lnSpc>
              <a:spcBef>
                <a:spcPts val="0"/>
              </a:spcBef>
              <a:spcAft>
                <a:spcPts val="600"/>
              </a:spcAft>
              <a:buFont typeface="Symbol" panose="05050102010706020507" pitchFamily="18" charset="2"/>
              <a:buChar char=""/>
            </a:pPr>
            <a:r>
              <a:rPr lang="en-US" sz="2000" b="1" dirty="0" err="1">
                <a:effectLst/>
                <a:latin typeface="+mj-lt"/>
                <a:ea typeface="Calibri" panose="020F0502020204030204" pitchFamily="34" charset="0"/>
                <a:cs typeface="Times New Roman" panose="02020603050405020304" pitchFamily="18" charset="0"/>
              </a:rPr>
              <a:t>LinkedLists</a:t>
            </a:r>
            <a:r>
              <a:rPr lang="en-US" sz="2000" dirty="0">
                <a:effectLst/>
                <a:latin typeface="+mj-lt"/>
                <a:ea typeface="Calibri" panose="020F0502020204030204" pitchFamily="34" charset="0"/>
                <a:cs typeface="Times New Roman" panose="02020603050405020304" pitchFamily="18" charset="0"/>
              </a:rPr>
              <a:t> allow for easy insertion and deletion operations (just reassign pointers in nodes before/after them)</a:t>
            </a:r>
          </a:p>
          <a:p>
            <a:pPr marL="342900" marR="0" lvl="0" indent="-342900">
              <a:lnSpc>
                <a:spcPct val="107000"/>
              </a:lnSpc>
              <a:spcBef>
                <a:spcPts val="0"/>
              </a:spcBef>
              <a:spcAft>
                <a:spcPts val="600"/>
              </a:spcAft>
              <a:buFont typeface="Symbol" panose="05050102010706020507" pitchFamily="18" charset="2"/>
              <a:buChar char=""/>
            </a:pPr>
            <a:r>
              <a:rPr lang="en-US" sz="2000" dirty="0">
                <a:effectLst/>
                <a:latin typeface="+mj-lt"/>
                <a:ea typeface="Calibri" panose="020F0502020204030204" pitchFamily="34" charset="0"/>
                <a:cs typeface="Times New Roman" panose="02020603050405020304" pitchFamily="18" charset="0"/>
              </a:rPr>
              <a:t>Very efficient to add/delete items (in terms of Java work/overhead)</a:t>
            </a:r>
          </a:p>
          <a:p>
            <a:pPr marL="342900" marR="0" lvl="0" indent="-342900">
              <a:lnSpc>
                <a:spcPct val="107000"/>
              </a:lnSpc>
              <a:spcBef>
                <a:spcPts val="0"/>
              </a:spcBef>
              <a:spcAft>
                <a:spcPts val="600"/>
              </a:spcAft>
              <a:buFont typeface="Symbol" panose="05050102010706020507" pitchFamily="18" charset="2"/>
              <a:buChar char=""/>
            </a:pPr>
            <a:r>
              <a:rPr lang="en-US" sz="2000" dirty="0">
                <a:effectLst/>
                <a:latin typeface="+mj-lt"/>
                <a:ea typeface="Calibri" panose="020F0502020204030204" pitchFamily="34" charset="0"/>
                <a:cs typeface="Times New Roman" panose="02020603050405020304" pitchFamily="18" charset="0"/>
              </a:rPr>
              <a:t>Elements in a LinkedList have to be read sequentially – you can’t just jump to the node in the middle that you want (like cassette tapes) </a:t>
            </a:r>
          </a:p>
          <a:p>
            <a:pPr marL="342900" marR="0" lvl="0" indent="-342900">
              <a:lnSpc>
                <a:spcPct val="107000"/>
              </a:lnSpc>
              <a:spcBef>
                <a:spcPts val="0"/>
              </a:spcBef>
              <a:spcAft>
                <a:spcPts val="600"/>
              </a:spcAft>
              <a:buFont typeface="Symbol" panose="05050102010706020507" pitchFamily="18" charset="2"/>
              <a:buChar char=""/>
            </a:pPr>
            <a:r>
              <a:rPr lang="en-US" sz="2000" dirty="0">
                <a:effectLst/>
                <a:latin typeface="+mj-lt"/>
                <a:ea typeface="Calibri" panose="020F0502020204030204" pitchFamily="34" charset="0"/>
                <a:cs typeface="Times New Roman" panose="02020603050405020304" pitchFamily="18" charset="0"/>
              </a:rPr>
              <a:t>Elements are not stored sequentially in memory (unlike </a:t>
            </a:r>
            <a:r>
              <a:rPr lang="en-US" sz="2000" dirty="0" err="1">
                <a:effectLst/>
                <a:latin typeface="+mj-lt"/>
                <a:ea typeface="Calibri" panose="020F0502020204030204" pitchFamily="34" charset="0"/>
                <a:cs typeface="Times New Roman" panose="02020603050405020304" pitchFamily="18" charset="0"/>
              </a:rPr>
              <a:t>ArrayLists</a:t>
            </a:r>
            <a:r>
              <a:rPr lang="en-US" sz="2000" dirty="0">
                <a:effectLst/>
                <a:latin typeface="+mj-lt"/>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600"/>
              </a:spcAft>
              <a:buFont typeface="Symbol" panose="05050102010706020507" pitchFamily="18" charset="2"/>
              <a:buChar char=""/>
            </a:pPr>
            <a:r>
              <a:rPr lang="en-US" sz="2000" dirty="0">
                <a:effectLst/>
                <a:highlight>
                  <a:srgbClr val="FFFF00"/>
                </a:highlight>
                <a:latin typeface="+mj-lt"/>
                <a:ea typeface="Calibri" panose="020F0502020204030204" pitchFamily="34" charset="0"/>
                <a:cs typeface="Times New Roman" panose="02020603050405020304" pitchFamily="18" charset="0"/>
              </a:rPr>
              <a:t>Slower iterations and extra memory overhead are required to keep track of the pointer to the next element in the list</a:t>
            </a:r>
          </a:p>
          <a:p>
            <a:pPr lvl="0">
              <a:lnSpc>
                <a:spcPct val="107000"/>
              </a:lnSpc>
              <a:spcBef>
                <a:spcPts val="0"/>
              </a:spcBef>
              <a:spcAft>
                <a:spcPts val="600"/>
              </a:spcAft>
              <a:buFont typeface="Symbol" panose="05050102010706020507" pitchFamily="18" charset="2"/>
              <a:buChar char=""/>
            </a:pPr>
            <a:endParaRPr lang="en-US" sz="2000" dirty="0">
              <a:latin typeface="+mj-lt"/>
              <a:cs typeface="Times New Roman" panose="02020603050405020304" pitchFamily="18" charset="0"/>
            </a:endParaRPr>
          </a:p>
        </p:txBody>
      </p:sp>
      <p:sp>
        <p:nvSpPr>
          <p:cNvPr id="4" name="TextBox 3">
            <a:extLst>
              <a:ext uri="{FF2B5EF4-FFF2-40B4-BE49-F238E27FC236}">
                <a16:creationId xmlns:a16="http://schemas.microsoft.com/office/drawing/2014/main" id="{F06BA704-0097-4AD3-BB18-7936AC1AA459}"/>
              </a:ext>
            </a:extLst>
          </p:cNvPr>
          <p:cNvSpPr txBox="1"/>
          <p:nvPr/>
        </p:nvSpPr>
        <p:spPr>
          <a:xfrm>
            <a:off x="533400" y="1447800"/>
            <a:ext cx="685800" cy="338554"/>
          </a:xfrm>
          <a:prstGeom prst="rect">
            <a:avLst/>
          </a:prstGeom>
          <a:noFill/>
          <a:ln>
            <a:solidFill>
              <a:schemeClr val="tx1"/>
            </a:solidFill>
          </a:ln>
        </p:spPr>
        <p:txBody>
          <a:bodyPr wrap="square" rtlCol="0">
            <a:spAutoFit/>
          </a:bodyPr>
          <a:lstStyle/>
          <a:p>
            <a:r>
              <a:rPr lang="en-US" sz="1600" dirty="0"/>
              <a:t>milk</a:t>
            </a:r>
          </a:p>
        </p:txBody>
      </p:sp>
      <p:cxnSp>
        <p:nvCxnSpPr>
          <p:cNvPr id="6" name="Straight Connector 5">
            <a:extLst>
              <a:ext uri="{FF2B5EF4-FFF2-40B4-BE49-F238E27FC236}">
                <a16:creationId xmlns:a16="http://schemas.microsoft.com/office/drawing/2014/main" id="{9F37D110-4680-4A07-9282-9906555BE99A}"/>
              </a:ext>
              <a:ext uri="{C183D7F6-B498-43B3-948B-1728B52AA6E4}">
                <adec:decorative xmlns:adec="http://schemas.microsoft.com/office/drawing/2017/decorative" val="1"/>
              </a:ext>
            </a:extLst>
          </p:cNvPr>
          <p:cNvCxnSpPr/>
          <p:nvPr/>
        </p:nvCxnSpPr>
        <p:spPr bwMode="auto">
          <a:xfrm>
            <a:off x="10668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7ECE1596-C09E-46E3-9592-1BB777927C57}"/>
              </a:ext>
            </a:extLst>
          </p:cNvPr>
          <p:cNvSpPr txBox="1"/>
          <p:nvPr/>
        </p:nvSpPr>
        <p:spPr>
          <a:xfrm>
            <a:off x="1828800" y="1447800"/>
            <a:ext cx="764310" cy="338554"/>
          </a:xfrm>
          <a:prstGeom prst="rect">
            <a:avLst/>
          </a:prstGeom>
          <a:noFill/>
          <a:ln>
            <a:solidFill>
              <a:schemeClr val="tx1"/>
            </a:solidFill>
          </a:ln>
        </p:spPr>
        <p:txBody>
          <a:bodyPr wrap="square" rtlCol="0">
            <a:spAutoFit/>
          </a:bodyPr>
          <a:lstStyle/>
          <a:p>
            <a:r>
              <a:rPr lang="en-US" sz="1600" dirty="0"/>
              <a:t>bread</a:t>
            </a:r>
          </a:p>
        </p:txBody>
      </p:sp>
      <p:cxnSp>
        <p:nvCxnSpPr>
          <p:cNvPr id="12" name="Straight Connector 11">
            <a:extLst>
              <a:ext uri="{FF2B5EF4-FFF2-40B4-BE49-F238E27FC236}">
                <a16:creationId xmlns:a16="http://schemas.microsoft.com/office/drawing/2014/main" id="{8D75DFBB-BE35-4205-98D0-DBB15511632D}"/>
              </a:ext>
              <a:ext uri="{C183D7F6-B498-43B3-948B-1728B52AA6E4}">
                <adec:decorative xmlns:adec="http://schemas.microsoft.com/office/drawing/2017/decorative" val="1"/>
              </a:ext>
            </a:extLst>
          </p:cNvPr>
          <p:cNvCxnSpPr/>
          <p:nvPr/>
        </p:nvCxnSpPr>
        <p:spPr bwMode="auto">
          <a:xfrm>
            <a:off x="244071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047469FC-E5F4-4FCE-B203-CD17BFC2A8E2}"/>
              </a:ext>
            </a:extLst>
          </p:cNvPr>
          <p:cNvSpPr txBox="1"/>
          <p:nvPr/>
        </p:nvSpPr>
        <p:spPr>
          <a:xfrm>
            <a:off x="2895600" y="1447800"/>
            <a:ext cx="685800" cy="338554"/>
          </a:xfrm>
          <a:prstGeom prst="rect">
            <a:avLst/>
          </a:prstGeom>
          <a:noFill/>
          <a:ln>
            <a:solidFill>
              <a:schemeClr val="tx1"/>
            </a:solidFill>
          </a:ln>
        </p:spPr>
        <p:txBody>
          <a:bodyPr wrap="square" rtlCol="0">
            <a:spAutoFit/>
          </a:bodyPr>
          <a:lstStyle/>
          <a:p>
            <a:r>
              <a:rPr lang="en-US" sz="1600" dirty="0"/>
              <a:t>eggs</a:t>
            </a:r>
          </a:p>
        </p:txBody>
      </p:sp>
      <p:cxnSp>
        <p:nvCxnSpPr>
          <p:cNvPr id="14" name="Straight Connector 13">
            <a:extLst>
              <a:ext uri="{FF2B5EF4-FFF2-40B4-BE49-F238E27FC236}">
                <a16:creationId xmlns:a16="http://schemas.microsoft.com/office/drawing/2014/main" id="{E5C184DF-5422-4A1B-BCFE-4B36D0194595}"/>
              </a:ext>
              <a:ext uri="{C183D7F6-B498-43B3-948B-1728B52AA6E4}">
                <adec:decorative xmlns:adec="http://schemas.microsoft.com/office/drawing/2017/decorative" val="1"/>
              </a:ext>
            </a:extLst>
          </p:cNvPr>
          <p:cNvCxnSpPr/>
          <p:nvPr/>
        </p:nvCxnSpPr>
        <p:spPr bwMode="auto">
          <a:xfrm>
            <a:off x="34290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a:extLst>
              <a:ext uri="{FF2B5EF4-FFF2-40B4-BE49-F238E27FC236}">
                <a16:creationId xmlns:a16="http://schemas.microsoft.com/office/drawing/2014/main" id="{83DC8DDD-ED71-4957-8AF5-022DB87C8812}"/>
              </a:ext>
            </a:extLst>
          </p:cNvPr>
          <p:cNvSpPr txBox="1"/>
          <p:nvPr/>
        </p:nvSpPr>
        <p:spPr>
          <a:xfrm>
            <a:off x="3962400" y="1447800"/>
            <a:ext cx="824351" cy="338554"/>
          </a:xfrm>
          <a:prstGeom prst="rect">
            <a:avLst/>
          </a:prstGeom>
          <a:noFill/>
          <a:ln>
            <a:solidFill>
              <a:schemeClr val="tx1"/>
            </a:solidFill>
          </a:ln>
        </p:spPr>
        <p:txBody>
          <a:bodyPr wrap="square" rtlCol="0">
            <a:spAutoFit/>
          </a:bodyPr>
          <a:lstStyle/>
          <a:p>
            <a:r>
              <a:rPr lang="en-US" sz="1600" dirty="0"/>
              <a:t>butter</a:t>
            </a:r>
          </a:p>
        </p:txBody>
      </p:sp>
      <p:cxnSp>
        <p:nvCxnSpPr>
          <p:cNvPr id="16" name="Straight Connector 15">
            <a:extLst>
              <a:ext uri="{FF2B5EF4-FFF2-40B4-BE49-F238E27FC236}">
                <a16:creationId xmlns:a16="http://schemas.microsoft.com/office/drawing/2014/main" id="{85175FFC-A945-43D1-8ECA-070ECCC75D9D}"/>
              </a:ext>
              <a:ext uri="{C183D7F6-B498-43B3-948B-1728B52AA6E4}">
                <adec:decorative xmlns:adec="http://schemas.microsoft.com/office/drawing/2017/decorative" val="1"/>
              </a:ext>
            </a:extLst>
          </p:cNvPr>
          <p:cNvCxnSpPr/>
          <p:nvPr/>
        </p:nvCxnSpPr>
        <p:spPr bwMode="auto">
          <a:xfrm>
            <a:off x="4648200"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48324ABA-87D6-4A4C-8D52-F67C64F272F2}"/>
              </a:ext>
            </a:extLst>
          </p:cNvPr>
          <p:cNvSpPr txBox="1"/>
          <p:nvPr/>
        </p:nvSpPr>
        <p:spPr>
          <a:xfrm>
            <a:off x="5060375" y="1447800"/>
            <a:ext cx="959425" cy="338554"/>
          </a:xfrm>
          <a:prstGeom prst="rect">
            <a:avLst/>
          </a:prstGeom>
          <a:noFill/>
          <a:ln>
            <a:solidFill>
              <a:schemeClr val="tx1"/>
            </a:solidFill>
          </a:ln>
        </p:spPr>
        <p:txBody>
          <a:bodyPr wrap="square" rtlCol="0">
            <a:spAutoFit/>
          </a:bodyPr>
          <a:lstStyle/>
          <a:p>
            <a:r>
              <a:rPr lang="en-US" sz="1600" dirty="0"/>
              <a:t>cookies</a:t>
            </a:r>
          </a:p>
        </p:txBody>
      </p:sp>
      <p:cxnSp>
        <p:nvCxnSpPr>
          <p:cNvPr id="18" name="Straight Connector 17">
            <a:extLst>
              <a:ext uri="{FF2B5EF4-FFF2-40B4-BE49-F238E27FC236}">
                <a16:creationId xmlns:a16="http://schemas.microsoft.com/office/drawing/2014/main" id="{F762B14D-56A4-4808-BCD8-76EA0427385A}"/>
              </a:ext>
              <a:ext uri="{C183D7F6-B498-43B3-948B-1728B52AA6E4}">
                <adec:decorative xmlns:adec="http://schemas.microsoft.com/office/drawing/2017/decorative" val="1"/>
              </a:ext>
            </a:extLst>
          </p:cNvPr>
          <p:cNvCxnSpPr/>
          <p:nvPr/>
        </p:nvCxnSpPr>
        <p:spPr bwMode="auto">
          <a:xfrm>
            <a:off x="5881249" y="1447800"/>
            <a:ext cx="0" cy="338554"/>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47C1F703-C73E-45DE-8086-75FFC3DDD5A7}"/>
              </a:ext>
              <a:ext uri="{C183D7F6-B498-43B3-948B-1728B52AA6E4}">
                <adec:decorative xmlns:adec="http://schemas.microsoft.com/office/drawing/2017/decorative" val="1"/>
              </a:ext>
            </a:extLst>
          </p:cNvPr>
          <p:cNvCxnSpPr>
            <a:stCxn id="4" idx="3"/>
            <a:endCxn id="11" idx="1"/>
          </p:cNvCxnSpPr>
          <p:nvPr/>
        </p:nvCxnSpPr>
        <p:spPr bwMode="auto">
          <a:xfrm>
            <a:off x="1219200" y="1617077"/>
            <a:ext cx="6096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Arrow Connector 20">
            <a:extLst>
              <a:ext uri="{FF2B5EF4-FFF2-40B4-BE49-F238E27FC236}">
                <a16:creationId xmlns:a16="http://schemas.microsoft.com/office/drawing/2014/main" id="{E60FC6FA-DCE2-4AD1-8BED-F93A13B9E33B}"/>
              </a:ext>
              <a:ext uri="{C183D7F6-B498-43B3-948B-1728B52AA6E4}">
                <adec:decorative xmlns:adec="http://schemas.microsoft.com/office/drawing/2017/decorative" val="1"/>
              </a:ext>
            </a:extLst>
          </p:cNvPr>
          <p:cNvCxnSpPr/>
          <p:nvPr/>
        </p:nvCxnSpPr>
        <p:spPr bwMode="auto">
          <a:xfrm>
            <a:off x="2590800" y="1617077"/>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8032CA1-F80B-464B-ACD8-3AEA73A4583E}"/>
              </a:ext>
              <a:ext uri="{C183D7F6-B498-43B3-948B-1728B52AA6E4}">
                <adec:decorative xmlns:adec="http://schemas.microsoft.com/office/drawing/2017/decorative" val="1"/>
              </a:ext>
            </a:extLst>
          </p:cNvPr>
          <p:cNvCxnSpPr>
            <a:endCxn id="15" idx="1"/>
          </p:cNvCxnSpPr>
          <p:nvPr/>
        </p:nvCxnSpPr>
        <p:spPr bwMode="auto">
          <a:xfrm flipV="1">
            <a:off x="3581400" y="1617077"/>
            <a:ext cx="381000" cy="5332"/>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a:extLst>
              <a:ext uri="{FF2B5EF4-FFF2-40B4-BE49-F238E27FC236}">
                <a16:creationId xmlns:a16="http://schemas.microsoft.com/office/drawing/2014/main" id="{8D3C0F63-63E7-4397-ABDD-02999C821FD7}"/>
              </a:ext>
              <a:ext uri="{C183D7F6-B498-43B3-948B-1728B52AA6E4}">
                <adec:decorative xmlns:adec="http://schemas.microsoft.com/office/drawing/2017/decorative" val="1"/>
              </a:ext>
            </a:extLst>
          </p:cNvPr>
          <p:cNvCxnSpPr/>
          <p:nvPr/>
        </p:nvCxnSpPr>
        <p:spPr bwMode="auto">
          <a:xfrm>
            <a:off x="4786751" y="1617077"/>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762CD04E-D4F6-484C-A17F-6FEB6ADABA20}"/>
              </a:ext>
            </a:extLst>
          </p:cNvPr>
          <p:cNvSpPr txBox="1"/>
          <p:nvPr/>
        </p:nvSpPr>
        <p:spPr>
          <a:xfrm>
            <a:off x="96407" y="914499"/>
            <a:ext cx="1257299" cy="307777"/>
          </a:xfrm>
          <a:prstGeom prst="rect">
            <a:avLst/>
          </a:prstGeom>
          <a:noFill/>
        </p:spPr>
        <p:txBody>
          <a:bodyPr wrap="square" rtlCol="0">
            <a:spAutoFit/>
          </a:bodyPr>
          <a:lstStyle/>
          <a:p>
            <a:r>
              <a:rPr lang="en-US" sz="1400" b="1" dirty="0" err="1"/>
              <a:t>GroceryList</a:t>
            </a:r>
            <a:endParaRPr lang="en-US" sz="1400" b="1" dirty="0"/>
          </a:p>
        </p:txBody>
      </p:sp>
      <p:cxnSp>
        <p:nvCxnSpPr>
          <p:cNvPr id="26" name="Straight Arrow Connector 25">
            <a:extLst>
              <a:ext uri="{FF2B5EF4-FFF2-40B4-BE49-F238E27FC236}">
                <a16:creationId xmlns:a16="http://schemas.microsoft.com/office/drawing/2014/main" id="{776E8ECD-D06A-4326-A15E-2352696593C3}"/>
              </a:ext>
              <a:ext uri="{C183D7F6-B498-43B3-948B-1728B52AA6E4}">
                <adec:decorative xmlns:adec="http://schemas.microsoft.com/office/drawing/2017/decorative" val="1"/>
              </a:ext>
            </a:extLst>
          </p:cNvPr>
          <p:cNvCxnSpPr/>
          <p:nvPr/>
        </p:nvCxnSpPr>
        <p:spPr bwMode="auto">
          <a:xfrm>
            <a:off x="934029" y="1182638"/>
            <a:ext cx="132771" cy="265162"/>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Arrow Connector 29">
            <a:extLst>
              <a:ext uri="{FF2B5EF4-FFF2-40B4-BE49-F238E27FC236}">
                <a16:creationId xmlns:a16="http://schemas.microsoft.com/office/drawing/2014/main" id="{2D648697-3153-47A8-9B18-90074B6EC58F}"/>
              </a:ext>
              <a:ext uri="{C183D7F6-B498-43B3-948B-1728B52AA6E4}">
                <adec:decorative xmlns:adec="http://schemas.microsoft.com/office/drawing/2017/decorative" val="1"/>
              </a:ext>
            </a:extLst>
          </p:cNvPr>
          <p:cNvCxnSpPr/>
          <p:nvPr/>
        </p:nvCxnSpPr>
        <p:spPr bwMode="auto">
          <a:xfrm>
            <a:off x="6019800" y="1622409"/>
            <a:ext cx="3048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Box 26">
            <a:extLst>
              <a:ext uri="{FF2B5EF4-FFF2-40B4-BE49-F238E27FC236}">
                <a16:creationId xmlns:a16="http://schemas.microsoft.com/office/drawing/2014/main" id="{6B93C9A3-5DA8-4170-9226-866EDBFC7575}"/>
              </a:ext>
            </a:extLst>
          </p:cNvPr>
          <p:cNvSpPr txBox="1"/>
          <p:nvPr/>
        </p:nvSpPr>
        <p:spPr>
          <a:xfrm>
            <a:off x="6248400" y="1447800"/>
            <a:ext cx="609599" cy="307777"/>
          </a:xfrm>
          <a:prstGeom prst="rect">
            <a:avLst/>
          </a:prstGeom>
          <a:noFill/>
        </p:spPr>
        <p:txBody>
          <a:bodyPr wrap="square" rtlCol="0">
            <a:spAutoFit/>
          </a:bodyPr>
          <a:lstStyle/>
          <a:p>
            <a:r>
              <a:rPr lang="en-US" sz="1400" i="1" dirty="0"/>
              <a:t>Null</a:t>
            </a:r>
          </a:p>
        </p:txBody>
      </p:sp>
      <p:cxnSp>
        <p:nvCxnSpPr>
          <p:cNvPr id="29" name="Connector: Elbow 28">
            <a:extLst>
              <a:ext uri="{FF2B5EF4-FFF2-40B4-BE49-F238E27FC236}">
                <a16:creationId xmlns:a16="http://schemas.microsoft.com/office/drawing/2014/main" id="{344E24C2-D710-4AF8-8D32-0FA5F235794C}"/>
              </a:ext>
              <a:ext uri="{C183D7F6-B498-43B3-948B-1728B52AA6E4}">
                <adec:decorative xmlns:adec="http://schemas.microsoft.com/office/drawing/2017/decorative" val="1"/>
              </a:ext>
            </a:extLst>
          </p:cNvPr>
          <p:cNvCxnSpPr/>
          <p:nvPr/>
        </p:nvCxnSpPr>
        <p:spPr bwMode="auto">
          <a:xfrm rot="5400000">
            <a:off x="5300806" y="1209948"/>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or: Elbow 33">
            <a:extLst>
              <a:ext uri="{FF2B5EF4-FFF2-40B4-BE49-F238E27FC236}">
                <a16:creationId xmlns:a16="http://schemas.microsoft.com/office/drawing/2014/main" id="{603E7BB3-085F-4F76-A6EA-741DE6B3491B}"/>
              </a:ext>
              <a:ext uri="{C183D7F6-B498-43B3-948B-1728B52AA6E4}">
                <adec:decorative xmlns:adec="http://schemas.microsoft.com/office/drawing/2017/decorative" val="1"/>
              </a:ext>
            </a:extLst>
          </p:cNvPr>
          <p:cNvCxnSpPr/>
          <p:nvPr/>
        </p:nvCxnSpPr>
        <p:spPr bwMode="auto">
          <a:xfrm rot="5400000">
            <a:off x="3982894" y="1208930"/>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or: Elbow 34">
            <a:extLst>
              <a:ext uri="{FF2B5EF4-FFF2-40B4-BE49-F238E27FC236}">
                <a16:creationId xmlns:a16="http://schemas.microsoft.com/office/drawing/2014/main" id="{2799672A-2A10-4804-880F-3A6E5B77F19C}"/>
              </a:ext>
              <a:ext uri="{C183D7F6-B498-43B3-948B-1728B52AA6E4}">
                <adec:decorative xmlns:adec="http://schemas.microsoft.com/office/drawing/2017/decorative" val="1"/>
              </a:ext>
            </a:extLst>
          </p:cNvPr>
          <p:cNvCxnSpPr/>
          <p:nvPr/>
        </p:nvCxnSpPr>
        <p:spPr bwMode="auto">
          <a:xfrm rot="5400000">
            <a:off x="2687494" y="1204615"/>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or: Elbow 36">
            <a:extLst>
              <a:ext uri="{FF2B5EF4-FFF2-40B4-BE49-F238E27FC236}">
                <a16:creationId xmlns:a16="http://schemas.microsoft.com/office/drawing/2014/main" id="{7EAA4997-F07A-4FE1-BF08-7188E72BB185}"/>
              </a:ext>
              <a:ext uri="{C183D7F6-B498-43B3-948B-1728B52AA6E4}">
                <adec:decorative xmlns:adec="http://schemas.microsoft.com/office/drawing/2017/decorative" val="1"/>
              </a:ext>
            </a:extLst>
          </p:cNvPr>
          <p:cNvCxnSpPr/>
          <p:nvPr/>
        </p:nvCxnSpPr>
        <p:spPr bwMode="auto">
          <a:xfrm rot="5400000">
            <a:off x="1427601" y="1214480"/>
            <a:ext cx="12700" cy="1165512"/>
          </a:xfrm>
          <a:prstGeom prst="bentConnector3">
            <a:avLst>
              <a:gd name="adj1" fmla="val 1800000"/>
            </a:avLst>
          </a:prstGeom>
          <a:solidFill>
            <a:schemeClr val="accent1"/>
          </a:solidFill>
          <a:ln w="12700" cap="flat" cmpd="sng" algn="ctr">
            <a:solidFill>
              <a:srgbClr val="80000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01766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2D3A2EFB-7E89-454A-81AF-421BA007E2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ABD2D19-849C-428B-8356-19771B5F721F}" type="slidenum">
              <a:rPr lang="en-US" altLang="en-US" sz="1400"/>
              <a:pPr>
                <a:spcBef>
                  <a:spcPct val="0"/>
                </a:spcBef>
                <a:buClrTx/>
                <a:buSzTx/>
                <a:buFontTx/>
                <a:buNone/>
              </a:pPr>
              <a:t>28</a:t>
            </a:fld>
            <a:endParaRPr lang="en-US" altLang="en-US" sz="1400"/>
          </a:p>
        </p:txBody>
      </p:sp>
      <p:sp>
        <p:nvSpPr>
          <p:cNvPr id="17411" name="Rectangle 2">
            <a:extLst>
              <a:ext uri="{FF2B5EF4-FFF2-40B4-BE49-F238E27FC236}">
                <a16:creationId xmlns:a16="http://schemas.microsoft.com/office/drawing/2014/main" id="{7C512186-3804-43F4-AFE2-E6F5882384A7}"/>
              </a:ext>
            </a:extLst>
          </p:cNvPr>
          <p:cNvSpPr>
            <a:spLocks noGrp="1" noChangeArrowheads="1"/>
          </p:cNvSpPr>
          <p:nvPr>
            <p:ph type="title"/>
          </p:nvPr>
        </p:nvSpPr>
        <p:spPr>
          <a:xfrm>
            <a:off x="685800" y="228600"/>
            <a:ext cx="7924800" cy="533400"/>
          </a:xfrm>
          <a:noFill/>
        </p:spPr>
        <p:txBody>
          <a:bodyPr/>
          <a:lstStyle/>
          <a:p>
            <a:r>
              <a:rPr lang="en-US" altLang="en-US" sz="4000" dirty="0" err="1">
                <a:cs typeface="Times New Roman" panose="02020603050405020304" pitchFamily="18" charset="0"/>
              </a:rPr>
              <a:t>java.util.LinkedList</a:t>
            </a:r>
            <a:endParaRPr lang="en-US" altLang="en-US" sz="4000" dirty="0">
              <a:cs typeface="Times New Roman" panose="02020603050405020304" pitchFamily="18" charset="0"/>
            </a:endParaRPr>
          </a:p>
        </p:txBody>
      </p:sp>
      <p:graphicFrame>
        <p:nvGraphicFramePr>
          <p:cNvPr id="17417" name="Object 8">
            <a:extLst>
              <a:ext uri="{FF2B5EF4-FFF2-40B4-BE49-F238E27FC236}">
                <a16:creationId xmlns:a16="http://schemas.microsoft.com/office/drawing/2014/main" id="{84241E46-DDDB-4608-AE6D-0E687E2BBAB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36693482"/>
              </p:ext>
            </p:extLst>
          </p:nvPr>
        </p:nvGraphicFramePr>
        <p:xfrm>
          <a:off x="762000" y="914400"/>
          <a:ext cx="7772400" cy="5395913"/>
        </p:xfrm>
        <a:graphic>
          <a:graphicData uri="http://schemas.openxmlformats.org/presentationml/2006/ole">
            <mc:AlternateContent xmlns:mc="http://schemas.openxmlformats.org/markup-compatibility/2006">
              <mc:Choice xmlns:v="urn:schemas-microsoft-com:vml" Requires="v">
                <p:oleObj name="Picture" r:id="rId2" imgW="4034923" imgH="2805580" progId="Word.Picture.8">
                  <p:embed/>
                </p:oleObj>
              </mc:Choice>
              <mc:Fallback>
                <p:oleObj name="Picture" r:id="rId2" imgW="4034923" imgH="2805580" progId="Word.Picture.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14400"/>
                        <a:ext cx="77724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BD3E37-39D9-4BD4-B22D-F31811163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7D27E6-AD4B-474E-88E8-A74180D19CF6}" type="slidenum">
              <a:rPr lang="en-US" altLang="en-US" sz="1400"/>
              <a:pPr>
                <a:spcBef>
                  <a:spcPct val="0"/>
                </a:spcBef>
                <a:buClrTx/>
                <a:buSzTx/>
                <a:buFontTx/>
                <a:buNone/>
              </a:pPr>
              <a:t>29</a:t>
            </a:fld>
            <a:endParaRPr lang="en-US" altLang="en-US" sz="1400"/>
          </a:p>
        </p:txBody>
      </p:sp>
      <p:sp>
        <p:nvSpPr>
          <p:cNvPr id="15363" name="Rectangle 2">
            <a:extLst>
              <a:ext uri="{FF2B5EF4-FFF2-40B4-BE49-F238E27FC236}">
                <a16:creationId xmlns:a16="http://schemas.microsoft.com/office/drawing/2014/main" id="{D3BC2647-427D-474E-B121-946A49212103}"/>
              </a:ext>
            </a:extLst>
          </p:cNvPr>
          <p:cNvSpPr>
            <a:spLocks noGrp="1" noChangeArrowheads="1"/>
          </p:cNvSpPr>
          <p:nvPr>
            <p:ph type="title"/>
          </p:nvPr>
        </p:nvSpPr>
        <p:spPr>
          <a:xfrm>
            <a:off x="685800" y="228600"/>
            <a:ext cx="7924800" cy="914400"/>
          </a:xfrm>
          <a:noFill/>
        </p:spPr>
        <p:txBody>
          <a:bodyPr/>
          <a:lstStyle/>
          <a:p>
            <a:r>
              <a:rPr lang="en-US" altLang="en-US" dirty="0">
                <a:cs typeface="Times New Roman" panose="02020603050405020304" pitchFamily="18" charset="0"/>
              </a:rPr>
              <a:t>LinkedList Example</a:t>
            </a:r>
          </a:p>
        </p:txBody>
      </p:sp>
      <p:sp>
        <p:nvSpPr>
          <p:cNvPr id="15365" name="Rectangle 4">
            <a:extLst>
              <a:ext uri="{FF2B5EF4-FFF2-40B4-BE49-F238E27FC236}">
                <a16:creationId xmlns:a16="http://schemas.microsoft.com/office/drawing/2014/main" id="{CC265161-BEAE-4359-A608-02E248393E27}"/>
              </a:ext>
            </a:extLst>
          </p:cNvPr>
          <p:cNvSpPr>
            <a:spLocks noGrp="1" noChangeArrowheads="1"/>
          </p:cNvSpPr>
          <p:nvPr>
            <p:ph type="body" idx="1"/>
          </p:nvPr>
        </p:nvSpPr>
        <p:spPr>
          <a:xfrm>
            <a:off x="209550" y="1219200"/>
            <a:ext cx="8782050" cy="5562600"/>
          </a:xfrm>
          <a:solidFill>
            <a:schemeClr val="bg1"/>
          </a:solidFill>
        </p:spPr>
        <p:txBody>
          <a:bodyPr/>
          <a:lstStyle/>
          <a:p>
            <a:pPr marL="0" lvl="0"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import </a:t>
            </a:r>
            <a:r>
              <a:rPr lang="en-US" sz="1400" dirty="0" err="1">
                <a:effectLst/>
                <a:latin typeface="+mj-lt"/>
                <a:ea typeface="Calibri" panose="020F0502020204030204" pitchFamily="34" charset="0"/>
                <a:cs typeface="Times New Roman" panose="02020603050405020304" pitchFamily="18" charset="0"/>
              </a:rPr>
              <a:t>java.util.LinkedList</a:t>
            </a:r>
            <a:r>
              <a:rPr lang="en-US" sz="1400" dirty="0">
                <a:effectLst/>
                <a:latin typeface="+mj-lt"/>
                <a:ea typeface="Calibri" panose="020F0502020204030204" pitchFamily="34" charset="0"/>
                <a:cs typeface="Times New Roman" panose="02020603050405020304" pitchFamily="18" charset="0"/>
              </a:rPr>
              <a:t>;</a:t>
            </a:r>
          </a:p>
          <a:p>
            <a:pPr marL="0" lvl="0"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import </a:t>
            </a:r>
            <a:r>
              <a:rPr lang="en-US" sz="1400" dirty="0" err="1">
                <a:effectLst/>
                <a:latin typeface="+mj-lt"/>
                <a:ea typeface="Calibri" panose="020F0502020204030204" pitchFamily="34" charset="0"/>
                <a:cs typeface="Times New Roman" panose="02020603050405020304" pitchFamily="18" charset="0"/>
              </a:rPr>
              <a:t>java.util.ListIterator</a:t>
            </a:r>
            <a:r>
              <a:rPr lang="en-US" sz="1400" dirty="0">
                <a:effectLst/>
                <a:latin typeface="+mj-lt"/>
                <a:ea typeface="Calibri" panose="020F0502020204030204" pitchFamily="34" charset="0"/>
                <a:cs typeface="Times New Roman" panose="02020603050405020304" pitchFamily="18" charset="0"/>
              </a:rPr>
              <a:t>;</a:t>
            </a:r>
          </a:p>
          <a:p>
            <a:pPr marL="0" lvl="0"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public class </a:t>
            </a:r>
            <a:r>
              <a:rPr lang="en-US" sz="1400" dirty="0" err="1">
                <a:effectLst/>
                <a:latin typeface="+mj-lt"/>
                <a:ea typeface="Calibri" panose="020F0502020204030204" pitchFamily="34" charset="0"/>
                <a:cs typeface="Times New Roman" panose="02020603050405020304" pitchFamily="18" charset="0"/>
              </a:rPr>
              <a:t>LinkedListExample</a:t>
            </a:r>
            <a:r>
              <a:rPr lang="en-US" sz="1400" dirty="0">
                <a:effectLst/>
                <a:latin typeface="+mj-lt"/>
                <a:ea typeface="Calibri" panose="020F0502020204030204" pitchFamily="34" charset="0"/>
                <a:cs typeface="Times New Roman" panose="02020603050405020304" pitchFamily="18" charset="0"/>
              </a:rPr>
              <a:t> </a:t>
            </a:r>
          </a:p>
          <a:p>
            <a:pPr marL="0" lvl="0"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public static void main(String[] args) </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LinkedList&lt;String&gt; states = new LinkedList&lt;&gt;();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("Alaska");</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("Arizona");</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("Arkansas");</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("Pennsylvania");</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("California");</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("Colorado");</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a:t>
            </a:r>
            <a:r>
              <a:rPr lang="en-US" sz="1400" dirty="0">
                <a:effectLst/>
                <a:latin typeface="+mj-lt"/>
                <a:ea typeface="Calibri" panose="020F0502020204030204" pitchFamily="34" charset="0"/>
                <a:cs typeface="Times New Roman" panose="02020603050405020304" pitchFamily="18" charset="0"/>
              </a:rPr>
              <a:t>("Connecticut");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states.addFirst</a:t>
            </a:r>
            <a:r>
              <a:rPr lang="en-US" sz="1400" dirty="0">
                <a:effectLst/>
                <a:latin typeface="+mj-lt"/>
                <a:ea typeface="Calibri" panose="020F0502020204030204" pitchFamily="34" charset="0"/>
                <a:cs typeface="Times New Roman" panose="02020603050405020304" pitchFamily="18" charset="0"/>
              </a:rPr>
              <a:t>("Alabama");</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System.out.println(states);</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System.out.println(“\n Last state in my list: "+</a:t>
            </a:r>
            <a:r>
              <a:rPr lang="en-US" sz="1400" dirty="0" err="1">
                <a:effectLst/>
                <a:latin typeface="+mj-lt"/>
                <a:ea typeface="Calibri" panose="020F0502020204030204" pitchFamily="34" charset="0"/>
                <a:cs typeface="Times New Roman" panose="02020603050405020304" pitchFamily="18" charset="0"/>
              </a:rPr>
              <a:t>states.getLast</a:t>
            </a:r>
            <a:r>
              <a:rPr lang="en-US" sz="1400" dirty="0">
                <a:effectLst/>
                <a:latin typeface="+mj-lt"/>
                <a:ea typeface="Calibri" panose="020F0502020204030204" pitchFamily="34" charset="0"/>
                <a:cs typeface="Times New Roman" panose="02020603050405020304" pitchFamily="18" charset="0"/>
              </a:rPr>
              <a: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a:t>
            </a:r>
            <a:r>
              <a:rPr lang="en-US" sz="1400" dirty="0" err="1">
                <a:effectLst/>
                <a:latin typeface="+mj-lt"/>
                <a:ea typeface="Calibri" panose="020F0502020204030204" pitchFamily="34" charset="0"/>
                <a:cs typeface="Times New Roman" panose="02020603050405020304" pitchFamily="18" charset="0"/>
              </a:rPr>
              <a:t>ListIterator</a:t>
            </a:r>
            <a:r>
              <a:rPr lang="en-US" sz="1400" dirty="0">
                <a:effectLst/>
                <a:latin typeface="+mj-lt"/>
                <a:ea typeface="Calibri" panose="020F0502020204030204" pitchFamily="34" charset="0"/>
                <a:cs typeface="Times New Roman" panose="02020603050405020304" pitchFamily="18" charset="0"/>
              </a:rPr>
              <a:t> iterator = </a:t>
            </a:r>
            <a:r>
              <a:rPr lang="en-US" sz="1400" dirty="0" err="1">
                <a:effectLst/>
                <a:latin typeface="+mj-lt"/>
                <a:ea typeface="Calibri" panose="020F0502020204030204" pitchFamily="34" charset="0"/>
                <a:cs typeface="Times New Roman" panose="02020603050405020304" pitchFamily="18" charset="0"/>
              </a:rPr>
              <a:t>states.listIterator</a:t>
            </a:r>
            <a:r>
              <a:rPr lang="en-US" sz="1400" dirty="0">
                <a:effectLst/>
                <a:latin typeface="+mj-lt"/>
                <a:ea typeface="Calibri" panose="020F0502020204030204" pitchFamily="34" charset="0"/>
                <a:cs typeface="Times New Roman" panose="02020603050405020304" pitchFamily="18" charset="0"/>
              </a:rPr>
              <a:t>(</a:t>
            </a:r>
            <a:r>
              <a:rPr lang="en-US" sz="1400" dirty="0" err="1">
                <a:effectLst/>
                <a:latin typeface="+mj-lt"/>
                <a:ea typeface="Calibri" panose="020F0502020204030204" pitchFamily="34" charset="0"/>
                <a:cs typeface="Times New Roman" panose="02020603050405020304" pitchFamily="18" charset="0"/>
              </a:rPr>
              <a:t>states.size</a:t>
            </a:r>
            <a:r>
              <a:rPr lang="en-US" sz="1400" dirty="0">
                <a:effectLst/>
                <a:latin typeface="+mj-lt"/>
                <a:ea typeface="Calibri" panose="020F0502020204030204" pitchFamily="34" charset="0"/>
                <a:cs typeface="Times New Roman" panose="02020603050405020304" pitchFamily="18" charset="0"/>
              </a:rPr>
              <a:t>());</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while(</a:t>
            </a:r>
            <a:r>
              <a:rPr lang="en-US" sz="1400" dirty="0" err="1">
                <a:effectLst/>
                <a:latin typeface="+mj-lt"/>
                <a:ea typeface="Calibri" panose="020F0502020204030204" pitchFamily="34" charset="0"/>
                <a:cs typeface="Times New Roman" panose="02020603050405020304" pitchFamily="18" charset="0"/>
              </a:rPr>
              <a:t>iterator.hasPrevious</a:t>
            </a:r>
            <a:r>
              <a:rPr lang="en-US" sz="1400" dirty="0">
                <a:effectLst/>
                <a:latin typeface="+mj-lt"/>
                <a:ea typeface="Calibri" panose="020F0502020204030204" pitchFamily="34" charset="0"/>
                <a:cs typeface="Times New Roman" panose="02020603050405020304" pitchFamily="18" charset="0"/>
              </a:rPr>
              <a:t>()) </a:t>
            </a:r>
          </a:p>
          <a:p>
            <a:pPr marL="800100" lvl="2"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        System.out.println(</a:t>
            </a:r>
            <a:r>
              <a:rPr lang="en-US" sz="1400" dirty="0" err="1">
                <a:effectLst/>
                <a:latin typeface="+mj-lt"/>
                <a:ea typeface="Calibri" panose="020F0502020204030204" pitchFamily="34" charset="0"/>
                <a:cs typeface="Times New Roman" panose="02020603050405020304" pitchFamily="18" charset="0"/>
              </a:rPr>
              <a:t>iterator.previous</a:t>
            </a:r>
            <a:r>
              <a:rPr lang="en-US" sz="1400" dirty="0">
                <a:effectLst/>
                <a:latin typeface="+mj-lt"/>
                <a:ea typeface="Calibri" panose="020F0502020204030204" pitchFamily="34" charset="0"/>
                <a:cs typeface="Times New Roman" panose="02020603050405020304" pitchFamily="18" charset="0"/>
              </a:rPr>
              <a:t>());        </a:t>
            </a:r>
          </a:p>
          <a:p>
            <a:pPr marL="400050" lvl="1"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a:t>
            </a:r>
          </a:p>
          <a:p>
            <a:pPr marL="0" lvl="0" indent="0">
              <a:lnSpc>
                <a:spcPct val="107000"/>
              </a:lnSpc>
              <a:spcBef>
                <a:spcPts val="0"/>
              </a:spcBef>
              <a:spcAft>
                <a:spcPts val="0"/>
              </a:spcAft>
              <a:buNone/>
            </a:pPr>
            <a:r>
              <a:rPr lang="en-US" sz="1400" dirty="0">
                <a:effectLst/>
                <a:latin typeface="+mj-lt"/>
                <a:ea typeface="Calibri" panose="020F0502020204030204" pitchFamily="34" charset="0"/>
                <a:cs typeface="Times New Roman" panose="02020603050405020304" pitchFamily="18" charset="0"/>
              </a:rPr>
              <a:t>}</a:t>
            </a:r>
          </a:p>
        </p:txBody>
      </p:sp>
      <p:sp>
        <p:nvSpPr>
          <p:cNvPr id="2" name="TextBox 1">
            <a:extLst>
              <a:ext uri="{FF2B5EF4-FFF2-40B4-BE49-F238E27FC236}">
                <a16:creationId xmlns:a16="http://schemas.microsoft.com/office/drawing/2014/main" id="{C1FC4902-509A-49FB-BAE8-FCFD9C97C32E}"/>
              </a:ext>
            </a:extLst>
          </p:cNvPr>
          <p:cNvSpPr txBox="1"/>
          <p:nvPr/>
        </p:nvSpPr>
        <p:spPr>
          <a:xfrm>
            <a:off x="4832350" y="1066047"/>
            <a:ext cx="4286250" cy="2554545"/>
          </a:xfrm>
          <a:prstGeom prst="rect">
            <a:avLst/>
          </a:prstGeom>
          <a:noFill/>
          <a:ln>
            <a:solidFill>
              <a:schemeClr val="tx1"/>
            </a:solidFill>
          </a:ln>
        </p:spPr>
        <p:txBody>
          <a:bodyPr wrap="square" rtlCol="0">
            <a:spAutoFit/>
          </a:bodyPr>
          <a:lstStyle/>
          <a:p>
            <a:r>
              <a:rPr lang="en-US" sz="1600" b="1" u="sng" dirty="0"/>
              <a:t>Output</a:t>
            </a:r>
          </a:p>
          <a:p>
            <a:pPr algn="l"/>
            <a:r>
              <a:rPr lang="en-US" sz="1200" dirty="0">
                <a:solidFill>
                  <a:srgbClr val="000000"/>
                </a:solidFill>
                <a:latin typeface="Consolas" panose="020B0609020204030204" pitchFamily="49" charset="0"/>
              </a:rPr>
              <a:t>[Alabama, Alaska, Arizona, Arkansas, Pennsylvania, California, Colorado, Connecticut]</a:t>
            </a:r>
          </a:p>
          <a:p>
            <a:pPr algn="l"/>
            <a:endParaRPr lang="en-US" sz="1200" dirty="0">
              <a:solidFill>
                <a:srgbClr val="000000"/>
              </a:solidFill>
              <a:latin typeface="Consolas" panose="020B0609020204030204" pitchFamily="49" charset="0"/>
            </a:endParaRPr>
          </a:p>
          <a:p>
            <a:pPr algn="l"/>
            <a:r>
              <a:rPr lang="en-US" sz="1200" dirty="0">
                <a:solidFill>
                  <a:srgbClr val="000000"/>
                </a:solidFill>
                <a:latin typeface="Consolas" panose="020B0609020204030204" pitchFamily="49" charset="0"/>
              </a:rPr>
              <a:t>Last state in my list: Connecticut</a:t>
            </a:r>
          </a:p>
          <a:p>
            <a:pPr algn="l"/>
            <a:r>
              <a:rPr lang="en-US" sz="1200" dirty="0">
                <a:solidFill>
                  <a:srgbClr val="000000"/>
                </a:solidFill>
                <a:latin typeface="Consolas" panose="020B0609020204030204" pitchFamily="49" charset="0"/>
              </a:rPr>
              <a:t>Connecticut</a:t>
            </a:r>
          </a:p>
          <a:p>
            <a:pPr algn="l"/>
            <a:r>
              <a:rPr lang="en-US" sz="1200" dirty="0">
                <a:solidFill>
                  <a:srgbClr val="000000"/>
                </a:solidFill>
                <a:latin typeface="Consolas" panose="020B0609020204030204" pitchFamily="49" charset="0"/>
              </a:rPr>
              <a:t>Colorado</a:t>
            </a:r>
          </a:p>
          <a:p>
            <a:pPr algn="l"/>
            <a:r>
              <a:rPr lang="en-US" sz="1200" dirty="0">
                <a:solidFill>
                  <a:srgbClr val="000000"/>
                </a:solidFill>
                <a:latin typeface="Consolas" panose="020B0609020204030204" pitchFamily="49" charset="0"/>
              </a:rPr>
              <a:t>California</a:t>
            </a:r>
          </a:p>
          <a:p>
            <a:pPr algn="l"/>
            <a:r>
              <a:rPr lang="en-US" sz="1200" dirty="0">
                <a:solidFill>
                  <a:srgbClr val="000000"/>
                </a:solidFill>
                <a:latin typeface="Consolas" panose="020B0609020204030204" pitchFamily="49" charset="0"/>
              </a:rPr>
              <a:t>Pennsylvania</a:t>
            </a:r>
          </a:p>
          <a:p>
            <a:pPr algn="l"/>
            <a:r>
              <a:rPr lang="en-US" sz="1200" dirty="0">
                <a:solidFill>
                  <a:srgbClr val="000000"/>
                </a:solidFill>
                <a:latin typeface="Consolas" panose="020B0609020204030204" pitchFamily="49" charset="0"/>
              </a:rPr>
              <a:t>Arkansas</a:t>
            </a:r>
          </a:p>
          <a:p>
            <a:pPr algn="l"/>
            <a:r>
              <a:rPr lang="en-US" sz="1200" dirty="0">
                <a:solidFill>
                  <a:srgbClr val="000000"/>
                </a:solidFill>
                <a:latin typeface="Consolas" panose="020B0609020204030204" pitchFamily="49" charset="0"/>
              </a:rPr>
              <a:t>Arizona</a:t>
            </a:r>
          </a:p>
          <a:p>
            <a:pPr algn="l"/>
            <a:r>
              <a:rPr lang="en-US" sz="1200" dirty="0">
                <a:solidFill>
                  <a:srgbClr val="000000"/>
                </a:solidFill>
                <a:latin typeface="Consolas" panose="020B0609020204030204" pitchFamily="49" charset="0"/>
              </a:rPr>
              <a:t>Alaska</a:t>
            </a:r>
          </a:p>
          <a:p>
            <a:pPr algn="l"/>
            <a:r>
              <a:rPr lang="en-US" sz="1200" dirty="0">
                <a:solidFill>
                  <a:srgbClr val="000000"/>
                </a:solidFill>
                <a:latin typeface="Consolas" panose="020B0609020204030204" pitchFamily="49" charset="0"/>
              </a:rPr>
              <a:t>Alabama</a:t>
            </a:r>
            <a:endParaRPr lang="en-US" sz="1600" dirty="0"/>
          </a:p>
        </p:txBody>
      </p:sp>
    </p:spTree>
    <p:extLst>
      <p:ext uri="{BB962C8B-B14F-4D97-AF65-F5344CB8AC3E}">
        <p14:creationId xmlns:p14="http://schemas.microsoft.com/office/powerpoint/2010/main" val="899222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0270986B-DD37-4FA9-AECF-2E8D4E2CE0F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EBF593-260C-403A-92E9-70D8ACB21FDD}" type="slidenum">
              <a:rPr lang="en-US" altLang="en-US" sz="1400"/>
              <a:pPr>
                <a:spcBef>
                  <a:spcPct val="0"/>
                </a:spcBef>
                <a:buClrTx/>
                <a:buSzTx/>
                <a:buFontTx/>
                <a:buNone/>
              </a:pPr>
              <a:t>30</a:t>
            </a:fld>
            <a:endParaRPr lang="en-US" altLang="en-US" sz="1400"/>
          </a:p>
        </p:txBody>
      </p:sp>
      <p:sp>
        <p:nvSpPr>
          <p:cNvPr id="18435" name="Rectangle 2">
            <a:extLst>
              <a:ext uri="{FF2B5EF4-FFF2-40B4-BE49-F238E27FC236}">
                <a16:creationId xmlns:a16="http://schemas.microsoft.com/office/drawing/2014/main" id="{647CED42-47F3-4209-8F40-7ACEE4978019}"/>
              </a:ext>
            </a:extLst>
          </p:cNvPr>
          <p:cNvSpPr>
            <a:spLocks noGrp="1" noChangeArrowheads="1"/>
          </p:cNvSpPr>
          <p:nvPr>
            <p:ph type="title"/>
          </p:nvPr>
        </p:nvSpPr>
        <p:spPr>
          <a:xfrm>
            <a:off x="685800" y="228600"/>
            <a:ext cx="7924800" cy="1143000"/>
          </a:xfrm>
          <a:noFill/>
        </p:spPr>
        <p:txBody>
          <a:bodyPr/>
          <a:lstStyle/>
          <a:p>
            <a:r>
              <a:rPr lang="en-US" altLang="en-US" dirty="0">
                <a:cs typeface="Times New Roman" panose="02020603050405020304" pitchFamily="18" charset="0"/>
              </a:rPr>
              <a:t>Example: Using ArrayList and LinkedList</a:t>
            </a:r>
          </a:p>
        </p:txBody>
      </p:sp>
      <p:sp>
        <p:nvSpPr>
          <p:cNvPr id="18437" name="Rectangle 4">
            <a:extLst>
              <a:ext uri="{FF2B5EF4-FFF2-40B4-BE49-F238E27FC236}">
                <a16:creationId xmlns:a16="http://schemas.microsoft.com/office/drawing/2014/main" id="{6AB5ECC6-66D3-40FA-8AB9-04E381AA4AFC}"/>
              </a:ext>
            </a:extLst>
          </p:cNvPr>
          <p:cNvSpPr>
            <a:spLocks noGrp="1" noChangeArrowheads="1"/>
          </p:cNvSpPr>
          <p:nvPr>
            <p:ph type="body" idx="1"/>
          </p:nvPr>
        </p:nvSpPr>
        <p:spPr>
          <a:xfrm>
            <a:off x="381000" y="1752600"/>
            <a:ext cx="8229600" cy="3581400"/>
          </a:xfrm>
          <a:noFill/>
        </p:spPr>
        <p:txBody>
          <a:bodyPr/>
          <a:lstStyle/>
          <a:p>
            <a:pPr marL="0" indent="0">
              <a:lnSpc>
                <a:spcPct val="90000"/>
              </a:lnSpc>
              <a:buFont typeface="Monotype Sorts"/>
              <a:buNone/>
            </a:pPr>
            <a:r>
              <a:rPr lang="en-US" altLang="en-US" sz="3600" dirty="0">
                <a:cs typeface="Times New Roman" panose="02020603050405020304" pitchFamily="18" charset="0"/>
              </a:rPr>
              <a:t>This example creates an array list filled with numbers and inserts new elements into the specified location in the list. The example also creates a linked list from the array list, inserts and removes the elements from the list. Finally, the example traverses the list forward and backward.</a:t>
            </a:r>
            <a:r>
              <a:rPr lang="en-US" altLang="en-US" sz="3600" dirty="0">
                <a:latin typeface="Courier"/>
                <a:cs typeface="Times New Roman" panose="02020603050405020304" pitchFamily="18" charset="0"/>
              </a:rPr>
              <a:t> </a:t>
            </a:r>
          </a:p>
        </p:txBody>
      </p:sp>
      <p:sp>
        <p:nvSpPr>
          <p:cNvPr id="18440" name="Rectangle 8">
            <a:hlinkClick r:id="rId2"/>
            <a:extLst>
              <a:ext uri="{FF2B5EF4-FFF2-40B4-BE49-F238E27FC236}">
                <a16:creationId xmlns:a16="http://schemas.microsoft.com/office/drawing/2014/main" id="{5625F85E-B3A8-4C99-A257-3761FE9D28DF}"/>
              </a:ext>
            </a:extLst>
          </p:cNvPr>
          <p:cNvSpPr>
            <a:spLocks noChangeArrowheads="1"/>
          </p:cNvSpPr>
          <p:nvPr/>
        </p:nvSpPr>
        <p:spPr bwMode="auto">
          <a:xfrm>
            <a:off x="3670300" y="5491163"/>
            <a:ext cx="28273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t>TestArrayAndLinkedList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0270986B-DD37-4FA9-AECF-2E8D4E2CE0F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EBF593-260C-403A-92E9-70D8ACB21FDD}" type="slidenum">
              <a:rPr lang="en-US" altLang="en-US" sz="1400"/>
              <a:pPr>
                <a:spcBef>
                  <a:spcPct val="0"/>
                </a:spcBef>
                <a:buClrTx/>
                <a:buSzTx/>
                <a:buFontTx/>
                <a:buNone/>
              </a:pPr>
              <a:t>31</a:t>
            </a:fld>
            <a:endParaRPr lang="en-US" altLang="en-US" sz="1400"/>
          </a:p>
        </p:txBody>
      </p:sp>
      <p:sp>
        <p:nvSpPr>
          <p:cNvPr id="18435" name="Rectangle 2">
            <a:extLst>
              <a:ext uri="{FF2B5EF4-FFF2-40B4-BE49-F238E27FC236}">
                <a16:creationId xmlns:a16="http://schemas.microsoft.com/office/drawing/2014/main" id="{647CED42-47F3-4209-8F40-7ACEE4978019}"/>
              </a:ext>
            </a:extLst>
          </p:cNvPr>
          <p:cNvSpPr>
            <a:spLocks noGrp="1" noChangeArrowheads="1"/>
          </p:cNvSpPr>
          <p:nvPr>
            <p:ph type="title"/>
          </p:nvPr>
        </p:nvSpPr>
        <p:spPr>
          <a:xfrm>
            <a:off x="685800" y="228600"/>
            <a:ext cx="7924800" cy="1143000"/>
          </a:xfrm>
          <a:noFill/>
        </p:spPr>
        <p:txBody>
          <a:bodyPr/>
          <a:lstStyle/>
          <a:p>
            <a:r>
              <a:rPr lang="en-US" altLang="en-US" dirty="0">
                <a:cs typeface="Times New Roman" panose="02020603050405020304" pitchFamily="18" charset="0"/>
              </a:rPr>
              <a:t>Example: Using ArrayList and LinkedList</a:t>
            </a:r>
          </a:p>
        </p:txBody>
      </p:sp>
      <p:sp>
        <p:nvSpPr>
          <p:cNvPr id="18437" name="Rectangle 4">
            <a:extLst>
              <a:ext uri="{FF2B5EF4-FFF2-40B4-BE49-F238E27FC236}">
                <a16:creationId xmlns:a16="http://schemas.microsoft.com/office/drawing/2014/main" id="{6AB5ECC6-66D3-40FA-8AB9-04E381AA4AFC}"/>
              </a:ext>
            </a:extLst>
          </p:cNvPr>
          <p:cNvSpPr>
            <a:spLocks noGrp="1" noChangeArrowheads="1"/>
          </p:cNvSpPr>
          <p:nvPr>
            <p:ph type="body" idx="1"/>
          </p:nvPr>
        </p:nvSpPr>
        <p:spPr>
          <a:xfrm>
            <a:off x="228600" y="1524000"/>
            <a:ext cx="4876800" cy="5257800"/>
          </a:xfrm>
          <a:solidFill>
            <a:schemeClr val="bg1"/>
          </a:solidFill>
          <a:ln>
            <a:solidFill>
              <a:schemeClr val="tx1"/>
            </a:solidFill>
          </a:ln>
        </p:spPr>
        <p:txBody>
          <a:bodyPr/>
          <a:lstStyle/>
          <a:p>
            <a:pPr marL="0" indent="0" algn="l">
              <a:buNone/>
            </a:pPr>
            <a:r>
              <a:rPr lang="en-US" sz="1200" dirty="0"/>
              <a:t>import java.util.*;</a:t>
            </a:r>
          </a:p>
          <a:p>
            <a:pPr marL="0" indent="0" algn="l">
              <a:buNone/>
            </a:pPr>
            <a:endParaRPr lang="en-US" sz="1200" dirty="0"/>
          </a:p>
          <a:p>
            <a:pPr marL="0" indent="0" algn="l">
              <a:buNone/>
            </a:pPr>
            <a:r>
              <a:rPr lang="en-US" sz="1200" dirty="0"/>
              <a:t>public class TestArrayAndLinkedList </a:t>
            </a:r>
          </a:p>
          <a:p>
            <a:pPr marL="0" indent="0" algn="l">
              <a:buNone/>
            </a:pPr>
            <a:r>
              <a:rPr lang="en-US" sz="1200" dirty="0"/>
              <a:t>{</a:t>
            </a:r>
          </a:p>
          <a:p>
            <a:pPr marL="0" indent="0" algn="l">
              <a:buNone/>
            </a:pPr>
            <a:r>
              <a:rPr lang="en-US" sz="1200" dirty="0"/>
              <a:t>      public static void main(String[] args) </a:t>
            </a:r>
          </a:p>
          <a:p>
            <a:pPr marL="0" indent="0" algn="l">
              <a:buNone/>
            </a:pPr>
            <a:r>
              <a:rPr lang="en-US" sz="1200" dirty="0"/>
              <a:t>     {</a:t>
            </a:r>
          </a:p>
          <a:p>
            <a:pPr marL="396875" lvl="2" indent="0">
              <a:buNone/>
            </a:pPr>
            <a:r>
              <a:rPr lang="en-US" sz="1200" dirty="0"/>
              <a:t>List&lt;Integer&gt; </a:t>
            </a:r>
            <a:r>
              <a:rPr lang="en-US" sz="1200" dirty="0" err="1"/>
              <a:t>arrayList</a:t>
            </a:r>
            <a:r>
              <a:rPr lang="en-US" sz="1200" dirty="0"/>
              <a:t> = new ArrayList&lt;&gt;();</a:t>
            </a:r>
          </a:p>
          <a:p>
            <a:pPr marL="396875" lvl="2" indent="0">
              <a:buNone/>
            </a:pPr>
            <a:r>
              <a:rPr lang="en-US" sz="1200" dirty="0" err="1"/>
              <a:t>arrayList.add</a:t>
            </a:r>
            <a:r>
              <a:rPr lang="en-US" sz="1200" dirty="0"/>
              <a:t>(1); // 1 is autoboxed to new Integer(1)</a:t>
            </a:r>
          </a:p>
          <a:p>
            <a:pPr marL="396875" lvl="2" indent="0">
              <a:buNone/>
            </a:pPr>
            <a:r>
              <a:rPr lang="en-US" sz="1200" dirty="0" err="1"/>
              <a:t>arrayList.add</a:t>
            </a:r>
            <a:r>
              <a:rPr lang="en-US" sz="1200" dirty="0"/>
              <a:t>(2);</a:t>
            </a:r>
          </a:p>
          <a:p>
            <a:pPr marL="396875" lvl="2" indent="0">
              <a:buNone/>
            </a:pPr>
            <a:r>
              <a:rPr lang="en-US" sz="1200" dirty="0" err="1"/>
              <a:t>arrayList.add</a:t>
            </a:r>
            <a:r>
              <a:rPr lang="en-US" sz="1200" dirty="0"/>
              <a:t>(3);</a:t>
            </a:r>
          </a:p>
          <a:p>
            <a:pPr marL="396875" lvl="2" indent="0">
              <a:buNone/>
            </a:pPr>
            <a:r>
              <a:rPr lang="en-US" sz="1200" dirty="0" err="1"/>
              <a:t>arrayList.add</a:t>
            </a:r>
            <a:r>
              <a:rPr lang="en-US" sz="1200" dirty="0"/>
              <a:t>(1);</a:t>
            </a:r>
          </a:p>
          <a:p>
            <a:pPr marL="396875" lvl="2" indent="0">
              <a:buNone/>
            </a:pPr>
            <a:r>
              <a:rPr lang="en-US" sz="1200" dirty="0" err="1"/>
              <a:t>arrayList.add</a:t>
            </a:r>
            <a:r>
              <a:rPr lang="en-US" sz="1200" dirty="0"/>
              <a:t>(4);</a:t>
            </a:r>
          </a:p>
          <a:p>
            <a:pPr marL="396875" lvl="2" indent="0">
              <a:buNone/>
            </a:pPr>
            <a:r>
              <a:rPr lang="en-US" sz="1200" dirty="0" err="1"/>
              <a:t>arrayList.add</a:t>
            </a:r>
            <a:r>
              <a:rPr lang="en-US" sz="1200" dirty="0"/>
              <a:t>(0, 10);</a:t>
            </a:r>
          </a:p>
          <a:p>
            <a:pPr marL="396875" lvl="2" indent="0">
              <a:buNone/>
            </a:pPr>
            <a:r>
              <a:rPr lang="en-US" sz="1200" dirty="0" err="1"/>
              <a:t>arrayList.add</a:t>
            </a:r>
            <a:r>
              <a:rPr lang="en-US" sz="1200" dirty="0"/>
              <a:t>(3, 30);</a:t>
            </a:r>
          </a:p>
          <a:p>
            <a:pPr marL="396875" lvl="2" indent="0">
              <a:buNone/>
            </a:pPr>
            <a:endParaRPr lang="en-US" sz="1200" dirty="0"/>
          </a:p>
          <a:p>
            <a:pPr marL="396875" lvl="2" indent="0">
              <a:buNone/>
            </a:pPr>
            <a:r>
              <a:rPr lang="en-US" sz="1200" dirty="0"/>
              <a:t>System.out.println("A list of integers in the array list:");</a:t>
            </a:r>
          </a:p>
          <a:p>
            <a:pPr marL="396875" lvl="2" indent="0">
              <a:buNone/>
            </a:pPr>
            <a:r>
              <a:rPr lang="en-US" sz="1200" dirty="0"/>
              <a:t>System.out.println(</a:t>
            </a:r>
            <a:r>
              <a:rPr lang="en-US" sz="1200" dirty="0" err="1"/>
              <a:t>arrayList</a:t>
            </a:r>
            <a:r>
              <a:rPr lang="en-US" sz="1200" dirty="0"/>
              <a:t>);</a:t>
            </a:r>
          </a:p>
          <a:p>
            <a:pPr marL="396875" lvl="2" indent="0">
              <a:buNone/>
            </a:pPr>
            <a:endParaRPr lang="en-US" sz="1200" dirty="0"/>
          </a:p>
          <a:p>
            <a:pPr marL="396875" lvl="2" indent="0">
              <a:buNone/>
            </a:pPr>
            <a:r>
              <a:rPr lang="en-US" sz="1200" dirty="0"/>
              <a:t>LinkedList&lt;Object&gt; linkedList = new LinkedList&lt;&gt;(</a:t>
            </a:r>
            <a:r>
              <a:rPr lang="en-US" sz="1200" dirty="0" err="1"/>
              <a:t>arrayList</a:t>
            </a:r>
            <a:r>
              <a:rPr lang="en-US" sz="1200" dirty="0"/>
              <a:t>);</a:t>
            </a:r>
          </a:p>
          <a:p>
            <a:pPr marL="396875" lvl="2" indent="0">
              <a:buNone/>
            </a:pPr>
            <a:r>
              <a:rPr lang="en-US" sz="1200" dirty="0"/>
              <a:t>linkedList.add(1, "red");</a:t>
            </a:r>
          </a:p>
          <a:p>
            <a:pPr marL="396875" lvl="2" indent="0">
              <a:buNone/>
            </a:pPr>
            <a:r>
              <a:rPr lang="en-US" sz="1200" dirty="0"/>
              <a:t>linkedList.removeLast();</a:t>
            </a:r>
          </a:p>
          <a:p>
            <a:pPr marL="396875" lvl="2" indent="0">
              <a:buNone/>
            </a:pPr>
            <a:r>
              <a:rPr lang="en-US" sz="1200" dirty="0"/>
              <a:t>linkedList.addFirst("green");</a:t>
            </a:r>
            <a:endParaRPr lang="en-US" sz="1100" dirty="0"/>
          </a:p>
        </p:txBody>
      </p:sp>
      <p:sp>
        <p:nvSpPr>
          <p:cNvPr id="8" name="Rectangle 4">
            <a:extLst>
              <a:ext uri="{FF2B5EF4-FFF2-40B4-BE49-F238E27FC236}">
                <a16:creationId xmlns:a16="http://schemas.microsoft.com/office/drawing/2014/main" id="{A8D27802-F0E4-4BB1-9139-7E4EB904CC96}"/>
              </a:ext>
            </a:extLst>
          </p:cNvPr>
          <p:cNvSpPr txBox="1">
            <a:spLocks noChangeArrowheads="1"/>
          </p:cNvSpPr>
          <p:nvPr/>
        </p:nvSpPr>
        <p:spPr bwMode="auto">
          <a:xfrm>
            <a:off x="4724400" y="1523997"/>
            <a:ext cx="4419600" cy="525779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onotype Sorts"/>
              <a:buNone/>
            </a:pPr>
            <a:r>
              <a:rPr lang="en-US" sz="1200" dirty="0"/>
              <a:t>  </a:t>
            </a:r>
          </a:p>
          <a:p>
            <a:pPr marL="800100" lvl="2" indent="0">
              <a:buNone/>
            </a:pPr>
            <a:r>
              <a:rPr lang="en-US" sz="1200" dirty="0"/>
              <a:t>    </a:t>
            </a:r>
          </a:p>
          <a:p>
            <a:pPr marL="800100" lvl="2" indent="0">
              <a:buNone/>
            </a:pPr>
            <a:r>
              <a:rPr lang="en-US" sz="1200" dirty="0"/>
              <a:t>System.out.println("Display the linked list forward:"); </a:t>
            </a:r>
          </a:p>
          <a:p>
            <a:pPr marL="800100" lvl="2" indent="0">
              <a:buNone/>
            </a:pPr>
            <a:r>
              <a:rPr lang="en-US" sz="1200" dirty="0"/>
              <a:t>ListIterator&lt;Object&gt; listIterator =  </a:t>
            </a:r>
            <a:br>
              <a:rPr lang="en-US" sz="1200" dirty="0"/>
            </a:br>
            <a:r>
              <a:rPr lang="en-US" sz="1200" dirty="0"/>
              <a:t>                                        linkedList.listIterator();</a:t>
            </a:r>
          </a:p>
          <a:p>
            <a:pPr marL="800100" lvl="2" indent="0">
              <a:buNone/>
            </a:pPr>
            <a:r>
              <a:rPr lang="en-US" sz="1200" dirty="0"/>
              <a:t>while (listIterator.hasNext()) </a:t>
            </a:r>
          </a:p>
          <a:p>
            <a:pPr marL="800100" lvl="2" indent="0">
              <a:buNone/>
            </a:pPr>
            <a:r>
              <a:rPr lang="en-US" sz="1200" dirty="0"/>
              <a:t>           System.out.print(listIterator.next() + " ");</a:t>
            </a:r>
          </a:p>
          <a:p>
            <a:pPr marL="800100" lvl="2" indent="0">
              <a:buNone/>
            </a:pPr>
            <a:r>
              <a:rPr lang="en-US" sz="1200" dirty="0"/>
              <a:t>    </a:t>
            </a:r>
          </a:p>
          <a:p>
            <a:pPr marL="800100" lvl="2" indent="0">
              <a:buNone/>
            </a:pPr>
            <a:r>
              <a:rPr lang="en-US" sz="1200" dirty="0"/>
              <a:t>System.out.println();</a:t>
            </a:r>
            <a:endParaRPr lang="en-US" altLang="en-US" sz="1200" dirty="0"/>
          </a:p>
          <a:p>
            <a:pPr marL="800100" lvl="2" indent="0">
              <a:buNone/>
            </a:pPr>
            <a:r>
              <a:rPr lang="en-US" sz="1200" dirty="0"/>
              <a:t>System.out.println("Display the linked list backward:");</a:t>
            </a:r>
          </a:p>
          <a:p>
            <a:pPr marL="800100" lvl="2" indent="0">
              <a:buNone/>
            </a:pPr>
            <a:r>
              <a:rPr lang="en-US" sz="1200" dirty="0"/>
              <a:t>listIterator = linkedList.listIterator(linkedList.size());</a:t>
            </a:r>
          </a:p>
          <a:p>
            <a:pPr marL="800100" lvl="2" indent="0">
              <a:buNone/>
            </a:pPr>
            <a:r>
              <a:rPr lang="en-US" sz="1200" dirty="0"/>
              <a:t>while (listIterator.hasPrevious()) </a:t>
            </a:r>
          </a:p>
          <a:p>
            <a:pPr marL="1257300" lvl="3" indent="0">
              <a:buNone/>
            </a:pPr>
            <a:r>
              <a:rPr lang="en-US" sz="1200" dirty="0"/>
              <a:t>System.out.print(listIterator.previous() + " ");</a:t>
            </a:r>
          </a:p>
          <a:p>
            <a:pPr marL="800100" lvl="2" indent="0">
              <a:buNone/>
            </a:pPr>
            <a:r>
              <a:rPr lang="en-US" sz="1200" dirty="0"/>
              <a:t>}</a:t>
            </a:r>
          </a:p>
          <a:p>
            <a:pPr marL="400050" lvl="1" indent="0">
              <a:buNone/>
            </a:pPr>
            <a:r>
              <a:rPr lang="en-US" sz="1200" dirty="0"/>
              <a:t>}</a:t>
            </a:r>
          </a:p>
          <a:p>
            <a:pPr marL="0" indent="0">
              <a:buFont typeface="Monotype Sorts"/>
              <a:buNone/>
            </a:pPr>
            <a:r>
              <a:rPr lang="en-US" sz="1200" dirty="0"/>
              <a:t>}     </a:t>
            </a:r>
          </a:p>
          <a:p>
            <a:pPr marL="0" indent="0">
              <a:buFont typeface="Monotype Sorts"/>
              <a:buNone/>
            </a:pPr>
            <a:endParaRPr lang="en-US" sz="1000" dirty="0"/>
          </a:p>
          <a:p>
            <a:pPr marL="0" indent="0">
              <a:buFont typeface="Monotype Sorts"/>
              <a:buNone/>
            </a:pPr>
            <a:r>
              <a:rPr lang="en-US" sz="1000" dirty="0"/>
              <a:t>    </a:t>
            </a:r>
            <a:endParaRPr lang="en-US" altLang="en-US" sz="1000" dirty="0"/>
          </a:p>
        </p:txBody>
      </p:sp>
    </p:spTree>
    <p:extLst>
      <p:ext uri="{BB962C8B-B14F-4D97-AF65-F5344CB8AC3E}">
        <p14:creationId xmlns:p14="http://schemas.microsoft.com/office/powerpoint/2010/main" val="1852618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EB6B4168-1334-454D-98AB-1F1BB89384E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4A27F0A-BBAC-44F9-8749-B7CBE93C9E1B}" type="slidenum">
              <a:rPr lang="en-US" altLang="en-US" sz="1400"/>
              <a:pPr>
                <a:spcBef>
                  <a:spcPct val="0"/>
                </a:spcBef>
                <a:buClrTx/>
                <a:buSzTx/>
                <a:buFontTx/>
                <a:buNone/>
              </a:pPr>
              <a:t>32</a:t>
            </a:fld>
            <a:endParaRPr lang="en-US" altLang="en-US" sz="1400"/>
          </a:p>
        </p:txBody>
      </p:sp>
      <p:sp>
        <p:nvSpPr>
          <p:cNvPr id="19459" name="Rectangle 2">
            <a:extLst>
              <a:ext uri="{FF2B5EF4-FFF2-40B4-BE49-F238E27FC236}">
                <a16:creationId xmlns:a16="http://schemas.microsoft.com/office/drawing/2014/main" id="{2B786C22-1820-44D4-BA0B-1051CAE5CDB3}"/>
              </a:ext>
            </a:extLst>
          </p:cNvPr>
          <p:cNvSpPr>
            <a:spLocks noGrp="1" noChangeArrowheads="1"/>
          </p:cNvSpPr>
          <p:nvPr>
            <p:ph type="title"/>
          </p:nvPr>
        </p:nvSpPr>
        <p:spPr>
          <a:xfrm>
            <a:off x="685800" y="228600"/>
            <a:ext cx="7924800" cy="914400"/>
          </a:xfrm>
          <a:noFill/>
        </p:spPr>
        <p:txBody>
          <a:bodyPr/>
          <a:lstStyle/>
          <a:p>
            <a:r>
              <a:rPr lang="en-US" altLang="en-US">
                <a:cs typeface="Times New Roman" panose="02020603050405020304" pitchFamily="18" charset="0"/>
              </a:rPr>
              <a:t>The Comparator Interface</a:t>
            </a:r>
          </a:p>
        </p:txBody>
      </p:sp>
      <p:sp>
        <p:nvSpPr>
          <p:cNvPr id="19461" name="Rectangle 4">
            <a:extLst>
              <a:ext uri="{FF2B5EF4-FFF2-40B4-BE49-F238E27FC236}">
                <a16:creationId xmlns:a16="http://schemas.microsoft.com/office/drawing/2014/main" id="{8BB6BA3F-9CDC-4B95-9515-44592B195B5B}"/>
              </a:ext>
            </a:extLst>
          </p:cNvPr>
          <p:cNvSpPr>
            <a:spLocks noGrp="1" noChangeArrowheads="1"/>
          </p:cNvSpPr>
          <p:nvPr>
            <p:ph type="body" idx="1"/>
          </p:nvPr>
        </p:nvSpPr>
        <p:spPr>
          <a:xfrm>
            <a:off x="304800" y="1524000"/>
            <a:ext cx="8534400" cy="4495800"/>
          </a:xfrm>
        </p:spPr>
        <p:txBody>
          <a:bodyPr/>
          <a:lstStyle/>
          <a:p>
            <a:pPr marL="0" indent="0">
              <a:buFont typeface="Monotype Sorts"/>
              <a:buNone/>
            </a:pPr>
            <a:r>
              <a:rPr lang="en-US" altLang="en-US" sz="2800">
                <a:cs typeface="Times New Roman" panose="02020603050405020304" pitchFamily="18" charset="0"/>
              </a:rPr>
              <a:t>You have learned to compare objects using the Comparable interface. What happens if the objects are not  instances of </a:t>
            </a:r>
            <a:r>
              <a:rPr lang="en-US" altLang="en-US" sz="2800">
                <a:latin typeface="Courier New" panose="02070309020205020404" pitchFamily="49" charset="0"/>
                <a:cs typeface="Courier New" panose="02070309020205020404" pitchFamily="49" charset="0"/>
              </a:rPr>
              <a:t>Comparable</a:t>
            </a:r>
            <a:r>
              <a:rPr lang="en-US" altLang="en-US" sz="2800">
                <a:cs typeface="Times New Roman" panose="02020603050405020304" pitchFamily="18" charset="0"/>
              </a:rPr>
              <a:t>. You can define a comparator to compare these elements. </a:t>
            </a:r>
          </a:p>
          <a:p>
            <a:pPr marL="0" indent="0">
              <a:buFont typeface="Monotype Sorts"/>
              <a:buNone/>
            </a:pPr>
            <a:endParaRPr lang="en-US" altLang="en-US" sz="2800">
              <a:cs typeface="Times New Roman" panose="02020603050405020304" pitchFamily="18" charset="0"/>
            </a:endParaRPr>
          </a:p>
          <a:p>
            <a:pPr marL="0" indent="0">
              <a:buFont typeface="Monotype Sorts"/>
              <a:buNone/>
            </a:pPr>
            <a:r>
              <a:rPr lang="en-US" altLang="en-US" sz="2800">
                <a:cs typeface="Times New Roman" panose="02020603050405020304" pitchFamily="18" charset="0"/>
              </a:rPr>
              <a:t>The </a:t>
            </a:r>
            <a:r>
              <a:rPr lang="en-US" altLang="en-US" sz="2800">
                <a:latin typeface="Courier New" panose="02070309020205020404" pitchFamily="49" charset="0"/>
                <a:cs typeface="Courier New" panose="02070309020205020404" pitchFamily="49" charset="0"/>
              </a:rPr>
              <a:t>Comparator</a:t>
            </a:r>
            <a:r>
              <a:rPr lang="en-US" altLang="en-US" sz="2800">
                <a:cs typeface="Times New Roman" panose="02020603050405020304" pitchFamily="18" charset="0"/>
              </a:rPr>
              <a:t> interface has the </a:t>
            </a:r>
            <a:r>
              <a:rPr lang="en-US" altLang="en-US" sz="2800">
                <a:latin typeface="Courier New" panose="02070309020205020404" pitchFamily="49" charset="0"/>
                <a:cs typeface="Courier New" panose="02070309020205020404" pitchFamily="49" charset="0"/>
              </a:rPr>
              <a:t>compare</a:t>
            </a:r>
            <a:r>
              <a:rPr lang="en-US" altLang="en-US" sz="2800">
                <a:cs typeface="Times New Roman" panose="02020603050405020304" pitchFamily="18" charset="0"/>
              </a:rPr>
              <a:t> method for comparing two objects.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ACD285A4-1090-424C-B314-1914DC6CF1C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C09CF98-B5B3-452C-8274-B897229CE2B7}" type="slidenum">
              <a:rPr lang="en-US" altLang="en-US" sz="1400"/>
              <a:pPr>
                <a:spcBef>
                  <a:spcPct val="0"/>
                </a:spcBef>
                <a:buClrTx/>
                <a:buSzTx/>
                <a:buFontTx/>
                <a:buNone/>
              </a:pPr>
              <a:t>33</a:t>
            </a:fld>
            <a:endParaRPr lang="en-US" altLang="en-US" sz="1400"/>
          </a:p>
        </p:txBody>
      </p:sp>
      <p:sp>
        <p:nvSpPr>
          <p:cNvPr id="20483" name="Rectangle 2">
            <a:extLst>
              <a:ext uri="{FF2B5EF4-FFF2-40B4-BE49-F238E27FC236}">
                <a16:creationId xmlns:a16="http://schemas.microsoft.com/office/drawing/2014/main" id="{706AE715-A3F1-4769-A819-24B9C30C0AF4}"/>
              </a:ext>
            </a:extLst>
          </p:cNvPr>
          <p:cNvSpPr>
            <a:spLocks noGrp="1" noChangeArrowheads="1"/>
          </p:cNvSpPr>
          <p:nvPr>
            <p:ph type="title"/>
          </p:nvPr>
        </p:nvSpPr>
        <p:spPr>
          <a:xfrm>
            <a:off x="685800" y="228600"/>
            <a:ext cx="7924800" cy="838200"/>
          </a:xfrm>
          <a:noFill/>
        </p:spPr>
        <p:txBody>
          <a:bodyPr/>
          <a:lstStyle/>
          <a:p>
            <a:r>
              <a:rPr lang="en-US" altLang="en-US" dirty="0">
                <a:cs typeface="Times New Roman" panose="02020603050405020304" pitchFamily="18" charset="0"/>
              </a:rPr>
              <a:t>The Comparator&lt;T&gt; Interface</a:t>
            </a:r>
          </a:p>
        </p:txBody>
      </p:sp>
      <p:sp>
        <p:nvSpPr>
          <p:cNvPr id="20485" name="Rectangle 4">
            <a:extLst>
              <a:ext uri="{FF2B5EF4-FFF2-40B4-BE49-F238E27FC236}">
                <a16:creationId xmlns:a16="http://schemas.microsoft.com/office/drawing/2014/main" id="{9CC74755-8D7F-4FA0-820E-0F95FF3951A5}"/>
              </a:ext>
            </a:extLst>
          </p:cNvPr>
          <p:cNvSpPr>
            <a:spLocks noGrp="1" noChangeArrowheads="1"/>
          </p:cNvSpPr>
          <p:nvPr>
            <p:ph type="body" idx="1"/>
          </p:nvPr>
        </p:nvSpPr>
        <p:spPr>
          <a:xfrm>
            <a:off x="381000" y="1219200"/>
            <a:ext cx="8382000" cy="3810000"/>
          </a:xfrm>
        </p:spPr>
        <p:txBody>
          <a:bodyPr/>
          <a:lstStyle/>
          <a:p>
            <a:pPr marL="0" indent="0">
              <a:lnSpc>
                <a:spcPct val="90000"/>
              </a:lnSpc>
              <a:buFont typeface="Monotype Sorts"/>
              <a:buNone/>
            </a:pPr>
            <a:r>
              <a:rPr lang="en-US" altLang="en-US" sz="2800">
                <a:cs typeface="Times New Roman" panose="02020603050405020304" pitchFamily="18" charset="0"/>
              </a:rPr>
              <a:t>public int compare(T element1, T element2)</a:t>
            </a:r>
          </a:p>
          <a:p>
            <a:pPr marL="0" indent="0">
              <a:lnSpc>
                <a:spcPct val="90000"/>
              </a:lnSpc>
              <a:buFont typeface="Monotype Sorts"/>
              <a:buNone/>
            </a:pPr>
            <a:endParaRPr lang="en-US" altLang="en-US" sz="2800">
              <a:cs typeface="Times New Roman" panose="02020603050405020304" pitchFamily="18" charset="0"/>
            </a:endParaRPr>
          </a:p>
          <a:p>
            <a:pPr marL="0" indent="0">
              <a:lnSpc>
                <a:spcPct val="90000"/>
              </a:lnSpc>
              <a:buFont typeface="Monotype Sorts"/>
              <a:buNone/>
            </a:pPr>
            <a:r>
              <a:rPr lang="en-US" altLang="en-US" sz="2800">
                <a:cs typeface="Times New Roman" panose="02020603050405020304" pitchFamily="18" charset="0"/>
              </a:rPr>
              <a:t>Returns a negative value if element1 is less than element2, a positive value if element1 is greater than element2, and zero if they are equal. </a:t>
            </a:r>
          </a:p>
          <a:p>
            <a:pPr marL="0" indent="0">
              <a:lnSpc>
                <a:spcPct val="90000"/>
              </a:lnSpc>
              <a:buFont typeface="Monotype Sorts"/>
              <a:buNone/>
            </a:pPr>
            <a:endParaRPr lang="en-US" altLang="en-US" sz="2800">
              <a:cs typeface="Times New Roman" panose="02020603050405020304" pitchFamily="18" charset="0"/>
            </a:endParaRPr>
          </a:p>
        </p:txBody>
      </p:sp>
      <p:sp>
        <p:nvSpPr>
          <p:cNvPr id="20488" name="Rectangle 8">
            <a:hlinkClick r:id="rId3"/>
            <a:extLst>
              <a:ext uri="{FF2B5EF4-FFF2-40B4-BE49-F238E27FC236}">
                <a16:creationId xmlns:a16="http://schemas.microsoft.com/office/drawing/2014/main" id="{5E2E3A76-F7B3-4336-97C2-56EA536B5344}"/>
              </a:ext>
            </a:extLst>
          </p:cNvPr>
          <p:cNvSpPr>
            <a:spLocks noChangeArrowheads="1"/>
          </p:cNvSpPr>
          <p:nvPr/>
        </p:nvSpPr>
        <p:spPr bwMode="auto">
          <a:xfrm>
            <a:off x="2679700" y="5318125"/>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a:t>TestComparator</a:t>
            </a:r>
          </a:p>
        </p:txBody>
      </p:sp>
      <p:sp>
        <p:nvSpPr>
          <p:cNvPr id="20489" name="Rectangle 8">
            <a:hlinkClick r:id="rId4"/>
            <a:extLst>
              <a:ext uri="{FF2B5EF4-FFF2-40B4-BE49-F238E27FC236}">
                <a16:creationId xmlns:a16="http://schemas.microsoft.com/office/drawing/2014/main" id="{96141943-8BE6-4092-8870-B7BF460B6A2E}"/>
              </a:ext>
            </a:extLst>
          </p:cNvPr>
          <p:cNvSpPr>
            <a:spLocks noChangeArrowheads="1"/>
          </p:cNvSpPr>
          <p:nvPr/>
        </p:nvSpPr>
        <p:spPr bwMode="auto">
          <a:xfrm>
            <a:off x="2679700" y="4716463"/>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GeometricObjectComparator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FC05071C-D450-4F5B-B000-9700DC5B8DD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4ED36EF-1CB6-4385-86B5-B35B402499AA}" type="slidenum">
              <a:rPr lang="en-US" altLang="en-US" sz="1400"/>
              <a:pPr>
                <a:spcBef>
                  <a:spcPct val="0"/>
                </a:spcBef>
                <a:buClrTx/>
                <a:buSzTx/>
                <a:buFontTx/>
                <a:buNone/>
              </a:pPr>
              <a:t>34</a:t>
            </a:fld>
            <a:endParaRPr lang="en-US" altLang="en-US" sz="1400"/>
          </a:p>
        </p:txBody>
      </p:sp>
      <p:sp>
        <p:nvSpPr>
          <p:cNvPr id="22531" name="Rectangle 2">
            <a:extLst>
              <a:ext uri="{FF2B5EF4-FFF2-40B4-BE49-F238E27FC236}">
                <a16:creationId xmlns:a16="http://schemas.microsoft.com/office/drawing/2014/main" id="{BC4BC6ED-4282-4AA2-9BE8-2659E017E3BE}"/>
              </a:ext>
            </a:extLst>
          </p:cNvPr>
          <p:cNvSpPr>
            <a:spLocks noGrp="1" noChangeArrowheads="1"/>
          </p:cNvSpPr>
          <p:nvPr>
            <p:ph type="title"/>
          </p:nvPr>
        </p:nvSpPr>
        <p:spPr>
          <a:xfrm>
            <a:off x="381000" y="-4612"/>
            <a:ext cx="8305800" cy="685800"/>
          </a:xfrm>
          <a:noFill/>
        </p:spPr>
        <p:txBody>
          <a:bodyPr/>
          <a:lstStyle/>
          <a:p>
            <a:r>
              <a:rPr lang="en-US" altLang="en-US" sz="4000" dirty="0">
                <a:cs typeface="Times New Roman" panose="02020603050405020304" pitchFamily="18" charset="0"/>
              </a:rPr>
              <a:t>The Comparator&lt;T&gt; Interface</a:t>
            </a:r>
          </a:p>
        </p:txBody>
      </p:sp>
      <p:sp>
        <p:nvSpPr>
          <p:cNvPr id="22538" name="Text Box 15">
            <a:extLst>
              <a:ext uri="{FF2B5EF4-FFF2-40B4-BE49-F238E27FC236}">
                <a16:creationId xmlns:a16="http://schemas.microsoft.com/office/drawing/2014/main" id="{75E91342-D89B-4C94-B2C7-E78FBD6147E5}"/>
              </a:ext>
            </a:extLst>
          </p:cNvPr>
          <p:cNvSpPr txBox="1">
            <a:spLocks noChangeArrowheads="1"/>
          </p:cNvSpPr>
          <p:nvPr/>
        </p:nvSpPr>
        <p:spPr bwMode="auto">
          <a:xfrm>
            <a:off x="-4618" y="1087934"/>
            <a:ext cx="9148618" cy="5693866"/>
          </a:xfrm>
          <a:prstGeom prst="rect">
            <a:avLst/>
          </a:prstGeom>
          <a:solidFill>
            <a:schemeClr val="bg1"/>
          </a:solidFill>
          <a:ln>
            <a:noFill/>
          </a:ln>
          <a:effectLst/>
        </p:spPr>
        <p:txBody>
          <a:bodyPr wrap="squar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l">
              <a:spcBef>
                <a:spcPts val="0"/>
              </a:spcBef>
              <a:spcAft>
                <a:spcPts val="0"/>
              </a:spcAft>
              <a:buNone/>
            </a:pPr>
            <a:r>
              <a:rPr lang="en-US" sz="1400" b="1" dirty="0"/>
              <a:t>public class TestComparator {</a:t>
            </a:r>
          </a:p>
          <a:p>
            <a:pPr lvl="1">
              <a:spcBef>
                <a:spcPts val="0"/>
              </a:spcBef>
              <a:spcAft>
                <a:spcPts val="0"/>
              </a:spcAft>
              <a:buNone/>
            </a:pPr>
            <a:r>
              <a:rPr lang="en-US" sz="1400" b="1" dirty="0"/>
              <a:t>public static void main(String[] args) {</a:t>
            </a:r>
          </a:p>
          <a:p>
            <a:pPr lvl="2">
              <a:spcBef>
                <a:spcPts val="0"/>
              </a:spcBef>
              <a:spcAft>
                <a:spcPts val="0"/>
              </a:spcAft>
              <a:buNone/>
            </a:pPr>
            <a:r>
              <a:rPr lang="en-US" sz="1400" b="1" dirty="0"/>
              <a:t>MyComparator mycomp = new MyComparator();</a:t>
            </a:r>
          </a:p>
          <a:p>
            <a:pPr lvl="2">
              <a:spcBef>
                <a:spcPts val="0"/>
              </a:spcBef>
              <a:spcAft>
                <a:spcPts val="0"/>
              </a:spcAft>
              <a:buNone/>
            </a:pPr>
            <a:r>
              <a:rPr lang="en-US" sz="1400" b="1" dirty="0"/>
              <a:t>String last = "", longest = "";</a:t>
            </a:r>
          </a:p>
          <a:p>
            <a:pPr lvl="2">
              <a:spcBef>
                <a:spcPts val="0"/>
              </a:spcBef>
              <a:spcAft>
                <a:spcPts val="0"/>
              </a:spcAft>
              <a:buNone/>
            </a:pPr>
            <a:endParaRPr lang="en-US" sz="1400" b="1" dirty="0"/>
          </a:p>
          <a:p>
            <a:pPr lvl="2">
              <a:spcBef>
                <a:spcPts val="0"/>
              </a:spcBef>
              <a:spcAft>
                <a:spcPts val="0"/>
              </a:spcAft>
              <a:buNone/>
            </a:pPr>
            <a:r>
              <a:rPr lang="en-US" sz="1400" b="1" dirty="0"/>
              <a:t>String[] cities = {"atlanta", "savannah", "new hampshire", "dallas"};</a:t>
            </a:r>
          </a:p>
          <a:p>
            <a:pPr lvl="2">
              <a:spcBef>
                <a:spcPts val="0"/>
              </a:spcBef>
              <a:spcAft>
                <a:spcPts val="0"/>
              </a:spcAft>
              <a:buNone/>
            </a:pPr>
            <a:r>
              <a:rPr lang="en-US" sz="1400" b="1" dirty="0">
                <a:highlight>
                  <a:srgbClr val="FFFF00"/>
                </a:highlight>
              </a:rPr>
              <a:t>Arrays.sort(cities, new MyComparator());    </a:t>
            </a:r>
          </a:p>
          <a:p>
            <a:pPr lvl="2">
              <a:spcBef>
                <a:spcPts val="0"/>
              </a:spcBef>
              <a:spcAft>
                <a:spcPts val="0"/>
              </a:spcAft>
              <a:buNone/>
            </a:pPr>
            <a:r>
              <a:rPr lang="en-US" sz="1400" b="1" dirty="0"/>
              <a:t>System.out.println(Arrays.toString(cities));</a:t>
            </a:r>
          </a:p>
          <a:p>
            <a:pPr lvl="2">
              <a:spcBef>
                <a:spcPts val="0"/>
              </a:spcBef>
              <a:spcAft>
                <a:spcPts val="0"/>
              </a:spcAft>
              <a:buNone/>
            </a:pPr>
            <a:r>
              <a:rPr lang="en-US" sz="1400" b="1" dirty="0"/>
              <a:t>    </a:t>
            </a:r>
          </a:p>
          <a:p>
            <a:pPr lvl="2">
              <a:spcBef>
                <a:spcPts val="0"/>
              </a:spcBef>
              <a:spcAft>
                <a:spcPts val="0"/>
              </a:spcAft>
              <a:buNone/>
            </a:pPr>
            <a:r>
              <a:rPr lang="en-US" sz="1400" b="1" dirty="0"/>
              <a:t>Arrays.sort(cities);</a:t>
            </a:r>
          </a:p>
          <a:p>
            <a:pPr lvl="2">
              <a:spcBef>
                <a:spcPts val="0"/>
              </a:spcBef>
              <a:spcAft>
                <a:spcPts val="0"/>
              </a:spcAft>
              <a:buNone/>
            </a:pPr>
            <a:r>
              <a:rPr lang="en-US" sz="1400" b="1" dirty="0"/>
              <a:t>System.out.println(Arrays.toString(cities));</a:t>
            </a:r>
          </a:p>
          <a:p>
            <a:pPr lvl="2">
              <a:spcBef>
                <a:spcPts val="0"/>
              </a:spcBef>
              <a:spcAft>
                <a:spcPts val="0"/>
              </a:spcAft>
              <a:buNone/>
            </a:pPr>
            <a:endParaRPr lang="en-US" sz="1400" b="1" dirty="0"/>
          </a:p>
          <a:p>
            <a:pPr lvl="2">
              <a:spcBef>
                <a:spcPts val="0"/>
              </a:spcBef>
              <a:spcAft>
                <a:spcPts val="0"/>
              </a:spcAft>
              <a:buNone/>
            </a:pPr>
            <a:r>
              <a:rPr lang="en-US" sz="1400" b="1" dirty="0"/>
              <a:t>// find longest using MyComparator compare</a:t>
            </a:r>
          </a:p>
          <a:p>
            <a:pPr lvl="2">
              <a:spcBef>
                <a:spcPts val="0"/>
              </a:spcBef>
              <a:spcAft>
                <a:spcPts val="0"/>
              </a:spcAft>
              <a:buNone/>
            </a:pPr>
            <a:r>
              <a:rPr lang="en-US" sz="1400" b="1" dirty="0"/>
              <a:t>for (String t: cities)</a:t>
            </a:r>
          </a:p>
          <a:p>
            <a:pPr lvl="3">
              <a:spcBef>
                <a:spcPts val="0"/>
              </a:spcBef>
              <a:spcAft>
                <a:spcPts val="0"/>
              </a:spcAft>
              <a:buNone/>
            </a:pPr>
            <a:r>
              <a:rPr lang="en-US" sz="1400" b="1" dirty="0"/>
              <a:t>if (mycomp.compare(longest,t) &lt; 0)</a:t>
            </a:r>
          </a:p>
          <a:p>
            <a:pPr lvl="4">
              <a:spcBef>
                <a:spcPts val="0"/>
              </a:spcBef>
              <a:spcAft>
                <a:spcPts val="0"/>
              </a:spcAft>
              <a:buNone/>
            </a:pPr>
            <a:r>
              <a:rPr lang="en-US" sz="1400" b="1" dirty="0"/>
              <a:t>longest = t;   </a:t>
            </a:r>
          </a:p>
          <a:p>
            <a:pPr lvl="2">
              <a:spcBef>
                <a:spcPts val="0"/>
              </a:spcBef>
              <a:spcAft>
                <a:spcPts val="0"/>
              </a:spcAft>
              <a:buNone/>
            </a:pPr>
            <a:r>
              <a:rPr lang="en-US" sz="1400" b="1" dirty="0"/>
              <a:t>    </a:t>
            </a:r>
          </a:p>
          <a:p>
            <a:pPr lvl="2">
              <a:spcBef>
                <a:spcPts val="0"/>
              </a:spcBef>
              <a:spcAft>
                <a:spcPts val="0"/>
              </a:spcAft>
              <a:buNone/>
            </a:pPr>
            <a:r>
              <a:rPr lang="en-US" sz="1400" b="1" dirty="0"/>
              <a:t>// find alphabetic last using compareTo</a:t>
            </a:r>
          </a:p>
          <a:p>
            <a:pPr lvl="2">
              <a:spcBef>
                <a:spcPts val="0"/>
              </a:spcBef>
              <a:spcAft>
                <a:spcPts val="0"/>
              </a:spcAft>
              <a:buNone/>
            </a:pPr>
            <a:r>
              <a:rPr lang="en-US" sz="1400" b="1" dirty="0"/>
              <a:t>for(String s: cities) </a:t>
            </a:r>
          </a:p>
          <a:p>
            <a:pPr lvl="3">
              <a:spcBef>
                <a:spcPts val="0"/>
              </a:spcBef>
              <a:spcAft>
                <a:spcPts val="0"/>
              </a:spcAft>
              <a:buNone/>
            </a:pPr>
            <a:r>
              <a:rPr lang="en-US" sz="1400" b="1" dirty="0"/>
              <a:t>if (s.compareTo(last) &gt; 0)</a:t>
            </a:r>
          </a:p>
          <a:p>
            <a:pPr lvl="4">
              <a:spcBef>
                <a:spcPts val="0"/>
              </a:spcBef>
              <a:spcAft>
                <a:spcPts val="0"/>
              </a:spcAft>
              <a:buNone/>
            </a:pPr>
            <a:r>
              <a:rPr lang="en-US" sz="1400" b="1" dirty="0"/>
              <a:t>last = s;</a:t>
            </a:r>
          </a:p>
          <a:p>
            <a:pPr lvl="2">
              <a:spcBef>
                <a:spcPts val="0"/>
              </a:spcBef>
              <a:spcAft>
                <a:spcPts val="0"/>
              </a:spcAft>
              <a:buNone/>
            </a:pPr>
            <a:endParaRPr lang="en-US" sz="1400" b="1" dirty="0"/>
          </a:p>
          <a:p>
            <a:pPr lvl="2">
              <a:spcBef>
                <a:spcPts val="0"/>
              </a:spcBef>
              <a:spcAft>
                <a:spcPts val="0"/>
              </a:spcAft>
              <a:buNone/>
            </a:pPr>
            <a:r>
              <a:rPr lang="en-US" sz="1400" b="1" dirty="0"/>
              <a:t>System.out.println("Longest: " + longest);</a:t>
            </a:r>
          </a:p>
          <a:p>
            <a:pPr lvl="2">
              <a:spcBef>
                <a:spcPts val="0"/>
              </a:spcBef>
              <a:spcAft>
                <a:spcPts val="0"/>
              </a:spcAft>
              <a:buNone/>
            </a:pPr>
            <a:r>
              <a:rPr lang="en-US" sz="1400" b="1" dirty="0"/>
              <a:t>System.out.println("Last: " + last);</a:t>
            </a:r>
          </a:p>
          <a:p>
            <a:pPr lvl="1">
              <a:spcBef>
                <a:spcPts val="0"/>
              </a:spcBef>
              <a:spcAft>
                <a:spcPts val="0"/>
              </a:spcAft>
              <a:buNone/>
            </a:pPr>
            <a:r>
              <a:rPr lang="en-US" sz="1400" b="1" dirty="0"/>
              <a:t>}</a:t>
            </a:r>
          </a:p>
          <a:p>
            <a:pPr algn="l">
              <a:spcBef>
                <a:spcPts val="0"/>
              </a:spcBef>
              <a:spcAft>
                <a:spcPts val="0"/>
              </a:spcAft>
              <a:buNone/>
            </a:pPr>
            <a:r>
              <a:rPr lang="en-US" sz="1400" b="1" dirty="0"/>
              <a:t>}</a:t>
            </a:r>
            <a:endParaRPr lang="en-US" altLang="en-US" sz="1400" b="1" dirty="0"/>
          </a:p>
        </p:txBody>
      </p:sp>
      <p:sp>
        <p:nvSpPr>
          <p:cNvPr id="3" name="TextBox 2">
            <a:extLst>
              <a:ext uri="{FF2B5EF4-FFF2-40B4-BE49-F238E27FC236}">
                <a16:creationId xmlns:a16="http://schemas.microsoft.com/office/drawing/2014/main" id="{ED3035BD-AF12-4D7B-9CE4-6CE9654DD4A6}"/>
              </a:ext>
            </a:extLst>
          </p:cNvPr>
          <p:cNvSpPr txBox="1"/>
          <p:nvPr/>
        </p:nvSpPr>
        <p:spPr>
          <a:xfrm>
            <a:off x="5410200" y="3200400"/>
            <a:ext cx="3733800" cy="2246769"/>
          </a:xfrm>
          <a:prstGeom prst="rect">
            <a:avLst/>
          </a:prstGeom>
          <a:noFill/>
          <a:ln>
            <a:solidFill>
              <a:schemeClr val="tx1"/>
            </a:solidFill>
          </a:ln>
        </p:spPr>
        <p:txBody>
          <a:bodyPr wrap="square" rtlCol="0">
            <a:spAutoFit/>
          </a:bodyPr>
          <a:lstStyle/>
          <a:p>
            <a:pPr algn="l"/>
            <a:r>
              <a:rPr lang="en-US" sz="1400" b="1" dirty="0"/>
              <a:t>import java.util.*;</a:t>
            </a:r>
          </a:p>
          <a:p>
            <a:pPr algn="l"/>
            <a:r>
              <a:rPr lang="en-US" sz="1400" b="1" dirty="0"/>
              <a:t>public class MyComparator implements</a:t>
            </a:r>
          </a:p>
          <a:p>
            <a:pPr algn="l"/>
            <a:r>
              <a:rPr lang="en-US" sz="1400" b="1" dirty="0"/>
              <a:t>          Comparator&lt;String&gt;</a:t>
            </a:r>
          </a:p>
          <a:p>
            <a:pPr algn="l"/>
            <a:r>
              <a:rPr lang="en-US" sz="1400" b="1" dirty="0"/>
              <a:t>{</a:t>
            </a:r>
          </a:p>
          <a:p>
            <a:pPr algn="l"/>
            <a:r>
              <a:rPr lang="en-US" sz="1400" b="1" dirty="0"/>
              <a:t>      @Override</a:t>
            </a:r>
          </a:p>
          <a:p>
            <a:pPr algn="l"/>
            <a:r>
              <a:rPr lang="en-US" sz="1400" b="1" dirty="0"/>
              <a:t>       public int compare(String s1, String s2) </a:t>
            </a:r>
          </a:p>
          <a:p>
            <a:pPr algn="l"/>
            <a:r>
              <a:rPr lang="en-US" sz="1400" b="1" dirty="0"/>
              <a:t>      {</a:t>
            </a:r>
          </a:p>
          <a:p>
            <a:pPr algn="l"/>
            <a:r>
              <a:rPr lang="en-US" sz="1400" b="1" dirty="0"/>
              <a:t>               return s1.length() - s2.length();</a:t>
            </a:r>
          </a:p>
          <a:p>
            <a:pPr algn="l"/>
            <a:r>
              <a:rPr lang="en-US" sz="1400" b="1" dirty="0"/>
              <a:t>       }</a:t>
            </a:r>
          </a:p>
          <a:p>
            <a:pPr algn="l"/>
            <a:r>
              <a:rPr lang="en-US" sz="1400" b="1"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4008C43F-4FB6-411D-98E0-BB403D45F20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B96239-EE3D-4F2C-8363-A03209517AAC}" type="slidenum">
              <a:rPr lang="en-US" altLang="en-US" sz="1400"/>
              <a:pPr>
                <a:spcBef>
                  <a:spcPct val="0"/>
                </a:spcBef>
                <a:buClrTx/>
                <a:buSzTx/>
                <a:buFontTx/>
                <a:buNone/>
              </a:pPr>
              <a:t>35</a:t>
            </a:fld>
            <a:endParaRPr lang="en-US" altLang="en-US" sz="1400"/>
          </a:p>
        </p:txBody>
      </p:sp>
      <p:sp>
        <p:nvSpPr>
          <p:cNvPr id="23555" name="Rectangle 2">
            <a:extLst>
              <a:ext uri="{FF2B5EF4-FFF2-40B4-BE49-F238E27FC236}">
                <a16:creationId xmlns:a16="http://schemas.microsoft.com/office/drawing/2014/main" id="{D05BF641-DF56-4A54-ACD6-ED33CC18790E}"/>
              </a:ext>
            </a:extLst>
          </p:cNvPr>
          <p:cNvSpPr>
            <a:spLocks noGrp="1" noChangeArrowheads="1"/>
          </p:cNvSpPr>
          <p:nvPr>
            <p:ph type="title"/>
          </p:nvPr>
        </p:nvSpPr>
        <p:spPr>
          <a:xfrm>
            <a:off x="685800" y="228600"/>
            <a:ext cx="7924800" cy="838200"/>
          </a:xfrm>
          <a:noFill/>
        </p:spPr>
        <p:txBody>
          <a:bodyPr/>
          <a:lstStyle/>
          <a:p>
            <a:r>
              <a:rPr lang="en-US" altLang="en-US">
                <a:cs typeface="Times New Roman" panose="02020603050405020304" pitchFamily="18" charset="0"/>
              </a:rPr>
              <a:t>Other Comparator Examples</a:t>
            </a:r>
          </a:p>
        </p:txBody>
      </p:sp>
      <p:sp>
        <p:nvSpPr>
          <p:cNvPr id="23560" name="Rectangle 8">
            <a:hlinkClick r:id="rId2"/>
            <a:extLst>
              <a:ext uri="{FF2B5EF4-FFF2-40B4-BE49-F238E27FC236}">
                <a16:creationId xmlns:a16="http://schemas.microsoft.com/office/drawing/2014/main" id="{63A4CD8F-D1D7-481F-B298-E18D7C16DBD2}"/>
              </a:ext>
            </a:extLst>
          </p:cNvPr>
          <p:cNvSpPr>
            <a:spLocks noChangeArrowheads="1"/>
          </p:cNvSpPr>
          <p:nvPr/>
        </p:nvSpPr>
        <p:spPr bwMode="auto">
          <a:xfrm>
            <a:off x="2774950" y="3367088"/>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SortStringIgnoreCase</a:t>
            </a:r>
            <a:endParaRPr lang="en-US" altLang="en-US" sz="2000" dirty="0"/>
          </a:p>
        </p:txBody>
      </p:sp>
      <p:sp>
        <p:nvSpPr>
          <p:cNvPr id="23561" name="Rectangle 8">
            <a:hlinkClick r:id="rId3"/>
            <a:extLst>
              <a:ext uri="{FF2B5EF4-FFF2-40B4-BE49-F238E27FC236}">
                <a16:creationId xmlns:a16="http://schemas.microsoft.com/office/drawing/2014/main" id="{B9675262-4710-44BA-B6FC-8F40A7618560}"/>
              </a:ext>
            </a:extLst>
          </p:cNvPr>
          <p:cNvSpPr>
            <a:spLocks noChangeArrowheads="1"/>
          </p:cNvSpPr>
          <p:nvPr/>
        </p:nvSpPr>
        <p:spPr bwMode="auto">
          <a:xfrm>
            <a:off x="2774950" y="2705100"/>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SortStringByLength</a:t>
            </a:r>
            <a:endParaRPr lang="en-US" altLang="en-US" sz="2000" dirty="0"/>
          </a:p>
        </p:txBody>
      </p:sp>
      <p:sp>
        <p:nvSpPr>
          <p:cNvPr id="2" name="TextBox 1">
            <a:extLst>
              <a:ext uri="{FF2B5EF4-FFF2-40B4-BE49-F238E27FC236}">
                <a16:creationId xmlns:a16="http://schemas.microsoft.com/office/drawing/2014/main" id="{0B805B5A-41DC-463A-8842-3743D8AF5DDD}"/>
              </a:ext>
            </a:extLst>
          </p:cNvPr>
          <p:cNvSpPr txBox="1"/>
          <p:nvPr/>
        </p:nvSpPr>
        <p:spPr>
          <a:xfrm>
            <a:off x="1524000" y="1447800"/>
            <a:ext cx="6248400" cy="369332"/>
          </a:xfrm>
          <a:prstGeom prst="rect">
            <a:avLst/>
          </a:prstGeom>
          <a:noFill/>
        </p:spPr>
        <p:txBody>
          <a:bodyPr wrap="square" rtlCol="0">
            <a:spAutoFit/>
          </a:bodyPr>
          <a:lstStyle/>
          <a:p>
            <a:r>
              <a:rPr lang="en-US" sz="1800" dirty="0" err="1">
                <a:solidFill>
                  <a:srgbClr val="000000"/>
                </a:solidFill>
                <a:highlight>
                  <a:srgbClr val="FFFF00"/>
                </a:highlight>
                <a:latin typeface="Consolas" panose="020B0609020204030204" pitchFamily="49" charset="0"/>
              </a:rPr>
              <a:t>ComparatorWithObjectDemo</a:t>
            </a:r>
            <a:r>
              <a:rPr lang="en-US" sz="1800" dirty="0">
                <a:solidFill>
                  <a:srgbClr val="000000"/>
                </a:solidFill>
                <a:latin typeface="Consolas" panose="020B0609020204030204" pitchFamily="49" charset="0"/>
              </a:rPr>
              <a:t>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CACD74D7-D7CA-40F5-89EA-C8434B33E4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DD423D-EB11-44AD-A6E0-340CFCCD6CED}" type="slidenum">
              <a:rPr lang="en-US" altLang="en-US" sz="1400"/>
              <a:pPr>
                <a:spcBef>
                  <a:spcPct val="0"/>
                </a:spcBef>
                <a:buClrTx/>
                <a:buSzTx/>
                <a:buFontTx/>
                <a:buNone/>
              </a:pPr>
              <a:t>36</a:t>
            </a:fld>
            <a:endParaRPr lang="en-US" altLang="en-US" sz="1400"/>
          </a:p>
        </p:txBody>
      </p:sp>
      <p:sp>
        <p:nvSpPr>
          <p:cNvPr id="24579" name="Rectangle 2">
            <a:extLst>
              <a:ext uri="{FF2B5EF4-FFF2-40B4-BE49-F238E27FC236}">
                <a16:creationId xmlns:a16="http://schemas.microsoft.com/office/drawing/2014/main" id="{389827D9-39CE-4A5C-B4CB-24DE40EE86D7}"/>
              </a:ext>
            </a:extLst>
          </p:cNvPr>
          <p:cNvSpPr>
            <a:spLocks noGrp="1" noChangeArrowheads="1"/>
          </p:cNvSpPr>
          <p:nvPr>
            <p:ph type="title"/>
          </p:nvPr>
        </p:nvSpPr>
        <p:spPr>
          <a:xfrm>
            <a:off x="304800" y="228600"/>
            <a:ext cx="8839200" cy="685800"/>
          </a:xfrm>
          <a:noFill/>
        </p:spPr>
        <p:txBody>
          <a:bodyPr/>
          <a:lstStyle/>
          <a:p>
            <a:r>
              <a:rPr lang="en-US" altLang="en-US">
                <a:cs typeface="Times New Roman" panose="02020603050405020304" pitchFamily="18" charset="0"/>
              </a:rPr>
              <a:t>Method Reference</a:t>
            </a:r>
          </a:p>
        </p:txBody>
      </p:sp>
      <p:sp>
        <p:nvSpPr>
          <p:cNvPr id="24586" name="Text Box 15">
            <a:extLst>
              <a:ext uri="{FF2B5EF4-FFF2-40B4-BE49-F238E27FC236}">
                <a16:creationId xmlns:a16="http://schemas.microsoft.com/office/drawing/2014/main" id="{99BB176A-B76C-4133-95D2-4A16FD2D0895}"/>
              </a:ext>
            </a:extLst>
          </p:cNvPr>
          <p:cNvSpPr txBox="1">
            <a:spLocks noChangeArrowheads="1"/>
          </p:cNvSpPr>
          <p:nvPr/>
        </p:nvSpPr>
        <p:spPr bwMode="auto">
          <a:xfrm>
            <a:off x="457200" y="1136650"/>
            <a:ext cx="8458200" cy="332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a:cs typeface="Times New Roman" panose="02020603050405020304" pitchFamily="18" charset="0"/>
              </a:rPr>
              <a:t>String::compareToIgnoreCase </a:t>
            </a:r>
          </a:p>
          <a:p>
            <a:pPr>
              <a:spcBef>
                <a:spcPct val="50000"/>
              </a:spcBef>
              <a:buClrTx/>
              <a:buSzTx/>
              <a:buFontTx/>
              <a:buNone/>
            </a:pPr>
            <a:r>
              <a:rPr lang="en-US" altLang="en-US" sz="2800">
                <a:cs typeface="Times New Roman" panose="02020603050405020304" pitchFamily="18" charset="0"/>
              </a:rPr>
              <a:t>is known as method reference, which is equivalent to the lambda expression:</a:t>
            </a:r>
          </a:p>
          <a:p>
            <a:pPr>
              <a:spcBef>
                <a:spcPct val="50000"/>
              </a:spcBef>
              <a:buClrTx/>
              <a:buSzTx/>
              <a:buFontTx/>
              <a:buNone/>
            </a:pPr>
            <a:r>
              <a:rPr lang="en-US" altLang="en-US" sz="2800">
                <a:cs typeface="Times New Roman" panose="02020603050405020304" pitchFamily="18" charset="0"/>
              </a:rPr>
              <a:t>(s1, s2) -&gt; s1.compareToIgnoreCase(s2)</a:t>
            </a:r>
          </a:p>
          <a:p>
            <a:pPr>
              <a:spcBef>
                <a:spcPct val="50000"/>
              </a:spcBef>
              <a:buClrTx/>
              <a:buSzTx/>
              <a:buFontTx/>
              <a:buNone/>
            </a:pPr>
            <a:r>
              <a:rPr lang="en-US" altLang="en-US" sz="2800">
                <a:cs typeface="Times New Roman" panose="02020603050405020304" pitchFamily="18" charset="0"/>
              </a:rPr>
              <a:t>The compiler automatically translates a method reference to an equivalent lambda expression.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6A7DFAD8-1B5C-4A4A-BDEC-261466C4A4B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5BD0158-F3AB-4F84-9538-DA4AC2C2AA53}" type="slidenum">
              <a:rPr lang="en-US" altLang="en-US" sz="1400"/>
              <a:pPr>
                <a:spcBef>
                  <a:spcPct val="0"/>
                </a:spcBef>
                <a:buClrTx/>
                <a:buSzTx/>
                <a:buFontTx/>
                <a:buNone/>
              </a:pPr>
              <a:t>37</a:t>
            </a:fld>
            <a:endParaRPr lang="en-US" altLang="en-US" sz="1400"/>
          </a:p>
        </p:txBody>
      </p:sp>
      <p:sp>
        <p:nvSpPr>
          <p:cNvPr id="25603" name="Rectangle 2">
            <a:extLst>
              <a:ext uri="{FF2B5EF4-FFF2-40B4-BE49-F238E27FC236}">
                <a16:creationId xmlns:a16="http://schemas.microsoft.com/office/drawing/2014/main" id="{82C7C79C-4396-4F36-93B5-7711DB9C7F8F}"/>
              </a:ext>
            </a:extLst>
          </p:cNvPr>
          <p:cNvSpPr>
            <a:spLocks noGrp="1" noChangeArrowheads="1"/>
          </p:cNvSpPr>
          <p:nvPr>
            <p:ph type="title"/>
          </p:nvPr>
        </p:nvSpPr>
        <p:spPr>
          <a:xfrm>
            <a:off x="304800" y="228600"/>
            <a:ext cx="8839200" cy="685800"/>
          </a:xfrm>
          <a:noFill/>
        </p:spPr>
        <p:txBody>
          <a:bodyPr/>
          <a:lstStyle/>
          <a:p>
            <a:r>
              <a:rPr lang="en-US" altLang="en-US">
                <a:cs typeface="Times New Roman" panose="02020603050405020304" pitchFamily="18" charset="0"/>
              </a:rPr>
              <a:t>The comparing Method</a:t>
            </a:r>
          </a:p>
        </p:txBody>
      </p:sp>
      <p:sp>
        <p:nvSpPr>
          <p:cNvPr id="25610" name="Text Box 15">
            <a:extLst>
              <a:ext uri="{FF2B5EF4-FFF2-40B4-BE49-F238E27FC236}">
                <a16:creationId xmlns:a16="http://schemas.microsoft.com/office/drawing/2014/main" id="{7BA2B51B-92C4-4B2E-B544-54673726773C}"/>
              </a:ext>
            </a:extLst>
          </p:cNvPr>
          <p:cNvSpPr txBox="1">
            <a:spLocks noChangeArrowheads="1"/>
          </p:cNvSpPr>
          <p:nvPr/>
        </p:nvSpPr>
        <p:spPr bwMode="auto">
          <a:xfrm>
            <a:off x="457200" y="1136650"/>
            <a:ext cx="8458200"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a:cs typeface="Times New Roman" panose="02020603050405020304" pitchFamily="18" charset="0"/>
              </a:rPr>
              <a:t>You can use the static comparing method in the Comparator interface to create a comparator.</a:t>
            </a:r>
          </a:p>
          <a:p>
            <a:pPr>
              <a:spcBef>
                <a:spcPct val="50000"/>
              </a:spcBef>
              <a:buClrTx/>
              <a:buSzTx/>
              <a:buFontTx/>
              <a:buNone/>
            </a:pPr>
            <a:r>
              <a:rPr lang="en-US" altLang="en-US" sz="2800">
                <a:cs typeface="Times New Roman" panose="02020603050405020304" pitchFamily="18" charset="0"/>
              </a:rPr>
              <a:t>For example, the following code sorts a list of loans based on their loan amount property.</a:t>
            </a:r>
          </a:p>
          <a:p>
            <a:pPr>
              <a:spcBef>
                <a:spcPct val="50000"/>
              </a:spcBef>
              <a:buClrTx/>
              <a:buSzTx/>
              <a:buFontTx/>
              <a:buNone/>
            </a:pPr>
            <a:endParaRPr lang="en-US" altLang="en-US" sz="2800">
              <a:cs typeface="Times New Roman" panose="02020603050405020304" pitchFamily="18" charset="0"/>
            </a:endParaRPr>
          </a:p>
          <a:p>
            <a:pPr hangingPunct="1">
              <a:buFont typeface="Monotype Sorts"/>
              <a:buNone/>
            </a:pPr>
            <a:r>
              <a:rPr lang="en-US" altLang="en-US" sz="2200"/>
              <a:t> Loan[] list = {</a:t>
            </a:r>
            <a:r>
              <a:rPr lang="en-US" altLang="en-US" sz="2200" b="1"/>
              <a:t>new</a:t>
            </a:r>
            <a:r>
              <a:rPr lang="en-US" altLang="en-US" sz="2200"/>
              <a:t> Loan(</a:t>
            </a:r>
            <a:r>
              <a:rPr lang="en-US" altLang="en-US" sz="2200" b="1"/>
              <a:t>5.5</a:t>
            </a:r>
            <a:r>
              <a:rPr lang="en-US" altLang="en-US" sz="2200"/>
              <a:t>, </a:t>
            </a:r>
            <a:r>
              <a:rPr lang="en-US" altLang="en-US" sz="2200" b="1"/>
              <a:t>10</a:t>
            </a:r>
            <a:r>
              <a:rPr lang="en-US" altLang="en-US" sz="2200"/>
              <a:t>, </a:t>
            </a:r>
            <a:r>
              <a:rPr lang="en-US" altLang="en-US" sz="2200" b="1"/>
              <a:t>2323</a:t>
            </a:r>
            <a:r>
              <a:rPr lang="en-US" altLang="en-US" sz="2200"/>
              <a:t>), </a:t>
            </a:r>
            <a:r>
              <a:rPr lang="en-US" altLang="en-US" sz="2200" b="1"/>
              <a:t>new</a:t>
            </a:r>
            <a:r>
              <a:rPr lang="en-US" altLang="en-US" sz="2200"/>
              <a:t> Loan(</a:t>
            </a:r>
            <a:r>
              <a:rPr lang="en-US" altLang="en-US" sz="2200" b="1"/>
              <a:t>5</a:t>
            </a:r>
            <a:r>
              <a:rPr lang="en-US" altLang="en-US" sz="2200"/>
              <a:t>, </a:t>
            </a:r>
            <a:r>
              <a:rPr lang="en-US" altLang="en-US" sz="2200" b="1"/>
              <a:t>10</a:t>
            </a:r>
            <a:r>
              <a:rPr lang="en-US" altLang="en-US" sz="2200"/>
              <a:t>, </a:t>
            </a:r>
            <a:r>
              <a:rPr lang="en-US" altLang="en-US" sz="2200" b="1"/>
              <a:t>1000</a:t>
            </a:r>
            <a:r>
              <a:rPr lang="en-US" altLang="en-US" sz="2200"/>
              <a:t>)};</a:t>
            </a:r>
          </a:p>
          <a:p>
            <a:pPr>
              <a:buFont typeface="Monotype Sorts"/>
              <a:buNone/>
            </a:pPr>
            <a:r>
              <a:rPr lang="en-US" altLang="en-US" sz="2200"/>
              <a:t> Arrays.</a:t>
            </a:r>
            <a:r>
              <a:rPr lang="en-US" altLang="en-US" sz="2200" i="1"/>
              <a:t>sort</a:t>
            </a:r>
            <a:r>
              <a:rPr lang="en-US" altLang="en-US" sz="2200"/>
              <a:t>(list, Comparator.</a:t>
            </a:r>
            <a:r>
              <a:rPr lang="en-US" altLang="en-US" sz="2200" i="1"/>
              <a:t>comparing</a:t>
            </a:r>
            <a:r>
              <a:rPr lang="en-US" altLang="en-US" sz="2200"/>
              <a:t>(Loan::getLoanAmount));</a:t>
            </a:r>
          </a:p>
          <a:p>
            <a:pPr>
              <a:buFont typeface="Monotype Sorts"/>
              <a:buNone/>
            </a:pPr>
            <a:r>
              <a:rPr lang="en-US" altLang="en-US" sz="2200"/>
              <a:t> </a:t>
            </a:r>
            <a:endParaRPr lang="en-US" altLang="en-US" sz="220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93E84980-73B2-498F-8712-E6AC5F5A28B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FED58D1-4175-47D4-8CCD-B9ECB18BA2C5}" type="slidenum">
              <a:rPr lang="en-US" altLang="en-US" sz="1400"/>
              <a:pPr>
                <a:spcBef>
                  <a:spcPct val="0"/>
                </a:spcBef>
                <a:buClrTx/>
                <a:buSzTx/>
                <a:buFontTx/>
                <a:buNone/>
              </a:pPr>
              <a:t>38</a:t>
            </a:fld>
            <a:endParaRPr lang="en-US" altLang="en-US" sz="1400"/>
          </a:p>
        </p:txBody>
      </p:sp>
      <p:sp>
        <p:nvSpPr>
          <p:cNvPr id="26627" name="Rectangle 2">
            <a:extLst>
              <a:ext uri="{FF2B5EF4-FFF2-40B4-BE49-F238E27FC236}">
                <a16:creationId xmlns:a16="http://schemas.microsoft.com/office/drawing/2014/main" id="{2CD6EA46-3332-42FA-B2DB-0DB5911F2B34}"/>
              </a:ext>
            </a:extLst>
          </p:cNvPr>
          <p:cNvSpPr>
            <a:spLocks noGrp="1" noChangeArrowheads="1"/>
          </p:cNvSpPr>
          <p:nvPr>
            <p:ph type="title"/>
          </p:nvPr>
        </p:nvSpPr>
        <p:spPr>
          <a:xfrm>
            <a:off x="304800" y="228600"/>
            <a:ext cx="8839200" cy="685800"/>
          </a:xfrm>
          <a:noFill/>
        </p:spPr>
        <p:txBody>
          <a:bodyPr/>
          <a:lstStyle/>
          <a:p>
            <a:r>
              <a:rPr lang="en-US" altLang="en-US">
                <a:cs typeface="Times New Roman" panose="02020603050405020304" pitchFamily="18" charset="0"/>
              </a:rPr>
              <a:t>Add Additional Sort Criteria </a:t>
            </a:r>
          </a:p>
        </p:txBody>
      </p:sp>
      <p:sp>
        <p:nvSpPr>
          <p:cNvPr id="26634" name="Text Box 15">
            <a:extLst>
              <a:ext uri="{FF2B5EF4-FFF2-40B4-BE49-F238E27FC236}">
                <a16:creationId xmlns:a16="http://schemas.microsoft.com/office/drawing/2014/main" id="{DE6A2890-278C-4621-90CF-E48977E84C9C}"/>
              </a:ext>
            </a:extLst>
          </p:cNvPr>
          <p:cNvSpPr txBox="1">
            <a:spLocks noChangeArrowheads="1"/>
          </p:cNvSpPr>
          <p:nvPr/>
        </p:nvSpPr>
        <p:spPr bwMode="auto">
          <a:xfrm>
            <a:off x="457200" y="1136650"/>
            <a:ext cx="84582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a:t>You can sort using a primary criteria, second, third, and so on using the </a:t>
            </a:r>
            <a:r>
              <a:rPr lang="en-US" altLang="en-US" b="1"/>
              <a:t>Comparator</a:t>
            </a:r>
            <a:r>
              <a:rPr lang="en-US" altLang="en-US"/>
              <a:t>’s default </a:t>
            </a:r>
            <a:r>
              <a:rPr lang="en-US" altLang="en-US" b="1"/>
              <a:t>thenComparing</a:t>
            </a:r>
            <a:r>
              <a:rPr lang="en-US" altLang="en-US"/>
              <a:t> method. </a:t>
            </a:r>
          </a:p>
          <a:p>
            <a:pPr>
              <a:spcBef>
                <a:spcPct val="50000"/>
              </a:spcBef>
              <a:buClrTx/>
              <a:buSzTx/>
              <a:buFontTx/>
              <a:buNone/>
            </a:pPr>
            <a:endParaRPr lang="en-US" altLang="en-US" sz="2800">
              <a:cs typeface="Times New Roman" panose="02020603050405020304" pitchFamily="18" charset="0"/>
            </a:endParaRPr>
          </a:p>
          <a:p>
            <a:pPr hangingPunct="1">
              <a:buFont typeface="Monotype Sorts"/>
              <a:buNone/>
            </a:pPr>
            <a:r>
              <a:rPr lang="en-US" altLang="en-US" sz="2400"/>
              <a:t> Loan[] list = {</a:t>
            </a:r>
            <a:r>
              <a:rPr lang="en-US" altLang="en-US" sz="2400" b="1"/>
              <a:t>new</a:t>
            </a:r>
            <a:r>
              <a:rPr lang="en-US" altLang="en-US" sz="2400"/>
              <a:t> Loan(</a:t>
            </a:r>
            <a:r>
              <a:rPr lang="en-US" altLang="en-US" sz="2400" b="1"/>
              <a:t>5.5</a:t>
            </a:r>
            <a:r>
              <a:rPr lang="en-US" altLang="en-US" sz="2400"/>
              <a:t>, </a:t>
            </a:r>
            <a:r>
              <a:rPr lang="en-US" altLang="en-US" sz="2400" b="1"/>
              <a:t>10</a:t>
            </a:r>
            <a:r>
              <a:rPr lang="en-US" altLang="en-US" sz="2400"/>
              <a:t>, </a:t>
            </a:r>
            <a:r>
              <a:rPr lang="en-US" altLang="en-US" sz="2400" b="1"/>
              <a:t>100</a:t>
            </a:r>
            <a:r>
              <a:rPr lang="en-US" altLang="en-US" sz="2400"/>
              <a:t>), </a:t>
            </a:r>
            <a:r>
              <a:rPr lang="en-US" altLang="en-US" sz="2400" b="1"/>
              <a:t>new</a:t>
            </a:r>
            <a:r>
              <a:rPr lang="en-US" altLang="en-US" sz="2400"/>
              <a:t> Loan(</a:t>
            </a:r>
            <a:r>
              <a:rPr lang="en-US" altLang="en-US" sz="2400" b="1"/>
              <a:t>5</a:t>
            </a:r>
            <a:r>
              <a:rPr lang="en-US" altLang="en-US" sz="2400"/>
              <a:t>, </a:t>
            </a:r>
            <a:r>
              <a:rPr lang="en-US" altLang="en-US" sz="2400" b="1"/>
              <a:t>10</a:t>
            </a:r>
            <a:r>
              <a:rPr lang="en-US" altLang="en-US" sz="2400"/>
              <a:t>, </a:t>
            </a:r>
            <a:r>
              <a:rPr lang="en-US" altLang="en-US" sz="2400" b="1"/>
              <a:t>1000</a:t>
            </a:r>
            <a:r>
              <a:rPr lang="en-US" altLang="en-US" sz="2400"/>
              <a:t>)};</a:t>
            </a:r>
          </a:p>
          <a:p>
            <a:pPr hangingPunct="1">
              <a:buFont typeface="Monotype Sorts"/>
              <a:buNone/>
            </a:pPr>
            <a:r>
              <a:rPr lang="en-US" altLang="en-US" sz="2400"/>
              <a:t>    Arrays.sort(list, Comparator.comparing(Loan::getLoanAmount)</a:t>
            </a:r>
          </a:p>
          <a:p>
            <a:pPr>
              <a:buFont typeface="Monotype Sorts"/>
              <a:buNone/>
            </a:pPr>
            <a:r>
              <a:rPr lang="en-US" altLang="en-US" sz="2400"/>
              <a:t>  .thenComparing(Loan::getAnnualInterestRate)); </a:t>
            </a:r>
            <a:endParaRPr lang="en-US" altLang="en-US" sz="240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416E7D4B-278B-49E7-8411-70099FD4746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307A1AF-185D-46A2-8E8C-5F0D3BCABA3B}" type="slidenum">
              <a:rPr lang="en-US" altLang="en-US" sz="1400"/>
              <a:pPr>
                <a:spcBef>
                  <a:spcPct val="0"/>
                </a:spcBef>
                <a:buClrTx/>
                <a:buSzTx/>
                <a:buFontTx/>
                <a:buNone/>
              </a:pPr>
              <a:t>39</a:t>
            </a:fld>
            <a:endParaRPr lang="en-US" altLang="en-US" sz="1400"/>
          </a:p>
        </p:txBody>
      </p:sp>
      <p:sp>
        <p:nvSpPr>
          <p:cNvPr id="27651" name="Rectangle 2">
            <a:extLst>
              <a:ext uri="{FF2B5EF4-FFF2-40B4-BE49-F238E27FC236}">
                <a16:creationId xmlns:a16="http://schemas.microsoft.com/office/drawing/2014/main" id="{A34D9A9E-4C53-4120-8516-19ED82E7692B}"/>
              </a:ext>
            </a:extLst>
          </p:cNvPr>
          <p:cNvSpPr>
            <a:spLocks noGrp="1" noChangeArrowheads="1"/>
          </p:cNvSpPr>
          <p:nvPr>
            <p:ph type="title"/>
          </p:nvPr>
        </p:nvSpPr>
        <p:spPr>
          <a:xfrm>
            <a:off x="304800" y="228600"/>
            <a:ext cx="8839200" cy="685800"/>
          </a:xfrm>
          <a:noFill/>
        </p:spPr>
        <p:txBody>
          <a:bodyPr/>
          <a:lstStyle/>
          <a:p>
            <a:r>
              <a:rPr lang="en-US" altLang="en-US">
                <a:cs typeface="Times New Roman" panose="02020603050405020304" pitchFamily="18" charset="0"/>
              </a:rPr>
              <a:t>The Collections Class</a:t>
            </a:r>
          </a:p>
        </p:txBody>
      </p:sp>
      <p:sp>
        <p:nvSpPr>
          <p:cNvPr id="27658" name="Text Box 15">
            <a:extLst>
              <a:ext uri="{FF2B5EF4-FFF2-40B4-BE49-F238E27FC236}">
                <a16:creationId xmlns:a16="http://schemas.microsoft.com/office/drawing/2014/main" id="{FD7DF8B2-1A65-4BBA-B69C-3A46D9271915}"/>
              </a:ext>
            </a:extLst>
          </p:cNvPr>
          <p:cNvSpPr txBox="1">
            <a:spLocks noChangeArrowheads="1"/>
          </p:cNvSpPr>
          <p:nvPr/>
        </p:nvSpPr>
        <p:spPr bwMode="auto">
          <a:xfrm>
            <a:off x="457200" y="1143000"/>
            <a:ext cx="84582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a:cs typeface="Times New Roman" panose="02020603050405020304" pitchFamily="18" charset="0"/>
              </a:rPr>
              <a:t>The Collections class contains various static methods for performing common operations in a collection and a list.</a:t>
            </a:r>
            <a:endParaRPr lang="en-US" altLang="en-US"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1B328D40-16B1-4B2E-A71F-5ABA088DD81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266AD27-5FD3-426A-BA50-3FB65491C720}" type="slidenum">
              <a:rPr lang="en-US" altLang="en-US" sz="1400"/>
              <a:pPr>
                <a:spcBef>
                  <a:spcPct val="0"/>
                </a:spcBef>
                <a:buClrTx/>
                <a:buSzTx/>
                <a:buFontTx/>
                <a:buNone/>
              </a:pPr>
              <a:t>40</a:t>
            </a:fld>
            <a:endParaRPr lang="en-US" altLang="en-US" sz="1400"/>
          </a:p>
        </p:txBody>
      </p:sp>
      <p:sp>
        <p:nvSpPr>
          <p:cNvPr id="28675" name="Rectangle 2">
            <a:extLst>
              <a:ext uri="{FF2B5EF4-FFF2-40B4-BE49-F238E27FC236}">
                <a16:creationId xmlns:a16="http://schemas.microsoft.com/office/drawing/2014/main" id="{4766BC96-FFD1-4D2C-8CF3-BC7C2B0E7834}"/>
              </a:ext>
            </a:extLst>
          </p:cNvPr>
          <p:cNvSpPr>
            <a:spLocks noGrp="1" noChangeArrowheads="1"/>
          </p:cNvSpPr>
          <p:nvPr>
            <p:ph type="title"/>
          </p:nvPr>
        </p:nvSpPr>
        <p:spPr>
          <a:xfrm>
            <a:off x="457200" y="228600"/>
            <a:ext cx="8153400" cy="685800"/>
          </a:xfrm>
          <a:noFill/>
        </p:spPr>
        <p:txBody>
          <a:bodyPr/>
          <a:lstStyle/>
          <a:p>
            <a:r>
              <a:rPr lang="en-US" altLang="en-US" sz="4000">
                <a:cs typeface="Times New Roman" panose="02020603050405020304" pitchFamily="18" charset="0"/>
              </a:rPr>
              <a:t>The Collections Class UML Diagram</a:t>
            </a:r>
          </a:p>
        </p:txBody>
      </p:sp>
      <p:pic>
        <p:nvPicPr>
          <p:cNvPr id="28685" name="Picture 14">
            <a:extLst>
              <a:ext uri="{FF2B5EF4-FFF2-40B4-BE49-F238E27FC236}">
                <a16:creationId xmlns:a16="http://schemas.microsoft.com/office/drawing/2014/main" id="{CAA7D320-286B-4E14-B2B2-2B7CA85E520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1019175"/>
            <a:ext cx="8782050" cy="481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0F3689C8-2563-4420-A92C-C49825768FE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812C9E9-7D2C-4FB5-AAC5-B44DA39AF7DE}" type="slidenum">
              <a:rPr lang="en-US" altLang="en-US" sz="1400"/>
              <a:pPr>
                <a:spcBef>
                  <a:spcPct val="0"/>
                </a:spcBef>
                <a:buClrTx/>
                <a:buSzTx/>
                <a:buFontTx/>
                <a:buNone/>
              </a:pPr>
              <a:t>41</a:t>
            </a:fld>
            <a:endParaRPr lang="en-US" altLang="en-US" sz="1400"/>
          </a:p>
        </p:txBody>
      </p:sp>
      <p:sp>
        <p:nvSpPr>
          <p:cNvPr id="30723" name="Rectangle 2">
            <a:extLst>
              <a:ext uri="{FF2B5EF4-FFF2-40B4-BE49-F238E27FC236}">
                <a16:creationId xmlns:a16="http://schemas.microsoft.com/office/drawing/2014/main" id="{54E798F1-03DC-4143-9556-1129F7A63809}"/>
              </a:ext>
            </a:extLst>
          </p:cNvPr>
          <p:cNvSpPr>
            <a:spLocks noGrp="1" noChangeArrowheads="1"/>
          </p:cNvSpPr>
          <p:nvPr>
            <p:ph type="title"/>
          </p:nvPr>
        </p:nvSpPr>
        <p:spPr>
          <a:xfrm>
            <a:off x="533400" y="228600"/>
            <a:ext cx="7924800" cy="1143000"/>
          </a:xfrm>
          <a:noFill/>
        </p:spPr>
        <p:txBody>
          <a:bodyPr/>
          <a:lstStyle/>
          <a:p>
            <a:r>
              <a:rPr lang="en-US" altLang="en-US">
                <a:cs typeface="Times New Roman" panose="02020603050405020304" pitchFamily="18" charset="0"/>
              </a:rPr>
              <a:t>The Vector and Stack Classes</a:t>
            </a:r>
          </a:p>
        </p:txBody>
      </p:sp>
      <p:sp>
        <p:nvSpPr>
          <p:cNvPr id="30725" name="Rectangle 4">
            <a:extLst>
              <a:ext uri="{FF2B5EF4-FFF2-40B4-BE49-F238E27FC236}">
                <a16:creationId xmlns:a16="http://schemas.microsoft.com/office/drawing/2014/main" id="{3E0ACB3A-4136-41B3-B6CD-15F2CD94281F}"/>
              </a:ext>
            </a:extLst>
          </p:cNvPr>
          <p:cNvSpPr>
            <a:spLocks noGrp="1" noChangeArrowheads="1"/>
          </p:cNvSpPr>
          <p:nvPr>
            <p:ph type="body" idx="1"/>
          </p:nvPr>
        </p:nvSpPr>
        <p:spPr>
          <a:xfrm>
            <a:off x="533400" y="1752600"/>
            <a:ext cx="8229600" cy="3886200"/>
          </a:xfrm>
          <a:noFill/>
        </p:spPr>
        <p:txBody>
          <a:bodyPr/>
          <a:lstStyle/>
          <a:p>
            <a:pPr marL="0" indent="0">
              <a:lnSpc>
                <a:spcPct val="90000"/>
              </a:lnSpc>
              <a:buFont typeface="Monotype Sorts"/>
              <a:buNone/>
            </a:pPr>
            <a:r>
              <a:rPr lang="en-US" altLang="en-US">
                <a:cs typeface="Times New Roman" panose="02020603050405020304" pitchFamily="18" charset="0"/>
              </a:rPr>
              <a:t>The Java Collections Framework was introduced with Java 2. Several data structures were supported prior to Java 2. Among them are the Vector class and the Stack class. These classes were redesigned to fit into the Java Collections Framework, but their old-style methods are retained for compatibility. This section introduces the Vector class and the Stack class.</a:t>
            </a:r>
            <a:r>
              <a:rPr lang="en-US" altLang="en-US">
                <a:latin typeface="Courier"/>
                <a:cs typeface="Times New Roman" panose="02020603050405020304" pitchFamily="18" charset="0"/>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28B25007-AE11-4E15-89D4-7415815706E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18A0766-62E0-445D-B866-06E174E17276}" type="slidenum">
              <a:rPr lang="en-US" altLang="en-US" sz="1400"/>
              <a:pPr>
                <a:spcBef>
                  <a:spcPct val="0"/>
                </a:spcBef>
                <a:buClrTx/>
                <a:buSzTx/>
                <a:buFontTx/>
                <a:buNone/>
              </a:pPr>
              <a:t>42</a:t>
            </a:fld>
            <a:endParaRPr lang="en-US" altLang="en-US" sz="1400"/>
          </a:p>
        </p:txBody>
      </p:sp>
      <p:sp>
        <p:nvSpPr>
          <p:cNvPr id="31747" name="Rectangle 2">
            <a:extLst>
              <a:ext uri="{FF2B5EF4-FFF2-40B4-BE49-F238E27FC236}">
                <a16:creationId xmlns:a16="http://schemas.microsoft.com/office/drawing/2014/main" id="{9640755D-AD2A-4CDA-BF17-A2DD6418493A}"/>
              </a:ext>
            </a:extLst>
          </p:cNvPr>
          <p:cNvSpPr>
            <a:spLocks noGrp="1" noChangeArrowheads="1"/>
          </p:cNvSpPr>
          <p:nvPr>
            <p:ph type="title"/>
          </p:nvPr>
        </p:nvSpPr>
        <p:spPr>
          <a:xfrm>
            <a:off x="533400" y="228600"/>
            <a:ext cx="7924800" cy="1143000"/>
          </a:xfrm>
          <a:noFill/>
        </p:spPr>
        <p:txBody>
          <a:bodyPr/>
          <a:lstStyle/>
          <a:p>
            <a:r>
              <a:rPr lang="en-US" altLang="en-US">
                <a:cs typeface="Times New Roman" panose="02020603050405020304" pitchFamily="18" charset="0"/>
              </a:rPr>
              <a:t>The Vector Class</a:t>
            </a:r>
          </a:p>
        </p:txBody>
      </p:sp>
      <p:sp>
        <p:nvSpPr>
          <p:cNvPr id="31749" name="Rectangle 4">
            <a:extLst>
              <a:ext uri="{FF2B5EF4-FFF2-40B4-BE49-F238E27FC236}">
                <a16:creationId xmlns:a16="http://schemas.microsoft.com/office/drawing/2014/main" id="{8AC7C992-8837-4797-BBA9-19F1869D68FE}"/>
              </a:ext>
            </a:extLst>
          </p:cNvPr>
          <p:cNvSpPr>
            <a:spLocks noGrp="1" noChangeArrowheads="1"/>
          </p:cNvSpPr>
          <p:nvPr>
            <p:ph type="body" idx="1"/>
          </p:nvPr>
        </p:nvSpPr>
        <p:spPr>
          <a:xfrm>
            <a:off x="533400" y="1600200"/>
            <a:ext cx="8229600" cy="4114800"/>
          </a:xfrm>
          <a:noFill/>
        </p:spPr>
        <p:txBody>
          <a:bodyPr/>
          <a:lstStyle/>
          <a:p>
            <a:pPr>
              <a:lnSpc>
                <a:spcPct val="90000"/>
              </a:lnSpc>
              <a:buFont typeface="Wingdings" panose="05000000000000000000" pitchFamily="2" charset="2"/>
              <a:buChar char="§"/>
            </a:pPr>
            <a:r>
              <a:rPr lang="en-US" altLang="en-US" dirty="0">
                <a:cs typeface="Times New Roman" panose="02020603050405020304" pitchFamily="18" charset="0"/>
              </a:rPr>
              <a:t>The Vector class is replaced by the ArrayList.</a:t>
            </a:r>
          </a:p>
          <a:p>
            <a:pPr>
              <a:lnSpc>
                <a:spcPct val="90000"/>
              </a:lnSpc>
              <a:buFont typeface="Wingdings" panose="05000000000000000000" pitchFamily="2" charset="2"/>
              <a:buChar char="§"/>
            </a:pPr>
            <a:r>
              <a:rPr lang="en-US" altLang="en-US" dirty="0">
                <a:cs typeface="Times New Roman" panose="02020603050405020304" pitchFamily="18" charset="0"/>
              </a:rPr>
              <a:t>Vector contains the synchronized methods for accessing and modifying the vector. </a:t>
            </a:r>
          </a:p>
          <a:p>
            <a:pPr>
              <a:lnSpc>
                <a:spcPct val="90000"/>
              </a:lnSpc>
              <a:buFont typeface="Wingdings" panose="05000000000000000000" pitchFamily="2" charset="2"/>
              <a:buChar char="§"/>
            </a:pPr>
            <a:r>
              <a:rPr lang="en-US" altLang="en-US" dirty="0">
                <a:cs typeface="Times New Roman" panose="02020603050405020304" pitchFamily="18" charset="0"/>
              </a:rPr>
              <a:t>It is not efficient for most applications and is mostly unused now.</a:t>
            </a:r>
          </a:p>
          <a:p>
            <a:pPr>
              <a:lnSpc>
                <a:spcPct val="90000"/>
              </a:lnSpc>
              <a:buFont typeface="Wingdings" panose="05000000000000000000" pitchFamily="2" charset="2"/>
              <a:buChar char="§"/>
            </a:pPr>
            <a:r>
              <a:rPr lang="en-US" altLang="en-US" dirty="0">
                <a:cs typeface="Times New Roman" panose="02020603050405020304" pitchFamily="18" charset="0"/>
              </a:rPr>
              <a:t>You may encounter Vector in the legacy Java code.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F36DB3C5-6430-4078-8B9E-2876DEC5CDE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E7EDC66-D96B-4B2D-9BE0-7D665818196D}" type="slidenum">
              <a:rPr lang="en-US" altLang="en-US" sz="1400"/>
              <a:pPr>
                <a:spcBef>
                  <a:spcPct val="0"/>
                </a:spcBef>
                <a:buClrTx/>
                <a:buSzTx/>
                <a:buFontTx/>
                <a:buNone/>
              </a:pPr>
              <a:t>43</a:t>
            </a:fld>
            <a:endParaRPr lang="en-US" altLang="en-US" sz="1400"/>
          </a:p>
        </p:txBody>
      </p:sp>
      <p:sp>
        <p:nvSpPr>
          <p:cNvPr id="32771" name="Rectangle 2">
            <a:extLst>
              <a:ext uri="{FF2B5EF4-FFF2-40B4-BE49-F238E27FC236}">
                <a16:creationId xmlns:a16="http://schemas.microsoft.com/office/drawing/2014/main" id="{FB8C758A-B939-49BE-BEAE-005DBDC7D8AD}"/>
              </a:ext>
            </a:extLst>
          </p:cNvPr>
          <p:cNvSpPr>
            <a:spLocks noGrp="1" noChangeArrowheads="1"/>
          </p:cNvSpPr>
          <p:nvPr>
            <p:ph type="title"/>
          </p:nvPr>
        </p:nvSpPr>
        <p:spPr>
          <a:xfrm>
            <a:off x="533400" y="228600"/>
            <a:ext cx="7924800" cy="457200"/>
          </a:xfrm>
          <a:noFill/>
        </p:spPr>
        <p:txBody>
          <a:bodyPr/>
          <a:lstStyle/>
          <a:p>
            <a:r>
              <a:rPr lang="en-US" altLang="en-US" sz="4000">
                <a:cs typeface="Times New Roman" panose="02020603050405020304" pitchFamily="18" charset="0"/>
              </a:rPr>
              <a:t>The Vector Class, cont.</a:t>
            </a:r>
          </a:p>
        </p:txBody>
      </p:sp>
      <p:pic>
        <p:nvPicPr>
          <p:cNvPr id="32778" name="Picture 11">
            <a:extLst>
              <a:ext uri="{FF2B5EF4-FFF2-40B4-BE49-F238E27FC236}">
                <a16:creationId xmlns:a16="http://schemas.microsoft.com/office/drawing/2014/main" id="{E8BDDA75-19CE-4F04-B343-18B0F996C0B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25" y="914400"/>
            <a:ext cx="8693150" cy="531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C5D4947A-3D2B-4213-A701-10CEB1D00D7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1C6CFED-E7F7-4A85-8BB7-D4110F98D50F}" type="slidenum">
              <a:rPr lang="en-US" altLang="en-US" sz="1400"/>
              <a:pPr>
                <a:spcBef>
                  <a:spcPct val="0"/>
                </a:spcBef>
                <a:buClrTx/>
                <a:buSzTx/>
                <a:buFontTx/>
                <a:buNone/>
              </a:pPr>
              <a:t>44</a:t>
            </a:fld>
            <a:endParaRPr lang="en-US" altLang="en-US" sz="1400"/>
          </a:p>
        </p:txBody>
      </p:sp>
      <p:sp>
        <p:nvSpPr>
          <p:cNvPr id="33795" name="Rectangle 2">
            <a:extLst>
              <a:ext uri="{FF2B5EF4-FFF2-40B4-BE49-F238E27FC236}">
                <a16:creationId xmlns:a16="http://schemas.microsoft.com/office/drawing/2014/main" id="{D5613EAB-8F1A-4EEB-969B-AED3845E063A}"/>
              </a:ext>
            </a:extLst>
          </p:cNvPr>
          <p:cNvSpPr>
            <a:spLocks noGrp="1" noChangeArrowheads="1"/>
          </p:cNvSpPr>
          <p:nvPr>
            <p:ph type="title"/>
          </p:nvPr>
        </p:nvSpPr>
        <p:spPr>
          <a:xfrm>
            <a:off x="533400" y="228600"/>
            <a:ext cx="7924800" cy="1143000"/>
          </a:xfrm>
          <a:noFill/>
        </p:spPr>
        <p:txBody>
          <a:bodyPr/>
          <a:lstStyle/>
          <a:p>
            <a:r>
              <a:rPr lang="en-US" altLang="en-US">
                <a:cs typeface="Times New Roman" panose="02020603050405020304" pitchFamily="18" charset="0"/>
              </a:rPr>
              <a:t>The Stack Class</a:t>
            </a:r>
          </a:p>
        </p:txBody>
      </p:sp>
      <p:sp>
        <p:nvSpPr>
          <p:cNvPr id="33797" name="Rectangle 4">
            <a:extLst>
              <a:ext uri="{FF2B5EF4-FFF2-40B4-BE49-F238E27FC236}">
                <a16:creationId xmlns:a16="http://schemas.microsoft.com/office/drawing/2014/main" id="{E554D186-6710-484F-A07E-BD5DDFAA87F2}"/>
              </a:ext>
            </a:extLst>
          </p:cNvPr>
          <p:cNvSpPr>
            <a:spLocks noGrp="1" noChangeArrowheads="1"/>
          </p:cNvSpPr>
          <p:nvPr>
            <p:ph type="body" idx="1"/>
          </p:nvPr>
        </p:nvSpPr>
        <p:spPr>
          <a:xfrm>
            <a:off x="2819400" y="1447800"/>
            <a:ext cx="6096000" cy="2286000"/>
          </a:xfrm>
          <a:noFill/>
        </p:spPr>
        <p:txBody>
          <a:bodyPr/>
          <a:lstStyle/>
          <a:p>
            <a:pPr marL="0" indent="0">
              <a:buFont typeface="Monotype Sorts"/>
              <a:buNone/>
            </a:pPr>
            <a:r>
              <a:rPr lang="en-US" altLang="en-US" sz="2800">
                <a:cs typeface="Times New Roman" panose="02020603050405020304" pitchFamily="18" charset="0"/>
              </a:rPr>
              <a:t>The Stack class represents a last-in-first-out stack of objects. The elements are accessed only from the top of the stack. You can retrieve, insert, or remove an element from the top of the stack.</a:t>
            </a:r>
            <a:r>
              <a:rPr lang="en-US" altLang="en-US" sz="2800">
                <a:latin typeface="Courier"/>
                <a:cs typeface="Times New Roman" panose="02020603050405020304" pitchFamily="18" charset="0"/>
              </a:rPr>
              <a:t> </a:t>
            </a:r>
          </a:p>
        </p:txBody>
      </p:sp>
      <p:graphicFrame>
        <p:nvGraphicFramePr>
          <p:cNvPr id="33803" name="Object 11">
            <a:extLst>
              <a:ext uri="{FF2B5EF4-FFF2-40B4-BE49-F238E27FC236}">
                <a16:creationId xmlns:a16="http://schemas.microsoft.com/office/drawing/2014/main" id="{461D5E59-2EEA-40D9-AB8C-8278D813E6A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02874109"/>
              </p:ext>
            </p:extLst>
          </p:nvPr>
        </p:nvGraphicFramePr>
        <p:xfrm>
          <a:off x="0" y="2362200"/>
          <a:ext cx="7620000" cy="3732213"/>
        </p:xfrm>
        <a:graphic>
          <a:graphicData uri="http://schemas.openxmlformats.org/presentationml/2006/ole">
            <mc:AlternateContent xmlns:mc="http://schemas.openxmlformats.org/markup-compatibility/2006">
              <mc:Choice xmlns:v="urn:schemas-microsoft-com:vml" Requires="v">
                <p:oleObj name="Picture" r:id="rId2" imgW="3736848" imgH="1827276" progId="Word.Picture.8">
                  <p:embed/>
                </p:oleObj>
              </mc:Choice>
              <mc:Fallback>
                <p:oleObj name="Picture" r:id="rId2" imgW="3736848" imgH="1827276"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62200"/>
                        <a:ext cx="7620000"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74C92-0D08-4B8C-98D2-808AB7D1D151}"/>
              </a:ext>
            </a:extLst>
          </p:cNvPr>
          <p:cNvSpPr>
            <a:spLocks noGrp="1"/>
          </p:cNvSpPr>
          <p:nvPr>
            <p:ph type="title"/>
          </p:nvPr>
        </p:nvSpPr>
        <p:spPr>
          <a:xfrm>
            <a:off x="685800" y="0"/>
            <a:ext cx="7772400" cy="1143000"/>
          </a:xfrm>
        </p:spPr>
        <p:txBody>
          <a:bodyPr/>
          <a:lstStyle/>
          <a:p>
            <a:r>
              <a:rPr lang="en-US" dirty="0"/>
              <a:t>The Stack Class</a:t>
            </a:r>
          </a:p>
        </p:txBody>
      </p:sp>
      <p:sp>
        <p:nvSpPr>
          <p:cNvPr id="3" name="Content Placeholder 2">
            <a:extLst>
              <a:ext uri="{FF2B5EF4-FFF2-40B4-BE49-F238E27FC236}">
                <a16:creationId xmlns:a16="http://schemas.microsoft.com/office/drawing/2014/main" id="{3F74D951-0A15-4014-93D4-CADC316CB214}"/>
              </a:ext>
            </a:extLst>
          </p:cNvPr>
          <p:cNvSpPr>
            <a:spLocks noGrp="1"/>
          </p:cNvSpPr>
          <p:nvPr>
            <p:ph idx="1"/>
          </p:nvPr>
        </p:nvSpPr>
        <p:spPr>
          <a:xfrm>
            <a:off x="228600" y="1143000"/>
            <a:ext cx="6781800" cy="4114800"/>
          </a:xfrm>
        </p:spPr>
        <p:txBody>
          <a:bodyPr/>
          <a:lstStyle/>
          <a:p>
            <a:pPr>
              <a:lnSpc>
                <a:spcPct val="107000"/>
              </a:lnSpc>
              <a:spcBef>
                <a:spcPts val="0"/>
              </a:spcBef>
              <a:spcAft>
                <a:spcPts val="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Use LIFO data ordering (</a:t>
            </a:r>
            <a:r>
              <a:rPr lang="en-US" sz="2400" u="sng" dirty="0">
                <a:effectLst/>
                <a:latin typeface="+mj-lt"/>
                <a:ea typeface="Calibri" panose="020F0502020204030204" pitchFamily="34" charset="0"/>
                <a:cs typeface="Times New Roman" panose="02020603050405020304" pitchFamily="18" charset="0"/>
              </a:rPr>
              <a:t>L</a:t>
            </a:r>
            <a:r>
              <a:rPr lang="en-US" sz="2400" dirty="0">
                <a:effectLst/>
                <a:latin typeface="+mj-lt"/>
                <a:ea typeface="Calibri" panose="020F0502020204030204" pitchFamily="34" charset="0"/>
                <a:cs typeface="Times New Roman" panose="02020603050405020304" pitchFamily="18" charset="0"/>
              </a:rPr>
              <a:t>ast </a:t>
            </a:r>
            <a:r>
              <a:rPr lang="en-US" sz="2400" u="sng" dirty="0">
                <a:effectLst/>
                <a:latin typeface="+mj-lt"/>
                <a:ea typeface="Calibri" panose="020F0502020204030204" pitchFamily="34" charset="0"/>
                <a:cs typeface="Times New Roman" panose="02020603050405020304" pitchFamily="18" charset="0"/>
              </a:rPr>
              <a:t>I</a:t>
            </a:r>
            <a:r>
              <a:rPr lang="en-US" sz="2400" dirty="0">
                <a:effectLst/>
                <a:latin typeface="+mj-lt"/>
                <a:ea typeface="Calibri" panose="020F0502020204030204" pitchFamily="34" charset="0"/>
                <a:cs typeface="Times New Roman" panose="02020603050405020304" pitchFamily="18" charset="0"/>
              </a:rPr>
              <a:t>n </a:t>
            </a:r>
            <a:r>
              <a:rPr lang="en-US" sz="2400" u="sng" dirty="0">
                <a:effectLst/>
                <a:latin typeface="+mj-lt"/>
                <a:ea typeface="Calibri" panose="020F0502020204030204" pitchFamily="34" charset="0"/>
                <a:cs typeface="Times New Roman" panose="02020603050405020304" pitchFamily="18" charset="0"/>
              </a:rPr>
              <a:t>F</a:t>
            </a:r>
            <a:r>
              <a:rPr lang="en-US" sz="2400" dirty="0">
                <a:effectLst/>
                <a:latin typeface="+mj-lt"/>
                <a:ea typeface="Calibri" panose="020F0502020204030204" pitchFamily="34" charset="0"/>
                <a:cs typeface="Times New Roman" panose="02020603050405020304" pitchFamily="18" charset="0"/>
              </a:rPr>
              <a:t>irst </a:t>
            </a:r>
            <a:r>
              <a:rPr lang="en-US" sz="2400" u="sng" dirty="0">
                <a:effectLst/>
                <a:latin typeface="+mj-lt"/>
                <a:ea typeface="Calibri" panose="020F0502020204030204" pitchFamily="34" charset="0"/>
                <a:cs typeface="Times New Roman" panose="02020603050405020304" pitchFamily="18" charset="0"/>
              </a:rPr>
              <a:t>O</a:t>
            </a:r>
            <a:r>
              <a:rPr lang="en-US" sz="2400" dirty="0">
                <a:effectLst/>
                <a:latin typeface="+mj-lt"/>
                <a:ea typeface="Calibri" panose="020F0502020204030204" pitchFamily="34" charset="0"/>
                <a:cs typeface="Times New Roman" panose="02020603050405020304" pitchFamily="18" charset="0"/>
              </a:rPr>
              <a:t>ut): the last element added is the first to come off</a:t>
            </a: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Imagine a vertical stack of objects like a stack of plates</a:t>
            </a: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Items added and deleted from same end (the top/front)</a:t>
            </a: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Use </a:t>
            </a:r>
            <a:r>
              <a:rPr lang="en-US" sz="2400" b="1" dirty="0">
                <a:effectLst/>
                <a:latin typeface="+mj-lt"/>
                <a:ea typeface="Calibri" panose="020F0502020204030204" pitchFamily="34" charset="0"/>
                <a:cs typeface="Times New Roman" panose="02020603050405020304" pitchFamily="18" charset="0"/>
              </a:rPr>
              <a:t>push</a:t>
            </a:r>
            <a:r>
              <a:rPr lang="en-US" sz="2400" dirty="0">
                <a:effectLst/>
                <a:latin typeface="+mj-lt"/>
                <a:ea typeface="Calibri" panose="020F0502020204030204" pitchFamily="34" charset="0"/>
                <a:cs typeface="Times New Roman" panose="02020603050405020304" pitchFamily="18" charset="0"/>
              </a:rPr>
              <a:t>() to add,  </a:t>
            </a:r>
            <a:r>
              <a:rPr lang="en-US" sz="2400" b="1" dirty="0">
                <a:effectLst/>
                <a:latin typeface="+mj-lt"/>
                <a:ea typeface="Calibri" panose="020F0502020204030204" pitchFamily="34" charset="0"/>
                <a:cs typeface="Times New Roman" panose="02020603050405020304" pitchFamily="18" charset="0"/>
              </a:rPr>
              <a:t>pop</a:t>
            </a:r>
            <a:r>
              <a:rPr lang="en-US" sz="2400" dirty="0">
                <a:effectLst/>
                <a:latin typeface="+mj-lt"/>
                <a:ea typeface="Calibri" panose="020F0502020204030204" pitchFamily="34" charset="0"/>
                <a:cs typeface="Times New Roman" panose="02020603050405020304" pitchFamily="18" charset="0"/>
              </a:rPr>
              <a:t>() to remove.  Make sure you test for empty stack before using pop()</a:t>
            </a:r>
          </a:p>
          <a:p>
            <a:pPr marL="342900" marR="0" lvl="0" indent="-342900">
              <a:lnSpc>
                <a:spcPct val="107000"/>
              </a:lnSpc>
              <a:spcBef>
                <a:spcPts val="0"/>
              </a:spcBef>
              <a:spcAft>
                <a:spcPts val="0"/>
              </a:spcAft>
              <a:buFont typeface="Symbol" panose="05050102010706020507" pitchFamily="18" charset="2"/>
              <a:buChar char=""/>
            </a:pPr>
            <a:r>
              <a:rPr lang="en-US" sz="2400" b="1" dirty="0">
                <a:effectLst/>
                <a:latin typeface="+mj-lt"/>
                <a:ea typeface="Calibri" panose="020F0502020204030204" pitchFamily="34" charset="0"/>
                <a:cs typeface="Times New Roman" panose="02020603050405020304" pitchFamily="18" charset="0"/>
              </a:rPr>
              <a:t>peek</a:t>
            </a:r>
            <a:r>
              <a:rPr lang="en-US" sz="2400" dirty="0">
                <a:effectLst/>
                <a:latin typeface="+mj-lt"/>
                <a:ea typeface="Calibri" panose="020F0502020204030204" pitchFamily="34" charset="0"/>
                <a:cs typeface="Times New Roman" panose="02020603050405020304" pitchFamily="18" charset="0"/>
              </a:rPr>
              <a:t>() method makes copy of first item but does not take it off</a:t>
            </a: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mj-lt"/>
                <a:ea typeface="Calibri" panose="020F0502020204030204" pitchFamily="34" charset="0"/>
                <a:cs typeface="Times New Roman" panose="02020603050405020304" pitchFamily="18" charset="0"/>
              </a:rPr>
              <a:t>Easy way to reverse a collection of values</a:t>
            </a:r>
          </a:p>
          <a:p>
            <a:pPr marL="342900" marR="0" lvl="0" indent="-342900">
              <a:lnSpc>
                <a:spcPct val="107000"/>
              </a:lnSpc>
              <a:spcBef>
                <a:spcPts val="0"/>
              </a:spcBef>
              <a:spcAft>
                <a:spcPts val="0"/>
              </a:spcAft>
              <a:buFont typeface="Symbol" panose="05050102010706020507" pitchFamily="18" charset="2"/>
              <a:buChar char=""/>
            </a:pPr>
            <a:r>
              <a:rPr lang="en-US" sz="2400" b="1" dirty="0">
                <a:effectLst/>
                <a:latin typeface="+mj-lt"/>
                <a:ea typeface="Calibri" panose="020F0502020204030204" pitchFamily="34" charset="0"/>
                <a:cs typeface="Times New Roman" panose="02020603050405020304" pitchFamily="18" charset="0"/>
              </a:rPr>
              <a:t>empty</a:t>
            </a:r>
            <a:r>
              <a:rPr lang="en-US" sz="2400" dirty="0">
                <a:effectLst/>
                <a:latin typeface="+mj-lt"/>
                <a:ea typeface="Calibri" panose="020F0502020204030204" pitchFamily="34" charset="0"/>
                <a:cs typeface="Times New Roman" panose="02020603050405020304" pitchFamily="18" charset="0"/>
              </a:rPr>
              <a:t>() is the method to see if a stack is empty</a:t>
            </a:r>
            <a:endParaRPr lang="en-US" sz="1800" dirty="0">
              <a:effectLst/>
              <a:latin typeface="+mj-l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2C24315-814F-4053-9117-8EAF3DC8F2B9}"/>
              </a:ext>
            </a:extLst>
          </p:cNvPr>
          <p:cNvSpPr>
            <a:spLocks noGrp="1"/>
          </p:cNvSpPr>
          <p:nvPr>
            <p:ph type="sldNum" sz="quarter" idx="11"/>
          </p:nvPr>
        </p:nvSpPr>
        <p:spPr/>
        <p:txBody>
          <a:bodyPr/>
          <a:lstStyle/>
          <a:p>
            <a:fld id="{566BF5F8-30B9-41F2-958F-D75A00416E71}" type="slidenum">
              <a:rPr lang="en-US" altLang="en-US" smtClean="0"/>
              <a:pPr/>
              <a:t>45</a:t>
            </a:fld>
            <a:endParaRPr lang="en-US" altLang="en-US"/>
          </a:p>
        </p:txBody>
      </p:sp>
      <p:sp>
        <p:nvSpPr>
          <p:cNvPr id="5" name="TextBox 4">
            <a:extLst>
              <a:ext uri="{FF2B5EF4-FFF2-40B4-BE49-F238E27FC236}">
                <a16:creationId xmlns:a16="http://schemas.microsoft.com/office/drawing/2014/main" id="{D5CC6C1C-397F-4E1B-88AB-9F54AA9FECE2}"/>
              </a:ext>
            </a:extLst>
          </p:cNvPr>
          <p:cNvSpPr txBox="1"/>
          <p:nvPr/>
        </p:nvSpPr>
        <p:spPr>
          <a:xfrm>
            <a:off x="7502236" y="2599193"/>
            <a:ext cx="1447800" cy="307777"/>
          </a:xfrm>
          <a:prstGeom prst="rect">
            <a:avLst/>
          </a:prstGeom>
          <a:noFill/>
          <a:ln>
            <a:solidFill>
              <a:schemeClr val="tx1"/>
            </a:solidFill>
          </a:ln>
        </p:spPr>
        <p:txBody>
          <a:bodyPr wrap="square" rtlCol="0">
            <a:spAutoFit/>
          </a:bodyPr>
          <a:lstStyle/>
          <a:p>
            <a:r>
              <a:rPr lang="en-US" sz="1400" dirty="0"/>
              <a:t>Item 1</a:t>
            </a:r>
          </a:p>
        </p:txBody>
      </p:sp>
      <p:sp>
        <p:nvSpPr>
          <p:cNvPr id="6" name="TextBox 5">
            <a:extLst>
              <a:ext uri="{FF2B5EF4-FFF2-40B4-BE49-F238E27FC236}">
                <a16:creationId xmlns:a16="http://schemas.microsoft.com/office/drawing/2014/main" id="{BCC74B01-8C7E-4C3F-8C2B-D50A56AB71D8}"/>
              </a:ext>
            </a:extLst>
          </p:cNvPr>
          <p:cNvSpPr txBox="1"/>
          <p:nvPr/>
        </p:nvSpPr>
        <p:spPr>
          <a:xfrm>
            <a:off x="7502236" y="4815185"/>
            <a:ext cx="1447800" cy="307777"/>
          </a:xfrm>
          <a:prstGeom prst="rect">
            <a:avLst/>
          </a:prstGeom>
          <a:noFill/>
          <a:ln>
            <a:solidFill>
              <a:schemeClr val="tx1"/>
            </a:solidFill>
          </a:ln>
        </p:spPr>
        <p:txBody>
          <a:bodyPr wrap="square" rtlCol="0">
            <a:spAutoFit/>
          </a:bodyPr>
          <a:lstStyle/>
          <a:p>
            <a:r>
              <a:rPr lang="en-US" sz="1400" dirty="0"/>
              <a:t>Item 4</a:t>
            </a:r>
          </a:p>
        </p:txBody>
      </p:sp>
      <p:sp>
        <p:nvSpPr>
          <p:cNvPr id="7" name="TextBox 6">
            <a:extLst>
              <a:ext uri="{FF2B5EF4-FFF2-40B4-BE49-F238E27FC236}">
                <a16:creationId xmlns:a16="http://schemas.microsoft.com/office/drawing/2014/main" id="{A2F218DE-A3AD-4974-8ABA-79A2F0204A3E}"/>
              </a:ext>
            </a:extLst>
          </p:cNvPr>
          <p:cNvSpPr txBox="1"/>
          <p:nvPr/>
        </p:nvSpPr>
        <p:spPr>
          <a:xfrm>
            <a:off x="7502236" y="4076521"/>
            <a:ext cx="1447800" cy="307777"/>
          </a:xfrm>
          <a:prstGeom prst="rect">
            <a:avLst/>
          </a:prstGeom>
          <a:noFill/>
          <a:ln>
            <a:solidFill>
              <a:schemeClr val="tx1"/>
            </a:solidFill>
          </a:ln>
        </p:spPr>
        <p:txBody>
          <a:bodyPr wrap="square" rtlCol="0">
            <a:spAutoFit/>
          </a:bodyPr>
          <a:lstStyle/>
          <a:p>
            <a:r>
              <a:rPr lang="en-US" sz="1400" dirty="0"/>
              <a:t>Item 3</a:t>
            </a:r>
          </a:p>
        </p:txBody>
      </p:sp>
      <p:sp>
        <p:nvSpPr>
          <p:cNvPr id="8" name="TextBox 7">
            <a:extLst>
              <a:ext uri="{FF2B5EF4-FFF2-40B4-BE49-F238E27FC236}">
                <a16:creationId xmlns:a16="http://schemas.microsoft.com/office/drawing/2014/main" id="{9AEFC9D7-F524-41CC-AC67-524CF6FF4164}"/>
              </a:ext>
            </a:extLst>
          </p:cNvPr>
          <p:cNvSpPr txBox="1"/>
          <p:nvPr/>
        </p:nvSpPr>
        <p:spPr>
          <a:xfrm>
            <a:off x="7502236" y="3337857"/>
            <a:ext cx="1447800" cy="307777"/>
          </a:xfrm>
          <a:prstGeom prst="rect">
            <a:avLst/>
          </a:prstGeom>
          <a:noFill/>
          <a:ln>
            <a:solidFill>
              <a:schemeClr val="tx1"/>
            </a:solidFill>
          </a:ln>
        </p:spPr>
        <p:txBody>
          <a:bodyPr wrap="square" rtlCol="0">
            <a:spAutoFit/>
          </a:bodyPr>
          <a:lstStyle/>
          <a:p>
            <a:r>
              <a:rPr lang="en-US" sz="1400" dirty="0"/>
              <a:t>Item 2</a:t>
            </a:r>
          </a:p>
        </p:txBody>
      </p:sp>
      <p:cxnSp>
        <p:nvCxnSpPr>
          <p:cNvPr id="9" name="Straight Arrow Connector 8">
            <a:extLst>
              <a:ext uri="{FF2B5EF4-FFF2-40B4-BE49-F238E27FC236}">
                <a16:creationId xmlns:a16="http://schemas.microsoft.com/office/drawing/2014/main" id="{F11999E6-90C3-4F20-9C4D-8E8184979F10}"/>
              </a:ext>
              <a:ext uri="{C183D7F6-B498-43B3-948B-1728B52AA6E4}">
                <adec:decorative xmlns:adec="http://schemas.microsoft.com/office/drawing/2017/decorative" val="1"/>
              </a:ext>
            </a:extLst>
          </p:cNvPr>
          <p:cNvCxnSpPr>
            <a:cxnSpLocks/>
          </p:cNvCxnSpPr>
          <p:nvPr/>
        </p:nvCxnSpPr>
        <p:spPr bwMode="auto">
          <a:xfrm>
            <a:off x="8153400" y="1594008"/>
            <a:ext cx="0" cy="1005185"/>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FD79463F-B21C-4089-A36C-6471BB692642}"/>
              </a:ext>
              <a:ext uri="{C183D7F6-B498-43B3-948B-1728B52AA6E4}">
                <adec:decorative xmlns:adec="http://schemas.microsoft.com/office/drawing/2017/decorative" val="1"/>
              </a:ext>
            </a:extLst>
          </p:cNvPr>
          <p:cNvCxnSpPr>
            <a:cxnSpLocks/>
          </p:cNvCxnSpPr>
          <p:nvPr/>
        </p:nvCxnSpPr>
        <p:spPr bwMode="auto">
          <a:xfrm>
            <a:off x="8153400" y="2906970"/>
            <a:ext cx="2309" cy="430887"/>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60F6A639-D7C5-4923-A0D1-C67D4CBEC006}"/>
              </a:ext>
              <a:ext uri="{C183D7F6-B498-43B3-948B-1728B52AA6E4}">
                <adec:decorative xmlns:adec="http://schemas.microsoft.com/office/drawing/2017/decorative" val="1"/>
              </a:ext>
            </a:extLst>
          </p:cNvPr>
          <p:cNvCxnSpPr>
            <a:cxnSpLocks/>
          </p:cNvCxnSpPr>
          <p:nvPr/>
        </p:nvCxnSpPr>
        <p:spPr bwMode="auto">
          <a:xfrm>
            <a:off x="8151091" y="3660000"/>
            <a:ext cx="2309" cy="430887"/>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a:extLst>
              <a:ext uri="{FF2B5EF4-FFF2-40B4-BE49-F238E27FC236}">
                <a16:creationId xmlns:a16="http://schemas.microsoft.com/office/drawing/2014/main" id="{534504B7-3684-4C82-BAF8-2911A3801BFB}"/>
              </a:ext>
              <a:ext uri="{C183D7F6-B498-43B3-948B-1728B52AA6E4}">
                <adec:decorative xmlns:adec="http://schemas.microsoft.com/office/drawing/2017/decorative" val="1"/>
              </a:ext>
            </a:extLst>
          </p:cNvPr>
          <p:cNvCxnSpPr>
            <a:cxnSpLocks/>
          </p:cNvCxnSpPr>
          <p:nvPr/>
        </p:nvCxnSpPr>
        <p:spPr bwMode="auto">
          <a:xfrm>
            <a:off x="8148782" y="4384298"/>
            <a:ext cx="2309" cy="430887"/>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783BE182-60CE-4448-8309-11AC1E96B342}"/>
              </a:ext>
              <a:ext uri="{C183D7F6-B498-43B3-948B-1728B52AA6E4}">
                <adec:decorative xmlns:adec="http://schemas.microsoft.com/office/drawing/2017/decorative" val="1"/>
              </a:ext>
            </a:extLst>
          </p:cNvPr>
          <p:cNvCxnSpPr>
            <a:cxnSpLocks/>
          </p:cNvCxnSpPr>
          <p:nvPr/>
        </p:nvCxnSpPr>
        <p:spPr bwMode="auto">
          <a:xfrm>
            <a:off x="8146473" y="5125188"/>
            <a:ext cx="2309" cy="430887"/>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a:extLst>
              <a:ext uri="{FF2B5EF4-FFF2-40B4-BE49-F238E27FC236}">
                <a16:creationId xmlns:a16="http://schemas.microsoft.com/office/drawing/2014/main" id="{51330219-4E1A-4658-BEBA-BEDD49C21C83}"/>
              </a:ext>
            </a:extLst>
          </p:cNvPr>
          <p:cNvSpPr txBox="1"/>
          <p:nvPr/>
        </p:nvSpPr>
        <p:spPr>
          <a:xfrm>
            <a:off x="7924800" y="5525711"/>
            <a:ext cx="759691" cy="307777"/>
          </a:xfrm>
          <a:prstGeom prst="rect">
            <a:avLst/>
          </a:prstGeom>
          <a:noFill/>
        </p:spPr>
        <p:txBody>
          <a:bodyPr wrap="square" rtlCol="0">
            <a:spAutoFit/>
          </a:bodyPr>
          <a:lstStyle/>
          <a:p>
            <a:r>
              <a:rPr lang="en-US" sz="1400" dirty="0"/>
              <a:t>Null</a:t>
            </a:r>
          </a:p>
        </p:txBody>
      </p:sp>
      <p:sp>
        <p:nvSpPr>
          <p:cNvPr id="19" name="TextBox 18">
            <a:extLst>
              <a:ext uri="{FF2B5EF4-FFF2-40B4-BE49-F238E27FC236}">
                <a16:creationId xmlns:a16="http://schemas.microsoft.com/office/drawing/2014/main" id="{29CD7778-F2F7-4169-B2FE-046FDD249F30}"/>
              </a:ext>
            </a:extLst>
          </p:cNvPr>
          <p:cNvSpPr txBox="1"/>
          <p:nvPr/>
        </p:nvSpPr>
        <p:spPr>
          <a:xfrm>
            <a:off x="7583054" y="1325382"/>
            <a:ext cx="1140691" cy="307777"/>
          </a:xfrm>
          <a:prstGeom prst="rect">
            <a:avLst/>
          </a:prstGeom>
          <a:noFill/>
        </p:spPr>
        <p:txBody>
          <a:bodyPr wrap="square" rtlCol="0">
            <a:spAutoFit/>
          </a:bodyPr>
          <a:lstStyle/>
          <a:p>
            <a:r>
              <a:rPr lang="en-US" sz="1400" dirty="0"/>
              <a:t>Top of stack</a:t>
            </a:r>
          </a:p>
        </p:txBody>
      </p:sp>
    </p:spTree>
    <p:extLst>
      <p:ext uri="{BB962C8B-B14F-4D97-AF65-F5344CB8AC3E}">
        <p14:creationId xmlns:p14="http://schemas.microsoft.com/office/powerpoint/2010/main" val="2949809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CAEA7EF0-A364-4FC0-8FCB-D50E02220B9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66BFA04-299F-4128-9A48-AC6D2157FA97}" type="slidenum">
              <a:rPr lang="en-US" altLang="en-US" sz="1400"/>
              <a:pPr>
                <a:spcBef>
                  <a:spcPct val="0"/>
                </a:spcBef>
                <a:buClrTx/>
                <a:buSzTx/>
                <a:buFontTx/>
                <a:buNone/>
              </a:pPr>
              <a:t>46</a:t>
            </a:fld>
            <a:endParaRPr lang="en-US" altLang="en-US" sz="1400"/>
          </a:p>
        </p:txBody>
      </p:sp>
      <p:sp>
        <p:nvSpPr>
          <p:cNvPr id="37891" name="Rectangle 2">
            <a:extLst>
              <a:ext uri="{FF2B5EF4-FFF2-40B4-BE49-F238E27FC236}">
                <a16:creationId xmlns:a16="http://schemas.microsoft.com/office/drawing/2014/main" id="{EF1D7FD5-1B9C-4059-8401-B04E5FCACBEE}"/>
              </a:ext>
            </a:extLst>
          </p:cNvPr>
          <p:cNvSpPr>
            <a:spLocks noGrp="1" noChangeArrowheads="1"/>
          </p:cNvSpPr>
          <p:nvPr>
            <p:ph type="title"/>
          </p:nvPr>
        </p:nvSpPr>
        <p:spPr>
          <a:xfrm>
            <a:off x="323850" y="296863"/>
            <a:ext cx="8659813" cy="533400"/>
          </a:xfrm>
          <a:noFill/>
        </p:spPr>
        <p:txBody>
          <a:bodyPr/>
          <a:lstStyle/>
          <a:p>
            <a:r>
              <a:rPr lang="en-US" altLang="en-US" sz="3600"/>
              <a:t>Stack Animation</a:t>
            </a:r>
          </a:p>
        </p:txBody>
      </p:sp>
      <p:sp>
        <p:nvSpPr>
          <p:cNvPr id="37896" name="AutoShape 19">
            <a:hlinkClick r:id="rId2" highlightClick="1"/>
            <a:extLst>
              <a:ext uri="{FF2B5EF4-FFF2-40B4-BE49-F238E27FC236}">
                <a16:creationId xmlns:a16="http://schemas.microsoft.com/office/drawing/2014/main" id="{52781164-7C63-4408-8594-7933416D8788}"/>
              </a:ext>
              <a:ext uri="{C183D7F6-B498-43B3-948B-1728B52AA6E4}">
                <adec:decorative xmlns:adec="http://schemas.microsoft.com/office/drawing/2017/decorative" val="1"/>
              </a:ext>
            </a:extLst>
          </p:cNvPr>
          <p:cNvSpPr>
            <a:spLocks noChangeArrowheads="1"/>
          </p:cNvSpPr>
          <p:nvPr/>
        </p:nvSpPr>
        <p:spPr bwMode="auto">
          <a:xfrm>
            <a:off x="457200" y="1397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7" name="Rectangle 2">
            <a:extLst>
              <a:ext uri="{FF2B5EF4-FFF2-40B4-BE49-F238E27FC236}">
                <a16:creationId xmlns:a16="http://schemas.microsoft.com/office/drawing/2014/main" id="{7E95317D-2E9C-4E7A-80F2-11753BE7FD5C}"/>
              </a:ext>
            </a:extLst>
          </p:cNvPr>
          <p:cNvSpPr txBox="1">
            <a:spLocks noChangeArrowheads="1"/>
          </p:cNvSpPr>
          <p:nvPr/>
        </p:nvSpPr>
        <p:spPr bwMode="auto">
          <a:xfrm>
            <a:off x="152400" y="884238"/>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rPr>
              <a:t>https://liveexample.pearsoncmg.com/dsanimation/StackeBook.html</a:t>
            </a:r>
          </a:p>
        </p:txBody>
      </p:sp>
      <p:pic>
        <p:nvPicPr>
          <p:cNvPr id="37898" name="Picture 10">
            <a:extLst>
              <a:ext uri="{FF2B5EF4-FFF2-40B4-BE49-F238E27FC236}">
                <a16:creationId xmlns:a16="http://schemas.microsoft.com/office/drawing/2014/main" id="{0B276EF1-8D06-40ED-BFF6-0AEAD2706FD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2205038"/>
            <a:ext cx="8507413" cy="4103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74C92-0D08-4B8C-98D2-808AB7D1D151}"/>
              </a:ext>
            </a:extLst>
          </p:cNvPr>
          <p:cNvSpPr>
            <a:spLocks noGrp="1"/>
          </p:cNvSpPr>
          <p:nvPr>
            <p:ph type="title"/>
          </p:nvPr>
        </p:nvSpPr>
        <p:spPr/>
        <p:txBody>
          <a:bodyPr/>
          <a:lstStyle/>
          <a:p>
            <a:r>
              <a:rPr lang="en-US"/>
              <a:t>The Stack Class</a:t>
            </a:r>
            <a:endParaRPr lang="en-US" dirty="0"/>
          </a:p>
        </p:txBody>
      </p:sp>
      <p:sp>
        <p:nvSpPr>
          <p:cNvPr id="4" name="Slide Number Placeholder 3">
            <a:extLst>
              <a:ext uri="{FF2B5EF4-FFF2-40B4-BE49-F238E27FC236}">
                <a16:creationId xmlns:a16="http://schemas.microsoft.com/office/drawing/2014/main" id="{D2C24315-814F-4053-9117-8EAF3DC8F2B9}"/>
              </a:ext>
            </a:extLst>
          </p:cNvPr>
          <p:cNvSpPr>
            <a:spLocks noGrp="1"/>
          </p:cNvSpPr>
          <p:nvPr>
            <p:ph type="sldNum" sz="quarter" idx="11"/>
          </p:nvPr>
        </p:nvSpPr>
        <p:spPr/>
        <p:txBody>
          <a:bodyPr/>
          <a:lstStyle/>
          <a:p>
            <a:fld id="{566BF5F8-30B9-41F2-958F-D75A00416E71}" type="slidenum">
              <a:rPr lang="en-US" altLang="en-US" smtClean="0"/>
              <a:pPr/>
              <a:t>47</a:t>
            </a:fld>
            <a:endParaRPr lang="en-US" altLang="en-US"/>
          </a:p>
        </p:txBody>
      </p:sp>
      <p:sp>
        <p:nvSpPr>
          <p:cNvPr id="6" name="TextBox 5">
            <a:extLst>
              <a:ext uri="{FF2B5EF4-FFF2-40B4-BE49-F238E27FC236}">
                <a16:creationId xmlns:a16="http://schemas.microsoft.com/office/drawing/2014/main" id="{5246EAB0-A531-4985-881D-52422E71A32E}"/>
              </a:ext>
            </a:extLst>
          </p:cNvPr>
          <p:cNvSpPr txBox="1"/>
          <p:nvPr/>
        </p:nvSpPr>
        <p:spPr>
          <a:xfrm>
            <a:off x="457200" y="2895600"/>
            <a:ext cx="1447800" cy="738664"/>
          </a:xfrm>
          <a:prstGeom prst="rect">
            <a:avLst/>
          </a:prstGeom>
          <a:noFill/>
          <a:ln>
            <a:solidFill>
              <a:schemeClr val="tx1"/>
            </a:solidFill>
          </a:ln>
        </p:spPr>
        <p:txBody>
          <a:bodyPr wrap="square" rtlCol="0">
            <a:spAutoFit/>
          </a:bodyPr>
          <a:lstStyle/>
          <a:p>
            <a:r>
              <a:rPr lang="en-US" sz="1400" dirty="0"/>
              <a:t>Electric bill Amount: 105.00</a:t>
            </a:r>
          </a:p>
          <a:p>
            <a:r>
              <a:rPr lang="en-US" sz="1400" dirty="0"/>
              <a:t>Due: 5/18/2021</a:t>
            </a:r>
          </a:p>
        </p:txBody>
      </p:sp>
      <p:sp>
        <p:nvSpPr>
          <p:cNvPr id="7" name="TextBox 6">
            <a:extLst>
              <a:ext uri="{FF2B5EF4-FFF2-40B4-BE49-F238E27FC236}">
                <a16:creationId xmlns:a16="http://schemas.microsoft.com/office/drawing/2014/main" id="{D6FA49BB-726D-4827-AA38-E6D255BD2767}"/>
              </a:ext>
            </a:extLst>
          </p:cNvPr>
          <p:cNvSpPr txBox="1"/>
          <p:nvPr/>
        </p:nvSpPr>
        <p:spPr>
          <a:xfrm>
            <a:off x="457200" y="5111592"/>
            <a:ext cx="1447800" cy="738664"/>
          </a:xfrm>
          <a:prstGeom prst="rect">
            <a:avLst/>
          </a:prstGeom>
          <a:noFill/>
          <a:ln>
            <a:solidFill>
              <a:schemeClr val="tx1"/>
            </a:solidFill>
          </a:ln>
        </p:spPr>
        <p:txBody>
          <a:bodyPr wrap="square" rtlCol="0">
            <a:spAutoFit/>
          </a:bodyPr>
          <a:lstStyle/>
          <a:p>
            <a:r>
              <a:rPr lang="en-US" sz="1400" dirty="0"/>
              <a:t>Water bill Amount: 68.00</a:t>
            </a:r>
          </a:p>
          <a:p>
            <a:r>
              <a:rPr lang="en-US" sz="1400" dirty="0"/>
              <a:t>Due: 5/05/2021</a:t>
            </a:r>
          </a:p>
        </p:txBody>
      </p:sp>
      <p:sp>
        <p:nvSpPr>
          <p:cNvPr id="8" name="TextBox 7">
            <a:extLst>
              <a:ext uri="{FF2B5EF4-FFF2-40B4-BE49-F238E27FC236}">
                <a16:creationId xmlns:a16="http://schemas.microsoft.com/office/drawing/2014/main" id="{CB8D4099-737C-45E3-8AE9-87909FADBBB9}"/>
              </a:ext>
            </a:extLst>
          </p:cNvPr>
          <p:cNvSpPr txBox="1"/>
          <p:nvPr/>
        </p:nvSpPr>
        <p:spPr>
          <a:xfrm>
            <a:off x="457200" y="4372928"/>
            <a:ext cx="1447800" cy="738664"/>
          </a:xfrm>
          <a:prstGeom prst="rect">
            <a:avLst/>
          </a:prstGeom>
          <a:noFill/>
          <a:ln>
            <a:solidFill>
              <a:schemeClr val="tx1"/>
            </a:solidFill>
          </a:ln>
        </p:spPr>
        <p:txBody>
          <a:bodyPr wrap="square" rtlCol="0">
            <a:spAutoFit/>
          </a:bodyPr>
          <a:lstStyle/>
          <a:p>
            <a:r>
              <a:rPr lang="en-US" sz="1400" dirty="0"/>
              <a:t>Rent</a:t>
            </a:r>
          </a:p>
          <a:p>
            <a:r>
              <a:rPr lang="en-US" sz="1400" dirty="0"/>
              <a:t>Amount: 783.00</a:t>
            </a:r>
          </a:p>
          <a:p>
            <a:r>
              <a:rPr lang="en-US" sz="1400" dirty="0"/>
              <a:t>Due: 5/01/2021</a:t>
            </a:r>
          </a:p>
        </p:txBody>
      </p:sp>
      <p:sp>
        <p:nvSpPr>
          <p:cNvPr id="9" name="TextBox 8">
            <a:extLst>
              <a:ext uri="{FF2B5EF4-FFF2-40B4-BE49-F238E27FC236}">
                <a16:creationId xmlns:a16="http://schemas.microsoft.com/office/drawing/2014/main" id="{9D8ECA12-84D1-4F15-9584-79BD5D5B6052}"/>
              </a:ext>
            </a:extLst>
          </p:cNvPr>
          <p:cNvSpPr txBox="1"/>
          <p:nvPr/>
        </p:nvSpPr>
        <p:spPr>
          <a:xfrm>
            <a:off x="457200" y="3634264"/>
            <a:ext cx="1447800" cy="738664"/>
          </a:xfrm>
          <a:prstGeom prst="rect">
            <a:avLst/>
          </a:prstGeom>
          <a:noFill/>
          <a:ln>
            <a:solidFill>
              <a:schemeClr val="tx1"/>
            </a:solidFill>
          </a:ln>
        </p:spPr>
        <p:txBody>
          <a:bodyPr wrap="square" rtlCol="0">
            <a:spAutoFit/>
          </a:bodyPr>
          <a:lstStyle/>
          <a:p>
            <a:r>
              <a:rPr lang="en-US" sz="1400" dirty="0"/>
              <a:t>Cell Phone Bill</a:t>
            </a:r>
          </a:p>
          <a:p>
            <a:r>
              <a:rPr lang="en-US" sz="1400" dirty="0"/>
              <a:t>Amount: 45.00</a:t>
            </a:r>
          </a:p>
          <a:p>
            <a:r>
              <a:rPr lang="en-US" sz="1400" dirty="0"/>
              <a:t>Due: 5/08/2021</a:t>
            </a:r>
          </a:p>
        </p:txBody>
      </p:sp>
      <p:sp>
        <p:nvSpPr>
          <p:cNvPr id="10" name="TextBox 9">
            <a:extLst>
              <a:ext uri="{FF2B5EF4-FFF2-40B4-BE49-F238E27FC236}">
                <a16:creationId xmlns:a16="http://schemas.microsoft.com/office/drawing/2014/main" id="{13AB0C5F-73B8-4E18-A060-56BFA568F299}"/>
              </a:ext>
            </a:extLst>
          </p:cNvPr>
          <p:cNvSpPr txBox="1"/>
          <p:nvPr/>
        </p:nvSpPr>
        <p:spPr>
          <a:xfrm>
            <a:off x="533400" y="1428750"/>
            <a:ext cx="1371598" cy="461665"/>
          </a:xfrm>
          <a:prstGeom prst="rect">
            <a:avLst/>
          </a:prstGeom>
          <a:noFill/>
        </p:spPr>
        <p:txBody>
          <a:bodyPr wrap="square" rtlCol="0">
            <a:spAutoFit/>
          </a:bodyPr>
          <a:lstStyle/>
          <a:p>
            <a:r>
              <a:rPr lang="en-US" dirty="0" err="1"/>
              <a:t>BillStack</a:t>
            </a:r>
            <a:endParaRPr lang="en-US" dirty="0"/>
          </a:p>
        </p:txBody>
      </p:sp>
      <p:cxnSp>
        <p:nvCxnSpPr>
          <p:cNvPr id="12" name="Straight Arrow Connector 11">
            <a:extLst>
              <a:ext uri="{FF2B5EF4-FFF2-40B4-BE49-F238E27FC236}">
                <a16:creationId xmlns:a16="http://schemas.microsoft.com/office/drawing/2014/main" id="{B89E24A2-2314-4C85-A4B0-F37D235A5729}"/>
              </a:ext>
              <a:ext uri="{C183D7F6-B498-43B3-948B-1728B52AA6E4}">
                <adec:decorative xmlns:adec="http://schemas.microsoft.com/office/drawing/2017/decorative" val="1"/>
              </a:ext>
            </a:extLst>
          </p:cNvPr>
          <p:cNvCxnSpPr/>
          <p:nvPr/>
        </p:nvCxnSpPr>
        <p:spPr bwMode="auto">
          <a:xfrm>
            <a:off x="1066800" y="1890415"/>
            <a:ext cx="0" cy="1005185"/>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A12ED81D-2F5E-42AA-A889-3FDC7C29DE57}"/>
              </a:ext>
            </a:extLst>
          </p:cNvPr>
          <p:cNvSpPr txBox="1"/>
          <p:nvPr/>
        </p:nvSpPr>
        <p:spPr>
          <a:xfrm>
            <a:off x="4343400" y="4495800"/>
            <a:ext cx="1447800" cy="738664"/>
          </a:xfrm>
          <a:prstGeom prst="rect">
            <a:avLst/>
          </a:prstGeom>
          <a:noFill/>
          <a:ln>
            <a:solidFill>
              <a:schemeClr val="tx1"/>
            </a:solidFill>
          </a:ln>
        </p:spPr>
        <p:txBody>
          <a:bodyPr wrap="square" rtlCol="0">
            <a:spAutoFit/>
          </a:bodyPr>
          <a:lstStyle/>
          <a:p>
            <a:r>
              <a:rPr lang="en-US" sz="1400" dirty="0"/>
              <a:t>Internet bill Amount: 53.00</a:t>
            </a:r>
          </a:p>
          <a:p>
            <a:r>
              <a:rPr lang="en-US" sz="1400" dirty="0"/>
              <a:t>Due: 5/15/2021</a:t>
            </a:r>
          </a:p>
        </p:txBody>
      </p:sp>
      <p:sp>
        <p:nvSpPr>
          <p:cNvPr id="14" name="TextBox 13">
            <a:extLst>
              <a:ext uri="{FF2B5EF4-FFF2-40B4-BE49-F238E27FC236}">
                <a16:creationId xmlns:a16="http://schemas.microsoft.com/office/drawing/2014/main" id="{073DD3BA-4051-43C3-9F5F-EFF950719DD3}"/>
              </a:ext>
            </a:extLst>
          </p:cNvPr>
          <p:cNvSpPr txBox="1"/>
          <p:nvPr/>
        </p:nvSpPr>
        <p:spPr>
          <a:xfrm>
            <a:off x="5913582" y="4588133"/>
            <a:ext cx="1447800" cy="646331"/>
          </a:xfrm>
          <a:prstGeom prst="rect">
            <a:avLst/>
          </a:prstGeom>
          <a:noFill/>
        </p:spPr>
        <p:txBody>
          <a:bodyPr wrap="square" rtlCol="0">
            <a:spAutoFit/>
          </a:bodyPr>
          <a:lstStyle/>
          <a:p>
            <a:r>
              <a:rPr lang="en-US" sz="1200" dirty="0"/>
              <a:t>Need to use </a:t>
            </a:r>
            <a:r>
              <a:rPr lang="en-US" sz="1200" b="1" dirty="0"/>
              <a:t>push() </a:t>
            </a:r>
            <a:r>
              <a:rPr lang="en-US" sz="1200" dirty="0"/>
              <a:t>to add this to </a:t>
            </a:r>
            <a:r>
              <a:rPr lang="en-US" sz="1200" dirty="0" err="1"/>
              <a:t>BillStack</a:t>
            </a:r>
            <a:endParaRPr lang="en-US" sz="1200" dirty="0"/>
          </a:p>
        </p:txBody>
      </p:sp>
      <p:sp>
        <p:nvSpPr>
          <p:cNvPr id="15" name="TextBox 14">
            <a:extLst>
              <a:ext uri="{FF2B5EF4-FFF2-40B4-BE49-F238E27FC236}">
                <a16:creationId xmlns:a16="http://schemas.microsoft.com/office/drawing/2014/main" id="{F7CC78FE-F60F-4D9C-9FD2-1AE82ADFB401}"/>
              </a:ext>
            </a:extLst>
          </p:cNvPr>
          <p:cNvSpPr txBox="1"/>
          <p:nvPr/>
        </p:nvSpPr>
        <p:spPr>
          <a:xfrm>
            <a:off x="4191000" y="1428750"/>
            <a:ext cx="3657595" cy="830997"/>
          </a:xfrm>
          <a:prstGeom prst="rect">
            <a:avLst/>
          </a:prstGeom>
          <a:noFill/>
        </p:spPr>
        <p:txBody>
          <a:bodyPr wrap="square" rtlCol="0">
            <a:spAutoFit/>
          </a:bodyPr>
          <a:lstStyle/>
          <a:p>
            <a:r>
              <a:rPr lang="en-US" dirty="0"/>
              <a:t>Imagine a basket with your bills for the month.</a:t>
            </a:r>
          </a:p>
        </p:txBody>
      </p:sp>
      <p:sp>
        <p:nvSpPr>
          <p:cNvPr id="16" name="TextBox 15">
            <a:extLst>
              <a:ext uri="{FF2B5EF4-FFF2-40B4-BE49-F238E27FC236}">
                <a16:creationId xmlns:a16="http://schemas.microsoft.com/office/drawing/2014/main" id="{8AF3BFDD-5EEE-4D2E-94E6-2D8749882D8D}"/>
              </a:ext>
            </a:extLst>
          </p:cNvPr>
          <p:cNvSpPr txBox="1"/>
          <p:nvPr/>
        </p:nvSpPr>
        <p:spPr>
          <a:xfrm>
            <a:off x="3467100" y="5703332"/>
            <a:ext cx="2781300" cy="276999"/>
          </a:xfrm>
          <a:prstGeom prst="rect">
            <a:avLst/>
          </a:prstGeom>
          <a:noFill/>
        </p:spPr>
        <p:txBody>
          <a:bodyPr wrap="square" rtlCol="0">
            <a:spAutoFit/>
          </a:bodyPr>
          <a:lstStyle/>
          <a:p>
            <a:r>
              <a:rPr lang="en-US" sz="1200" dirty="0"/>
              <a:t>Sample program: </a:t>
            </a:r>
            <a:r>
              <a:rPr lang="en-US" sz="1200" dirty="0" err="1"/>
              <a:t>StackWithObjectDemo</a:t>
            </a:r>
            <a:endParaRPr lang="en-US" sz="1200" dirty="0"/>
          </a:p>
        </p:txBody>
      </p:sp>
      <p:cxnSp>
        <p:nvCxnSpPr>
          <p:cNvPr id="17" name="Straight Arrow Connector 16">
            <a:extLst>
              <a:ext uri="{FF2B5EF4-FFF2-40B4-BE49-F238E27FC236}">
                <a16:creationId xmlns:a16="http://schemas.microsoft.com/office/drawing/2014/main" id="{6439739B-44B1-4B1E-BC8F-F44B93F941A1}"/>
              </a:ext>
              <a:ext uri="{C183D7F6-B498-43B3-948B-1728B52AA6E4}">
                <adec:decorative xmlns:adec="http://schemas.microsoft.com/office/drawing/2017/decorative" val="1"/>
              </a:ext>
            </a:extLst>
          </p:cNvPr>
          <p:cNvCxnSpPr>
            <a:cxnSpLocks/>
          </p:cNvCxnSpPr>
          <p:nvPr/>
        </p:nvCxnSpPr>
        <p:spPr bwMode="auto">
          <a:xfrm>
            <a:off x="1066800" y="5850256"/>
            <a:ext cx="2309" cy="430887"/>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a:extLst>
              <a:ext uri="{FF2B5EF4-FFF2-40B4-BE49-F238E27FC236}">
                <a16:creationId xmlns:a16="http://schemas.microsoft.com/office/drawing/2014/main" id="{CD0F000F-1B29-4385-B7F6-CA2C2FDCFEAB}"/>
              </a:ext>
            </a:extLst>
          </p:cNvPr>
          <p:cNvSpPr txBox="1"/>
          <p:nvPr/>
        </p:nvSpPr>
        <p:spPr>
          <a:xfrm>
            <a:off x="845127" y="6250779"/>
            <a:ext cx="759691" cy="307777"/>
          </a:xfrm>
          <a:prstGeom prst="rect">
            <a:avLst/>
          </a:prstGeom>
          <a:noFill/>
        </p:spPr>
        <p:txBody>
          <a:bodyPr wrap="square" rtlCol="0">
            <a:spAutoFit/>
          </a:bodyPr>
          <a:lstStyle/>
          <a:p>
            <a:r>
              <a:rPr lang="en-US" sz="1400" dirty="0"/>
              <a:t>Null</a:t>
            </a:r>
          </a:p>
        </p:txBody>
      </p:sp>
    </p:spTree>
    <p:extLst>
      <p:ext uri="{BB962C8B-B14F-4D97-AF65-F5344CB8AC3E}">
        <p14:creationId xmlns:p14="http://schemas.microsoft.com/office/powerpoint/2010/main" val="687076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D8676959-0089-40BA-83C1-1779B4E3E5A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CA47060-70D1-4910-A05D-378F45F8AC62}" type="slidenum">
              <a:rPr lang="en-US" altLang="en-US" sz="1400"/>
              <a:pPr>
                <a:spcBef>
                  <a:spcPct val="0"/>
                </a:spcBef>
                <a:buClrTx/>
                <a:buSzTx/>
                <a:buFontTx/>
                <a:buNone/>
              </a:pPr>
              <a:t>48</a:t>
            </a:fld>
            <a:endParaRPr lang="en-US" altLang="en-US" sz="1400"/>
          </a:p>
        </p:txBody>
      </p:sp>
      <p:sp>
        <p:nvSpPr>
          <p:cNvPr id="34819" name="Rectangle 2">
            <a:extLst>
              <a:ext uri="{FF2B5EF4-FFF2-40B4-BE49-F238E27FC236}">
                <a16:creationId xmlns:a16="http://schemas.microsoft.com/office/drawing/2014/main" id="{37B1E386-593A-4468-8AD7-640B31BA3534}"/>
              </a:ext>
            </a:extLst>
          </p:cNvPr>
          <p:cNvSpPr>
            <a:spLocks noGrp="1" noChangeArrowheads="1"/>
          </p:cNvSpPr>
          <p:nvPr>
            <p:ph type="title"/>
          </p:nvPr>
        </p:nvSpPr>
        <p:spPr>
          <a:xfrm>
            <a:off x="533400" y="228600"/>
            <a:ext cx="7924800" cy="762000"/>
          </a:xfrm>
          <a:noFill/>
        </p:spPr>
        <p:txBody>
          <a:bodyPr/>
          <a:lstStyle/>
          <a:p>
            <a:r>
              <a:rPr lang="en-US" altLang="en-US">
                <a:cs typeface="Times New Roman" panose="02020603050405020304" pitchFamily="18" charset="0"/>
              </a:rPr>
              <a:t>Queues and Priority Queues</a:t>
            </a:r>
          </a:p>
        </p:txBody>
      </p:sp>
      <p:sp>
        <p:nvSpPr>
          <p:cNvPr id="34821" name="Rectangle 4">
            <a:extLst>
              <a:ext uri="{FF2B5EF4-FFF2-40B4-BE49-F238E27FC236}">
                <a16:creationId xmlns:a16="http://schemas.microsoft.com/office/drawing/2014/main" id="{24B246CE-4333-4520-97A9-2E63303B2825}"/>
              </a:ext>
            </a:extLst>
          </p:cNvPr>
          <p:cNvSpPr>
            <a:spLocks noGrp="1" noChangeArrowheads="1"/>
          </p:cNvSpPr>
          <p:nvPr>
            <p:ph type="body" idx="1"/>
          </p:nvPr>
        </p:nvSpPr>
        <p:spPr>
          <a:xfrm>
            <a:off x="228600" y="1219200"/>
            <a:ext cx="8686800" cy="4648200"/>
          </a:xfrm>
          <a:noFill/>
        </p:spPr>
        <p:txBody>
          <a:bodyPr/>
          <a:lstStyle/>
          <a:p>
            <a:pPr>
              <a:spcBef>
                <a:spcPts val="0"/>
              </a:spcBef>
              <a:spcAft>
                <a:spcPts val="600"/>
              </a:spcAft>
              <a:buFont typeface="Wingdings" panose="05000000000000000000" pitchFamily="2" charset="2"/>
              <a:buChar char="§"/>
            </a:pPr>
            <a:r>
              <a:rPr lang="en-US" altLang="en-US" sz="2000" dirty="0">
                <a:latin typeface="+mj-lt"/>
              </a:rPr>
              <a:t>A </a:t>
            </a:r>
            <a:r>
              <a:rPr lang="en-US" altLang="en-US" sz="2000" b="1" dirty="0">
                <a:latin typeface="+mj-lt"/>
              </a:rPr>
              <a:t>queue</a:t>
            </a:r>
            <a:r>
              <a:rPr lang="en-US" altLang="en-US" sz="2000" dirty="0">
                <a:latin typeface="+mj-lt"/>
              </a:rPr>
              <a:t> is a first-in/first-out (FIFO) data structure. (Created with a linked list)</a:t>
            </a:r>
          </a:p>
          <a:p>
            <a:pPr>
              <a:spcBef>
                <a:spcPts val="0"/>
              </a:spcBef>
              <a:spcAft>
                <a:spcPts val="600"/>
              </a:spcAft>
              <a:buFont typeface="Wingdings" panose="05000000000000000000" pitchFamily="2" charset="2"/>
              <a:buChar char="§"/>
            </a:pPr>
            <a:r>
              <a:rPr lang="en-US" altLang="en-US" sz="2000" dirty="0">
                <a:latin typeface="+mj-lt"/>
              </a:rPr>
              <a:t>Elements are added to the end of the queue and are removed from the beginning of the queue.</a:t>
            </a:r>
          </a:p>
          <a:p>
            <a:pPr>
              <a:spcBef>
                <a:spcPts val="0"/>
              </a:spcBef>
              <a:spcAft>
                <a:spcPts val="600"/>
              </a:spcAft>
              <a:buFont typeface="Wingdings" panose="05000000000000000000" pitchFamily="2" charset="2"/>
              <a:buChar char="§"/>
            </a:pPr>
            <a:r>
              <a:rPr lang="en-US" sz="2000" dirty="0">
                <a:effectLst/>
                <a:latin typeface="+mj-lt"/>
                <a:ea typeface="Calibri" panose="020F0502020204030204" pitchFamily="34" charset="0"/>
                <a:cs typeface="Times New Roman" panose="02020603050405020304" pitchFamily="18" charset="0"/>
              </a:rPr>
              <a:t>Think of people standing in line at the bank.  They join at the end but exit from the front. (Print queue is another example.)</a:t>
            </a:r>
          </a:p>
          <a:p>
            <a:pPr>
              <a:spcBef>
                <a:spcPts val="0"/>
              </a:spcBef>
              <a:spcAft>
                <a:spcPts val="600"/>
              </a:spcAft>
              <a:buFont typeface="Wingdings" panose="05000000000000000000" pitchFamily="2" charset="2"/>
              <a:buChar char="§"/>
            </a:pPr>
            <a:r>
              <a:rPr lang="en-US" sz="2000" dirty="0">
                <a:effectLst/>
                <a:latin typeface="+mj-lt"/>
                <a:ea typeface="Calibri" panose="020F0502020204030204" pitchFamily="34" charset="0"/>
                <a:cs typeface="Times New Roman" panose="02020603050405020304" pitchFamily="18" charset="0"/>
              </a:rPr>
              <a:t>Methods: </a:t>
            </a:r>
          </a:p>
          <a:p>
            <a:pPr lvl="1">
              <a:spcBef>
                <a:spcPts val="0"/>
              </a:spcBef>
              <a:spcAft>
                <a:spcPts val="600"/>
              </a:spcAft>
              <a:buFont typeface="Wingdings" panose="05000000000000000000" pitchFamily="2" charset="2"/>
              <a:buChar char="§"/>
            </a:pPr>
            <a:r>
              <a:rPr lang="en-US" sz="2000" b="1" dirty="0">
                <a:effectLst/>
                <a:latin typeface="+mj-lt"/>
                <a:ea typeface="Calibri" panose="020F0502020204030204" pitchFamily="34" charset="0"/>
                <a:cs typeface="Times New Roman" panose="02020603050405020304" pitchFamily="18" charset="0"/>
              </a:rPr>
              <a:t>add</a:t>
            </a:r>
            <a:r>
              <a:rPr lang="en-US" sz="2000" dirty="0">
                <a:effectLst/>
                <a:latin typeface="+mj-lt"/>
                <a:ea typeface="Calibri" panose="020F0502020204030204" pitchFamily="34" charset="0"/>
                <a:cs typeface="Times New Roman" panose="02020603050405020304" pitchFamily="18" charset="0"/>
              </a:rPr>
              <a:t>(): add element at end</a:t>
            </a:r>
          </a:p>
          <a:p>
            <a:pPr lvl="1">
              <a:spcBef>
                <a:spcPts val="0"/>
              </a:spcBef>
              <a:spcAft>
                <a:spcPts val="600"/>
              </a:spcAft>
              <a:buFont typeface="Wingdings" panose="05000000000000000000" pitchFamily="2" charset="2"/>
              <a:buChar char="§"/>
            </a:pPr>
            <a:r>
              <a:rPr lang="en-US" sz="2000" b="1" dirty="0">
                <a:effectLst/>
                <a:latin typeface="+mj-lt"/>
                <a:ea typeface="Calibri" panose="020F0502020204030204" pitchFamily="34" charset="0"/>
                <a:cs typeface="Times New Roman" panose="02020603050405020304" pitchFamily="18" charset="0"/>
              </a:rPr>
              <a:t>peek</a:t>
            </a:r>
            <a:r>
              <a:rPr lang="en-US" sz="2000" dirty="0">
                <a:effectLst/>
                <a:latin typeface="+mj-lt"/>
                <a:ea typeface="Calibri" panose="020F0502020204030204" pitchFamily="34" charset="0"/>
                <a:cs typeface="Times New Roman" panose="02020603050405020304" pitchFamily="18" charset="0"/>
              </a:rPr>
              <a:t>() – returns copy of first element, but doesn’t remove it</a:t>
            </a:r>
          </a:p>
          <a:p>
            <a:pPr lvl="1">
              <a:spcBef>
                <a:spcPts val="0"/>
              </a:spcBef>
              <a:spcAft>
                <a:spcPts val="600"/>
              </a:spcAft>
              <a:buFont typeface="Wingdings" panose="05000000000000000000" pitchFamily="2" charset="2"/>
              <a:buChar char="§"/>
            </a:pPr>
            <a:r>
              <a:rPr lang="en-US" sz="2000" b="1" dirty="0">
                <a:effectLst/>
                <a:latin typeface="+mj-lt"/>
                <a:ea typeface="Calibri" panose="020F0502020204030204" pitchFamily="34" charset="0"/>
                <a:cs typeface="Times New Roman" panose="02020603050405020304" pitchFamily="18" charset="0"/>
              </a:rPr>
              <a:t>remove</a:t>
            </a:r>
            <a:r>
              <a:rPr lang="en-US" sz="2000" dirty="0">
                <a:effectLst/>
                <a:latin typeface="+mj-lt"/>
                <a:ea typeface="Calibri" panose="020F0502020204030204" pitchFamily="34" charset="0"/>
                <a:cs typeface="Times New Roman" panose="02020603050405020304" pitchFamily="18" charset="0"/>
              </a:rPr>
              <a:t>() – removes and returns first element</a:t>
            </a:r>
          </a:p>
          <a:p>
            <a:pPr lvl="1">
              <a:spcBef>
                <a:spcPts val="0"/>
              </a:spcBef>
              <a:spcAft>
                <a:spcPts val="600"/>
              </a:spcAft>
              <a:buFont typeface="Wingdings" panose="05000000000000000000" pitchFamily="2" charset="2"/>
              <a:buChar char="§"/>
            </a:pPr>
            <a:r>
              <a:rPr lang="en-US" sz="2000" b="1" dirty="0">
                <a:effectLst/>
                <a:latin typeface="+mj-lt"/>
                <a:ea typeface="Calibri" panose="020F0502020204030204" pitchFamily="34" charset="0"/>
                <a:cs typeface="Times New Roman" panose="02020603050405020304" pitchFamily="18" charset="0"/>
              </a:rPr>
              <a:t>poll()</a:t>
            </a:r>
            <a:r>
              <a:rPr lang="en-US" sz="2000" dirty="0">
                <a:effectLst/>
                <a:latin typeface="+mj-lt"/>
                <a:ea typeface="Calibri" panose="020F0502020204030204" pitchFamily="34" charset="0"/>
                <a:cs typeface="Times New Roman" panose="02020603050405020304" pitchFamily="18" charset="0"/>
              </a:rPr>
              <a:t> – removes &amp; returns from the front &amp; returns null if the queue is empty</a:t>
            </a:r>
          </a:p>
          <a:p>
            <a:pPr lvl="1">
              <a:spcBef>
                <a:spcPts val="0"/>
              </a:spcBef>
              <a:spcAft>
                <a:spcPts val="600"/>
              </a:spcAft>
              <a:buFont typeface="Wingdings" panose="05000000000000000000" pitchFamily="2" charset="2"/>
              <a:buChar char="§"/>
            </a:pPr>
            <a:r>
              <a:rPr lang="en-US" sz="2000" b="1" dirty="0" err="1">
                <a:latin typeface="+mj-lt"/>
                <a:ea typeface="Calibri" panose="020F0502020204030204" pitchFamily="34" charset="0"/>
                <a:cs typeface="Times New Roman" panose="02020603050405020304" pitchFamily="18" charset="0"/>
              </a:rPr>
              <a:t>isEmpty</a:t>
            </a:r>
            <a:r>
              <a:rPr lang="en-US" sz="2000" b="1" dirty="0">
                <a:latin typeface="+mj-lt"/>
                <a:ea typeface="Calibri" panose="020F0502020204030204" pitchFamily="34" charset="0"/>
                <a:cs typeface="Times New Roman" panose="02020603050405020304" pitchFamily="18" charset="0"/>
              </a:rPr>
              <a:t>() </a:t>
            </a:r>
            <a:r>
              <a:rPr lang="en-US" sz="2000" dirty="0">
                <a:latin typeface="+mj-lt"/>
                <a:ea typeface="Calibri" panose="020F0502020204030204" pitchFamily="34" charset="0"/>
                <a:cs typeface="Times New Roman" panose="02020603050405020304" pitchFamily="18" charset="0"/>
              </a:rPr>
              <a:t>– returns true id the queue is empty &amp; false otherwise</a:t>
            </a:r>
            <a:endParaRPr lang="en-US" sz="2000" dirty="0">
              <a:effectLst/>
              <a:latin typeface="+mj-lt"/>
              <a:ea typeface="Calibri" panose="020F0502020204030204" pitchFamily="34" charset="0"/>
              <a:cs typeface="Times New Roman" panose="02020603050405020304" pitchFamily="18" charset="0"/>
            </a:endParaRPr>
          </a:p>
          <a:p>
            <a:pPr>
              <a:spcBef>
                <a:spcPts val="0"/>
              </a:spcBef>
              <a:spcAft>
                <a:spcPts val="600"/>
              </a:spcAft>
              <a:buFont typeface="Wingdings" panose="05000000000000000000" pitchFamily="2" charset="2"/>
              <a:buChar char="§"/>
            </a:pPr>
            <a:r>
              <a:rPr lang="en-US" altLang="en-US" sz="2000" dirty="0">
                <a:latin typeface="+mj-lt"/>
              </a:rPr>
              <a:t>In a priority queue, elements are assigned priorities. When accessing elements, the element with the highest priority is removed first. </a:t>
            </a:r>
          </a:p>
        </p:txBody>
      </p:sp>
      <p:sp>
        <p:nvSpPr>
          <p:cNvPr id="2" name="TextBox 1">
            <a:extLst>
              <a:ext uri="{FF2B5EF4-FFF2-40B4-BE49-F238E27FC236}">
                <a16:creationId xmlns:a16="http://schemas.microsoft.com/office/drawing/2014/main" id="{DD8CAE51-FCB8-4FD7-9C88-BEC236D43A9D}"/>
              </a:ext>
            </a:extLst>
          </p:cNvPr>
          <p:cNvSpPr txBox="1"/>
          <p:nvPr/>
        </p:nvSpPr>
        <p:spPr>
          <a:xfrm>
            <a:off x="6324600" y="2819400"/>
            <a:ext cx="2819400" cy="461665"/>
          </a:xfrm>
          <a:prstGeom prst="rect">
            <a:avLst/>
          </a:prstGeom>
          <a:noFill/>
        </p:spPr>
        <p:txBody>
          <a:bodyPr wrap="square" rtlCol="0">
            <a:spAutoFit/>
          </a:bodyPr>
          <a:lstStyle/>
          <a:p>
            <a:r>
              <a:rPr lang="en-US" dirty="0">
                <a:highlight>
                  <a:srgbClr val="FFFF00"/>
                </a:highlight>
                <a:hlinkClick r:id="rId2"/>
              </a:rPr>
              <a:t>Example Animation</a:t>
            </a:r>
            <a:endParaRPr lang="en-US" dirty="0">
              <a:highlight>
                <a:srgbClr val="FFFF00"/>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D8676959-0089-40BA-83C1-1779B4E3E5A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CA47060-70D1-4910-A05D-378F45F8AC62}" type="slidenum">
              <a:rPr lang="en-US" altLang="en-US" sz="1400"/>
              <a:pPr>
                <a:spcBef>
                  <a:spcPct val="0"/>
                </a:spcBef>
                <a:buClrTx/>
                <a:buSzTx/>
                <a:buFontTx/>
                <a:buNone/>
              </a:pPr>
              <a:t>49</a:t>
            </a:fld>
            <a:endParaRPr lang="en-US" altLang="en-US" sz="1400"/>
          </a:p>
        </p:txBody>
      </p:sp>
      <p:sp>
        <p:nvSpPr>
          <p:cNvPr id="34819" name="Rectangle 2">
            <a:extLst>
              <a:ext uri="{FF2B5EF4-FFF2-40B4-BE49-F238E27FC236}">
                <a16:creationId xmlns:a16="http://schemas.microsoft.com/office/drawing/2014/main" id="{37B1E386-593A-4468-8AD7-640B31BA3534}"/>
              </a:ext>
            </a:extLst>
          </p:cNvPr>
          <p:cNvSpPr>
            <a:spLocks noGrp="1" noChangeArrowheads="1"/>
          </p:cNvSpPr>
          <p:nvPr>
            <p:ph type="title"/>
          </p:nvPr>
        </p:nvSpPr>
        <p:spPr>
          <a:xfrm>
            <a:off x="533400" y="228600"/>
            <a:ext cx="7924800" cy="762000"/>
          </a:xfrm>
          <a:noFill/>
        </p:spPr>
        <p:txBody>
          <a:bodyPr/>
          <a:lstStyle/>
          <a:p>
            <a:r>
              <a:rPr lang="en-US" altLang="en-US">
                <a:cs typeface="Times New Roman" panose="02020603050405020304" pitchFamily="18" charset="0"/>
              </a:rPr>
              <a:t>Queues and Priority Queues</a:t>
            </a:r>
          </a:p>
        </p:txBody>
      </p:sp>
      <p:sp>
        <p:nvSpPr>
          <p:cNvPr id="34821" name="Rectangle 4">
            <a:extLst>
              <a:ext uri="{FF2B5EF4-FFF2-40B4-BE49-F238E27FC236}">
                <a16:creationId xmlns:a16="http://schemas.microsoft.com/office/drawing/2014/main" id="{24B246CE-4333-4520-97A9-2E63303B2825}"/>
              </a:ext>
            </a:extLst>
          </p:cNvPr>
          <p:cNvSpPr>
            <a:spLocks noGrp="1" noChangeArrowheads="1"/>
          </p:cNvSpPr>
          <p:nvPr>
            <p:ph type="body" idx="1"/>
          </p:nvPr>
        </p:nvSpPr>
        <p:spPr>
          <a:xfrm>
            <a:off x="228600" y="1219199"/>
            <a:ext cx="8686800" cy="5180013"/>
          </a:xfrm>
          <a:noFill/>
        </p:spPr>
        <p:txBody>
          <a:bodyPr/>
          <a:lstStyle/>
          <a:p>
            <a:pPr marL="0" indent="0">
              <a:spcBef>
                <a:spcPts val="0"/>
              </a:spcBef>
              <a:spcAft>
                <a:spcPts val="0"/>
              </a:spcAft>
              <a:buNone/>
            </a:pPr>
            <a:r>
              <a:rPr lang="en-US" altLang="en-US" sz="1600" dirty="0">
                <a:latin typeface="+mj-lt"/>
              </a:rPr>
              <a:t>import java.util.LinkedList;</a:t>
            </a:r>
          </a:p>
          <a:p>
            <a:pPr marL="0" indent="0">
              <a:spcBef>
                <a:spcPts val="0"/>
              </a:spcBef>
              <a:spcAft>
                <a:spcPts val="0"/>
              </a:spcAft>
              <a:buNone/>
            </a:pPr>
            <a:r>
              <a:rPr lang="en-US" altLang="en-US" sz="1600" dirty="0">
                <a:latin typeface="+mj-lt"/>
              </a:rPr>
              <a:t>import java.util.Queue; </a:t>
            </a:r>
          </a:p>
          <a:p>
            <a:pPr marL="0" indent="0">
              <a:spcBef>
                <a:spcPts val="0"/>
              </a:spcBef>
              <a:spcAft>
                <a:spcPts val="0"/>
              </a:spcAft>
              <a:buNone/>
            </a:pPr>
            <a:endParaRPr lang="en-US" altLang="en-US" sz="1600" dirty="0">
              <a:latin typeface="+mj-lt"/>
            </a:endParaRPr>
          </a:p>
          <a:p>
            <a:pPr marL="0" indent="0">
              <a:spcBef>
                <a:spcPts val="0"/>
              </a:spcBef>
              <a:spcAft>
                <a:spcPts val="0"/>
              </a:spcAft>
              <a:buNone/>
            </a:pPr>
            <a:r>
              <a:rPr lang="en-US" altLang="en-US" sz="1600" dirty="0">
                <a:latin typeface="+mj-lt"/>
              </a:rPr>
              <a:t>public class QueueExample {</a:t>
            </a:r>
          </a:p>
          <a:p>
            <a:pPr marL="0" indent="0">
              <a:spcBef>
                <a:spcPts val="0"/>
              </a:spcBef>
              <a:spcAft>
                <a:spcPts val="0"/>
              </a:spcAft>
              <a:buNone/>
            </a:pPr>
            <a:endParaRPr lang="en-US" altLang="en-US" sz="1600" dirty="0">
              <a:latin typeface="+mj-lt"/>
            </a:endParaRPr>
          </a:p>
          <a:p>
            <a:pPr marL="400050" lvl="1" indent="0">
              <a:spcBef>
                <a:spcPts val="0"/>
              </a:spcBef>
              <a:spcAft>
                <a:spcPts val="0"/>
              </a:spcAft>
              <a:buNone/>
            </a:pPr>
            <a:r>
              <a:rPr lang="en-US" altLang="en-US" sz="1600" dirty="0">
                <a:latin typeface="+mj-lt"/>
              </a:rPr>
              <a:t>public static void main(String[] args) </a:t>
            </a:r>
          </a:p>
          <a:p>
            <a:pPr marL="400050" lvl="1" indent="0">
              <a:spcBef>
                <a:spcPts val="0"/>
              </a:spcBef>
              <a:spcAft>
                <a:spcPts val="0"/>
              </a:spcAft>
              <a:buNone/>
            </a:pPr>
            <a:r>
              <a:rPr lang="en-US" altLang="en-US" sz="1600" dirty="0">
                <a:latin typeface="+mj-lt"/>
              </a:rPr>
              <a:t>{</a:t>
            </a:r>
          </a:p>
          <a:p>
            <a:pPr marL="800100" lvl="2" indent="0">
              <a:spcBef>
                <a:spcPts val="0"/>
              </a:spcBef>
              <a:spcAft>
                <a:spcPts val="0"/>
              </a:spcAft>
              <a:buNone/>
            </a:pPr>
            <a:r>
              <a:rPr lang="en-US" altLang="en-US" sz="1600" dirty="0">
                <a:latin typeface="+mj-lt"/>
              </a:rPr>
              <a:t>Queue&lt;Integer&gt; queue = new LinkedList&lt;&gt;();</a:t>
            </a:r>
          </a:p>
          <a:p>
            <a:pPr marL="800100" lvl="2" indent="0">
              <a:spcBef>
                <a:spcPts val="0"/>
              </a:spcBef>
              <a:spcAft>
                <a:spcPts val="0"/>
              </a:spcAft>
              <a:buNone/>
            </a:pPr>
            <a:r>
              <a:rPr lang="en-US" altLang="en-US" sz="1600" dirty="0">
                <a:latin typeface="+mj-lt"/>
              </a:rPr>
              <a:t>for(int </a:t>
            </a:r>
            <a:r>
              <a:rPr lang="en-US" altLang="en-US" sz="1600" dirty="0" err="1">
                <a:latin typeface="+mj-lt"/>
              </a:rPr>
              <a:t>i</a:t>
            </a:r>
            <a:r>
              <a:rPr lang="en-US" altLang="en-US" sz="1600" dirty="0">
                <a:latin typeface="+mj-lt"/>
              </a:rPr>
              <a:t> = 1;i&lt;=10; </a:t>
            </a:r>
            <a:r>
              <a:rPr lang="en-US" altLang="en-US" sz="1600" dirty="0" err="1">
                <a:latin typeface="+mj-lt"/>
              </a:rPr>
              <a:t>i</a:t>
            </a:r>
            <a:r>
              <a:rPr lang="en-US" altLang="en-US" sz="1600" dirty="0">
                <a:latin typeface="+mj-lt"/>
              </a:rPr>
              <a:t>++) </a:t>
            </a:r>
          </a:p>
          <a:p>
            <a:pPr marL="1257300" lvl="3" indent="0">
              <a:spcBef>
                <a:spcPts val="0"/>
              </a:spcBef>
              <a:spcAft>
                <a:spcPts val="0"/>
              </a:spcAft>
              <a:buNone/>
            </a:pPr>
            <a:r>
              <a:rPr lang="en-US" altLang="en-US" sz="1600" dirty="0">
                <a:latin typeface="+mj-lt"/>
              </a:rPr>
              <a:t>queue.add(</a:t>
            </a:r>
            <a:r>
              <a:rPr lang="en-US" altLang="en-US" sz="1600" dirty="0" err="1">
                <a:latin typeface="+mj-lt"/>
              </a:rPr>
              <a:t>i</a:t>
            </a:r>
            <a:r>
              <a:rPr lang="en-US" altLang="en-US" sz="1600" dirty="0">
                <a:latin typeface="+mj-lt"/>
              </a:rPr>
              <a:t>); </a:t>
            </a:r>
          </a:p>
          <a:p>
            <a:pPr marL="1257300" lvl="3" indent="0">
              <a:spcBef>
                <a:spcPts val="0"/>
              </a:spcBef>
              <a:spcAft>
                <a:spcPts val="0"/>
              </a:spcAft>
              <a:buNone/>
            </a:pPr>
            <a:endParaRPr lang="en-US" altLang="en-US" sz="1600" dirty="0">
              <a:latin typeface="+mj-lt"/>
            </a:endParaRPr>
          </a:p>
          <a:p>
            <a:pPr marL="800100" lvl="2" indent="0">
              <a:spcBef>
                <a:spcPts val="0"/>
              </a:spcBef>
              <a:spcAft>
                <a:spcPts val="0"/>
              </a:spcAft>
              <a:buNone/>
            </a:pPr>
            <a:r>
              <a:rPr lang="en-US" altLang="en-US" sz="1600" dirty="0">
                <a:latin typeface="+mj-lt"/>
              </a:rPr>
              <a:t>System.out.println("Element in the queue: "+queue);</a:t>
            </a:r>
          </a:p>
          <a:p>
            <a:pPr marL="800100" lvl="2" indent="0">
              <a:spcBef>
                <a:spcPts val="0"/>
              </a:spcBef>
              <a:spcAft>
                <a:spcPts val="0"/>
              </a:spcAft>
              <a:buNone/>
            </a:pPr>
            <a:r>
              <a:rPr lang="en-US" altLang="en-US" sz="1600" dirty="0">
                <a:latin typeface="+mj-lt"/>
              </a:rPr>
              <a:t>int removed = queue.remove();</a:t>
            </a:r>
          </a:p>
          <a:p>
            <a:pPr marL="800100" lvl="2" indent="0">
              <a:spcBef>
                <a:spcPts val="0"/>
              </a:spcBef>
              <a:spcAft>
                <a:spcPts val="0"/>
              </a:spcAft>
              <a:buNone/>
            </a:pPr>
            <a:r>
              <a:rPr lang="en-US" altLang="en-US" sz="1600" dirty="0">
                <a:latin typeface="+mj-lt"/>
              </a:rPr>
              <a:t>System.out.println(removed + " was removed");</a:t>
            </a:r>
          </a:p>
          <a:p>
            <a:pPr marL="800100" lvl="2" indent="0">
              <a:spcBef>
                <a:spcPts val="0"/>
              </a:spcBef>
              <a:spcAft>
                <a:spcPts val="0"/>
              </a:spcAft>
              <a:buNone/>
            </a:pPr>
            <a:r>
              <a:rPr lang="en-US" altLang="en-US" sz="1600" dirty="0">
                <a:latin typeface="+mj-lt"/>
              </a:rPr>
              <a:t>        </a:t>
            </a:r>
          </a:p>
          <a:p>
            <a:pPr marL="800100" lvl="2" indent="0">
              <a:spcBef>
                <a:spcPts val="0"/>
              </a:spcBef>
              <a:spcAft>
                <a:spcPts val="0"/>
              </a:spcAft>
              <a:buNone/>
            </a:pPr>
            <a:r>
              <a:rPr lang="en-US" altLang="en-US" sz="1600" dirty="0">
                <a:latin typeface="+mj-lt"/>
              </a:rPr>
              <a:t>int top  = queue.peek();</a:t>
            </a:r>
          </a:p>
          <a:p>
            <a:pPr marL="800100" lvl="2" indent="0">
              <a:spcBef>
                <a:spcPts val="0"/>
              </a:spcBef>
              <a:spcAft>
                <a:spcPts val="0"/>
              </a:spcAft>
              <a:buNone/>
            </a:pPr>
            <a:r>
              <a:rPr lang="en-US" altLang="en-US" sz="1600" dirty="0">
                <a:latin typeface="+mj-lt"/>
              </a:rPr>
              <a:t>System.out.println("top element is: "+top);</a:t>
            </a:r>
          </a:p>
          <a:p>
            <a:pPr marL="800100" lvl="2" indent="0">
              <a:spcBef>
                <a:spcPts val="0"/>
              </a:spcBef>
              <a:spcAft>
                <a:spcPts val="0"/>
              </a:spcAft>
              <a:buNone/>
            </a:pPr>
            <a:r>
              <a:rPr lang="en-US" altLang="en-US" sz="1600" dirty="0">
                <a:latin typeface="+mj-lt"/>
              </a:rPr>
              <a:t>        </a:t>
            </a:r>
          </a:p>
          <a:p>
            <a:pPr marL="800100" lvl="2" indent="0">
              <a:spcBef>
                <a:spcPts val="0"/>
              </a:spcBef>
              <a:spcAft>
                <a:spcPts val="0"/>
              </a:spcAft>
              <a:buNone/>
            </a:pPr>
            <a:r>
              <a:rPr lang="en-US" altLang="en-US" sz="1600" dirty="0">
                <a:latin typeface="+mj-lt"/>
              </a:rPr>
              <a:t>System.out.println(queue);        </a:t>
            </a:r>
          </a:p>
          <a:p>
            <a:pPr marL="400050" lvl="1" indent="0">
              <a:spcBef>
                <a:spcPts val="0"/>
              </a:spcBef>
              <a:spcAft>
                <a:spcPts val="0"/>
              </a:spcAft>
              <a:buNone/>
            </a:pPr>
            <a:r>
              <a:rPr lang="en-US" altLang="en-US" sz="1600" dirty="0">
                <a:latin typeface="+mj-lt"/>
              </a:rPr>
              <a:t>}</a:t>
            </a:r>
          </a:p>
          <a:p>
            <a:pPr marL="0" indent="0">
              <a:spcBef>
                <a:spcPts val="0"/>
              </a:spcBef>
              <a:spcAft>
                <a:spcPts val="0"/>
              </a:spcAft>
              <a:buNone/>
            </a:pPr>
            <a:r>
              <a:rPr lang="en-US" altLang="en-US" sz="1600" dirty="0">
                <a:latin typeface="+mj-lt"/>
              </a:rPr>
              <a:t>}</a:t>
            </a:r>
          </a:p>
          <a:p>
            <a:pPr marL="0" indent="0">
              <a:spcBef>
                <a:spcPts val="0"/>
              </a:spcBef>
              <a:spcAft>
                <a:spcPts val="0"/>
              </a:spcAft>
              <a:buNone/>
            </a:pPr>
            <a:endParaRPr lang="en-US" altLang="en-US" sz="1200" dirty="0">
              <a:latin typeface="+mj-lt"/>
            </a:endParaRPr>
          </a:p>
        </p:txBody>
      </p:sp>
      <p:sp>
        <p:nvSpPr>
          <p:cNvPr id="2" name="TextBox 1">
            <a:extLst>
              <a:ext uri="{FF2B5EF4-FFF2-40B4-BE49-F238E27FC236}">
                <a16:creationId xmlns:a16="http://schemas.microsoft.com/office/drawing/2014/main" id="{CCAAED96-119B-446F-B73C-AD5971224835}"/>
              </a:ext>
            </a:extLst>
          </p:cNvPr>
          <p:cNvSpPr txBox="1"/>
          <p:nvPr/>
        </p:nvSpPr>
        <p:spPr>
          <a:xfrm>
            <a:off x="6096000" y="1752600"/>
            <a:ext cx="2667000" cy="584775"/>
          </a:xfrm>
          <a:prstGeom prst="rect">
            <a:avLst/>
          </a:prstGeom>
          <a:noFill/>
        </p:spPr>
        <p:txBody>
          <a:bodyPr wrap="square" rtlCol="0">
            <a:spAutoFit/>
          </a:bodyPr>
          <a:lstStyle/>
          <a:p>
            <a:r>
              <a:rPr lang="en-US" sz="1600" i="1" dirty="0"/>
              <a:t>Second example:</a:t>
            </a:r>
          </a:p>
          <a:p>
            <a:r>
              <a:rPr lang="en-US" sz="1600" i="1" dirty="0" err="1"/>
              <a:t>QueueDemoBankCustomers</a:t>
            </a:r>
            <a:endParaRPr lang="en-US" sz="1600" i="1" dirty="0"/>
          </a:p>
        </p:txBody>
      </p:sp>
    </p:spTree>
    <p:extLst>
      <p:ext uri="{BB962C8B-B14F-4D97-AF65-F5344CB8AC3E}">
        <p14:creationId xmlns:p14="http://schemas.microsoft.com/office/powerpoint/2010/main" val="1250418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B340EF3C-DF46-4FA6-87BD-51AF784DD43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D424401-5279-4481-A285-454C34FF9DEA}" type="slidenum">
              <a:rPr lang="en-US" altLang="en-US" sz="1400"/>
              <a:pPr>
                <a:spcBef>
                  <a:spcPct val="0"/>
                </a:spcBef>
                <a:buClrTx/>
                <a:buSzTx/>
                <a:buFontTx/>
                <a:buNone/>
              </a:pPr>
              <a:t>50</a:t>
            </a:fld>
            <a:endParaRPr lang="en-US" altLang="en-US" sz="1400"/>
          </a:p>
        </p:txBody>
      </p:sp>
      <p:sp>
        <p:nvSpPr>
          <p:cNvPr id="35843" name="Rectangle 2">
            <a:extLst>
              <a:ext uri="{FF2B5EF4-FFF2-40B4-BE49-F238E27FC236}">
                <a16:creationId xmlns:a16="http://schemas.microsoft.com/office/drawing/2014/main" id="{B6FA987A-06BB-461E-A6AB-73EADAC8EB49}"/>
              </a:ext>
            </a:extLst>
          </p:cNvPr>
          <p:cNvSpPr>
            <a:spLocks noGrp="1" noChangeArrowheads="1"/>
          </p:cNvSpPr>
          <p:nvPr>
            <p:ph type="title"/>
          </p:nvPr>
        </p:nvSpPr>
        <p:spPr>
          <a:xfrm>
            <a:off x="533400" y="228600"/>
            <a:ext cx="7924800" cy="762000"/>
          </a:xfrm>
          <a:noFill/>
        </p:spPr>
        <p:txBody>
          <a:bodyPr/>
          <a:lstStyle/>
          <a:p>
            <a:r>
              <a:rPr lang="en-US" altLang="en-US">
                <a:cs typeface="Times New Roman" panose="02020603050405020304" pitchFamily="18" charset="0"/>
              </a:rPr>
              <a:t>The Queue Interface</a:t>
            </a:r>
          </a:p>
        </p:txBody>
      </p:sp>
      <p:pic>
        <p:nvPicPr>
          <p:cNvPr id="35849" name="Picture 12">
            <a:extLst>
              <a:ext uri="{FF2B5EF4-FFF2-40B4-BE49-F238E27FC236}">
                <a16:creationId xmlns:a16="http://schemas.microsoft.com/office/drawing/2014/main" id="{9E7D9099-9A48-4399-8493-07F75F0099D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024813" cy="4141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B8D38D45-C1E3-4DAC-A619-0CF2FFF5BC7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A1F06EF-C101-4A5C-A07B-B2D5C8CAD278}" type="slidenum">
              <a:rPr lang="en-US" altLang="en-US" sz="1400"/>
              <a:pPr>
                <a:spcBef>
                  <a:spcPct val="0"/>
                </a:spcBef>
                <a:buClrTx/>
                <a:buSzTx/>
                <a:buFontTx/>
                <a:buNone/>
              </a:pPr>
              <a:t>51</a:t>
            </a:fld>
            <a:endParaRPr lang="en-US" altLang="en-US" sz="1400"/>
          </a:p>
        </p:txBody>
      </p:sp>
      <p:sp>
        <p:nvSpPr>
          <p:cNvPr id="37891" name="Rectangle 2">
            <a:extLst>
              <a:ext uri="{FF2B5EF4-FFF2-40B4-BE49-F238E27FC236}">
                <a16:creationId xmlns:a16="http://schemas.microsoft.com/office/drawing/2014/main" id="{605B5141-0298-485C-AE26-4C0F1A8937E0}"/>
              </a:ext>
            </a:extLst>
          </p:cNvPr>
          <p:cNvSpPr>
            <a:spLocks noGrp="1" noChangeArrowheads="1"/>
          </p:cNvSpPr>
          <p:nvPr>
            <p:ph type="title"/>
          </p:nvPr>
        </p:nvSpPr>
        <p:spPr>
          <a:xfrm>
            <a:off x="533400" y="228600"/>
            <a:ext cx="7924800" cy="762000"/>
          </a:xfrm>
          <a:noFill/>
        </p:spPr>
        <p:txBody>
          <a:bodyPr/>
          <a:lstStyle/>
          <a:p>
            <a:r>
              <a:rPr lang="en-US" altLang="en-US">
                <a:cs typeface="Times New Roman" panose="02020603050405020304" pitchFamily="18" charset="0"/>
              </a:rPr>
              <a:t>The PriorityQueue Class</a:t>
            </a:r>
          </a:p>
        </p:txBody>
      </p:sp>
      <p:pic>
        <p:nvPicPr>
          <p:cNvPr id="37898" name="Picture 15">
            <a:extLst>
              <a:ext uri="{FF2B5EF4-FFF2-40B4-BE49-F238E27FC236}">
                <a16:creationId xmlns:a16="http://schemas.microsoft.com/office/drawing/2014/main" id="{DA3B90C5-12C2-4E77-ABCC-9771821B7FA6}"/>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371600"/>
            <a:ext cx="8991600" cy="3297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37899" name="Rectangle 8">
            <a:hlinkClick r:id="rId3"/>
            <a:extLst>
              <a:ext uri="{FF2B5EF4-FFF2-40B4-BE49-F238E27FC236}">
                <a16:creationId xmlns:a16="http://schemas.microsoft.com/office/drawing/2014/main" id="{CA5377BC-A2DA-4D90-A9AB-D9AE98DB60D4}"/>
              </a:ext>
            </a:extLst>
          </p:cNvPr>
          <p:cNvSpPr>
            <a:spLocks noChangeArrowheads="1"/>
          </p:cNvSpPr>
          <p:nvPr/>
        </p:nvSpPr>
        <p:spPr bwMode="auto">
          <a:xfrm>
            <a:off x="3692525" y="5310188"/>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PriorityQueueDemo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a:extLst>
              <a:ext uri="{FF2B5EF4-FFF2-40B4-BE49-F238E27FC236}">
                <a16:creationId xmlns:a16="http://schemas.microsoft.com/office/drawing/2014/main" id="{74E9F498-B21D-450C-919F-E5EDEA03639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9D4A3F4-CDF8-48A7-AFB6-BD464763F0CD}" type="slidenum">
              <a:rPr lang="en-US" altLang="en-US" sz="1400"/>
              <a:pPr>
                <a:spcBef>
                  <a:spcPct val="0"/>
                </a:spcBef>
                <a:buClrTx/>
                <a:buSzTx/>
                <a:buFontTx/>
                <a:buNone/>
              </a:pPr>
              <a:t>52</a:t>
            </a:fld>
            <a:endParaRPr lang="en-US" altLang="en-US" sz="1400"/>
          </a:p>
        </p:txBody>
      </p:sp>
      <p:sp>
        <p:nvSpPr>
          <p:cNvPr id="45059" name="Rectangle 2">
            <a:extLst>
              <a:ext uri="{FF2B5EF4-FFF2-40B4-BE49-F238E27FC236}">
                <a16:creationId xmlns:a16="http://schemas.microsoft.com/office/drawing/2014/main" id="{40487CAF-E098-45FA-A55E-625B557C2DE9}"/>
              </a:ext>
            </a:extLst>
          </p:cNvPr>
          <p:cNvSpPr>
            <a:spLocks noGrp="1" noChangeArrowheads="1"/>
          </p:cNvSpPr>
          <p:nvPr>
            <p:ph type="title"/>
          </p:nvPr>
        </p:nvSpPr>
        <p:spPr>
          <a:xfrm>
            <a:off x="0" y="152400"/>
            <a:ext cx="8839200" cy="533400"/>
          </a:xfrm>
          <a:noFill/>
        </p:spPr>
        <p:txBody>
          <a:bodyPr/>
          <a:lstStyle/>
          <a:p>
            <a:r>
              <a:rPr lang="en-US" altLang="en-US" sz="3600"/>
              <a:t>Priority Queue</a:t>
            </a:r>
          </a:p>
        </p:txBody>
      </p:sp>
      <p:sp>
        <p:nvSpPr>
          <p:cNvPr id="45070" name="Rectangle 13">
            <a:extLst>
              <a:ext uri="{FF2B5EF4-FFF2-40B4-BE49-F238E27FC236}">
                <a16:creationId xmlns:a16="http://schemas.microsoft.com/office/drawing/2014/main" id="{C9A72604-5D28-4ACE-A6B2-1988D767AB51}"/>
              </a:ext>
            </a:extLst>
          </p:cNvPr>
          <p:cNvSpPr>
            <a:spLocks noGrp="1" noChangeArrowheads="1"/>
          </p:cNvSpPr>
          <p:nvPr>
            <p:ph type="body" idx="1"/>
          </p:nvPr>
        </p:nvSpPr>
        <p:spPr>
          <a:xfrm>
            <a:off x="161925" y="728663"/>
            <a:ext cx="8686800" cy="2476500"/>
          </a:xfrm>
          <a:noFill/>
        </p:spPr>
        <p:txBody>
          <a:bodyPr/>
          <a:lstStyle/>
          <a:p>
            <a:pPr marL="0" indent="0">
              <a:spcBef>
                <a:spcPct val="0"/>
              </a:spcBef>
              <a:buFont typeface="Monotype Sorts"/>
              <a:buNone/>
            </a:pPr>
            <a:r>
              <a:rPr lang="en-US" altLang="en-US" sz="2400"/>
              <a:t>A regular queue is a first-in and first-out data structure. Elements are appended to the end of the queue and are removed from the beginning of the queue. In a priority queue, elements are assigned with priorities. When accessing elements, the element with the highest priority is removed first. A priority queue has a largest-in, first-out behavior. For example, the emergency room in a hospital assigns patients with priority numbers; the patient with the highest priority is treated first.</a:t>
            </a:r>
          </a:p>
        </p:txBody>
      </p:sp>
      <p:pic>
        <p:nvPicPr>
          <p:cNvPr id="45075" name="Picture 25">
            <a:extLst>
              <a:ext uri="{FF2B5EF4-FFF2-40B4-BE49-F238E27FC236}">
                <a16:creationId xmlns:a16="http://schemas.microsoft.com/office/drawing/2014/main" id="{051D397E-C10A-4F48-AB79-8949483AA7F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663" y="3841750"/>
            <a:ext cx="7029450" cy="201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45076" name="Rectangle 25">
            <a:hlinkClick r:id="rId3"/>
            <a:extLst>
              <a:ext uri="{FF2B5EF4-FFF2-40B4-BE49-F238E27FC236}">
                <a16:creationId xmlns:a16="http://schemas.microsoft.com/office/drawing/2014/main" id="{5E8F232C-1F67-4169-A57A-70DE26877143}"/>
              </a:ext>
            </a:extLst>
          </p:cNvPr>
          <p:cNvSpPr>
            <a:spLocks noChangeArrowheads="1"/>
          </p:cNvSpPr>
          <p:nvPr/>
        </p:nvSpPr>
        <p:spPr bwMode="auto">
          <a:xfrm>
            <a:off x="1265238" y="5932488"/>
            <a:ext cx="215582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MyPriorityQueue</a:t>
            </a:r>
          </a:p>
        </p:txBody>
      </p:sp>
      <p:sp>
        <p:nvSpPr>
          <p:cNvPr id="45077" name="Rectangle 27">
            <a:hlinkClick r:id="rId4"/>
            <a:extLst>
              <a:ext uri="{FF2B5EF4-FFF2-40B4-BE49-F238E27FC236}">
                <a16:creationId xmlns:a16="http://schemas.microsoft.com/office/drawing/2014/main" id="{E7C6F474-5558-4B7A-B406-3B93027A97DC}"/>
              </a:ext>
            </a:extLst>
          </p:cNvPr>
          <p:cNvSpPr>
            <a:spLocks noChangeArrowheads="1"/>
          </p:cNvSpPr>
          <p:nvPr/>
        </p:nvSpPr>
        <p:spPr bwMode="auto">
          <a:xfrm>
            <a:off x="5622925" y="5972175"/>
            <a:ext cx="21637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TestPriorityQueue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43190C02-CBD5-41BD-9C82-BA184C937ED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A6AB8A8-9676-4729-9E43-556344BD6150}" type="slidenum">
              <a:rPr lang="en-US" altLang="en-US" sz="1400"/>
              <a:pPr>
                <a:spcBef>
                  <a:spcPct val="0"/>
                </a:spcBef>
                <a:buClrTx/>
                <a:buSzTx/>
                <a:buFontTx/>
                <a:buNone/>
              </a:pPr>
              <a:t>53</a:t>
            </a:fld>
            <a:endParaRPr lang="en-US" altLang="en-US" sz="1400"/>
          </a:p>
        </p:txBody>
      </p:sp>
      <p:sp>
        <p:nvSpPr>
          <p:cNvPr id="36867" name="Rectangle 2">
            <a:extLst>
              <a:ext uri="{FF2B5EF4-FFF2-40B4-BE49-F238E27FC236}">
                <a16:creationId xmlns:a16="http://schemas.microsoft.com/office/drawing/2014/main" id="{97094607-AE3E-4E71-93F7-5579A1FD9050}"/>
              </a:ext>
            </a:extLst>
          </p:cNvPr>
          <p:cNvSpPr>
            <a:spLocks noGrp="1" noChangeArrowheads="1"/>
          </p:cNvSpPr>
          <p:nvPr>
            <p:ph type="title"/>
          </p:nvPr>
        </p:nvSpPr>
        <p:spPr>
          <a:xfrm>
            <a:off x="533400" y="228600"/>
            <a:ext cx="7924800" cy="762000"/>
          </a:xfrm>
          <a:noFill/>
        </p:spPr>
        <p:txBody>
          <a:bodyPr/>
          <a:lstStyle/>
          <a:p>
            <a:r>
              <a:rPr lang="en-US" altLang="en-US" dirty="0">
                <a:cs typeface="Times New Roman" panose="02020603050405020304" pitchFamily="18" charset="0"/>
              </a:rPr>
              <a:t>Using LinkedList for Queue</a:t>
            </a:r>
          </a:p>
        </p:txBody>
      </p:sp>
      <p:pic>
        <p:nvPicPr>
          <p:cNvPr id="36873" name="Picture 3">
            <a:extLst>
              <a:ext uri="{FF2B5EF4-FFF2-40B4-BE49-F238E27FC236}">
                <a16:creationId xmlns:a16="http://schemas.microsoft.com/office/drawing/2014/main" id="{5E47E716-399D-4789-936F-322645DB6C7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524000"/>
            <a:ext cx="7696200" cy="456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FFCDEB5F-203C-4E92-9765-5CA303E01BB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6566BEA-EEF8-4E24-BC9B-B14BDD24DA3E}" type="slidenum">
              <a:rPr lang="en-US" altLang="en-US" sz="1400"/>
              <a:pPr>
                <a:spcBef>
                  <a:spcPct val="0"/>
                </a:spcBef>
                <a:buClrTx/>
                <a:buSzTx/>
                <a:buFontTx/>
                <a:buNone/>
              </a:pPr>
              <a:t>54</a:t>
            </a:fld>
            <a:endParaRPr lang="en-US" altLang="en-US" sz="1400"/>
          </a:p>
        </p:txBody>
      </p:sp>
      <p:sp>
        <p:nvSpPr>
          <p:cNvPr id="38915" name="Rectangle 2">
            <a:extLst>
              <a:ext uri="{FF2B5EF4-FFF2-40B4-BE49-F238E27FC236}">
                <a16:creationId xmlns:a16="http://schemas.microsoft.com/office/drawing/2014/main" id="{23A005C1-1FE0-4A78-AC97-2B98ABF68146}"/>
              </a:ext>
            </a:extLst>
          </p:cNvPr>
          <p:cNvSpPr>
            <a:spLocks noGrp="1" noChangeArrowheads="1"/>
          </p:cNvSpPr>
          <p:nvPr>
            <p:ph type="title"/>
          </p:nvPr>
        </p:nvSpPr>
        <p:spPr>
          <a:xfrm>
            <a:off x="533400" y="228600"/>
            <a:ext cx="7924800" cy="762000"/>
          </a:xfrm>
          <a:noFill/>
        </p:spPr>
        <p:txBody>
          <a:bodyPr/>
          <a:lstStyle/>
          <a:p>
            <a:r>
              <a:rPr lang="en-US" altLang="en-US" sz="4000">
                <a:cs typeface="Times New Roman" panose="02020603050405020304" pitchFamily="18" charset="0"/>
              </a:rPr>
              <a:t>Case Study: Evaluating Expressions</a:t>
            </a:r>
          </a:p>
        </p:txBody>
      </p:sp>
      <p:sp>
        <p:nvSpPr>
          <p:cNvPr id="38917" name="Rectangle 4">
            <a:extLst>
              <a:ext uri="{FF2B5EF4-FFF2-40B4-BE49-F238E27FC236}">
                <a16:creationId xmlns:a16="http://schemas.microsoft.com/office/drawing/2014/main" id="{CF196D0F-E2B8-4757-BAAD-7F717D96DD17}"/>
              </a:ext>
            </a:extLst>
          </p:cNvPr>
          <p:cNvSpPr>
            <a:spLocks noGrp="1" noChangeArrowheads="1"/>
          </p:cNvSpPr>
          <p:nvPr>
            <p:ph type="body" idx="1"/>
          </p:nvPr>
        </p:nvSpPr>
        <p:spPr>
          <a:xfrm>
            <a:off x="228600" y="990600"/>
            <a:ext cx="8686800" cy="457200"/>
          </a:xfrm>
          <a:noFill/>
        </p:spPr>
        <p:txBody>
          <a:bodyPr/>
          <a:lstStyle/>
          <a:p>
            <a:pPr marL="0" indent="0">
              <a:lnSpc>
                <a:spcPct val="80000"/>
              </a:lnSpc>
              <a:buFont typeface="Monotype Sorts"/>
              <a:buNone/>
            </a:pPr>
            <a:r>
              <a:rPr lang="en-US" altLang="en-US" sz="2800"/>
              <a:t>Stacks can be used to evaluate expressions.</a:t>
            </a:r>
          </a:p>
        </p:txBody>
      </p:sp>
      <p:pic>
        <p:nvPicPr>
          <p:cNvPr id="38921" name="Picture 8">
            <a:extLst>
              <a:ext uri="{FF2B5EF4-FFF2-40B4-BE49-F238E27FC236}">
                <a16:creationId xmlns:a16="http://schemas.microsoft.com/office/drawing/2014/main" id="{FEEDA04F-7986-47D5-BF46-6A61DC31A2F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4953000"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2" name="Picture 1">
            <a:extLst>
              <a:ext uri="{FF2B5EF4-FFF2-40B4-BE49-F238E27FC236}">
                <a16:creationId xmlns:a16="http://schemas.microsoft.com/office/drawing/2014/main" id="{C578E174-FB27-4388-89EB-585EFF080FF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724400"/>
            <a:ext cx="451167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3" name="Rectangle 8">
            <a:hlinkClick r:id="rId4"/>
            <a:extLst>
              <a:ext uri="{FF2B5EF4-FFF2-40B4-BE49-F238E27FC236}">
                <a16:creationId xmlns:a16="http://schemas.microsoft.com/office/drawing/2014/main" id="{4132CEF7-0016-4215-985D-A22387635400}"/>
              </a:ext>
            </a:extLst>
          </p:cNvPr>
          <p:cNvSpPr>
            <a:spLocks noChangeArrowheads="1"/>
          </p:cNvSpPr>
          <p:nvPr/>
        </p:nvSpPr>
        <p:spPr bwMode="auto">
          <a:xfrm>
            <a:off x="5638800" y="4876800"/>
            <a:ext cx="32845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Evaluate Expression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Slide Number Placeholder 4">
            <a:extLst>
              <a:ext uri="{FF2B5EF4-FFF2-40B4-BE49-F238E27FC236}">
                <a16:creationId xmlns:a16="http://schemas.microsoft.com/office/drawing/2014/main" id="{511DF8ED-D66E-402E-B8B4-E4BAA4AB828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D4EBBEC-2AD7-4DDB-8F54-A9FB63D8081E}" type="slidenum">
              <a:rPr lang="en-US" altLang="en-US" sz="1400"/>
              <a:pPr>
                <a:spcBef>
                  <a:spcPct val="0"/>
                </a:spcBef>
                <a:buClrTx/>
                <a:buSzTx/>
                <a:buFontTx/>
                <a:buNone/>
              </a:pPr>
              <a:t>55</a:t>
            </a:fld>
            <a:endParaRPr lang="en-US" altLang="en-US" sz="1400"/>
          </a:p>
        </p:txBody>
      </p:sp>
      <p:sp>
        <p:nvSpPr>
          <p:cNvPr id="39939" name="Rectangle 2">
            <a:extLst>
              <a:ext uri="{FF2B5EF4-FFF2-40B4-BE49-F238E27FC236}">
                <a16:creationId xmlns:a16="http://schemas.microsoft.com/office/drawing/2014/main" id="{A87F6583-AD34-4A83-A998-AEE83F96E541}"/>
              </a:ext>
            </a:extLst>
          </p:cNvPr>
          <p:cNvSpPr>
            <a:spLocks noGrp="1" noChangeArrowheads="1"/>
          </p:cNvSpPr>
          <p:nvPr>
            <p:ph type="title"/>
          </p:nvPr>
        </p:nvSpPr>
        <p:spPr>
          <a:xfrm>
            <a:off x="533400" y="228600"/>
            <a:ext cx="7924800" cy="762000"/>
          </a:xfrm>
          <a:noFill/>
        </p:spPr>
        <p:txBody>
          <a:bodyPr/>
          <a:lstStyle/>
          <a:p>
            <a:r>
              <a:rPr lang="en-US" altLang="en-US" sz="4000">
                <a:cs typeface="Times New Roman" panose="02020603050405020304" pitchFamily="18" charset="0"/>
              </a:rPr>
              <a:t>Algorithm</a:t>
            </a:r>
          </a:p>
        </p:txBody>
      </p:sp>
      <p:sp>
        <p:nvSpPr>
          <p:cNvPr id="2" name="Content Placeholder 1">
            <a:extLst>
              <a:ext uri="{FF2B5EF4-FFF2-40B4-BE49-F238E27FC236}">
                <a16:creationId xmlns:a16="http://schemas.microsoft.com/office/drawing/2014/main" id="{4C2C4759-B7D0-4034-8E2E-5824A3AF5936}"/>
              </a:ext>
            </a:extLst>
          </p:cNvPr>
          <p:cNvSpPr>
            <a:spLocks noGrp="1"/>
          </p:cNvSpPr>
          <p:nvPr>
            <p:ph idx="1"/>
          </p:nvPr>
        </p:nvSpPr>
        <p:spPr>
          <a:xfrm>
            <a:off x="381000" y="914400"/>
            <a:ext cx="8534400" cy="5334000"/>
          </a:xfrm>
        </p:spPr>
        <p:txBody>
          <a:bodyPr/>
          <a:lstStyle/>
          <a:p>
            <a:pPr marL="0" indent="0">
              <a:buFont typeface="Monotype Sorts" pitchFamily="2" charset="2"/>
              <a:buNone/>
              <a:defRPr/>
            </a:pPr>
            <a:r>
              <a:rPr lang="en-US" sz="2000" b="1" dirty="0"/>
              <a:t>Phase 1: Scanning the expression</a:t>
            </a:r>
            <a:endParaRPr lang="en-US" sz="2000" dirty="0"/>
          </a:p>
          <a:p>
            <a:pPr marL="0" indent="0">
              <a:buFont typeface="Monotype Sorts" pitchFamily="2" charset="2"/>
              <a:buNone/>
              <a:defRPr/>
            </a:pPr>
            <a:r>
              <a:rPr lang="en-US" sz="2000" dirty="0"/>
              <a:t>The program scans the expression from left to right to extract operands, operators, and the parentheses.</a:t>
            </a:r>
          </a:p>
          <a:p>
            <a:pPr marL="0" indent="0">
              <a:buFont typeface="Monotype Sorts" pitchFamily="2" charset="2"/>
              <a:buNone/>
              <a:defRPr/>
            </a:pPr>
            <a:r>
              <a:rPr lang="en-US" sz="2000" dirty="0"/>
              <a:t>1.1.	If the extracted item is an operand, push it to </a:t>
            </a:r>
            <a:r>
              <a:rPr lang="en-US" sz="2000" b="1" dirty="0" err="1"/>
              <a:t>operandStack</a:t>
            </a:r>
            <a:r>
              <a:rPr lang="en-US" sz="2000" dirty="0"/>
              <a:t>.</a:t>
            </a:r>
          </a:p>
          <a:p>
            <a:pPr marL="0" indent="0">
              <a:buFont typeface="Monotype Sorts" pitchFamily="2" charset="2"/>
              <a:buNone/>
              <a:defRPr/>
            </a:pPr>
            <a:r>
              <a:rPr lang="en-US" sz="2000" dirty="0"/>
              <a:t>1.2.	If the extracted item is a </a:t>
            </a:r>
            <a:r>
              <a:rPr lang="en-US" sz="2000" b="1" dirty="0"/>
              <a:t>+</a:t>
            </a:r>
            <a:r>
              <a:rPr lang="en-US" sz="2000" dirty="0"/>
              <a:t> or </a:t>
            </a:r>
            <a:r>
              <a:rPr lang="en-US" sz="2000" b="1" dirty="0"/>
              <a:t>-</a:t>
            </a:r>
            <a:r>
              <a:rPr lang="en-US" sz="2000" dirty="0"/>
              <a:t> operator, process all the operators at the top of </a:t>
            </a:r>
            <a:r>
              <a:rPr lang="en-US" sz="2000" b="1" dirty="0" err="1"/>
              <a:t>operatorStack</a:t>
            </a:r>
            <a:r>
              <a:rPr lang="en-US" sz="2000" dirty="0"/>
              <a:t> and push the extracted operator to </a:t>
            </a:r>
            <a:r>
              <a:rPr lang="en-US" sz="2000" b="1" dirty="0" err="1"/>
              <a:t>operatorStack</a:t>
            </a:r>
            <a:r>
              <a:rPr lang="en-US" sz="2000" dirty="0"/>
              <a:t>.</a:t>
            </a:r>
          </a:p>
          <a:p>
            <a:pPr marL="0" indent="0">
              <a:buFont typeface="Monotype Sorts" pitchFamily="2" charset="2"/>
              <a:buNone/>
              <a:defRPr/>
            </a:pPr>
            <a:r>
              <a:rPr lang="en-US" sz="2000" dirty="0"/>
              <a:t>1.3.	If the extracted item is a </a:t>
            </a:r>
            <a:r>
              <a:rPr lang="en-US" sz="2000" b="1" dirty="0"/>
              <a:t>*</a:t>
            </a:r>
            <a:r>
              <a:rPr lang="en-US" sz="2000" dirty="0"/>
              <a:t> or </a:t>
            </a:r>
            <a:r>
              <a:rPr lang="en-US" sz="2000" b="1" dirty="0"/>
              <a:t>/</a:t>
            </a:r>
            <a:r>
              <a:rPr lang="en-US" sz="2000" dirty="0"/>
              <a:t> operator, process the </a:t>
            </a:r>
            <a:r>
              <a:rPr lang="en-US" sz="2000" b="1" dirty="0"/>
              <a:t>*</a:t>
            </a:r>
            <a:r>
              <a:rPr lang="en-US" sz="2000" dirty="0"/>
              <a:t> or </a:t>
            </a:r>
            <a:r>
              <a:rPr lang="en-US" sz="2000" b="1" dirty="0"/>
              <a:t>/</a:t>
            </a:r>
            <a:r>
              <a:rPr lang="en-US" sz="2000" dirty="0"/>
              <a:t> operators at the top of </a:t>
            </a:r>
            <a:r>
              <a:rPr lang="en-US" sz="2000" b="1" dirty="0" err="1"/>
              <a:t>operatorStack</a:t>
            </a:r>
            <a:r>
              <a:rPr lang="en-US" sz="2000" dirty="0"/>
              <a:t> and push the extracted operator to </a:t>
            </a:r>
            <a:r>
              <a:rPr lang="en-US" sz="2000" b="1" dirty="0" err="1"/>
              <a:t>operatorStack</a:t>
            </a:r>
            <a:r>
              <a:rPr lang="en-US" sz="2000" dirty="0"/>
              <a:t>.</a:t>
            </a:r>
          </a:p>
          <a:p>
            <a:pPr marL="0" indent="0">
              <a:buFont typeface="Monotype Sorts" pitchFamily="2" charset="2"/>
              <a:buNone/>
              <a:defRPr/>
            </a:pPr>
            <a:r>
              <a:rPr lang="en-US" sz="2000" dirty="0"/>
              <a:t>1.4.	If the extracted item is a </a:t>
            </a:r>
            <a:r>
              <a:rPr lang="en-US" sz="2000" b="1" dirty="0"/>
              <a:t>(</a:t>
            </a:r>
            <a:r>
              <a:rPr lang="en-US" sz="2000" dirty="0"/>
              <a:t> symbol, push it to </a:t>
            </a:r>
            <a:r>
              <a:rPr lang="en-US" sz="2000" b="1" dirty="0" err="1"/>
              <a:t>operatorStack</a:t>
            </a:r>
            <a:r>
              <a:rPr lang="en-US" sz="2000" dirty="0"/>
              <a:t>.</a:t>
            </a:r>
          </a:p>
          <a:p>
            <a:pPr marL="0" indent="0">
              <a:buFont typeface="Monotype Sorts" pitchFamily="2" charset="2"/>
              <a:buNone/>
              <a:defRPr/>
            </a:pPr>
            <a:r>
              <a:rPr lang="en-US" sz="2000" dirty="0"/>
              <a:t>1.5.	If the extracted item is a </a:t>
            </a:r>
            <a:r>
              <a:rPr lang="en-US" sz="2000" b="1" dirty="0"/>
              <a:t>)</a:t>
            </a:r>
            <a:r>
              <a:rPr lang="en-US" sz="2000" dirty="0"/>
              <a:t> symbol, repeatedly process the operators from the top of </a:t>
            </a:r>
            <a:r>
              <a:rPr lang="en-US" sz="2000" b="1" dirty="0" err="1"/>
              <a:t>operatorStack</a:t>
            </a:r>
            <a:r>
              <a:rPr lang="en-US" sz="2000" dirty="0"/>
              <a:t> until seeing the </a:t>
            </a:r>
            <a:r>
              <a:rPr lang="en-US" sz="2000" b="1" dirty="0"/>
              <a:t>(</a:t>
            </a:r>
            <a:r>
              <a:rPr lang="en-US" sz="2000" dirty="0"/>
              <a:t> symbol on the stack.</a:t>
            </a:r>
          </a:p>
          <a:p>
            <a:pPr marL="0" indent="0">
              <a:buFont typeface="Monotype Sorts" pitchFamily="2" charset="2"/>
              <a:buNone/>
              <a:defRPr/>
            </a:pPr>
            <a:endParaRPr lang="en-US" sz="2000" b="1" dirty="0"/>
          </a:p>
          <a:p>
            <a:pPr marL="0" indent="0">
              <a:buFont typeface="Monotype Sorts" pitchFamily="2" charset="2"/>
              <a:buNone/>
              <a:defRPr/>
            </a:pPr>
            <a:r>
              <a:rPr lang="en-US" sz="2000" b="1" dirty="0"/>
              <a:t>Phase 2: Clearing the stack</a:t>
            </a:r>
            <a:endParaRPr lang="en-US" sz="2000" dirty="0"/>
          </a:p>
          <a:p>
            <a:pPr marL="0" indent="0">
              <a:buFont typeface="Monotype Sorts" pitchFamily="2" charset="2"/>
              <a:buNone/>
              <a:defRPr/>
            </a:pPr>
            <a:r>
              <a:rPr lang="en-US" sz="2000" dirty="0"/>
              <a:t>Repeatedly process the operators from the top of </a:t>
            </a:r>
            <a:r>
              <a:rPr lang="en-US" sz="2000" b="1" dirty="0" err="1"/>
              <a:t>operatorStack</a:t>
            </a:r>
            <a:r>
              <a:rPr lang="en-US" sz="2000" dirty="0"/>
              <a:t> until </a:t>
            </a:r>
            <a:r>
              <a:rPr lang="en-US" sz="2000" b="1" dirty="0" err="1"/>
              <a:t>operatorStack</a:t>
            </a:r>
            <a:r>
              <a:rPr lang="en-US" sz="2000" dirty="0"/>
              <a:t> is empty.</a:t>
            </a:r>
          </a:p>
          <a:p>
            <a:pPr>
              <a:buFont typeface="Monotype Sorts" pitchFamily="2" charset="2"/>
              <a:buChar char="F"/>
              <a:defRPr/>
            </a:pP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89EBFA04-13E0-4D9D-8E03-C30410D1491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361B81-4D87-44E2-A649-AF3CA9095E5B}" type="slidenum">
              <a:rPr lang="en-US" altLang="en-US" sz="1400"/>
              <a:pPr>
                <a:spcBef>
                  <a:spcPct val="0"/>
                </a:spcBef>
                <a:buClrTx/>
                <a:buSzTx/>
                <a:buFontTx/>
                <a:buNone/>
              </a:pPr>
              <a:t>56</a:t>
            </a:fld>
            <a:endParaRPr lang="en-US" altLang="en-US" sz="1400"/>
          </a:p>
        </p:txBody>
      </p:sp>
      <p:sp>
        <p:nvSpPr>
          <p:cNvPr id="40963" name="Rectangle 2">
            <a:extLst>
              <a:ext uri="{FF2B5EF4-FFF2-40B4-BE49-F238E27FC236}">
                <a16:creationId xmlns:a16="http://schemas.microsoft.com/office/drawing/2014/main" id="{804DE7B2-4F4A-473E-9A07-6376D54D89B0}"/>
              </a:ext>
            </a:extLst>
          </p:cNvPr>
          <p:cNvSpPr>
            <a:spLocks noGrp="1" noChangeArrowheads="1"/>
          </p:cNvSpPr>
          <p:nvPr>
            <p:ph type="title"/>
          </p:nvPr>
        </p:nvSpPr>
        <p:spPr>
          <a:xfrm>
            <a:off x="533400" y="228600"/>
            <a:ext cx="7924800" cy="609600"/>
          </a:xfrm>
          <a:noFill/>
        </p:spPr>
        <p:txBody>
          <a:bodyPr/>
          <a:lstStyle/>
          <a:p>
            <a:r>
              <a:rPr lang="en-US" altLang="en-US" sz="4000">
                <a:cs typeface="Times New Roman" panose="02020603050405020304" pitchFamily="18" charset="0"/>
              </a:rPr>
              <a:t>Example</a:t>
            </a:r>
          </a:p>
        </p:txBody>
      </p:sp>
      <p:pic>
        <p:nvPicPr>
          <p:cNvPr id="40969" name="Picture 12">
            <a:extLst>
              <a:ext uri="{FF2B5EF4-FFF2-40B4-BE49-F238E27FC236}">
                <a16:creationId xmlns:a16="http://schemas.microsoft.com/office/drawing/2014/main" id="{6AB4654B-9B98-40B6-B450-89152665408D}"/>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 y="990600"/>
            <a:ext cx="7378700" cy="534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24082</TotalTime>
  <Words>4050</Words>
  <Application>Microsoft Office PowerPoint</Application>
  <PresentationFormat>On-screen Show (4:3)</PresentationFormat>
  <Paragraphs>551</Paragraphs>
  <Slides>56</Slides>
  <Notes>3</Notes>
  <HiddenSlides>5</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7" baseType="lpstr">
      <vt:lpstr>Arial</vt:lpstr>
      <vt:lpstr>Calibri</vt:lpstr>
      <vt:lpstr>Consolas</vt:lpstr>
      <vt:lpstr>Courier</vt:lpstr>
      <vt:lpstr>Courier New</vt:lpstr>
      <vt:lpstr>Monotype Sorts</vt:lpstr>
      <vt:lpstr>Symbol</vt:lpstr>
      <vt:lpstr>Times New Roman</vt:lpstr>
      <vt:lpstr>Wingdings</vt:lpstr>
      <vt:lpstr>International</vt:lpstr>
      <vt:lpstr>Picture</vt:lpstr>
      <vt:lpstr>Chapter 20 Lists, Stacks, Queues, and Priority Queues</vt:lpstr>
      <vt:lpstr>Objectives</vt:lpstr>
      <vt:lpstr>What is Data Structure?</vt:lpstr>
      <vt:lpstr>Java Collection Framework hierarchy</vt:lpstr>
      <vt:lpstr>Java Collection Framework hierarchy, cont.</vt:lpstr>
      <vt:lpstr>The Collection Interface</vt:lpstr>
      <vt:lpstr>Collections Interface</vt:lpstr>
      <vt:lpstr>Collections Example</vt:lpstr>
      <vt:lpstr>Collections Method</vt:lpstr>
      <vt:lpstr>Iterators</vt:lpstr>
      <vt:lpstr>Iterators</vt:lpstr>
      <vt:lpstr>Using the forEach Method</vt:lpstr>
      <vt:lpstr>Using the forEach Method</vt:lpstr>
      <vt:lpstr>The List Interface</vt:lpstr>
      <vt:lpstr>The List Interface, cont.</vt:lpstr>
      <vt:lpstr>The List Iterator</vt:lpstr>
      <vt:lpstr>ListIterators</vt:lpstr>
      <vt:lpstr>ListIterators</vt:lpstr>
      <vt:lpstr>ArrayList and LinkedList</vt:lpstr>
      <vt:lpstr>ArrayLists</vt:lpstr>
      <vt:lpstr>ArrayLists</vt:lpstr>
      <vt:lpstr>java.util.ArrayList</vt:lpstr>
      <vt:lpstr>ArrayList Example</vt:lpstr>
      <vt:lpstr>ArrayList Example</vt:lpstr>
      <vt:lpstr>ArrayList Example</vt:lpstr>
      <vt:lpstr>LinkedLists</vt:lpstr>
      <vt:lpstr>LinkedList Pros &amp; Cons</vt:lpstr>
      <vt:lpstr>java.util.LinkedList</vt:lpstr>
      <vt:lpstr>LinkedList Example</vt:lpstr>
      <vt:lpstr>Example: Using ArrayList and LinkedList</vt:lpstr>
      <vt:lpstr>Example: Using ArrayList and LinkedList</vt:lpstr>
      <vt:lpstr>The Comparator Interface</vt:lpstr>
      <vt:lpstr>The Comparator&lt;T&gt; Interface</vt:lpstr>
      <vt:lpstr>The Comparator&lt;T&gt; Interface</vt:lpstr>
      <vt:lpstr>Other Comparator Examples</vt:lpstr>
      <vt:lpstr>Method Reference</vt:lpstr>
      <vt:lpstr>The comparing Method</vt:lpstr>
      <vt:lpstr>Add Additional Sort Criteria </vt:lpstr>
      <vt:lpstr>The Collections Class</vt:lpstr>
      <vt:lpstr>The Collections Class UML Diagram</vt:lpstr>
      <vt:lpstr>The Vector and Stack Classes</vt:lpstr>
      <vt:lpstr>The Vector Class</vt:lpstr>
      <vt:lpstr>The Vector Class, cont.</vt:lpstr>
      <vt:lpstr>The Stack Class</vt:lpstr>
      <vt:lpstr>The Stack Class</vt:lpstr>
      <vt:lpstr>Stack Animation</vt:lpstr>
      <vt:lpstr>The Stack Class</vt:lpstr>
      <vt:lpstr>Queues and Priority Queues</vt:lpstr>
      <vt:lpstr>Queues and Priority Queues</vt:lpstr>
      <vt:lpstr>The Queue Interface</vt:lpstr>
      <vt:lpstr>The PriorityQueue Class</vt:lpstr>
      <vt:lpstr>Priority Queue</vt:lpstr>
      <vt:lpstr>Using LinkedList for Queue</vt:lpstr>
      <vt:lpstr>Case Study: Evaluating Expressions</vt:lpstr>
      <vt:lpstr>Algorithm</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Java Data Structures</dc:title>
  <dc:creator>Y. Daniel Liang</dc:creator>
  <cp:lastModifiedBy>Nguyen, Phuong Tran Lan</cp:lastModifiedBy>
  <cp:revision>314</cp:revision>
  <dcterms:created xsi:type="dcterms:W3CDTF">1995-06-10T17:31:50Z</dcterms:created>
  <dcterms:modified xsi:type="dcterms:W3CDTF">2025-09-23T16:07:53Z</dcterms:modified>
</cp:coreProperties>
</file>