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64" r:id="rId1"/>
  </p:sldMasterIdLst>
  <p:notesMasterIdLst>
    <p:notesMasterId r:id="rId40"/>
  </p:notesMasterIdLst>
  <p:handoutMasterIdLst>
    <p:handoutMasterId r:id="rId41"/>
  </p:handoutMasterIdLst>
  <p:sldIdLst>
    <p:sldId id="438" r:id="rId2"/>
    <p:sldId id="488" r:id="rId3"/>
    <p:sldId id="490" r:id="rId4"/>
    <p:sldId id="491" r:id="rId5"/>
    <p:sldId id="492" r:id="rId6"/>
    <p:sldId id="493" r:id="rId7"/>
    <p:sldId id="494" r:id="rId8"/>
    <p:sldId id="543" r:id="rId9"/>
    <p:sldId id="495" r:id="rId10"/>
    <p:sldId id="496" r:id="rId11"/>
    <p:sldId id="497" r:id="rId12"/>
    <p:sldId id="498" r:id="rId13"/>
    <p:sldId id="544" r:id="rId14"/>
    <p:sldId id="499" r:id="rId15"/>
    <p:sldId id="500" r:id="rId16"/>
    <p:sldId id="529" r:id="rId17"/>
    <p:sldId id="530" r:id="rId18"/>
    <p:sldId id="531" r:id="rId19"/>
    <p:sldId id="532" r:id="rId20"/>
    <p:sldId id="501" r:id="rId21"/>
    <p:sldId id="502" r:id="rId22"/>
    <p:sldId id="533" r:id="rId23"/>
    <p:sldId id="534" r:id="rId24"/>
    <p:sldId id="535" r:id="rId25"/>
    <p:sldId id="536" r:id="rId26"/>
    <p:sldId id="537" r:id="rId27"/>
    <p:sldId id="506" r:id="rId28"/>
    <p:sldId id="548" r:id="rId29"/>
    <p:sldId id="539" r:id="rId30"/>
    <p:sldId id="540" r:id="rId31"/>
    <p:sldId id="541" r:id="rId32"/>
    <p:sldId id="527" r:id="rId33"/>
    <p:sldId id="545" r:id="rId34"/>
    <p:sldId id="546" r:id="rId35"/>
    <p:sldId id="508" r:id="rId36"/>
    <p:sldId id="550" r:id="rId37"/>
    <p:sldId id="509" r:id="rId38"/>
    <p:sldId id="547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2" autoAdjust="0"/>
    <p:restoredTop sz="94630" autoAdjust="0"/>
  </p:normalViewPr>
  <p:slideViewPr>
    <p:cSldViewPr>
      <p:cViewPr varScale="1">
        <p:scale>
          <a:sx n="46" d="100"/>
          <a:sy n="46" d="100"/>
        </p:scale>
        <p:origin x="42" y="588"/>
      </p:cViewPr>
      <p:guideLst>
        <p:guide orient="horz" pos="129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344"/>
    </p:cViewPr>
  </p:sorterViewPr>
  <p:notesViewPr>
    <p:cSldViewPr>
      <p:cViewPr varScale="1">
        <p:scale>
          <a:sx n="43" d="100"/>
          <a:sy n="43" d="100"/>
        </p:scale>
        <p:origin x="-1422" y="-84"/>
      </p:cViewPr>
      <p:guideLst>
        <p:guide orient="horz" pos="2160"/>
        <p:guide pos="288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969288F-CB5C-43FB-BA6D-870A3A1398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9223403-2EC2-41BD-ABDD-3EDE0678E71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4ACB78C-D1F4-438A-BE3F-FF35A75A969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2C1E408-5493-43E0-8D13-1CB54B7E0F8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90438A2-5980-463F-81A2-CD2C976167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A16FD54E-AA04-40F4-BB64-2711BD152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A2344221-795A-4D6A-9D44-7A3503AC6D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07CFFDC8-728E-4864-8F9D-3E8196F7FC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530F7E22-0B91-4FB9-A8B4-92F96850B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D81874B6-E252-476B-885C-7945513D3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CAE13E-E812-47D5-8807-D8E345422AF9}" type="slidenum">
              <a:rPr lang="en-US" altLang="en-US" sz="1000"/>
              <a:pPr/>
              <a:t>5</a:t>
            </a:fld>
            <a:endParaRPr lang="en-US" altLang="en-US"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bracket E :  &lt;E&gt; 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44221-795A-4D6A-9D44-7A3503AC6DF7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550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>
            <a:extLst>
              <a:ext uri="{FF2B5EF4-FFF2-40B4-BE49-F238E27FC236}">
                <a16:creationId xmlns:a16="http://schemas.microsoft.com/office/drawing/2014/main" id="{61FC91DB-7ADF-4F5A-BE25-54B5E3D6A24C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71927960-2F8B-4333-9003-3DB92F56F48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6" name="Group 30">
              <a:extLst>
                <a:ext uri="{FF2B5EF4-FFF2-40B4-BE49-F238E27FC236}">
                  <a16:creationId xmlns:a16="http://schemas.microsoft.com/office/drawing/2014/main" id="{40FC582F-6612-4C14-99AD-1BEEABB34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A42B4868-8E85-4E67-9A7E-0EA85A09658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BDD480BE-E0B8-4DCC-9F8D-21628FAF58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>
                  <a:extLst>
                    <a:ext uri="{FF2B5EF4-FFF2-40B4-BE49-F238E27FC236}">
                      <a16:creationId xmlns:a16="http://schemas.microsoft.com/office/drawing/2014/main" id="{168EE059-6BB5-42C5-96E3-66D90C9B9F3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>
                  <a:extLst>
                    <a:ext uri="{FF2B5EF4-FFF2-40B4-BE49-F238E27FC236}">
                      <a16:creationId xmlns:a16="http://schemas.microsoft.com/office/drawing/2014/main" id="{9E5D42EF-22AB-4645-BBFD-4F6971CB47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>
                  <a:extLst>
                    <a:ext uri="{FF2B5EF4-FFF2-40B4-BE49-F238E27FC236}">
                      <a16:creationId xmlns:a16="http://schemas.microsoft.com/office/drawing/2014/main" id="{897446EE-2740-42A8-9EEB-118C99368C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>
                  <a:extLst>
                    <a:ext uri="{FF2B5EF4-FFF2-40B4-BE49-F238E27FC236}">
                      <a16:creationId xmlns:a16="http://schemas.microsoft.com/office/drawing/2014/main" id="{D28D7690-CB0B-4620-8A92-57BCA6DA9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>
                  <a:extLst>
                    <a:ext uri="{FF2B5EF4-FFF2-40B4-BE49-F238E27FC236}">
                      <a16:creationId xmlns:a16="http://schemas.microsoft.com/office/drawing/2014/main" id="{5765BC86-DECA-4DEA-B069-2914D53EAEF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09888EB4-3B26-49B0-9054-3F442DFD260B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" name="Group 29">
                <a:extLst>
                  <a:ext uri="{FF2B5EF4-FFF2-40B4-BE49-F238E27FC236}">
                    <a16:creationId xmlns:a16="http://schemas.microsoft.com/office/drawing/2014/main" id="{B9D4BEEF-5BB3-4E90-9095-AE08BE9896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59EF1FB1-AEFF-4676-AD82-C39B502E736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6C75F2F0-4B08-40AC-8E73-2B8D8891CD6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>
                  <a:extLst>
                    <a:ext uri="{FF2B5EF4-FFF2-40B4-BE49-F238E27FC236}">
                      <a16:creationId xmlns:a16="http://schemas.microsoft.com/office/drawing/2014/main" id="{A2D58DBB-835B-4D45-BE27-3DF11D0E8FA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437C4EB7-F055-4001-A409-0D3789A09CC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>
                  <a:extLst>
                    <a:ext uri="{FF2B5EF4-FFF2-40B4-BE49-F238E27FC236}">
                      <a16:creationId xmlns:a16="http://schemas.microsoft.com/office/drawing/2014/main" id="{A3A9430C-E256-41E4-8B42-D8AEF67883F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49630AAD-236C-42D4-8D0B-AFA88CAC1DA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41CB7C81-78CF-4FC3-BB43-86D7CBD86D0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4887CB1A-7B48-42EC-8EF9-958FA9F7EDA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>
                  <a:extLst>
                    <a:ext uri="{FF2B5EF4-FFF2-40B4-BE49-F238E27FC236}">
                      <a16:creationId xmlns:a16="http://schemas.microsoft.com/office/drawing/2014/main" id="{3D576805-FD94-4E3A-A504-AA3284929A8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9A7D591C-25D2-47D8-9E77-26523B70EB7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444B6402-191B-411F-B107-16522A1671B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35E915C1-8462-4C34-8587-DF5E6C68EB6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>
                  <a:extLst>
                    <a:ext uri="{FF2B5EF4-FFF2-40B4-BE49-F238E27FC236}">
                      <a16:creationId xmlns:a16="http://schemas.microsoft.com/office/drawing/2014/main" id="{980DC663-7CCB-4F15-BA5D-6DE0D251F96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9E29EFC0-9E25-4A72-A0E4-77E4F9ABFEA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F753A5FB-8918-4B2A-8F58-FD5C09DFC44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>
                  <a:extLst>
                    <a:ext uri="{FF2B5EF4-FFF2-40B4-BE49-F238E27FC236}">
                      <a16:creationId xmlns:a16="http://schemas.microsoft.com/office/drawing/2014/main" id="{FE3649D4-B83D-4B05-91BE-D908C376424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>
                  <a:extLst>
                    <a:ext uri="{FF2B5EF4-FFF2-40B4-BE49-F238E27FC236}">
                      <a16:creationId xmlns:a16="http://schemas.microsoft.com/office/drawing/2014/main" id="{8ECC7FBC-6EC0-4D53-9EBE-5ED45CBDD82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359AF7C1-C766-45D7-A86F-28F8AB04C41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8F400BA4-6A40-46F1-B7AC-59CB57C74BD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530FE8AD-9622-4D9C-87BB-64811E0DE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FD20E48A-B6FB-4B76-95F8-3BCC5E596D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B75587E-D7C7-4114-BF9D-844AF81A79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7A1450D0-5C6B-4A7D-9DD3-12ABC6CE7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7C3EC62-E8ED-4B3A-A7A4-D2AC4B0772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3883A2-D648-49E2-AC73-2F1E3519022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252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74D14C60-F19C-4EB2-AD48-30730C4566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A7531466-45D1-4A3D-AD82-112BB8F642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A18F4E-3B3E-4344-92BE-0BB081CA99A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105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068F10D1-1835-4088-AD0B-6C7BADD595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29AAEAB9-5939-47B3-869D-BB65143F91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D5481A-BE00-433E-895B-DC49D2AFAB4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90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C09A7E37-3E64-47AD-9ADC-4BD16748D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2694643A-125A-4E28-A1E6-1B4FDDA666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3D89CF-1F39-4738-9064-B4563EBC655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70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391C5B43-3D44-4A5D-BB40-26F113E38E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2094C956-0F22-4D91-B62A-26663564D2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7A6A3-5812-45EE-9455-39D6D2DBDB0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BC947A72-855F-404F-9E57-C8FFAA973E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F121E76E-222C-4DD0-B702-E2DEE761CE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76F163-F54B-4797-B2F7-9198EB01468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052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0B25BBF2-0F2C-4F7A-A9C7-E1BA50459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80CB4D2C-1260-4158-8D07-953D305F20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FFB3F5-412D-4731-A5B8-52CCCA28A97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033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B6E36BF-FAC7-4094-AC32-501A1DB4DD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EB0E6CA6-653C-48AC-AC21-4339465C6A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84E24-A39A-4400-84A9-C426F53792C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30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46254852-8B45-4626-BCE8-A641E6889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DBE0E510-CD38-4382-89DE-C76584A1A7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382CC6-7A15-4727-AA7C-CD5F96A834D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668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0D7007F0-B9D5-4051-892C-827B841066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D3B930A4-2CF8-45C1-83CE-984693168F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2A956F-8D3E-4A6C-BB44-5878390316D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32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C712761A-9C89-4D5B-9404-D6576D290A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588E4D5C-8884-4A84-A016-83EEE4093C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F7AA96-8751-46F4-A359-7F32983EA4A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72517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>
            <a:extLst>
              <a:ext uri="{FF2B5EF4-FFF2-40B4-BE49-F238E27FC236}">
                <a16:creationId xmlns:a16="http://schemas.microsoft.com/office/drawing/2014/main" id="{C3EC5D4F-7241-4D48-A4A7-0981C8FB188A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EBFA5783-58D9-4D35-9CD0-554773E52F0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4" name="Group 28">
              <a:extLst>
                <a:ext uri="{FF2B5EF4-FFF2-40B4-BE49-F238E27FC236}">
                  <a16:creationId xmlns:a16="http://schemas.microsoft.com/office/drawing/2014/main" id="{1739EB3B-E772-4FC7-BDBA-76ED5FAF22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5" name="Freeform 3">
                <a:extLst>
                  <a:ext uri="{FF2B5EF4-FFF2-40B4-BE49-F238E27FC236}">
                    <a16:creationId xmlns:a16="http://schemas.microsoft.com/office/drawing/2014/main" id="{E390AD0B-045C-45AF-B2EA-4FD6A867967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Line 4">
                <a:extLst>
                  <a:ext uri="{FF2B5EF4-FFF2-40B4-BE49-F238E27FC236}">
                    <a16:creationId xmlns:a16="http://schemas.microsoft.com/office/drawing/2014/main" id="{29DDE5CF-6ED8-4BEC-A2AB-A210289ACA4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5">
                <a:extLst>
                  <a:ext uri="{FF2B5EF4-FFF2-40B4-BE49-F238E27FC236}">
                    <a16:creationId xmlns:a16="http://schemas.microsoft.com/office/drawing/2014/main" id="{EA4D0DE6-A17E-4CD0-909A-7835D04A2F2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Line 6">
                <a:extLst>
                  <a:ext uri="{FF2B5EF4-FFF2-40B4-BE49-F238E27FC236}">
                    <a16:creationId xmlns:a16="http://schemas.microsoft.com/office/drawing/2014/main" id="{B0C4E214-2BC7-4E89-9C34-E60765C9C33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9" name="Freeform 7">
                <a:extLst>
                  <a:ext uri="{FF2B5EF4-FFF2-40B4-BE49-F238E27FC236}">
                    <a16:creationId xmlns:a16="http://schemas.microsoft.com/office/drawing/2014/main" id="{4EBC01BC-C4AC-4FBE-A8D9-67FBD691B2C3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" name="Oval 8">
                <a:extLst>
                  <a:ext uri="{FF2B5EF4-FFF2-40B4-BE49-F238E27FC236}">
                    <a16:creationId xmlns:a16="http://schemas.microsoft.com/office/drawing/2014/main" id="{B5EFB3FB-0C0E-4A82-A156-B8549CFB8D8E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1" name="Group 27">
                <a:extLst>
                  <a:ext uri="{FF2B5EF4-FFF2-40B4-BE49-F238E27FC236}">
                    <a16:creationId xmlns:a16="http://schemas.microsoft.com/office/drawing/2014/main" id="{7DAA45A8-E4FF-4B83-876D-31C506D7FA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2" name="Freeform 9">
                  <a:extLst>
                    <a:ext uri="{FF2B5EF4-FFF2-40B4-BE49-F238E27FC236}">
                      <a16:creationId xmlns:a16="http://schemas.microsoft.com/office/drawing/2014/main" id="{10AF373A-5478-4732-8B93-C7FA2214DC0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0">
                  <a:extLst>
                    <a:ext uri="{FF2B5EF4-FFF2-40B4-BE49-F238E27FC236}">
                      <a16:creationId xmlns:a16="http://schemas.microsoft.com/office/drawing/2014/main" id="{18C3FF5F-1087-4A14-B05C-EF93FED535E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1">
                  <a:extLst>
                    <a:ext uri="{FF2B5EF4-FFF2-40B4-BE49-F238E27FC236}">
                      <a16:creationId xmlns:a16="http://schemas.microsoft.com/office/drawing/2014/main" id="{768B6B30-DD10-4951-9D6F-0FE59F9AEC7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2">
                  <a:extLst>
                    <a:ext uri="{FF2B5EF4-FFF2-40B4-BE49-F238E27FC236}">
                      <a16:creationId xmlns:a16="http://schemas.microsoft.com/office/drawing/2014/main" id="{F59CCDAA-0C06-4A12-A642-F7BE4F4AB7B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3">
                  <a:extLst>
                    <a:ext uri="{FF2B5EF4-FFF2-40B4-BE49-F238E27FC236}">
                      <a16:creationId xmlns:a16="http://schemas.microsoft.com/office/drawing/2014/main" id="{088C8B6F-F05E-44F8-9265-BBB3EDA55A4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4">
                  <a:extLst>
                    <a:ext uri="{FF2B5EF4-FFF2-40B4-BE49-F238E27FC236}">
                      <a16:creationId xmlns:a16="http://schemas.microsoft.com/office/drawing/2014/main" id="{E48D41F2-F24F-45D4-842F-BD116865DBE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5">
                  <a:extLst>
                    <a:ext uri="{FF2B5EF4-FFF2-40B4-BE49-F238E27FC236}">
                      <a16:creationId xmlns:a16="http://schemas.microsoft.com/office/drawing/2014/main" id="{6E3BF754-3A1F-40DB-A2B5-41FCE932A98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6">
                  <a:extLst>
                    <a:ext uri="{FF2B5EF4-FFF2-40B4-BE49-F238E27FC236}">
                      <a16:creationId xmlns:a16="http://schemas.microsoft.com/office/drawing/2014/main" id="{318B4698-4323-4853-8C17-9F1F9E9F3D4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7">
                  <a:extLst>
                    <a:ext uri="{FF2B5EF4-FFF2-40B4-BE49-F238E27FC236}">
                      <a16:creationId xmlns:a16="http://schemas.microsoft.com/office/drawing/2014/main" id="{28585D53-7679-4221-AB50-808FA417F75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8">
                  <a:extLst>
                    <a:ext uri="{FF2B5EF4-FFF2-40B4-BE49-F238E27FC236}">
                      <a16:creationId xmlns:a16="http://schemas.microsoft.com/office/drawing/2014/main" id="{CAEDA6BB-ABDC-44FF-B8F1-57AF8920E62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19">
                  <a:extLst>
                    <a:ext uri="{FF2B5EF4-FFF2-40B4-BE49-F238E27FC236}">
                      <a16:creationId xmlns:a16="http://schemas.microsoft.com/office/drawing/2014/main" id="{B52588C3-F7A7-4750-8958-9E46DC30128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0">
                  <a:extLst>
                    <a:ext uri="{FF2B5EF4-FFF2-40B4-BE49-F238E27FC236}">
                      <a16:creationId xmlns:a16="http://schemas.microsoft.com/office/drawing/2014/main" id="{1B242CA3-251C-49A8-9F8B-3C36D19DAF9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1">
                  <a:extLst>
                    <a:ext uri="{FF2B5EF4-FFF2-40B4-BE49-F238E27FC236}">
                      <a16:creationId xmlns:a16="http://schemas.microsoft.com/office/drawing/2014/main" id="{934A00C5-C8F2-4AB7-9F6D-983AF931C1B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2">
                  <a:extLst>
                    <a:ext uri="{FF2B5EF4-FFF2-40B4-BE49-F238E27FC236}">
                      <a16:creationId xmlns:a16="http://schemas.microsoft.com/office/drawing/2014/main" id="{56A807CD-D73B-4E85-BD9C-E48E63EFE8A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3">
                  <a:extLst>
                    <a:ext uri="{FF2B5EF4-FFF2-40B4-BE49-F238E27FC236}">
                      <a16:creationId xmlns:a16="http://schemas.microsoft.com/office/drawing/2014/main" id="{E7FCF25E-43F2-47F9-84CA-88DA94BC6C9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4">
                  <a:extLst>
                    <a:ext uri="{FF2B5EF4-FFF2-40B4-BE49-F238E27FC236}">
                      <a16:creationId xmlns:a16="http://schemas.microsoft.com/office/drawing/2014/main" id="{941BF1B0-B0FC-4B26-87D2-8E92F0B923B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" name="Freeform 25">
                  <a:extLst>
                    <a:ext uri="{FF2B5EF4-FFF2-40B4-BE49-F238E27FC236}">
                      <a16:creationId xmlns:a16="http://schemas.microsoft.com/office/drawing/2014/main" id="{58386E5A-8831-41BF-A518-26785185183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" name="Freeform 26">
                  <a:extLst>
                    <a:ext uri="{FF2B5EF4-FFF2-40B4-BE49-F238E27FC236}">
                      <a16:creationId xmlns:a16="http://schemas.microsoft.com/office/drawing/2014/main" id="{42A36C76-0897-4DBC-8C24-F1DE13438B1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>
            <a:extLst>
              <a:ext uri="{FF2B5EF4-FFF2-40B4-BE49-F238E27FC236}">
                <a16:creationId xmlns:a16="http://schemas.microsoft.com/office/drawing/2014/main" id="{0C33E6C5-337F-4255-A1DA-43C86CD19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1">
            <a:extLst>
              <a:ext uri="{FF2B5EF4-FFF2-40B4-BE49-F238E27FC236}">
                <a16:creationId xmlns:a16="http://schemas.microsoft.com/office/drawing/2014/main" id="{7299F587-A84B-44B9-8C48-AC1437FF5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039852B9-9585-4786-86B9-2B6A70406C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121C8707-69C6-4ACD-BD95-09F063A7B0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6F7AA96-8751-46F4-A359-7F32983EA4A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31" name="Rectangle 35">
            <a:extLst>
              <a:ext uri="{FF2B5EF4-FFF2-40B4-BE49-F238E27FC236}">
                <a16:creationId xmlns:a16="http://schemas.microsoft.com/office/drawing/2014/main" id="{C1639140-DF82-447C-8940-97C93664B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B16DA2B3-3106-4A65-A620-A5451B6A9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AC703D-15C9-428A-8C4D-DE5F49AD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>
                <a:latin typeface="Arial" panose="020B0604020202020204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7" name="Rectangle 35">
            <a:extLst>
              <a:ext uri="{FF2B5EF4-FFF2-40B4-BE49-F238E27FC236}">
                <a16:creationId xmlns:a16="http://schemas.microsoft.com/office/drawing/2014/main" id="{C79F1E37-CC3B-47B2-8CEA-850356CA86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charset="0"/>
              </a:rPr>
              <a:t>Liang, Introduction to Java Programming and Data Structures, Twelfth Edition, (c) 2020  Pearson Education,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53746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html/MyList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iveexample.pearsoncmg.com/dsanimation/ArrayListeBook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codeanimation/ArrayListAdd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codeanimation/ArrayListRemove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veexample.pearsoncmg.com/html/MyArrayList.html" TargetMode="External"/><Relationship Id="rId4" Type="http://schemas.openxmlformats.org/officeDocument/2006/relationships/hyperlink" Target="https://liveexample.pearsoncmg.com/html/TestMyArrayList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liveexample.pearsoncmg.com/dsanimation/LinkedListeBook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veexample.pearsoncmg.com/html/MyLinkedList.html" TargetMode="External"/><Relationship Id="rId4" Type="http://schemas.openxmlformats.org/officeDocument/2006/relationships/hyperlink" Target="https://liveexample.pearsoncmg.com/html/TestMyLinkedList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codeanimation/LinkedListAddFirst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codeanimation/LinkedListAddLast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veexample.pearsoncmg.com/codeanimation/LinkedListAdd.html" TargetMode="Externa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codeanimation/LinkedListRemoveFirst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veexample.pearsoncmg.com/codeanimation/LinkedListRemoveLast.html" TargetMode="External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codeanimation/LinkedListRemove.htm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liveexample.pearsoncmg.com/dsanimation/StackeBook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www.cs.armstrong.edu/liang/animation/web/Queue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liveexample.pearsoncmg.com/html/TestStackQueue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MyPriorityQueue.html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html/TestPriorityQueu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1D241F6A-6729-4430-A21A-BC62C105C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1736725"/>
            <a:ext cx="8461375" cy="1908175"/>
          </a:xfrm>
          <a:noFill/>
        </p:spPr>
        <p:txBody>
          <a:bodyPr/>
          <a:lstStyle/>
          <a:p>
            <a:r>
              <a:rPr lang="en-US" altLang="en-US" sz="4000"/>
              <a:t>Chapter 24  Implementing Lists, Stacks, Queues, and Priority Queues</a:t>
            </a:r>
          </a:p>
        </p:txBody>
      </p:sp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C4E46848-9204-4A25-BE13-553D846513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54BE29-6665-4DC2-AE1B-BDBF2261C40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1389027D-E48D-4A35-B973-4726D4AC2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23913"/>
          </a:xfrm>
          <a:noFill/>
        </p:spPr>
        <p:txBody>
          <a:bodyPr/>
          <a:lstStyle/>
          <a:p>
            <a:r>
              <a:rPr lang="en-US" altLang="en-US"/>
              <a:t>Objectives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ABEBC84-611C-49B2-87D3-EB6FC3DF8E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33488"/>
            <a:ext cx="8659813" cy="496728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To design common features of lists in an interface and provide skeleton implementation in an abstract class (§24.2).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To design and implement a dynamic list using an array (§24.3).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To design and implement a dynamic list using a linked structure (§24.4).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To design and implement a stack class using an array list and a queue class using a linked list (§24.5).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To design and implement a priority queue using a heap (§24.6).</a:t>
            </a:r>
          </a:p>
        </p:txBody>
      </p:sp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02812F9B-178A-480A-81CC-437775EEB0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A46EDB-ECD4-4C8C-B83B-837EC48ED93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AF69F5EB-E041-4701-9DAB-7C13607A5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838200"/>
          </a:xfrm>
          <a:noFill/>
        </p:spPr>
        <p:txBody>
          <a:bodyPr/>
          <a:lstStyle/>
          <a:p>
            <a:r>
              <a:rPr lang="en-US" altLang="en-US"/>
              <a:t>Lists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F4E9D949-5F7F-4B08-BE13-5CECA251B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763000" cy="50292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A list is a popular data structure to store data in sequential order. For example, a list of students, a list of available rooms, a list of cities, and a list of books, etc. can be stored using lists. The common operations on a list are usually the following:</a:t>
            </a:r>
            <a:r>
              <a:rPr lang="en-US" altLang="en-US" sz="280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·</a:t>
            </a:r>
            <a:r>
              <a:rPr lang="en-US" altLang="en-US" sz="2800">
                <a:cs typeface="Times New Roman" panose="02020603050405020304" pitchFamily="18" charset="0"/>
              </a:rPr>
              <a:t>         </a:t>
            </a:r>
            <a:r>
              <a:rPr lang="en-US" altLang="en-US" sz="2800">
                <a:cs typeface="Courier New" panose="02070309020205020404" pitchFamily="49" charset="0"/>
              </a:rPr>
              <a:t>Retrieve an element from this list.</a:t>
            </a: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·</a:t>
            </a:r>
            <a:r>
              <a:rPr lang="en-US" altLang="en-US" sz="2800">
                <a:cs typeface="Times New Roman" panose="02020603050405020304" pitchFamily="18" charset="0"/>
              </a:rPr>
              <a:t>         </a:t>
            </a:r>
            <a:r>
              <a:rPr lang="en-US" altLang="en-US" sz="2800">
                <a:cs typeface="Courier New" panose="02070309020205020404" pitchFamily="49" charset="0"/>
              </a:rPr>
              <a:t>Insert a new element to this list.</a:t>
            </a: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·</a:t>
            </a:r>
            <a:r>
              <a:rPr lang="en-US" altLang="en-US" sz="2800">
                <a:cs typeface="Times New Roman" panose="02020603050405020304" pitchFamily="18" charset="0"/>
              </a:rPr>
              <a:t>         </a:t>
            </a:r>
            <a:r>
              <a:rPr lang="en-US" altLang="en-US" sz="2800">
                <a:cs typeface="Courier New" panose="02070309020205020404" pitchFamily="49" charset="0"/>
              </a:rPr>
              <a:t>Delete an element from this list.</a:t>
            </a: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·</a:t>
            </a:r>
            <a:r>
              <a:rPr lang="en-US" altLang="en-US" sz="2800">
                <a:cs typeface="Times New Roman" panose="02020603050405020304" pitchFamily="18" charset="0"/>
              </a:rPr>
              <a:t>         </a:t>
            </a:r>
            <a:r>
              <a:rPr lang="en-US" altLang="en-US" sz="2800">
                <a:cs typeface="Courier New" panose="02070309020205020404" pitchFamily="49" charset="0"/>
              </a:rPr>
              <a:t>Find how many elements are in this list.</a:t>
            </a: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·</a:t>
            </a:r>
            <a:r>
              <a:rPr lang="en-US" altLang="en-US" sz="2800">
                <a:cs typeface="Times New Roman" panose="02020603050405020304" pitchFamily="18" charset="0"/>
              </a:rPr>
              <a:t>         </a:t>
            </a:r>
            <a:r>
              <a:rPr lang="en-US" altLang="en-US" sz="2800">
                <a:cs typeface="Courier New" panose="02070309020205020404" pitchFamily="49" charset="0"/>
              </a:rPr>
              <a:t>Find if an element is in this list.</a:t>
            </a: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·</a:t>
            </a:r>
            <a:r>
              <a:rPr lang="en-US" altLang="en-US" sz="2800">
                <a:cs typeface="Times New Roman" panose="02020603050405020304" pitchFamily="18" charset="0"/>
              </a:rPr>
              <a:t>         </a:t>
            </a:r>
            <a:r>
              <a:rPr lang="en-US" altLang="en-US" sz="2800">
                <a:cs typeface="Courier New" panose="02070309020205020404" pitchFamily="49" charset="0"/>
              </a:rPr>
              <a:t>Find if this list is empty.</a:t>
            </a:r>
          </a:p>
        </p:txBody>
      </p:sp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AEFCB513-D1EA-4CE7-8D1D-6F639346EC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4679AB-CD8F-4B1A-A8F8-06788CCF4A5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7F89DAB6-1CFB-456B-B791-7012D41A1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838200"/>
          </a:xfrm>
          <a:noFill/>
        </p:spPr>
        <p:txBody>
          <a:bodyPr/>
          <a:lstStyle/>
          <a:p>
            <a:r>
              <a:rPr lang="en-US" altLang="en-US"/>
              <a:t>Two Ways to Implement Lists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38AC3CF-3AA7-4A19-9570-517083D7A9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807450" cy="5310188"/>
          </a:xfrm>
          <a:noFill/>
        </p:spPr>
        <p:txBody>
          <a:bodyPr/>
          <a:lstStyle/>
          <a:p>
            <a:pPr marL="0" indent="0">
              <a:buFont typeface="Monotype Sorts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There are two ways to implement a list. </a:t>
            </a:r>
          </a:p>
          <a:p>
            <a:pPr marL="0" indent="0">
              <a:buFont typeface="Monotype Sorts"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b="1" dirty="0">
                <a:cs typeface="Times New Roman" panose="02020603050405020304" pitchFamily="18" charset="0"/>
              </a:rPr>
              <a:t>Using arrays: </a:t>
            </a:r>
            <a:r>
              <a:rPr lang="en-US" altLang="en-US" sz="2400" dirty="0">
                <a:cs typeface="Times New Roman" panose="02020603050405020304" pitchFamily="18" charset="0"/>
              </a:rPr>
              <a:t>One is to use an array to store the elements.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>
                <a:cs typeface="Times New Roman" panose="02020603050405020304" pitchFamily="18" charset="0"/>
              </a:rPr>
              <a:t>The array is dynamically created.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>
                <a:cs typeface="Times New Roman" panose="02020603050405020304" pitchFamily="18" charset="0"/>
              </a:rPr>
              <a:t>If the capacity of the array is exceeded, create a new larger array and copy all the elements from the current array to the new array.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b="1" dirty="0">
                <a:cs typeface="Times New Roman" panose="02020603050405020304" pitchFamily="18" charset="0"/>
              </a:rPr>
              <a:t>Using linked list:</a:t>
            </a:r>
            <a:r>
              <a:rPr lang="en-US" altLang="en-US" sz="2400" dirty="0">
                <a:cs typeface="Times New Roman" panose="02020603050405020304" pitchFamily="18" charset="0"/>
              </a:rPr>
              <a:t> The other approach is to use a linked structure.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>
                <a:cs typeface="Times New Roman" panose="02020603050405020304" pitchFamily="18" charset="0"/>
              </a:rPr>
              <a:t>A linked structure consists of nodes.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>
                <a:cs typeface="Times New Roman" panose="02020603050405020304" pitchFamily="18" charset="0"/>
              </a:rPr>
              <a:t>Each node is dynamically created to hold an element.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>
                <a:cs typeface="Times New Roman" panose="02020603050405020304" pitchFamily="18" charset="0"/>
              </a:rPr>
              <a:t>All the nodes are linked together to form a list. </a:t>
            </a:r>
          </a:p>
        </p:txBody>
      </p:sp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742C2C84-2E8B-4A3E-8E28-3485B6E7D8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4FFCE0-08D3-4D2A-B5C7-795A531D16F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97061819-0B06-489A-AA64-4886CDA2F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838200"/>
          </a:xfrm>
          <a:noFill/>
        </p:spPr>
        <p:txBody>
          <a:bodyPr/>
          <a:lstStyle/>
          <a:p>
            <a:r>
              <a:rPr lang="en-US" altLang="en-US"/>
              <a:t>Design of ArrayList and LinkedList</a:t>
            </a: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82E529F1-F6BC-401C-9921-C8D99BBF05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772525" cy="4086225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100" dirty="0">
                <a:cs typeface="Courier New" panose="02070309020205020404" pitchFamily="49" charset="0"/>
              </a:rPr>
              <a:t>For convenience, let’s name these two classes: </a:t>
            </a:r>
            <a:r>
              <a:rPr lang="en-US" altLang="en-US" sz="2100" dirty="0" err="1">
                <a:cs typeface="Courier New" panose="02070309020205020404" pitchFamily="49" charset="0"/>
              </a:rPr>
              <a:t>MyArrayList</a:t>
            </a:r>
            <a:r>
              <a:rPr lang="en-US" altLang="en-US" sz="2100" dirty="0">
                <a:cs typeface="Courier New" panose="02070309020205020404" pitchFamily="49" charset="0"/>
              </a:rPr>
              <a:t> and </a:t>
            </a:r>
            <a:r>
              <a:rPr lang="en-US" altLang="en-US" sz="2100" dirty="0" err="1">
                <a:cs typeface="Courier New" panose="02070309020205020404" pitchFamily="49" charset="0"/>
              </a:rPr>
              <a:t>MyLinkedList</a:t>
            </a:r>
            <a:r>
              <a:rPr lang="en-US" altLang="en-US" sz="2100" dirty="0">
                <a:cs typeface="Courier New" panose="02070309020205020404" pitchFamily="49" charset="0"/>
              </a:rPr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100" dirty="0">
                <a:cs typeface="Courier New" panose="02070309020205020404" pitchFamily="49" charset="0"/>
              </a:rPr>
              <a:t>These two classes have common operations, but different data fields. The common operations can be generalized in an interface or an abstract class.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100" dirty="0"/>
              <a:t>Prior to Java 8, a popular design strategy is to define common operations in an interface and provide an abstract class for partially implementing the interface.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100" dirty="0"/>
              <a:t>So, the concrete class can simply extend the abstract class without implementing the full interface.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100" dirty="0"/>
              <a:t>Java 8 enables you to define default methods. You can provide default implementation for some of the methods in the interface rather than in an abstract class.</a:t>
            </a:r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5D59D33F-49DA-4245-A1CE-FB398A9931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B061BD-F30B-4910-BB2F-6DB0C80A608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graphicFrame>
        <p:nvGraphicFramePr>
          <p:cNvPr id="8201" name="Object 2">
            <a:extLst>
              <a:ext uri="{FF2B5EF4-FFF2-40B4-BE49-F238E27FC236}">
                <a16:creationId xmlns:a16="http://schemas.microsoft.com/office/drawing/2014/main" id="{DEB792ED-7DBE-4815-BCBC-159905041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752376"/>
              </p:ext>
            </p:extLst>
          </p:nvPr>
        </p:nvGraphicFramePr>
        <p:xfrm>
          <a:off x="323850" y="5121275"/>
          <a:ext cx="8596313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053840" imgH="630936" progId="Word.Picture.8">
                  <p:embed/>
                </p:oleObj>
              </mc:Choice>
              <mc:Fallback>
                <p:oleObj name="Picture" r:id="rId3" imgW="4053840" imgH="630936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121275"/>
                        <a:ext cx="8596313" cy="133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297989CF-9B8A-427F-B0B2-2DA3FAF01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MyList Interface</a:t>
            </a:r>
          </a:p>
        </p:txBody>
      </p:sp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37E55CFE-113C-42FB-80CA-DCCB770F4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5FDCA0-B1E5-402A-828B-769949DEAA8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graphicFrame>
        <p:nvGraphicFramePr>
          <p:cNvPr id="10251" name="Object 2">
            <a:extLst>
              <a:ext uri="{FF2B5EF4-FFF2-40B4-BE49-F238E27FC236}">
                <a16:creationId xmlns:a16="http://schemas.microsoft.com/office/drawing/2014/main" id="{ED8AE595-DAAD-461C-A862-F4103ECA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279228"/>
              </p:ext>
            </p:extLst>
          </p:nvPr>
        </p:nvGraphicFramePr>
        <p:xfrm>
          <a:off x="234950" y="946150"/>
          <a:ext cx="8672513" cy="456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318480" imgH="2802735" progId="Word.Picture.8">
                  <p:embed/>
                </p:oleObj>
              </mc:Choice>
              <mc:Fallback>
                <p:oleObj name="Picture" r:id="rId2" imgW="5318480" imgH="2802735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946150"/>
                        <a:ext cx="8672513" cy="456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Rectangle 16">
            <a:hlinkClick r:id="rId4"/>
            <a:extLst>
              <a:ext uri="{FF2B5EF4-FFF2-40B4-BE49-F238E27FC236}">
                <a16:creationId xmlns:a16="http://schemas.microsoft.com/office/drawing/2014/main" id="{E60FA68E-473F-48C3-97C9-78D9DB529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5748338"/>
            <a:ext cx="1233488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MyList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54A4EE4C-F615-4270-A8C4-DBC0FE584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 dirty="0"/>
              <a:t>Array Lists</a:t>
            </a:r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361BFB30-963E-4B27-ADC2-1E1525C6D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8763000" cy="53340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highlight>
                  <a:srgbClr val="FFFF00"/>
                </a:highlight>
                <a:cs typeface="Courier New" panose="02070309020205020404" pitchFamily="49" charset="0"/>
              </a:rPr>
              <a:t>An array is a fixed-size data structu</a:t>
            </a:r>
            <a:r>
              <a:rPr lang="en-US" altLang="en-US" sz="2400" dirty="0">
                <a:cs typeface="Courier New" panose="02070309020205020404" pitchFamily="49" charset="0"/>
              </a:rPr>
              <a:t>re. </a:t>
            </a:r>
            <a:r>
              <a:rPr lang="en-US" altLang="en-US" sz="2400" dirty="0">
                <a:highlight>
                  <a:srgbClr val="FFFF00"/>
                </a:highlight>
                <a:cs typeface="Courier New" panose="02070309020205020404" pitchFamily="49" charset="0"/>
              </a:rPr>
              <a:t>Once an array is created</a:t>
            </a:r>
            <a:r>
              <a:rPr lang="en-US" altLang="en-US" sz="2400" dirty="0">
                <a:cs typeface="Courier New" panose="02070309020205020404" pitchFamily="49" charset="0"/>
              </a:rPr>
              <a:t>, its </a:t>
            </a:r>
            <a:r>
              <a:rPr lang="en-US" altLang="en-US" sz="2400" dirty="0">
                <a:highlight>
                  <a:srgbClr val="FFFF00"/>
                </a:highlight>
                <a:cs typeface="Courier New" panose="02070309020205020404" pitchFamily="49" charset="0"/>
              </a:rPr>
              <a:t>size cannot be changed</a:t>
            </a:r>
            <a:r>
              <a:rPr lang="en-US" altLang="en-US" sz="2400" dirty="0">
                <a:cs typeface="Courier New" panose="02070309020205020404" pitchFamily="49" charset="0"/>
              </a:rPr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cs typeface="Courier New" panose="02070309020205020404" pitchFamily="49" charset="0"/>
              </a:rPr>
              <a:t>Nevertheless, you can still use array to implement dynamic data structures. </a:t>
            </a:r>
            <a:r>
              <a:rPr lang="en-US" altLang="en-US" sz="2400" dirty="0">
                <a:highlight>
                  <a:srgbClr val="FFFF00"/>
                </a:highlight>
                <a:cs typeface="Courier New" panose="02070309020205020404" pitchFamily="49" charset="0"/>
              </a:rPr>
              <a:t>The trick is to create a new larger array to replace the current array if the current array cannot hold new elements in the list.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cs typeface="Times New Roman" panose="02020603050405020304" pitchFamily="18" charset="0"/>
              </a:rPr>
              <a:t>Initially, an array, say data of Object[] type, is created with a default size.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cs typeface="Times New Roman" panose="02020603050405020304" pitchFamily="18" charset="0"/>
              </a:rPr>
              <a:t>When inserting a new element into the array, first ensure there is enough room in the array.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cs typeface="Times New Roman" panose="02020603050405020304" pitchFamily="18" charset="0"/>
              </a:rPr>
              <a:t>If not, create a new array </a:t>
            </a:r>
            <a:r>
              <a:rPr lang="en-US" altLang="en-US" sz="2400" dirty="0">
                <a:highlight>
                  <a:srgbClr val="FFFF00"/>
                </a:highlight>
                <a:cs typeface="Times New Roman" panose="02020603050405020304" pitchFamily="18" charset="0"/>
              </a:rPr>
              <a:t>with the size as twice as the current one</a:t>
            </a:r>
            <a:r>
              <a:rPr lang="en-US" altLang="en-US" sz="2400" dirty="0">
                <a:cs typeface="Times New Roman" panose="02020603050405020304" pitchFamily="18" charset="0"/>
              </a:rPr>
              <a:t>. Copy </a:t>
            </a:r>
            <a:r>
              <a:rPr lang="en-US" altLang="en-US" sz="2400" dirty="0">
                <a:highlight>
                  <a:srgbClr val="FFFF00"/>
                </a:highlight>
                <a:cs typeface="Times New Roman" panose="02020603050405020304" pitchFamily="18" charset="0"/>
              </a:rPr>
              <a:t>the elements from the current array to the new array. </a:t>
            </a:r>
            <a:r>
              <a:rPr lang="en-US" altLang="en-US" sz="2400" dirty="0">
                <a:cs typeface="Times New Roman" panose="02020603050405020304" pitchFamily="18" charset="0"/>
              </a:rPr>
              <a:t>The new array now becomes the current array. </a:t>
            </a:r>
          </a:p>
        </p:txBody>
      </p:sp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E6567DA3-5B6A-4D8B-9945-2A6189316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CC72A-184A-4F46-A07B-CDC81C0C58B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29553797-B4B0-4D76-AEA2-E678C6044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52400"/>
            <a:ext cx="8659812" cy="533400"/>
          </a:xfrm>
          <a:noFill/>
        </p:spPr>
        <p:txBody>
          <a:bodyPr/>
          <a:lstStyle/>
          <a:p>
            <a:r>
              <a:rPr lang="en-US" altLang="en-US" sz="3600"/>
              <a:t>Array List Animation</a:t>
            </a:r>
          </a:p>
        </p:txBody>
      </p:sp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3876FF33-3D2A-4FB8-B23D-6E3CD5D84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D41D6D-23FB-4D7C-A90D-49E5236403A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2296" name="AutoShape 19" descr="Hyperlink to Array List animation">
            <a:hlinkClick r:id="rId2" highlightClick="1"/>
            <a:extLst>
              <a:ext uri="{FF2B5EF4-FFF2-40B4-BE49-F238E27FC236}">
                <a16:creationId xmlns:a16="http://schemas.microsoft.com/office/drawing/2014/main" id="{BB6CD953-CFC7-4471-986E-95718107AA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2415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7" name="Rectangle 2">
            <a:extLst>
              <a:ext uri="{FF2B5EF4-FFF2-40B4-BE49-F238E27FC236}">
                <a16:creationId xmlns:a16="http://schemas.microsoft.com/office/drawing/2014/main" id="{ADDF49E6-D219-4E1E-8813-5292DFE89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016000"/>
            <a:ext cx="89550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https://liveexample.pearsoncmg.com/dsanimation/ArrayListeBook.html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95FB1DFB-F679-4BEB-BF0D-164FA3CD0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Insertion</a:t>
            </a:r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ABA86247-9116-4FAE-87B1-4ABAC4FF2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8763000" cy="14478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>
                <a:cs typeface="Times New Roman" panose="02020603050405020304" pitchFamily="18" charset="0"/>
              </a:rPr>
              <a:t>Before inserting a new element at a specified index, shift all the elements after the index to the right and increase the list size by 1.</a:t>
            </a:r>
            <a:endParaRPr lang="en-US" altLang="en-US">
              <a:cs typeface="Courier New" panose="02070309020205020404" pitchFamily="49" charset="0"/>
            </a:endParaRPr>
          </a:p>
        </p:txBody>
      </p:sp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3F587DF8-9A1A-4DF4-BA1B-CCAC674E4E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476FE2-9A4E-4BB2-B449-9C9B7DE4B66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graphicFrame>
        <p:nvGraphicFramePr>
          <p:cNvPr id="13323" name="Object 10">
            <a:extLst>
              <a:ext uri="{FF2B5EF4-FFF2-40B4-BE49-F238E27FC236}">
                <a16:creationId xmlns:a16="http://schemas.microsoft.com/office/drawing/2014/main" id="{D95F0ED2-5F41-45FE-968F-134B7336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639945"/>
              </p:ext>
            </p:extLst>
          </p:nvPr>
        </p:nvGraphicFramePr>
        <p:xfrm>
          <a:off x="152400" y="2351088"/>
          <a:ext cx="8839200" cy="381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032248" imgH="2170176" progId="Word.Picture.8">
                  <p:embed/>
                </p:oleObj>
              </mc:Choice>
              <mc:Fallback>
                <p:oleObj name="Picture" r:id="rId2" imgW="5032248" imgH="2170176" progId="Word.Picture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351088"/>
                        <a:ext cx="8839200" cy="381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Rectangle 22">
            <a:hlinkClick r:id="rId4"/>
            <a:extLst>
              <a:ext uri="{FF2B5EF4-FFF2-40B4-BE49-F238E27FC236}">
                <a16:creationId xmlns:a16="http://schemas.microsoft.com/office/drawing/2014/main" id="{85D24826-C0FD-481D-8DC6-C25F8BB31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1854200"/>
            <a:ext cx="2771775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Add Method Animation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77EF8F53-648C-4B00-A7D5-B7FADEFC1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Deletion</a:t>
            </a: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9EF1186B-23F7-4218-A9EF-DB8993A879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534400" cy="14478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>
                <a:cs typeface="Courier New" panose="02070309020205020404" pitchFamily="49" charset="0"/>
              </a:rPr>
              <a:t>To remove an element at a specified index, shift all the elements after the index to the left by one position and decrease the list size by 1. </a:t>
            </a:r>
          </a:p>
        </p:txBody>
      </p:sp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80184755-40B1-454A-8063-D713DD2DF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6E4D93-238A-4A51-8471-A3929C71CAB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graphicFrame>
        <p:nvGraphicFramePr>
          <p:cNvPr id="14348" name="Object 12">
            <a:extLst>
              <a:ext uri="{FF2B5EF4-FFF2-40B4-BE49-F238E27FC236}">
                <a16:creationId xmlns:a16="http://schemas.microsoft.com/office/drawing/2014/main" id="{2B64195D-DD95-4253-ADC1-9B7DE3D48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933338"/>
              </p:ext>
            </p:extLst>
          </p:nvPr>
        </p:nvGraphicFramePr>
        <p:xfrm>
          <a:off x="228600" y="2430463"/>
          <a:ext cx="8839200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032248" imgH="2170176" progId="Word.Picture.8">
                  <p:embed/>
                </p:oleObj>
              </mc:Choice>
              <mc:Fallback>
                <p:oleObj name="Picture" r:id="rId2" imgW="5032248" imgH="2170176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430463"/>
                        <a:ext cx="8839200" cy="381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Rectangle 22">
            <a:hlinkClick r:id="rId4"/>
            <a:extLst>
              <a:ext uri="{FF2B5EF4-FFF2-40B4-BE49-F238E27FC236}">
                <a16:creationId xmlns:a16="http://schemas.microsoft.com/office/drawing/2014/main" id="{C6765E0D-8740-458E-80FC-4C42C6210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2219325"/>
            <a:ext cx="32305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Remove Method Animation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762236CF-697C-4C00-A173-C54A2296D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Implementing MyArrayList</a:t>
            </a:r>
          </a:p>
        </p:txBody>
      </p:sp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468EEED6-35BE-4EE9-A303-DD12D45BBD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177F1C-714B-4F60-9A7C-83BE1F11884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graphicFrame>
        <p:nvGraphicFramePr>
          <p:cNvPr id="15373" name="Object 2">
            <a:extLst>
              <a:ext uri="{FF2B5EF4-FFF2-40B4-BE49-F238E27FC236}">
                <a16:creationId xmlns:a16="http://schemas.microsoft.com/office/drawing/2014/main" id="{75D91D46-087B-48C6-979D-AFB17BDE2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151658"/>
              </p:ext>
            </p:extLst>
          </p:nvPr>
        </p:nvGraphicFramePr>
        <p:xfrm>
          <a:off x="152400" y="884238"/>
          <a:ext cx="8128000" cy="449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346071" imgH="2402781" progId="Word.Picture.8">
                  <p:embed/>
                </p:oleObj>
              </mc:Choice>
              <mc:Fallback>
                <p:oleObj name="Picture" r:id="rId2" imgW="4346071" imgH="2402781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884238"/>
                        <a:ext cx="8128000" cy="449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Rectangle 20">
            <a:hlinkClick r:id="rId4"/>
            <a:extLst>
              <a:ext uri="{FF2B5EF4-FFF2-40B4-BE49-F238E27FC236}">
                <a16:creationId xmlns:a16="http://schemas.microsoft.com/office/drawing/2014/main" id="{2896A83D-3E3B-4EF5-BC59-392C00E52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664200"/>
            <a:ext cx="195421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TestMyArrayList</a:t>
            </a:r>
          </a:p>
        </p:txBody>
      </p:sp>
      <p:sp>
        <p:nvSpPr>
          <p:cNvPr id="15376" name="Rectangle 22">
            <a:hlinkClick r:id="rId5"/>
            <a:extLst>
              <a:ext uri="{FF2B5EF4-FFF2-40B4-BE49-F238E27FC236}">
                <a16:creationId xmlns:a16="http://schemas.microsoft.com/office/drawing/2014/main" id="{5CA79AD9-1826-4CB1-B83C-126155A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5665788"/>
            <a:ext cx="195421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MyArrayList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66A07D9A-108F-4D55-8FC7-ADEC93D6E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 dirty="0"/>
              <a:t>Linked Lists</a:t>
            </a: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048D1C36-68D0-4352-8F5D-2A697C0D26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763000" cy="5334000"/>
          </a:xfrm>
          <a:noFill/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cs typeface="Courier New" panose="02070309020205020404" pitchFamily="49" charset="0"/>
              </a:rPr>
              <a:t>Since </a:t>
            </a:r>
            <a:r>
              <a:rPr lang="en-US" altLang="en-US" sz="2800" dirty="0" err="1">
                <a:cs typeface="Courier New" panose="02070309020205020404" pitchFamily="49" charset="0"/>
              </a:rPr>
              <a:t>MyArrayList</a:t>
            </a:r>
            <a:r>
              <a:rPr lang="en-US" altLang="en-US" sz="2800" dirty="0">
                <a:cs typeface="Courier New" panose="02070309020205020404" pitchFamily="49" charset="0"/>
              </a:rPr>
              <a:t> is implemented using an array, the </a:t>
            </a:r>
            <a:r>
              <a:rPr lang="en-US" altLang="en-US" sz="2800" dirty="0">
                <a:highlight>
                  <a:srgbClr val="FFFF00"/>
                </a:highlight>
                <a:cs typeface="Courier New" panose="02070309020205020404" pitchFamily="49" charset="0"/>
              </a:rPr>
              <a:t>methods get(int index) </a:t>
            </a:r>
            <a:r>
              <a:rPr lang="en-US" altLang="en-US" sz="2800" dirty="0">
                <a:cs typeface="Courier New" panose="02070309020205020404" pitchFamily="49" charset="0"/>
              </a:rPr>
              <a:t>and </a:t>
            </a:r>
            <a:r>
              <a:rPr lang="en-US" altLang="en-US" sz="2800" dirty="0">
                <a:highlight>
                  <a:srgbClr val="FFFF00"/>
                </a:highlight>
                <a:cs typeface="Courier New" panose="02070309020205020404" pitchFamily="49" charset="0"/>
              </a:rPr>
              <a:t>set(int index, Object o) </a:t>
            </a:r>
            <a:r>
              <a:rPr lang="en-US" altLang="en-US" sz="2800" dirty="0">
                <a:cs typeface="Courier New" panose="02070309020205020404" pitchFamily="49" charset="0"/>
              </a:rPr>
              <a:t>for accessing and modifying an element through an index and the </a:t>
            </a:r>
            <a:r>
              <a:rPr lang="en-US" altLang="en-US" sz="2800" dirty="0">
                <a:highlight>
                  <a:srgbClr val="FFFF00"/>
                </a:highlight>
                <a:cs typeface="Courier New" panose="02070309020205020404" pitchFamily="49" charset="0"/>
              </a:rPr>
              <a:t>add(Object o) </a:t>
            </a:r>
            <a:r>
              <a:rPr lang="en-US" altLang="en-US" sz="2800" dirty="0">
                <a:cs typeface="Courier New" panose="02070309020205020404" pitchFamily="49" charset="0"/>
              </a:rPr>
              <a:t>for adding an element </a:t>
            </a:r>
            <a:r>
              <a:rPr lang="en-US" altLang="en-US" sz="2800" dirty="0">
                <a:highlight>
                  <a:srgbClr val="FFFF00"/>
                </a:highlight>
                <a:cs typeface="Courier New" panose="02070309020205020404" pitchFamily="49" charset="0"/>
              </a:rPr>
              <a:t>at the end of the list are efficient.</a:t>
            </a:r>
            <a:r>
              <a:rPr lang="en-US" altLang="en-US" sz="2800" dirty="0">
                <a:cs typeface="Courier New" panose="02070309020205020404" pitchFamily="49" charset="0"/>
              </a:rPr>
              <a:t> (O(1)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cs typeface="Courier New" panose="02070309020205020404" pitchFamily="49" charset="0"/>
              </a:rPr>
              <a:t>However, the methods </a:t>
            </a:r>
            <a:r>
              <a:rPr lang="en-US" altLang="en-US" sz="2800" dirty="0">
                <a:highlight>
                  <a:srgbClr val="FFFF00"/>
                </a:highlight>
                <a:cs typeface="Courier New" panose="02070309020205020404" pitchFamily="49" charset="0"/>
              </a:rPr>
              <a:t>add(int index, Object o) </a:t>
            </a:r>
            <a:r>
              <a:rPr lang="en-US" altLang="en-US" sz="2800" dirty="0">
                <a:cs typeface="Courier New" panose="02070309020205020404" pitchFamily="49" charset="0"/>
              </a:rPr>
              <a:t>and </a:t>
            </a:r>
            <a:r>
              <a:rPr lang="en-US" altLang="en-US" sz="2800" dirty="0">
                <a:highlight>
                  <a:srgbClr val="FFFF00"/>
                </a:highlight>
                <a:cs typeface="Courier New" panose="02070309020205020404" pitchFamily="49" charset="0"/>
              </a:rPr>
              <a:t>remove(int index) </a:t>
            </a:r>
            <a:r>
              <a:rPr lang="en-US" altLang="en-US" sz="2800" dirty="0">
                <a:cs typeface="Courier New" panose="02070309020205020404" pitchFamily="49" charset="0"/>
              </a:rPr>
              <a:t>are inefficient because it requires </a:t>
            </a:r>
            <a:r>
              <a:rPr lang="en-US" altLang="en-US" sz="2800" dirty="0">
                <a:highlight>
                  <a:srgbClr val="FFFF00"/>
                </a:highlight>
                <a:cs typeface="Courier New" panose="02070309020205020404" pitchFamily="49" charset="0"/>
              </a:rPr>
              <a:t>shifting potentially a large number of elements</a:t>
            </a:r>
            <a:r>
              <a:rPr lang="en-US" altLang="en-US" sz="2800" dirty="0">
                <a:cs typeface="Courier New" panose="02070309020205020404" pitchFamily="49" charset="0"/>
              </a:rPr>
              <a:t>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cs typeface="Courier New" panose="02070309020205020404" pitchFamily="49" charset="0"/>
              </a:rPr>
              <a:t>You can use a linked structure to implement a list to improve efficiency for adding and removing an element anywhere in a list.</a:t>
            </a:r>
          </a:p>
        </p:txBody>
      </p:sp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31AA373D-2974-4C31-9ACE-65FCE8C8F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325CD4-F870-42C6-B2EF-309F484DF40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6CBF22B7-6985-46B1-9866-3CEBA96EE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52400"/>
            <a:ext cx="8659812" cy="533400"/>
          </a:xfrm>
          <a:noFill/>
        </p:spPr>
        <p:txBody>
          <a:bodyPr/>
          <a:lstStyle/>
          <a:p>
            <a:r>
              <a:rPr lang="en-US" altLang="en-US" sz="3600"/>
              <a:t>Linked List Animation</a:t>
            </a:r>
          </a:p>
        </p:txBody>
      </p:sp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5C5D96C4-D2D1-48F4-AE2A-B74096DEB6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FA1503-9456-499E-8F60-6365BC161F2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7416" name="AutoShape 19">
            <a:hlinkClick r:id="rId2" highlightClick="1"/>
            <a:extLst>
              <a:ext uri="{FF2B5EF4-FFF2-40B4-BE49-F238E27FC236}">
                <a16:creationId xmlns:a16="http://schemas.microsoft.com/office/drawing/2014/main" id="{7D140EDB-FA79-40D1-ACC4-A53FB18C0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64941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7417" name="Rectangle 2">
            <a:extLst>
              <a:ext uri="{FF2B5EF4-FFF2-40B4-BE49-F238E27FC236}">
                <a16:creationId xmlns:a16="http://schemas.microsoft.com/office/drawing/2014/main" id="{FE89DAFE-A9E6-4160-97A5-63C9B0F4C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4238"/>
            <a:ext cx="91090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https://liveexample.pearsoncmg.com/dsanimation/LinkedListeBook.html</a:t>
            </a:r>
          </a:p>
        </p:txBody>
      </p:sp>
      <p:pic>
        <p:nvPicPr>
          <p:cNvPr id="17418" name="Picture 10">
            <a:extLst>
              <a:ext uri="{FF2B5EF4-FFF2-40B4-BE49-F238E27FC236}">
                <a16:creationId xmlns:a16="http://schemas.microsoft.com/office/drawing/2014/main" id="{E1BA89E6-66DC-4C56-89F4-57D9A7046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2384425"/>
            <a:ext cx="7512050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8F454894-E3CD-4942-A3E4-3D16D9F0E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Nodes in Linked Lists</a:t>
            </a: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5A00983E-90F2-448E-A662-1D86B7C83A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763000" cy="11430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A linked list consists of nodes. Each node contains an element, and each node is linked to its next neighbor. Thus a node can be defined as a class, as follows:</a:t>
            </a:r>
          </a:p>
        </p:txBody>
      </p:sp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02A2D7BA-7894-464C-BFD5-0ACCCDECC3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ECF7CC-8D40-4924-9768-B5CA9A5D918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18442" name="Rectangle 11">
            <a:extLst>
              <a:ext uri="{FF2B5EF4-FFF2-40B4-BE49-F238E27FC236}">
                <a16:creationId xmlns:a16="http://schemas.microsoft.com/office/drawing/2014/main" id="{B01EFF1A-1490-4154-9EBF-C8B4DCC2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581400"/>
            <a:ext cx="46482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Node&lt;E&gt; {</a:t>
            </a:r>
            <a:endParaRPr lang="en-US" altLang="en-US" sz="2200" b="1">
              <a:solidFill>
                <a:schemeClr val="tx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 element;</a:t>
            </a:r>
            <a:endParaRPr lang="en-US" altLang="en-US" sz="2200" b="1">
              <a:solidFill>
                <a:schemeClr val="tx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Node&lt;E&gt; next;</a:t>
            </a:r>
            <a:endParaRPr lang="en-US" altLang="en-US" sz="2200" b="1">
              <a:solidFill>
                <a:schemeClr val="tx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altLang="en-US" sz="2200" b="1">
              <a:solidFill>
                <a:schemeClr val="tx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Node(E o) {</a:t>
            </a:r>
            <a:endParaRPr lang="en-US" altLang="en-US" sz="2200" b="1">
              <a:solidFill>
                <a:schemeClr val="tx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element = o;</a:t>
            </a:r>
            <a:endParaRPr lang="en-US" altLang="en-US" sz="2200" b="1">
              <a:solidFill>
                <a:schemeClr val="tx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sz="2200" b="1">
              <a:solidFill>
                <a:schemeClr val="tx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sz="2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18444" name="Object 12">
            <a:extLst>
              <a:ext uri="{FF2B5EF4-FFF2-40B4-BE49-F238E27FC236}">
                <a16:creationId xmlns:a16="http://schemas.microsoft.com/office/drawing/2014/main" id="{CF188DB0-8475-4053-8E0D-1471936D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044435"/>
              </p:ext>
            </p:extLst>
          </p:nvPr>
        </p:nvGraphicFramePr>
        <p:xfrm>
          <a:off x="993775" y="2057400"/>
          <a:ext cx="7613650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12464" imgH="675132" progId="Word.Picture.8">
                  <p:embed/>
                </p:oleObj>
              </mc:Choice>
              <mc:Fallback>
                <p:oleObj name="Picture" r:id="rId2" imgW="3712464" imgH="675132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057400"/>
                        <a:ext cx="7613650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9A7BFA4C-159E-4536-88DC-67C8A8AD4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Adding Three Nodes</a:t>
            </a: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DBEB6B01-06D7-4377-AB1E-5193CA3943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763000" cy="1524000"/>
          </a:xfrm>
          <a:noFill/>
        </p:spPr>
        <p:txBody>
          <a:bodyPr/>
          <a:lstStyle/>
          <a:p>
            <a:pPr marL="0" indent="0">
              <a:lnSpc>
                <a:spcPct val="80000"/>
              </a:lnSpc>
              <a:spcBef>
                <a:spcPct val="0"/>
              </a:spcBef>
              <a:buFont typeface="Monotype Sorts"/>
              <a:buNone/>
            </a:pPr>
            <a:r>
              <a:rPr lang="en-US" altLang="en-US" sz="2800"/>
              <a:t>The variable </a:t>
            </a:r>
            <a:r>
              <a:rPr lang="en-US" altLang="en-US" sz="2800" u="sng"/>
              <a:t>head</a:t>
            </a:r>
            <a:r>
              <a:rPr lang="en-US" altLang="en-US" sz="2800"/>
              <a:t> refers to the first node in the list, and the variable </a:t>
            </a:r>
            <a:r>
              <a:rPr lang="en-US" altLang="en-US" sz="2800" u="sng"/>
              <a:t>tail</a:t>
            </a:r>
            <a:r>
              <a:rPr lang="en-US" altLang="en-US" sz="2800"/>
              <a:t> refers to the last node in the list. If the list is empty, both are </a:t>
            </a:r>
            <a:r>
              <a:rPr lang="en-US" altLang="en-US" sz="2800" u="sng"/>
              <a:t>null</a:t>
            </a:r>
            <a:r>
              <a:rPr lang="en-US" altLang="en-US" sz="2800"/>
              <a:t>. For example, you can create three nodes to store three strings in a list, as follows:</a:t>
            </a:r>
            <a:r>
              <a:rPr lang="en-US" altLang="en-US" sz="1600">
                <a:cs typeface="Courier New" panose="02070309020205020404" pitchFamily="49" charset="0"/>
              </a:rPr>
              <a:t> </a:t>
            </a:r>
          </a:p>
        </p:txBody>
      </p:sp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F120F6C3-D557-4B11-8E6A-95921C5F39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B49DA7-5F1C-417C-9B37-E15A6DB8A65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19467" name="Rectangle 12">
            <a:extLst>
              <a:ext uri="{FF2B5EF4-FFF2-40B4-BE49-F238E27FC236}">
                <a16:creationId xmlns:a16="http://schemas.microsoft.com/office/drawing/2014/main" id="{A847CD53-E3AC-4A5C-B876-E0D25B843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67000"/>
            <a:ext cx="876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Monotype Sorts"/>
              <a:buNone/>
            </a:pPr>
            <a:r>
              <a:rPr lang="en-US" altLang="en-US" sz="2800"/>
              <a:t>Step 1: Declare </a:t>
            </a:r>
            <a:r>
              <a:rPr lang="en-US" altLang="en-US" sz="2800" u="sng"/>
              <a:t>head</a:t>
            </a:r>
            <a:r>
              <a:rPr lang="en-US" altLang="en-US" sz="2800"/>
              <a:t> and </a:t>
            </a:r>
            <a:r>
              <a:rPr lang="en-US" altLang="en-US" sz="2800" u="sng"/>
              <a:t>tail</a:t>
            </a:r>
            <a:r>
              <a:rPr lang="en-US" altLang="en-US" sz="2800"/>
              <a:t>:</a:t>
            </a:r>
          </a:p>
        </p:txBody>
      </p:sp>
      <p:graphicFrame>
        <p:nvGraphicFramePr>
          <p:cNvPr id="19469" name="Object 13">
            <a:extLst>
              <a:ext uri="{FF2B5EF4-FFF2-40B4-BE49-F238E27FC236}">
                <a16:creationId xmlns:a16="http://schemas.microsoft.com/office/drawing/2014/main" id="{A0994FC8-C4F1-4562-9FAF-C72D83CB7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451912"/>
              </p:ext>
            </p:extLst>
          </p:nvPr>
        </p:nvGraphicFramePr>
        <p:xfrm>
          <a:off x="230188" y="3367088"/>
          <a:ext cx="85312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21501" imgH="418403" progId="Word.Picture.8">
                  <p:embed/>
                </p:oleObj>
              </mc:Choice>
              <mc:Fallback>
                <p:oleObj name="Picture" r:id="rId2" imgW="3721501" imgH="418403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3367088"/>
                        <a:ext cx="853122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7D11210C-1DF4-4D33-8776-CE77FE19C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Adding Three Nodes, cont.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EFF9370B-8B92-4F7A-8921-B1A33599A5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6798A9-67DB-472F-84AB-3211A2433FD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BA202EFD-3330-4815-BA70-BE770A9DD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76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Monotype Sorts"/>
              <a:buNone/>
            </a:pPr>
            <a:r>
              <a:rPr lang="en-US" altLang="en-US"/>
              <a:t>Step 2: Create the first node and insert it to the list:</a:t>
            </a:r>
          </a:p>
        </p:txBody>
      </p:sp>
      <p:graphicFrame>
        <p:nvGraphicFramePr>
          <p:cNvPr id="20493" name="Object 14">
            <a:extLst>
              <a:ext uri="{FF2B5EF4-FFF2-40B4-BE49-F238E27FC236}">
                <a16:creationId xmlns:a16="http://schemas.microsoft.com/office/drawing/2014/main" id="{79F807B4-8F6E-4700-BB2A-49F6E3C8A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938232"/>
              </p:ext>
            </p:extLst>
          </p:nvPr>
        </p:nvGraphicFramePr>
        <p:xfrm>
          <a:off x="231775" y="1827213"/>
          <a:ext cx="867886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945636" imgH="838200" progId="Word.Picture.8">
                  <p:embed/>
                </p:oleObj>
              </mc:Choice>
              <mc:Fallback>
                <p:oleObj name="Picture" r:id="rId2" imgW="3945636" imgH="838200" progId="Word.Picture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1827213"/>
                        <a:ext cx="8678863" cy="184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2821CDF7-8020-494E-882B-5CFB139E6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Adding Three Nodes, cont.</a:t>
            </a:r>
          </a:p>
        </p:txBody>
      </p:sp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7E17E809-3165-4D63-BBD8-0D2BBFE4C3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240EB8-7D31-4B59-8D61-00FE5BC4ECF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1514" name="Rectangle 9">
            <a:extLst>
              <a:ext uri="{FF2B5EF4-FFF2-40B4-BE49-F238E27FC236}">
                <a16:creationId xmlns:a16="http://schemas.microsoft.com/office/drawing/2014/main" id="{D622BD88-A840-4937-9586-312A4B10C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76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Monotype Sorts"/>
              <a:buNone/>
            </a:pPr>
            <a:r>
              <a:rPr lang="en-US" altLang="en-US"/>
              <a:t>Step 3: Create the second node and insert it to the list:</a:t>
            </a:r>
          </a:p>
        </p:txBody>
      </p:sp>
      <p:graphicFrame>
        <p:nvGraphicFramePr>
          <p:cNvPr id="21518" name="Object 13">
            <a:extLst>
              <a:ext uri="{FF2B5EF4-FFF2-40B4-BE49-F238E27FC236}">
                <a16:creationId xmlns:a16="http://schemas.microsoft.com/office/drawing/2014/main" id="{DA5443E0-80FE-4092-AE46-76C7C0F2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808873"/>
              </p:ext>
            </p:extLst>
          </p:nvPr>
        </p:nvGraphicFramePr>
        <p:xfrm>
          <a:off x="155575" y="2282825"/>
          <a:ext cx="8756650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288536" imgH="1421892" progId="Word.Picture.8">
                  <p:embed/>
                </p:oleObj>
              </mc:Choice>
              <mc:Fallback>
                <p:oleObj name="Picture" r:id="rId2" imgW="4288536" imgH="1421892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2282825"/>
                        <a:ext cx="8756650" cy="291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21F7D1CA-2225-4944-A903-DC8E763AA4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Adding Three Nodes, cont.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BCD8D257-F0D3-469B-B868-CC72E93400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B5B714-1EC6-4F88-97E9-CE04DA858DC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2538" name="Rectangle 9">
            <a:extLst>
              <a:ext uri="{FF2B5EF4-FFF2-40B4-BE49-F238E27FC236}">
                <a16:creationId xmlns:a16="http://schemas.microsoft.com/office/drawing/2014/main" id="{7BF27E55-5A48-4285-B52E-9F6499104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76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Monotype Sorts"/>
              <a:buNone/>
            </a:pPr>
            <a:r>
              <a:rPr lang="en-US" altLang="en-US"/>
              <a:t>Step 4: Create the third node and insert it to the list:</a:t>
            </a:r>
          </a:p>
        </p:txBody>
      </p:sp>
      <p:graphicFrame>
        <p:nvGraphicFramePr>
          <p:cNvPr id="22543" name="Object 14">
            <a:extLst>
              <a:ext uri="{FF2B5EF4-FFF2-40B4-BE49-F238E27FC236}">
                <a16:creationId xmlns:a16="http://schemas.microsoft.com/office/drawing/2014/main" id="{F88D4CC3-643B-448B-9D0E-98D3F849C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940338"/>
              </p:ext>
            </p:extLst>
          </p:nvPr>
        </p:nvGraphicFramePr>
        <p:xfrm>
          <a:off x="230188" y="1976438"/>
          <a:ext cx="8529637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45981" imgH="1767738" progId="Word.Picture.8">
                  <p:embed/>
                </p:oleObj>
              </mc:Choice>
              <mc:Fallback>
                <p:oleObj name="Picture" r:id="rId2" imgW="5145981" imgH="1767738" progId="Word.Picture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1976438"/>
                        <a:ext cx="8529637" cy="294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32F2E1B3-6C4E-47FF-A85C-1C040929E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Traversing All Elements in the List</a:t>
            </a:r>
          </a:p>
        </p:txBody>
      </p:sp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09FA7738-02CC-40D7-870A-957CB0CD8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5C7955-8A82-4261-8290-4611F28CD8A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3562" name="Rectangle 9">
            <a:extLst>
              <a:ext uri="{FF2B5EF4-FFF2-40B4-BE49-F238E27FC236}">
                <a16:creationId xmlns:a16="http://schemas.microsoft.com/office/drawing/2014/main" id="{E67E450B-2FB2-49C0-8F83-8070121D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89154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 typeface="Monotype Sorts"/>
              <a:buNone/>
            </a:pPr>
            <a:r>
              <a:rPr lang="en-US" altLang="en-US"/>
              <a:t>Each node contains the element and a data field named </a:t>
            </a:r>
            <a:r>
              <a:rPr lang="en-US" altLang="en-US" i="1"/>
              <a:t>next</a:t>
            </a:r>
            <a:r>
              <a:rPr lang="en-US" altLang="en-US"/>
              <a:t> that points to the next node. If the node is the last in the list, its pointer data field </a:t>
            </a:r>
            <a:r>
              <a:rPr lang="en-US" altLang="en-US" u="sng"/>
              <a:t>next</a:t>
            </a:r>
            <a:r>
              <a:rPr lang="en-US" altLang="en-US"/>
              <a:t> contains the value </a:t>
            </a:r>
            <a:r>
              <a:rPr lang="en-US" altLang="en-US" u="sng"/>
              <a:t>null</a:t>
            </a:r>
            <a:r>
              <a:rPr lang="en-US" altLang="en-US"/>
              <a:t>. You can use this property to detect the last node. For example, you may write the following loop to traverse all the nodes in the list.</a:t>
            </a:r>
          </a:p>
        </p:txBody>
      </p:sp>
      <p:sp>
        <p:nvSpPr>
          <p:cNvPr id="23567" name="Rectangle 15">
            <a:extLst>
              <a:ext uri="{FF2B5EF4-FFF2-40B4-BE49-F238E27FC236}">
                <a16:creationId xmlns:a16="http://schemas.microsoft.com/office/drawing/2014/main" id="{C98F88D5-FA2F-483E-A608-66A2A2219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0"/>
            <a:ext cx="861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2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Node&lt;E&gt; current = head;</a:t>
            </a:r>
            <a:endParaRPr lang="en-US" altLang="en-US" sz="2800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sz="2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(current != </a:t>
            </a: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 sz="2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buFont typeface="Monotype Sorts"/>
              <a:buNone/>
            </a:pPr>
            <a:r>
              <a:rPr lang="en-US" altLang="en-US" sz="2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System.out.println(current.element);</a:t>
            </a:r>
          </a:p>
          <a:p>
            <a:pPr>
              <a:buFont typeface="Monotype Sorts"/>
              <a:buNone/>
            </a:pPr>
            <a:r>
              <a:rPr lang="en-US" altLang="en-US" sz="2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current = current.next;</a:t>
            </a:r>
          </a:p>
          <a:p>
            <a:pPr>
              <a:buFont typeface="Monotype Sorts"/>
              <a:buNone/>
            </a:pPr>
            <a:r>
              <a:rPr lang="en-US" altLang="en-US" sz="2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DA2E4481-E0F2-466D-AE9B-BFB26448A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MyLinkedList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B71CB735-D6B2-4792-A1F9-73726E6C1B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A6CDC2-5F18-442A-A1A3-207652D9173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graphicFrame>
        <p:nvGraphicFramePr>
          <p:cNvPr id="24589" name="Object 2">
            <a:extLst>
              <a:ext uri="{FF2B5EF4-FFF2-40B4-BE49-F238E27FC236}">
                <a16:creationId xmlns:a16="http://schemas.microsoft.com/office/drawing/2014/main" id="{9159FA35-093E-4637-ADE5-AEDBFA974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693343"/>
              </p:ext>
            </p:extLst>
          </p:nvPr>
        </p:nvGraphicFramePr>
        <p:xfrm>
          <a:off x="263525" y="800100"/>
          <a:ext cx="8616950" cy="44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746026" imgH="2459263" progId="Word.Picture.8">
                  <p:embed/>
                </p:oleObj>
              </mc:Choice>
              <mc:Fallback>
                <p:oleObj name="Picture" r:id="rId2" imgW="4746026" imgH="2459263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" y="800100"/>
                        <a:ext cx="8616950" cy="446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Rectangle 20">
            <a:hlinkClick r:id="rId4"/>
            <a:extLst>
              <a:ext uri="{FF2B5EF4-FFF2-40B4-BE49-F238E27FC236}">
                <a16:creationId xmlns:a16="http://schemas.microsoft.com/office/drawing/2014/main" id="{1099298A-39D4-4836-A652-0BB961A2C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5778500"/>
            <a:ext cx="228441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TestMyLinkedList</a:t>
            </a:r>
          </a:p>
        </p:txBody>
      </p:sp>
      <p:sp>
        <p:nvSpPr>
          <p:cNvPr id="24592" name="Rectangle 22">
            <a:hlinkClick r:id="rId5"/>
            <a:extLst>
              <a:ext uri="{FF2B5EF4-FFF2-40B4-BE49-F238E27FC236}">
                <a16:creationId xmlns:a16="http://schemas.microsoft.com/office/drawing/2014/main" id="{DC124DF3-F568-4AF2-8F6C-73FDD7C8C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791200"/>
            <a:ext cx="195421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MyLinkedList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0FAE834A-2E63-4B45-B276-BBB54B801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Implementing addFirst(E e)</a:t>
            </a:r>
          </a:p>
        </p:txBody>
      </p:sp>
      <p:sp>
        <p:nvSpPr>
          <p:cNvPr id="25612" name="Rectangle 16">
            <a:extLst>
              <a:ext uri="{FF2B5EF4-FFF2-40B4-BE49-F238E27FC236}">
                <a16:creationId xmlns:a16="http://schemas.microsoft.com/office/drawing/2014/main" id="{EF47435B-5B2D-448D-94A1-342556556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4267200" cy="2446338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public void </a:t>
            </a:r>
            <a:r>
              <a:rPr lang="en-US" altLang="en-US" sz="1900" dirty="0" err="1">
                <a:solidFill>
                  <a:schemeClr val="tx2"/>
                </a:solidFill>
              </a:rPr>
              <a:t>addFirst</a:t>
            </a:r>
            <a:r>
              <a:rPr lang="en-US" altLang="en-US" sz="1900" dirty="0">
                <a:solidFill>
                  <a:schemeClr val="tx2"/>
                </a:solidFill>
              </a:rPr>
              <a:t>(E e)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  Node&lt;E&gt; </a:t>
            </a:r>
            <a:r>
              <a:rPr lang="en-US" altLang="en-US" sz="1900" dirty="0" err="1">
                <a:solidFill>
                  <a:schemeClr val="tx2"/>
                </a:solidFill>
              </a:rPr>
              <a:t>newNode</a:t>
            </a:r>
            <a:r>
              <a:rPr lang="en-US" altLang="en-US" sz="1900" dirty="0">
                <a:solidFill>
                  <a:schemeClr val="tx2"/>
                </a:solidFill>
              </a:rPr>
              <a:t> = new Node&lt;&gt;(e);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  </a:t>
            </a:r>
            <a:r>
              <a:rPr lang="en-US" altLang="en-US" sz="1900" dirty="0" err="1">
                <a:solidFill>
                  <a:schemeClr val="tx2"/>
                </a:solidFill>
              </a:rPr>
              <a:t>newNode.next</a:t>
            </a:r>
            <a:r>
              <a:rPr lang="en-US" altLang="en-US" sz="1900" dirty="0">
                <a:solidFill>
                  <a:schemeClr val="tx2"/>
                </a:solidFill>
              </a:rPr>
              <a:t> = head;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  head = </a:t>
            </a:r>
            <a:r>
              <a:rPr lang="en-US" altLang="en-US" sz="1900" dirty="0" err="1">
                <a:solidFill>
                  <a:schemeClr val="tx2"/>
                </a:solidFill>
              </a:rPr>
              <a:t>newNode</a:t>
            </a:r>
            <a:r>
              <a:rPr lang="en-US" altLang="en-US" sz="1900" dirty="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  size++;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  if (tail == null)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    tail = head;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9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42E47F60-2058-4B2B-8E38-5A9199DDF5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BB5A99-883B-4843-91B6-E8C89DFF07C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graphicFrame>
        <p:nvGraphicFramePr>
          <p:cNvPr id="25614" name="Object 17">
            <a:extLst>
              <a:ext uri="{FF2B5EF4-FFF2-40B4-BE49-F238E27FC236}">
                <a16:creationId xmlns:a16="http://schemas.microsoft.com/office/drawing/2014/main" id="{9221FC60-D93F-4796-86A7-E2090015A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33470"/>
              </p:ext>
            </p:extLst>
          </p:nvPr>
        </p:nvGraphicFramePr>
        <p:xfrm>
          <a:off x="2592388" y="2513013"/>
          <a:ext cx="6396037" cy="384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193417" imgH="2517271" progId="Word.Picture.8">
                  <p:embed/>
                </p:oleObj>
              </mc:Choice>
              <mc:Fallback>
                <p:oleObj name="Picture" r:id="rId2" imgW="4193417" imgH="2517271" progId="Word.Picture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13013"/>
                        <a:ext cx="6396037" cy="384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Rectangle 22">
            <a:hlinkClick r:id="rId4"/>
            <a:extLst>
              <a:ext uri="{FF2B5EF4-FFF2-40B4-BE49-F238E27FC236}">
                <a16:creationId xmlns:a16="http://schemas.microsoft.com/office/drawing/2014/main" id="{63307B74-72FE-4C2B-8DB4-C7EBD4F07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1195388"/>
            <a:ext cx="27733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addFirst Animation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18FB1FE8-8AD1-49A1-89C4-9C2819C83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Implementing addLast(E e)</a:t>
            </a:r>
          </a:p>
        </p:txBody>
      </p:sp>
      <p:sp>
        <p:nvSpPr>
          <p:cNvPr id="26635" name="Rectangle 11">
            <a:extLst>
              <a:ext uri="{FF2B5EF4-FFF2-40B4-BE49-F238E27FC236}">
                <a16:creationId xmlns:a16="http://schemas.microsoft.com/office/drawing/2014/main" id="{1317F350-7556-4A4D-BBEC-A049E1E3E3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4311650" cy="32766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public void</a:t>
            </a:r>
            <a:r>
              <a:rPr lang="en-US" altLang="en-US" sz="1800">
                <a:solidFill>
                  <a:schemeClr val="tx2"/>
                </a:solidFill>
              </a:rPr>
              <a:t> addLast(E e)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</a:t>
            </a:r>
            <a:r>
              <a:rPr lang="en-US" altLang="en-US" sz="1800" b="1">
                <a:solidFill>
                  <a:schemeClr val="tx2"/>
                </a:solidFill>
              </a:rPr>
              <a:t>if</a:t>
            </a:r>
            <a:r>
              <a:rPr lang="en-US" altLang="en-US" sz="1800">
                <a:solidFill>
                  <a:schemeClr val="tx2"/>
                </a:solidFill>
              </a:rPr>
              <a:t> (tail == </a:t>
            </a:r>
            <a:r>
              <a:rPr lang="en-US" altLang="en-US" sz="1800" b="1">
                <a:solidFill>
                  <a:schemeClr val="tx2"/>
                </a:solidFill>
              </a:rPr>
              <a:t>null</a:t>
            </a:r>
            <a:r>
              <a:rPr lang="en-US" altLang="en-US" sz="1800">
                <a:solidFill>
                  <a:schemeClr val="tx2"/>
                </a:solidFill>
              </a:rPr>
              <a:t>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  head = tail = </a:t>
            </a:r>
            <a:r>
              <a:rPr lang="en-US" altLang="en-US" sz="1800" b="1">
                <a:solidFill>
                  <a:schemeClr val="tx2"/>
                </a:solidFill>
              </a:rPr>
              <a:t>new</a:t>
            </a:r>
            <a:r>
              <a:rPr lang="en-US" altLang="en-US" sz="1800">
                <a:solidFill>
                  <a:schemeClr val="tx2"/>
                </a:solidFill>
              </a:rPr>
              <a:t> Node&lt;&gt;(e);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</a:t>
            </a:r>
            <a:r>
              <a:rPr lang="en-US" altLang="en-US" sz="1800" b="1">
                <a:solidFill>
                  <a:schemeClr val="tx2"/>
                </a:solidFill>
              </a:rPr>
              <a:t>else</a:t>
            </a:r>
            <a:r>
              <a:rPr lang="en-US" altLang="en-US" sz="1800">
                <a:solidFill>
                  <a:schemeClr val="tx2"/>
                </a:solidFill>
              </a:rPr>
              <a:t>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  tail.next = </a:t>
            </a:r>
            <a:r>
              <a:rPr lang="en-US" altLang="en-US" sz="1800" b="1">
                <a:solidFill>
                  <a:schemeClr val="tx2"/>
                </a:solidFill>
              </a:rPr>
              <a:t>new</a:t>
            </a:r>
            <a:r>
              <a:rPr lang="en-US" altLang="en-US" sz="1800">
                <a:solidFill>
                  <a:schemeClr val="tx2"/>
                </a:solidFill>
              </a:rPr>
              <a:t> Node&lt;&gt;(e);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  tail = tail.next;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  size++;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5CFD949E-4DE8-4D9D-B362-654A9D5FE0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2A22FA-F38F-4850-9C2F-210FFFD05BF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graphicFrame>
        <p:nvGraphicFramePr>
          <p:cNvPr id="26637" name="Object 13">
            <a:extLst>
              <a:ext uri="{FF2B5EF4-FFF2-40B4-BE49-F238E27FC236}">
                <a16:creationId xmlns:a16="http://schemas.microsoft.com/office/drawing/2014/main" id="{2F54CC34-7364-493D-80EA-C4205742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039355"/>
              </p:ext>
            </p:extLst>
          </p:nvPr>
        </p:nvGraphicFramePr>
        <p:xfrm>
          <a:off x="3349625" y="2887663"/>
          <a:ext cx="5481638" cy="352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660653" imgH="2344772" progId="Word.Picture.8">
                  <p:embed/>
                </p:oleObj>
              </mc:Choice>
              <mc:Fallback>
                <p:oleObj name="Picture" r:id="rId2" imgW="3660653" imgH="2344772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2887663"/>
                        <a:ext cx="5481638" cy="352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Rectangle 22">
            <a:hlinkClick r:id="rId4"/>
            <a:extLst>
              <a:ext uri="{FF2B5EF4-FFF2-40B4-BE49-F238E27FC236}">
                <a16:creationId xmlns:a16="http://schemas.microsoft.com/office/drawing/2014/main" id="{AF7CFC7B-98C0-4440-A816-964452076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1195388"/>
            <a:ext cx="27733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addLast Animation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BC5AF5C9-D7D7-42F3-8DC6-33E7F0950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Implementing add(int index, E e)</a:t>
            </a:r>
            <a:r>
              <a:rPr lang="en-US" altLang="en-US"/>
              <a:t> </a:t>
            </a:r>
          </a:p>
        </p:txBody>
      </p:sp>
      <p:sp>
        <p:nvSpPr>
          <p:cNvPr id="27659" name="Rectangle 10">
            <a:extLst>
              <a:ext uri="{FF2B5EF4-FFF2-40B4-BE49-F238E27FC236}">
                <a16:creationId xmlns:a16="http://schemas.microsoft.com/office/drawing/2014/main" id="{785F6600-20EB-4477-820A-033AAEDE4F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4114800" cy="40386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public void</a:t>
            </a:r>
            <a:r>
              <a:rPr lang="en-US" altLang="en-US" sz="2000">
                <a:solidFill>
                  <a:schemeClr val="tx2"/>
                </a:solidFill>
              </a:rPr>
              <a:t> add(</a:t>
            </a:r>
            <a:r>
              <a:rPr lang="en-US" altLang="en-US" sz="2000" b="1">
                <a:solidFill>
                  <a:schemeClr val="tx2"/>
                </a:solidFill>
              </a:rPr>
              <a:t>int</a:t>
            </a:r>
            <a:r>
              <a:rPr lang="en-US" altLang="en-US" sz="2000">
                <a:solidFill>
                  <a:schemeClr val="tx2"/>
                </a:solidFill>
              </a:rPr>
              <a:t> index, E e)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if</a:t>
            </a:r>
            <a:r>
              <a:rPr lang="en-US" altLang="en-US" sz="2000">
                <a:solidFill>
                  <a:schemeClr val="tx2"/>
                </a:solidFill>
              </a:rPr>
              <a:t> (index == 0) addFirst(e);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else if</a:t>
            </a:r>
            <a:r>
              <a:rPr lang="en-US" altLang="en-US" sz="2000">
                <a:solidFill>
                  <a:schemeClr val="tx2"/>
                </a:solidFill>
              </a:rPr>
              <a:t> (index &gt;= size) addLast(e);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else</a:t>
            </a:r>
            <a:r>
              <a:rPr lang="en-US" altLang="en-US" sz="2000">
                <a:solidFill>
                  <a:schemeClr val="tx2"/>
                </a:solidFill>
              </a:rPr>
              <a:t>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Node&lt;E&gt; current = head;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</a:t>
            </a:r>
            <a:r>
              <a:rPr lang="en-US" altLang="en-US" sz="2000" b="1">
                <a:solidFill>
                  <a:schemeClr val="tx2"/>
                </a:solidFill>
              </a:rPr>
              <a:t>for</a:t>
            </a:r>
            <a:r>
              <a:rPr lang="en-US" altLang="en-US" sz="2000">
                <a:solidFill>
                  <a:schemeClr val="tx2"/>
                </a:solidFill>
              </a:rPr>
              <a:t> (</a:t>
            </a:r>
            <a:r>
              <a:rPr lang="en-US" altLang="en-US" sz="2000" b="1">
                <a:solidFill>
                  <a:schemeClr val="tx2"/>
                </a:solidFill>
              </a:rPr>
              <a:t>int</a:t>
            </a:r>
            <a:r>
              <a:rPr lang="en-US" altLang="en-US" sz="2000">
                <a:solidFill>
                  <a:schemeClr val="tx2"/>
                </a:solidFill>
              </a:rPr>
              <a:t> i = 1; i &lt; index; i++)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  current = current.next;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Node&lt;E&gt; temp = current.next;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current.next = </a:t>
            </a:r>
            <a:r>
              <a:rPr lang="en-US" altLang="en-US" sz="2000" b="1">
                <a:solidFill>
                  <a:schemeClr val="tx2"/>
                </a:solidFill>
              </a:rPr>
              <a:t>new</a:t>
            </a:r>
            <a:r>
              <a:rPr lang="en-US" altLang="en-US" sz="2000">
                <a:solidFill>
                  <a:schemeClr val="tx2"/>
                </a:solidFill>
              </a:rPr>
              <a:t> Node&lt;&gt;(e);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(current.next).next = temp;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size++;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B5B3BA2B-B5B4-49D8-95CB-D78FBD93C7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53CD27-0E04-41E6-8F20-1FBE0E4452A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graphicFrame>
        <p:nvGraphicFramePr>
          <p:cNvPr id="27663" name="Object 15">
            <a:extLst>
              <a:ext uri="{FF2B5EF4-FFF2-40B4-BE49-F238E27FC236}">
                <a16:creationId xmlns:a16="http://schemas.microsoft.com/office/drawing/2014/main" id="{F2C4A26B-AFCF-4A0D-AE37-EC09FAB8E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262185"/>
              </p:ext>
            </p:extLst>
          </p:nvPr>
        </p:nvGraphicFramePr>
        <p:xfrm>
          <a:off x="3708400" y="1952625"/>
          <a:ext cx="54356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187468" imgH="1305416" progId="Word.Picture.8">
                  <p:embed/>
                </p:oleObj>
              </mc:Choice>
              <mc:Fallback>
                <p:oleObj name="Picture" r:id="rId2" imgW="3187468" imgH="1305416" progId="Word.Picture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952625"/>
                        <a:ext cx="5435600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5" name="Object 17">
            <a:extLst>
              <a:ext uri="{FF2B5EF4-FFF2-40B4-BE49-F238E27FC236}">
                <a16:creationId xmlns:a16="http://schemas.microsoft.com/office/drawing/2014/main" id="{A88A80BD-CB51-4D64-80FB-B3C487FC7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486064"/>
              </p:ext>
            </p:extLst>
          </p:nvPr>
        </p:nvGraphicFramePr>
        <p:xfrm>
          <a:off x="3887788" y="4329113"/>
          <a:ext cx="5256212" cy="216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187468" imgH="1305416" progId="Word.Picture.8">
                  <p:embed/>
                </p:oleObj>
              </mc:Choice>
              <mc:Fallback>
                <p:oleObj name="Picture" r:id="rId4" imgW="3187468" imgH="1305416" progId="Word.Picture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4329113"/>
                        <a:ext cx="5256212" cy="216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Rectangle 22">
            <a:hlinkClick r:id="rId6"/>
            <a:extLst>
              <a:ext uri="{FF2B5EF4-FFF2-40B4-BE49-F238E27FC236}">
                <a16:creationId xmlns:a16="http://schemas.microsoft.com/office/drawing/2014/main" id="{6BDC470F-2AD2-4A39-BD0A-C0D22518A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1195388"/>
            <a:ext cx="27733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Add(index, e) Animation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5E92B2C5-2CBF-4B4E-89AD-6AE5C9930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Implementing removeFirst()</a:t>
            </a:r>
            <a:r>
              <a:rPr lang="en-US" altLang="en-US"/>
              <a:t> </a:t>
            </a:r>
          </a:p>
        </p:txBody>
      </p:sp>
      <p:sp>
        <p:nvSpPr>
          <p:cNvPr id="28683" name="Rectangle 10">
            <a:extLst>
              <a:ext uri="{FF2B5EF4-FFF2-40B4-BE49-F238E27FC236}">
                <a16:creationId xmlns:a16="http://schemas.microsoft.com/office/drawing/2014/main" id="{A2018D4A-BD9B-44A9-8985-EC1CE4B86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3505200" cy="32766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public</a:t>
            </a:r>
            <a:r>
              <a:rPr lang="en-US" altLang="en-US" sz="2000">
                <a:solidFill>
                  <a:schemeClr val="tx2"/>
                </a:solidFill>
              </a:rPr>
              <a:t> E removeFirst()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if</a:t>
            </a:r>
            <a:r>
              <a:rPr lang="en-US" altLang="en-US" sz="2000">
                <a:solidFill>
                  <a:schemeClr val="tx2"/>
                </a:solidFill>
              </a:rPr>
              <a:t> (size == 0) </a:t>
            </a:r>
            <a:r>
              <a:rPr lang="en-US" altLang="en-US" sz="2000" b="1">
                <a:solidFill>
                  <a:schemeClr val="tx2"/>
                </a:solidFill>
              </a:rPr>
              <a:t>return null</a:t>
            </a:r>
            <a:r>
              <a:rPr lang="en-US" altLang="en-US" sz="200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else</a:t>
            </a:r>
            <a:r>
              <a:rPr lang="en-US" altLang="en-US" sz="2000">
                <a:solidFill>
                  <a:schemeClr val="tx2"/>
                </a:solidFill>
              </a:rPr>
              <a:t>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Node&lt;E&gt; temp = head;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head = head.next;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size--;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</a:t>
            </a:r>
            <a:r>
              <a:rPr lang="en-US" altLang="en-US" sz="2000" b="1">
                <a:solidFill>
                  <a:schemeClr val="tx2"/>
                </a:solidFill>
              </a:rPr>
              <a:t>if</a:t>
            </a:r>
            <a:r>
              <a:rPr lang="en-US" altLang="en-US" sz="2000">
                <a:solidFill>
                  <a:schemeClr val="tx2"/>
                </a:solidFill>
              </a:rPr>
              <a:t> (head == </a:t>
            </a:r>
            <a:r>
              <a:rPr lang="en-US" altLang="en-US" sz="2000" b="1">
                <a:solidFill>
                  <a:schemeClr val="tx2"/>
                </a:solidFill>
              </a:rPr>
              <a:t>null</a:t>
            </a:r>
            <a:r>
              <a:rPr lang="en-US" altLang="en-US" sz="2000">
                <a:solidFill>
                  <a:schemeClr val="tx2"/>
                </a:solidFill>
              </a:rPr>
              <a:t>) tail = </a:t>
            </a:r>
            <a:r>
              <a:rPr lang="en-US" altLang="en-US" sz="2000" b="1">
                <a:solidFill>
                  <a:schemeClr val="tx2"/>
                </a:solidFill>
              </a:rPr>
              <a:t>null</a:t>
            </a:r>
            <a:r>
              <a:rPr lang="en-US" altLang="en-US" sz="200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return temp.element;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0FE5FB21-5F71-468C-A3EA-44F8483D30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5CCC21-0CDE-4367-9C2C-CDC425274AD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graphicFrame>
        <p:nvGraphicFramePr>
          <p:cNvPr id="28687" name="Object 14">
            <a:extLst>
              <a:ext uri="{FF2B5EF4-FFF2-40B4-BE49-F238E27FC236}">
                <a16:creationId xmlns:a16="http://schemas.microsoft.com/office/drawing/2014/main" id="{273C7036-CA78-4238-BCE6-095884CA5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833974"/>
              </p:ext>
            </p:extLst>
          </p:nvPr>
        </p:nvGraphicFramePr>
        <p:xfrm>
          <a:off x="3657600" y="2362200"/>
          <a:ext cx="5486400" cy="365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380232" imgH="2246376" progId="Word.Picture.8">
                  <p:embed/>
                </p:oleObj>
              </mc:Choice>
              <mc:Fallback>
                <p:oleObj name="Picture" r:id="rId2" imgW="3380232" imgH="2246376" progId="Word.Picture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362200"/>
                        <a:ext cx="5486400" cy="365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8" name="Rectangle 22">
            <a:hlinkClick r:id="rId4"/>
            <a:extLst>
              <a:ext uri="{FF2B5EF4-FFF2-40B4-BE49-F238E27FC236}">
                <a16:creationId xmlns:a16="http://schemas.microsoft.com/office/drawing/2014/main" id="{89D42834-D982-49C5-B0C6-16ADF8DAA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1195388"/>
            <a:ext cx="27733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removeFirst Animation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2CCA2A98-4B23-40AD-9266-EE7B88B20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0" y="304800"/>
            <a:ext cx="5029200" cy="990600"/>
          </a:xfrm>
          <a:noFill/>
        </p:spPr>
        <p:txBody>
          <a:bodyPr/>
          <a:lstStyle/>
          <a:p>
            <a:r>
              <a:rPr lang="en-US" altLang="en-US" sz="3600"/>
              <a:t>Implementing removeLast()</a:t>
            </a:r>
            <a:r>
              <a:rPr lang="en-US" altLang="en-US"/>
              <a:t> </a:t>
            </a:r>
          </a:p>
        </p:txBody>
      </p:sp>
      <p:sp>
        <p:nvSpPr>
          <p:cNvPr id="29707" name="Rectangle 10">
            <a:extLst>
              <a:ext uri="{FF2B5EF4-FFF2-40B4-BE49-F238E27FC236}">
                <a16:creationId xmlns:a16="http://schemas.microsoft.com/office/drawing/2014/main" id="{B87BE6C1-8C7C-40AE-9A33-49DBA5A37D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228600"/>
            <a:ext cx="3429000" cy="57912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public</a:t>
            </a:r>
            <a:r>
              <a:rPr lang="en-US" altLang="en-US" sz="1800" dirty="0">
                <a:solidFill>
                  <a:schemeClr val="tx2"/>
                </a:solidFill>
              </a:rPr>
              <a:t> E </a:t>
            </a:r>
            <a:r>
              <a:rPr lang="en-US" altLang="en-US" sz="1800" dirty="0" err="1">
                <a:solidFill>
                  <a:schemeClr val="tx2"/>
                </a:solidFill>
              </a:rPr>
              <a:t>removeLast</a:t>
            </a:r>
            <a:r>
              <a:rPr lang="en-US" altLang="en-US" sz="1800" dirty="0">
                <a:solidFill>
                  <a:schemeClr val="tx2"/>
                </a:solidFill>
              </a:rPr>
              <a:t>()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</a:t>
            </a:r>
            <a:r>
              <a:rPr lang="en-US" altLang="en-US" sz="1800" b="1" dirty="0">
                <a:solidFill>
                  <a:schemeClr val="tx2"/>
                </a:solidFill>
              </a:rPr>
              <a:t>if</a:t>
            </a:r>
            <a:r>
              <a:rPr lang="en-US" altLang="en-US" sz="1800" dirty="0">
                <a:solidFill>
                  <a:schemeClr val="tx2"/>
                </a:solidFill>
              </a:rPr>
              <a:t> (size == 0) </a:t>
            </a:r>
            <a:r>
              <a:rPr lang="en-US" altLang="en-US" sz="1800" b="1" dirty="0">
                <a:solidFill>
                  <a:schemeClr val="tx2"/>
                </a:solidFill>
              </a:rPr>
              <a:t>return null</a:t>
            </a:r>
            <a:r>
              <a:rPr lang="en-US" altLang="en-US" sz="1800" dirty="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</a:t>
            </a:r>
            <a:r>
              <a:rPr lang="en-US" altLang="en-US" sz="1800" b="1" dirty="0">
                <a:solidFill>
                  <a:schemeClr val="tx2"/>
                </a:solidFill>
              </a:rPr>
              <a:t>else if</a:t>
            </a:r>
            <a:r>
              <a:rPr lang="en-US" altLang="en-US" sz="1800" dirty="0">
                <a:solidFill>
                  <a:schemeClr val="tx2"/>
                </a:solidFill>
              </a:rPr>
              <a:t> (size == 1)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Node&lt;E&gt; temp = head;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head = tail = </a:t>
            </a:r>
            <a:r>
              <a:rPr lang="en-US" altLang="en-US" sz="1800" b="1" dirty="0">
                <a:solidFill>
                  <a:schemeClr val="tx2"/>
                </a:solidFill>
              </a:rPr>
              <a:t>null</a:t>
            </a:r>
            <a:r>
              <a:rPr lang="en-US" altLang="en-US" sz="1800" dirty="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size = 0;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return </a:t>
            </a:r>
            <a:r>
              <a:rPr lang="en-US" altLang="en-US" sz="1800" dirty="0" err="1">
                <a:solidFill>
                  <a:schemeClr val="tx2"/>
                </a:solidFill>
              </a:rPr>
              <a:t>temp.element</a:t>
            </a:r>
            <a:r>
              <a:rPr lang="en-US" altLang="en-US" sz="1800" dirty="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</a:t>
            </a:r>
            <a:r>
              <a:rPr lang="en-US" altLang="en-US" sz="1800" b="1" dirty="0">
                <a:solidFill>
                  <a:schemeClr val="tx2"/>
                </a:solidFill>
              </a:rPr>
              <a:t>else</a:t>
            </a:r>
            <a:endParaRPr lang="en-US" altLang="en-US" sz="1800" dirty="0">
              <a:solidFill>
                <a:schemeClr val="tx2"/>
              </a:solidFill>
            </a:endParaRP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Node&lt;E&gt; current = head;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</a:t>
            </a:r>
            <a:r>
              <a:rPr lang="en-US" altLang="en-US" sz="1800" b="1" dirty="0">
                <a:solidFill>
                  <a:schemeClr val="tx2"/>
                </a:solidFill>
              </a:rPr>
              <a:t>for</a:t>
            </a:r>
            <a:r>
              <a:rPr lang="en-US" altLang="en-US" sz="1800" dirty="0">
                <a:solidFill>
                  <a:schemeClr val="tx2"/>
                </a:solidFill>
              </a:rPr>
              <a:t> (</a:t>
            </a:r>
            <a:r>
              <a:rPr lang="en-US" altLang="en-US" sz="1800" b="1" dirty="0">
                <a:solidFill>
                  <a:schemeClr val="tx2"/>
                </a:solidFill>
              </a:rPr>
              <a:t>int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 err="1">
                <a:solidFill>
                  <a:schemeClr val="tx2"/>
                </a:solidFill>
              </a:rPr>
              <a:t>i</a:t>
            </a:r>
            <a:r>
              <a:rPr lang="en-US" altLang="en-US" sz="1800" dirty="0">
                <a:solidFill>
                  <a:schemeClr val="tx2"/>
                </a:solidFill>
              </a:rPr>
              <a:t> = 0; </a:t>
            </a:r>
            <a:r>
              <a:rPr lang="en-US" altLang="en-US" sz="1800" dirty="0" err="1">
                <a:solidFill>
                  <a:schemeClr val="tx2"/>
                </a:solidFill>
              </a:rPr>
              <a:t>i</a:t>
            </a:r>
            <a:r>
              <a:rPr lang="en-US" altLang="en-US" sz="1800" dirty="0">
                <a:solidFill>
                  <a:schemeClr val="tx2"/>
                </a:solidFill>
              </a:rPr>
              <a:t> &lt; size - 2; </a:t>
            </a:r>
            <a:r>
              <a:rPr lang="en-US" altLang="en-US" sz="1800" dirty="0" err="1">
                <a:solidFill>
                  <a:schemeClr val="tx2"/>
                </a:solidFill>
              </a:rPr>
              <a:t>i</a:t>
            </a:r>
            <a:r>
              <a:rPr lang="en-US" altLang="en-US" sz="1800" dirty="0">
                <a:solidFill>
                  <a:schemeClr val="tx2"/>
                </a:solidFill>
              </a:rPr>
              <a:t>++)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  current = </a:t>
            </a:r>
            <a:r>
              <a:rPr lang="en-US" altLang="en-US" sz="1800" dirty="0" err="1">
                <a:solidFill>
                  <a:schemeClr val="tx2"/>
                </a:solidFill>
              </a:rPr>
              <a:t>current.next</a:t>
            </a:r>
            <a:r>
              <a:rPr lang="en-US" altLang="en-US" sz="1800" dirty="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Node temp = tail;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tail = current;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</a:t>
            </a:r>
            <a:r>
              <a:rPr lang="en-US" altLang="en-US" sz="1800" dirty="0" err="1">
                <a:solidFill>
                  <a:schemeClr val="tx2"/>
                </a:solidFill>
              </a:rPr>
              <a:t>tail.next</a:t>
            </a:r>
            <a:r>
              <a:rPr lang="en-US" altLang="en-US" sz="1800" dirty="0">
                <a:solidFill>
                  <a:schemeClr val="tx2"/>
                </a:solidFill>
              </a:rPr>
              <a:t> = </a:t>
            </a:r>
            <a:r>
              <a:rPr lang="en-US" altLang="en-US" sz="1800" b="1" dirty="0">
                <a:solidFill>
                  <a:schemeClr val="tx2"/>
                </a:solidFill>
              </a:rPr>
              <a:t>null</a:t>
            </a:r>
            <a:r>
              <a:rPr lang="en-US" altLang="en-US" sz="1800" dirty="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size--;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  </a:t>
            </a:r>
            <a:r>
              <a:rPr lang="en-US" altLang="en-US" sz="1800" b="1" dirty="0">
                <a:solidFill>
                  <a:schemeClr val="tx2"/>
                </a:solidFill>
              </a:rPr>
              <a:t>return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 err="1">
                <a:solidFill>
                  <a:schemeClr val="tx2"/>
                </a:solidFill>
              </a:rPr>
              <a:t>temp.element</a:t>
            </a:r>
            <a:r>
              <a:rPr lang="en-US" altLang="en-US" sz="1800" dirty="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F49B60C2-8C6C-4387-9937-C911137774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A043D3-FBEF-4C7F-B05B-25C5C1747EA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graphicFrame>
        <p:nvGraphicFramePr>
          <p:cNvPr id="29712" name="Object 15">
            <a:extLst>
              <a:ext uri="{FF2B5EF4-FFF2-40B4-BE49-F238E27FC236}">
                <a16:creationId xmlns:a16="http://schemas.microsoft.com/office/drawing/2014/main" id="{674F8263-7F01-4E45-9035-863F844BD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399437"/>
              </p:ext>
            </p:extLst>
          </p:nvPr>
        </p:nvGraphicFramePr>
        <p:xfrm>
          <a:off x="3505200" y="1752600"/>
          <a:ext cx="5638800" cy="397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025140" imgH="2132076" progId="Word.Picture.8">
                  <p:embed/>
                </p:oleObj>
              </mc:Choice>
              <mc:Fallback>
                <p:oleObj name="Picture" r:id="rId3" imgW="3025140" imgH="2132076" progId="Word.Picture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752600"/>
                        <a:ext cx="5638800" cy="397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3" name="Rectangle 22">
            <a:hlinkClick r:id="rId5"/>
            <a:extLst>
              <a:ext uri="{FF2B5EF4-FFF2-40B4-BE49-F238E27FC236}">
                <a16:creationId xmlns:a16="http://schemas.microsoft.com/office/drawing/2014/main" id="{38E8C46B-B186-4722-B37C-C8EE30568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1428750"/>
            <a:ext cx="2771775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addLast Animation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4C652C38-C7D3-4006-8099-694FC83D3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Implementing remove(int index)</a:t>
            </a:r>
            <a:r>
              <a:rPr lang="en-US" altLang="en-US"/>
              <a:t> </a:t>
            </a:r>
          </a:p>
        </p:txBody>
      </p:sp>
      <p:sp>
        <p:nvSpPr>
          <p:cNvPr id="30731" name="Rectangle 10">
            <a:extLst>
              <a:ext uri="{FF2B5EF4-FFF2-40B4-BE49-F238E27FC236}">
                <a16:creationId xmlns:a16="http://schemas.microsoft.com/office/drawing/2014/main" id="{14632400-AA33-4F21-845F-BA9D61167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5410200" cy="49530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public</a:t>
            </a:r>
            <a:r>
              <a:rPr lang="en-US" altLang="en-US" sz="2000">
                <a:solidFill>
                  <a:schemeClr val="tx2"/>
                </a:solidFill>
              </a:rPr>
              <a:t> E remove(</a:t>
            </a:r>
            <a:r>
              <a:rPr lang="en-US" altLang="en-US" sz="2000" b="1">
                <a:solidFill>
                  <a:schemeClr val="tx2"/>
                </a:solidFill>
              </a:rPr>
              <a:t>int</a:t>
            </a:r>
            <a:r>
              <a:rPr lang="en-US" altLang="en-US" sz="2000">
                <a:solidFill>
                  <a:schemeClr val="tx2"/>
                </a:solidFill>
              </a:rPr>
              <a:t> index)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if</a:t>
            </a:r>
            <a:r>
              <a:rPr lang="en-US" altLang="en-US" sz="2000">
                <a:solidFill>
                  <a:schemeClr val="tx2"/>
                </a:solidFill>
              </a:rPr>
              <a:t> (index &lt; 0 || index &gt;= size) </a:t>
            </a:r>
            <a:r>
              <a:rPr lang="en-US" altLang="en-US" sz="2000" b="1">
                <a:solidFill>
                  <a:schemeClr val="tx2"/>
                </a:solidFill>
              </a:rPr>
              <a:t>return null</a:t>
            </a:r>
            <a:r>
              <a:rPr lang="en-US" altLang="en-US" sz="2000">
                <a:solidFill>
                  <a:schemeClr val="tx2"/>
                </a:solidFill>
              </a:rPr>
              <a:t>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else if</a:t>
            </a:r>
            <a:r>
              <a:rPr lang="en-US" altLang="en-US" sz="2000">
                <a:solidFill>
                  <a:schemeClr val="tx2"/>
                </a:solidFill>
              </a:rPr>
              <a:t> (index == 0) </a:t>
            </a:r>
            <a:r>
              <a:rPr lang="en-US" altLang="en-US" sz="2000" b="1">
                <a:solidFill>
                  <a:schemeClr val="tx2"/>
                </a:solidFill>
              </a:rPr>
              <a:t>return</a:t>
            </a:r>
            <a:r>
              <a:rPr lang="en-US" altLang="en-US" sz="2000">
                <a:solidFill>
                  <a:schemeClr val="tx2"/>
                </a:solidFill>
              </a:rPr>
              <a:t> removeFirst();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else if </a:t>
            </a:r>
            <a:r>
              <a:rPr lang="en-US" altLang="en-US" sz="2000">
                <a:solidFill>
                  <a:schemeClr val="tx2"/>
                </a:solidFill>
              </a:rPr>
              <a:t>(index == size - 1) </a:t>
            </a:r>
            <a:r>
              <a:rPr lang="en-US" altLang="en-US" sz="2000" b="1">
                <a:solidFill>
                  <a:schemeClr val="tx2"/>
                </a:solidFill>
              </a:rPr>
              <a:t>return</a:t>
            </a:r>
            <a:r>
              <a:rPr lang="en-US" altLang="en-US" sz="2000">
                <a:solidFill>
                  <a:schemeClr val="tx2"/>
                </a:solidFill>
              </a:rPr>
              <a:t> removeLast();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</a:t>
            </a:r>
            <a:r>
              <a:rPr lang="en-US" altLang="en-US" sz="2000" b="1">
                <a:solidFill>
                  <a:schemeClr val="tx2"/>
                </a:solidFill>
              </a:rPr>
              <a:t>else</a:t>
            </a:r>
            <a:r>
              <a:rPr lang="en-US" altLang="en-US" sz="2000">
                <a:solidFill>
                  <a:schemeClr val="tx2"/>
                </a:solidFill>
              </a:rPr>
              <a:t>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Node&lt;E&gt; previous = head;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</a:t>
            </a:r>
            <a:r>
              <a:rPr lang="en-US" altLang="en-US" sz="2000" b="1">
                <a:solidFill>
                  <a:schemeClr val="tx2"/>
                </a:solidFill>
              </a:rPr>
              <a:t>for</a:t>
            </a:r>
            <a:r>
              <a:rPr lang="en-US" altLang="en-US" sz="2000">
                <a:solidFill>
                  <a:schemeClr val="tx2"/>
                </a:solidFill>
              </a:rPr>
              <a:t> (int i = 1; i &lt; index; i++) {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  previous = previous.next;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Node&lt;E&gt; current = previous.next;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previous.next = current.next;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size--;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  </a:t>
            </a:r>
            <a:r>
              <a:rPr lang="en-US" altLang="en-US" sz="2000" b="1">
                <a:solidFill>
                  <a:schemeClr val="tx2"/>
                </a:solidFill>
              </a:rPr>
              <a:t>return </a:t>
            </a:r>
            <a:r>
              <a:rPr lang="en-US" altLang="en-US" sz="2000">
                <a:solidFill>
                  <a:schemeClr val="tx2"/>
                </a:solidFill>
              </a:rPr>
              <a:t>current.element;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  }</a:t>
            </a:r>
          </a:p>
          <a:p>
            <a:pPr marL="0" indent="0">
              <a:lnSpc>
                <a:spcPct val="80000"/>
              </a:lnSpc>
              <a:buFont typeface="Monotype Sorts"/>
              <a:buNone/>
            </a:pPr>
            <a:r>
              <a:rPr lang="en-US" altLang="en-US" sz="200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49AEF153-7D05-4D6F-BC38-7C49235EB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A4F161-CCF6-4C13-8113-12BFB99E4BD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graphicFrame>
        <p:nvGraphicFramePr>
          <p:cNvPr id="30736" name="Object 15">
            <a:extLst>
              <a:ext uri="{FF2B5EF4-FFF2-40B4-BE49-F238E27FC236}">
                <a16:creationId xmlns:a16="http://schemas.microsoft.com/office/drawing/2014/main" id="{DF5B7C77-6857-4A3E-A641-918A988D7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545594"/>
              </p:ext>
            </p:extLst>
          </p:nvPr>
        </p:nvGraphicFramePr>
        <p:xfrm>
          <a:off x="3816350" y="2430463"/>
          <a:ext cx="5181600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241548" imgH="2232660" progId="Word.Picture.8">
                  <p:embed/>
                </p:oleObj>
              </mc:Choice>
              <mc:Fallback>
                <p:oleObj name="Picture" r:id="rId2" imgW="3241548" imgH="2232660" progId="Word.Picture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2430463"/>
                        <a:ext cx="5181600" cy="357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Rectangle 22">
            <a:hlinkClick r:id="rId4"/>
            <a:extLst>
              <a:ext uri="{FF2B5EF4-FFF2-40B4-BE49-F238E27FC236}">
                <a16:creationId xmlns:a16="http://schemas.microsoft.com/office/drawing/2014/main" id="{E5B04E37-1137-4D46-9B85-8A793F43D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1195388"/>
            <a:ext cx="27733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remove Animation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F85947D8-417A-49C5-9070-6C8468470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839200" cy="457200"/>
          </a:xfrm>
          <a:noFill/>
        </p:spPr>
        <p:txBody>
          <a:bodyPr/>
          <a:lstStyle/>
          <a:p>
            <a:r>
              <a:rPr lang="en-US" altLang="en-US" sz="3200"/>
              <a:t>Time Complexity for ArrayList and LinkedList</a:t>
            </a:r>
            <a:r>
              <a:rPr lang="en-US" altLang="en-US"/>
              <a:t> </a:t>
            </a:r>
          </a:p>
        </p:txBody>
      </p:sp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B1DB9366-5EE4-4408-AB56-63DE6A8490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EEE93C-1CF6-4864-8B0F-04A3A1B05E3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graphicFrame>
        <p:nvGraphicFramePr>
          <p:cNvPr id="31758" name="Object 18">
            <a:extLst>
              <a:ext uri="{FF2B5EF4-FFF2-40B4-BE49-F238E27FC236}">
                <a16:creationId xmlns:a16="http://schemas.microsoft.com/office/drawing/2014/main" id="{73572000-9BEE-4C6F-8BE3-CC34F7AB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991685"/>
              </p:ext>
            </p:extLst>
          </p:nvPr>
        </p:nvGraphicFramePr>
        <p:xfrm>
          <a:off x="900113" y="836613"/>
          <a:ext cx="7308850" cy="537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30800" imgH="3784600" progId="Word.Picture.8">
                  <p:embed/>
                </p:oleObj>
              </mc:Choice>
              <mc:Fallback>
                <p:oleObj name="Picture" r:id="rId2" imgW="5130800" imgH="3784600" progId="Word.Picture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836613"/>
                        <a:ext cx="7308850" cy="537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925E737C-DB73-44BB-9299-1541C0449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839200" cy="457200"/>
          </a:xfrm>
          <a:noFill/>
        </p:spPr>
        <p:txBody>
          <a:bodyPr/>
          <a:lstStyle/>
          <a:p>
            <a:r>
              <a:rPr lang="en-US" altLang="en-US"/>
              <a:t>Circular Linked Lists </a:t>
            </a: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0B9A143A-2806-4830-B17B-82E9902D7F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1600200"/>
          </a:xfrm>
          <a:noFill/>
        </p:spPr>
        <p:txBody>
          <a:bodyPr/>
          <a:lstStyle/>
          <a:p>
            <a:pPr marL="0" indent="0">
              <a:buFont typeface="Monotype Sorts"/>
              <a:buNone/>
            </a:pPr>
            <a:r>
              <a:rPr lang="en-US" altLang="en-US"/>
              <a:t>A </a:t>
            </a:r>
            <a:r>
              <a:rPr lang="en-US" altLang="en-US" i="1"/>
              <a:t>circular, singly linked list</a:t>
            </a:r>
            <a:r>
              <a:rPr lang="en-US" altLang="en-US"/>
              <a:t> is like a singly linked list, except that the pointer of the last node points back to the first node. 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B2C3EF90-28E1-4142-BDA3-73B7CAAFAE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5C12E3-FB2D-42AB-85FE-A5B1355477C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graphicFrame>
        <p:nvGraphicFramePr>
          <p:cNvPr id="32782" name="Object 13">
            <a:extLst>
              <a:ext uri="{FF2B5EF4-FFF2-40B4-BE49-F238E27FC236}">
                <a16:creationId xmlns:a16="http://schemas.microsoft.com/office/drawing/2014/main" id="{B261A9FC-FCAD-4D2E-B2F1-09B61555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380021"/>
              </p:ext>
            </p:extLst>
          </p:nvPr>
        </p:nvGraphicFramePr>
        <p:xfrm>
          <a:off x="231775" y="3200400"/>
          <a:ext cx="8678863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12464" imgH="798576" progId="Word.Picture.8">
                  <p:embed/>
                </p:oleObj>
              </mc:Choice>
              <mc:Fallback>
                <p:oleObj name="Picture" r:id="rId2" imgW="3712464" imgH="798576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3200400"/>
                        <a:ext cx="8678863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3BEC668F-EE8D-434A-B5D5-103CEA49C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839200" cy="457200"/>
          </a:xfrm>
          <a:noFill/>
        </p:spPr>
        <p:txBody>
          <a:bodyPr/>
          <a:lstStyle/>
          <a:p>
            <a:r>
              <a:rPr lang="en-US" altLang="en-US"/>
              <a:t>Doubly Linked Lists </a:t>
            </a:r>
          </a:p>
        </p:txBody>
      </p:sp>
      <p:sp>
        <p:nvSpPr>
          <p:cNvPr id="33800" name="Rectangle 7">
            <a:extLst>
              <a:ext uri="{FF2B5EF4-FFF2-40B4-BE49-F238E27FC236}">
                <a16:creationId xmlns:a16="http://schemas.microsoft.com/office/drawing/2014/main" id="{FC330FD5-8748-4DB4-B319-7EE4DFB623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3048000"/>
          </a:xfrm>
          <a:noFill/>
        </p:spPr>
        <p:txBody>
          <a:bodyPr/>
          <a:lstStyle/>
          <a:p>
            <a:pPr marL="0" indent="0">
              <a:buFont typeface="Monotype Sorts"/>
              <a:buNone/>
            </a:pPr>
            <a:r>
              <a:rPr lang="en-US" altLang="en-US" sz="2800"/>
              <a:t>A </a:t>
            </a:r>
            <a:r>
              <a:rPr lang="en-US" altLang="en-US" sz="2800" i="1"/>
              <a:t>doubly linked</a:t>
            </a:r>
            <a:r>
              <a:rPr lang="en-US" altLang="en-US" sz="2800"/>
              <a:t> </a:t>
            </a:r>
            <a:r>
              <a:rPr lang="en-US" altLang="en-US" sz="2800" i="1"/>
              <a:t>list</a:t>
            </a:r>
            <a:r>
              <a:rPr lang="en-US" altLang="en-US" sz="2800"/>
              <a:t> contains the nodes with two pointers. One points to the next node and the other points to the previous node. These two pointers are conveniently called </a:t>
            </a:r>
            <a:r>
              <a:rPr lang="en-US" altLang="en-US" sz="2800" i="1"/>
              <a:t>a forward pointer</a:t>
            </a:r>
            <a:r>
              <a:rPr lang="en-US" altLang="en-US" sz="2800"/>
              <a:t> and </a:t>
            </a:r>
            <a:r>
              <a:rPr lang="en-US" altLang="en-US" sz="2800" i="1"/>
              <a:t>a backward pointer</a:t>
            </a:r>
            <a:r>
              <a:rPr lang="en-US" altLang="en-US" sz="2800"/>
              <a:t>. So, a doubly linked list can be traversed forward and backward.</a:t>
            </a:r>
          </a:p>
        </p:txBody>
      </p:sp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D3CBF1F0-AF41-47AD-A8F3-96845E59A8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2FDD65-5533-4036-B7D9-9341557D079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graphicFrame>
        <p:nvGraphicFramePr>
          <p:cNvPr id="33805" name="Object 12">
            <a:extLst>
              <a:ext uri="{FF2B5EF4-FFF2-40B4-BE49-F238E27FC236}">
                <a16:creationId xmlns:a16="http://schemas.microsoft.com/office/drawing/2014/main" id="{F6360711-B0A1-4E84-89D6-C5642227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072089"/>
              </p:ext>
            </p:extLst>
          </p:nvPr>
        </p:nvGraphicFramePr>
        <p:xfrm>
          <a:off x="231775" y="3733800"/>
          <a:ext cx="8678863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12464" imgH="798576" progId="Word.Picture.8">
                  <p:embed/>
                </p:oleObj>
              </mc:Choice>
              <mc:Fallback>
                <p:oleObj name="Picture" r:id="rId2" imgW="3712464" imgH="798576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3733800"/>
                        <a:ext cx="8678863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A4BBF9BE-38C1-44A5-A117-646E00191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839200" cy="457200"/>
          </a:xfrm>
          <a:noFill/>
        </p:spPr>
        <p:txBody>
          <a:bodyPr/>
          <a:lstStyle/>
          <a:p>
            <a:r>
              <a:rPr lang="en-US" altLang="en-US"/>
              <a:t>Circular Doubly Linked Lists </a:t>
            </a: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22AB8289-A7FC-423D-AF55-30ACBD1659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2133600"/>
          </a:xfrm>
          <a:noFill/>
        </p:spPr>
        <p:txBody>
          <a:bodyPr/>
          <a:lstStyle/>
          <a:p>
            <a:pPr marL="0" indent="0">
              <a:buFont typeface="Monotype Sorts"/>
              <a:buNone/>
            </a:pPr>
            <a:r>
              <a:rPr lang="en-US" altLang="en-US"/>
              <a:t>A </a:t>
            </a:r>
            <a:r>
              <a:rPr lang="en-US" altLang="en-US" i="1"/>
              <a:t>circular</a:t>
            </a:r>
            <a:r>
              <a:rPr lang="en-US" altLang="en-US"/>
              <a:t>, </a:t>
            </a:r>
            <a:r>
              <a:rPr lang="en-US" altLang="en-US" i="1"/>
              <a:t>doubly linked list</a:t>
            </a:r>
            <a:r>
              <a:rPr lang="en-US" altLang="en-US"/>
              <a:t> is doubly linked list, except that the forward pointer of the last node points to the first node and the backward pointer of the first pointer points to the last node. 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844BD37D-3391-42E7-80C0-1D31B8897B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BF1590-0E2D-4ED3-8F60-0B72FFD6101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graphicFrame>
        <p:nvGraphicFramePr>
          <p:cNvPr id="34830" name="Object 12">
            <a:extLst>
              <a:ext uri="{FF2B5EF4-FFF2-40B4-BE49-F238E27FC236}">
                <a16:creationId xmlns:a16="http://schemas.microsoft.com/office/drawing/2014/main" id="{32B3F7E5-8B7B-42E2-B1CB-8F6BCB922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341472"/>
              </p:ext>
            </p:extLst>
          </p:nvPr>
        </p:nvGraphicFramePr>
        <p:xfrm>
          <a:off x="231775" y="3429000"/>
          <a:ext cx="8678863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12464" imgH="1030224" progId="Word.Picture.8">
                  <p:embed/>
                </p:oleObj>
              </mc:Choice>
              <mc:Fallback>
                <p:oleObj name="Picture" r:id="rId2" imgW="3712464" imgH="1030224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3429000"/>
                        <a:ext cx="8678863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C63C44ED-3EA1-4832-AD12-7E0B960D6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Stacks</a:t>
            </a: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6DE98D5A-7DB0-49A3-B0CC-FFB4DF80A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914400"/>
            <a:ext cx="8458200" cy="17526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>
                <a:cs typeface="Courier New" panose="02070309020205020404" pitchFamily="49" charset="0"/>
              </a:rPr>
              <a:t>A stack can be viewed as a special type of list, where the elements are accessed, inserted, and deleted only from the end, called the top, of the stack. </a:t>
            </a:r>
          </a:p>
        </p:txBody>
      </p:sp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6EDB86AF-D6BD-43E7-93F5-0D0AB3ABA5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54C86B-E171-4EDB-B131-EF8EF306C5F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graphicFrame>
        <p:nvGraphicFramePr>
          <p:cNvPr id="35857" name="Object 16">
            <a:extLst>
              <a:ext uri="{FF2B5EF4-FFF2-40B4-BE49-F238E27FC236}">
                <a16:creationId xmlns:a16="http://schemas.microsoft.com/office/drawing/2014/main" id="{0855C803-5476-42CE-B165-DDAD33F19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616575"/>
              </p:ext>
            </p:extLst>
          </p:nvPr>
        </p:nvGraphicFramePr>
        <p:xfrm>
          <a:off x="609600" y="2895600"/>
          <a:ext cx="7696200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36848" imgH="1674876" progId="Word.Picture.8">
                  <p:embed/>
                </p:oleObj>
              </mc:Choice>
              <mc:Fallback>
                <p:oleObj name="Picture" r:id="rId2" imgW="3736848" imgH="1674876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95600"/>
                        <a:ext cx="7696200" cy="345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9C38A317-348F-45E5-98AB-A7F381765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Queues</a:t>
            </a: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AA9DF3C4-623D-4E11-B7C4-BBE6F755F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458200" cy="23622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>
                <a:cs typeface="Courier New" panose="02070309020205020404" pitchFamily="49" charset="0"/>
              </a:rPr>
              <a:t>A queue represents a waiting list. A queue can be viewed as a special type of list, where the elements are inserted into the end (tail) of the queue, and are accessed and deleted from the beginning (head) of the queue. </a:t>
            </a:r>
          </a:p>
        </p:txBody>
      </p:sp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0E97CDE7-D702-4E47-ADF5-2445C5D54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F0953C-CDBF-4043-8EA7-8BCC4C2CA59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graphicFrame>
        <p:nvGraphicFramePr>
          <p:cNvPr id="36880" name="Object 18">
            <a:extLst>
              <a:ext uri="{FF2B5EF4-FFF2-40B4-BE49-F238E27FC236}">
                <a16:creationId xmlns:a16="http://schemas.microsoft.com/office/drawing/2014/main" id="{9FA7B71B-809A-437D-B767-0D0561F38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85359"/>
              </p:ext>
            </p:extLst>
          </p:nvPr>
        </p:nvGraphicFramePr>
        <p:xfrm>
          <a:off x="1219200" y="3276600"/>
          <a:ext cx="6858000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36848" imgH="1674876" progId="Word.Picture.8">
                  <p:embed/>
                </p:oleObj>
              </mc:Choice>
              <mc:Fallback>
                <p:oleObj name="Picture" r:id="rId2" imgW="3736848" imgH="1674876" progId="Word.Picture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76600"/>
                        <a:ext cx="6858000" cy="307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F961BAE5-9EFB-45A9-8B0D-3A4D8334F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96863"/>
            <a:ext cx="8659813" cy="533400"/>
          </a:xfrm>
          <a:noFill/>
        </p:spPr>
        <p:txBody>
          <a:bodyPr/>
          <a:lstStyle/>
          <a:p>
            <a:r>
              <a:rPr lang="en-US" altLang="en-US" sz="3600"/>
              <a:t>Stack Animation</a:t>
            </a:r>
          </a:p>
        </p:txBody>
      </p:sp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5BA23D0F-3F4A-4F66-BE6C-EBF6C138E6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BD0D04-7E28-47F0-A70E-883C0DF54F1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37896" name="AutoShape 19">
            <a:hlinkClick r:id="rId2" highlightClick="1"/>
            <a:extLst>
              <a:ext uri="{FF2B5EF4-FFF2-40B4-BE49-F238E27FC236}">
                <a16:creationId xmlns:a16="http://schemas.microsoft.com/office/drawing/2014/main" id="{86C72692-0E9E-4002-BE68-C80E13AFC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970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7897" name="Rectangle 2">
            <a:extLst>
              <a:ext uri="{FF2B5EF4-FFF2-40B4-BE49-F238E27FC236}">
                <a16:creationId xmlns:a16="http://schemas.microsoft.com/office/drawing/2014/main" id="{FF9AB3E1-509B-4F64-85F5-A394F6348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84238"/>
            <a:ext cx="8839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https://liveexample.pearsoncmg.com/dsanimation/StackeBook.html</a:t>
            </a:r>
          </a:p>
        </p:txBody>
      </p:sp>
      <p:pic>
        <p:nvPicPr>
          <p:cNvPr id="37898" name="Picture 10">
            <a:extLst>
              <a:ext uri="{FF2B5EF4-FFF2-40B4-BE49-F238E27FC236}">
                <a16:creationId xmlns:a16="http://schemas.microsoft.com/office/drawing/2014/main" id="{A277DC10-E4B8-47DE-8E0B-80C651CED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2205038"/>
            <a:ext cx="8507413" cy="410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0D7B58F3-0E35-46C0-BC07-B20B9FC35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96863"/>
            <a:ext cx="8659813" cy="533400"/>
          </a:xfrm>
          <a:noFill/>
        </p:spPr>
        <p:txBody>
          <a:bodyPr/>
          <a:lstStyle/>
          <a:p>
            <a:r>
              <a:rPr lang="en-US" altLang="en-US" sz="3600"/>
              <a:t>Queue Animation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0490CBF1-58A8-43C0-8A40-B3D617EDB7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3CDE79-4510-41B2-820C-5C1CA861563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38920" name="AutoShape 19">
            <a:hlinkClick r:id="rId2" highlightClick="1"/>
            <a:extLst>
              <a:ext uri="{FF2B5EF4-FFF2-40B4-BE49-F238E27FC236}">
                <a16:creationId xmlns:a16="http://schemas.microsoft.com/office/drawing/2014/main" id="{4B04D306-1C71-40BC-8FE9-E52D787AD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970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21" name="Rectangle 2">
            <a:extLst>
              <a:ext uri="{FF2B5EF4-FFF2-40B4-BE49-F238E27FC236}">
                <a16:creationId xmlns:a16="http://schemas.microsoft.com/office/drawing/2014/main" id="{6124D087-C772-48B9-8ACD-011738F72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84238"/>
            <a:ext cx="8839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https://liveexample.pearsoncmg.com/dsanimation/QueueeBook.html</a:t>
            </a:r>
          </a:p>
        </p:txBody>
      </p:sp>
      <p:pic>
        <p:nvPicPr>
          <p:cNvPr id="38922" name="Picture 10">
            <a:extLst>
              <a:ext uri="{FF2B5EF4-FFF2-40B4-BE49-F238E27FC236}">
                <a16:creationId xmlns:a16="http://schemas.microsoft.com/office/drawing/2014/main" id="{B7F548AF-03A4-4CEC-8A08-6ED2D8A8F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2133600"/>
            <a:ext cx="8518525" cy="411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>
            <a:extLst>
              <a:ext uri="{FF2B5EF4-FFF2-40B4-BE49-F238E27FC236}">
                <a16:creationId xmlns:a16="http://schemas.microsoft.com/office/drawing/2014/main" id="{4A127232-74D1-4CB1-A63C-305EDB7A46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 dirty="0"/>
              <a:t>Our Stack Class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E84028A9-9210-409B-8E36-9A8F5A8C9D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98FA55-8593-4436-A6DF-050C8BE0EDC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5C23CB-285E-4FC0-B02F-0F120606F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03391"/>
              </p:ext>
            </p:extLst>
          </p:nvPr>
        </p:nvGraphicFramePr>
        <p:xfrm>
          <a:off x="575556" y="979695"/>
          <a:ext cx="7956884" cy="30205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9325">
                  <a:extLst>
                    <a:ext uri="{9D8B030D-6E8A-4147-A177-3AD203B41FA5}">
                      <a16:colId xmlns:a16="http://schemas.microsoft.com/office/drawing/2014/main" val="1777058937"/>
                    </a:ext>
                  </a:extLst>
                </a:gridCol>
                <a:gridCol w="4917559">
                  <a:extLst>
                    <a:ext uri="{9D8B030D-6E8A-4147-A177-3AD203B41FA5}">
                      <a16:colId xmlns:a16="http://schemas.microsoft.com/office/drawing/2014/main" val="4026885436"/>
                    </a:ext>
                  </a:extLst>
                </a:gridCol>
              </a:tblGrid>
              <a:tr h="368822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MyStack</a:t>
                      </a:r>
                      <a:r>
                        <a:rPr lang="en-US" b="1" dirty="0"/>
                        <a:t> &lt;E&gt;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986604"/>
                  </a:ext>
                </a:extLst>
              </a:tr>
              <a:tr h="636596">
                <a:tc>
                  <a:txBody>
                    <a:bodyPr/>
                    <a:lstStyle/>
                    <a:p>
                      <a:r>
                        <a:rPr lang="en-US" dirty="0"/>
                        <a:t>- top: </a:t>
                      </a:r>
                      <a:r>
                        <a:rPr lang="en-US" dirty="0" err="1"/>
                        <a:t>MyStackNode</a:t>
                      </a:r>
                      <a:r>
                        <a:rPr lang="en-US" dirty="0"/>
                        <a:t> &lt;E&gt;</a:t>
                      </a:r>
                    </a:p>
                    <a:p>
                      <a:r>
                        <a:rPr lang="en-US" dirty="0"/>
                        <a:t>- size: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Holds the top node in the stack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Number of nodes in the 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90312"/>
                  </a:ext>
                </a:extLst>
              </a:tr>
              <a:tr h="1727905">
                <a:tc>
                  <a:txBody>
                    <a:bodyPr/>
                    <a:lstStyle/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MyStack</a:t>
                      </a:r>
                      <a:r>
                        <a:rPr lang="en-US" dirty="0"/>
                        <a:t>()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getSize</a:t>
                      </a:r>
                      <a:r>
                        <a:rPr lang="en-US" dirty="0"/>
                        <a:t>(): int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 </a:t>
                      </a:r>
                      <a:r>
                        <a:rPr lang="en-US" dirty="0" err="1"/>
                        <a:t>isEmpty</a:t>
                      </a:r>
                      <a:r>
                        <a:rPr lang="en-US" dirty="0"/>
                        <a:t>():</a:t>
                      </a:r>
                      <a:r>
                        <a:rPr lang="en-US" dirty="0" err="1"/>
                        <a:t>boolean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 push(o: E): void</a:t>
                      </a:r>
                    </a:p>
                    <a:p>
                      <a:r>
                        <a:rPr lang="en-US" dirty="0"/>
                        <a:t>+ peek(): E</a:t>
                      </a:r>
                    </a:p>
                    <a:p>
                      <a:r>
                        <a:rPr lang="en-US" dirty="0"/>
                        <a:t>+ pop(): E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toString</a:t>
                      </a:r>
                      <a:r>
                        <a:rPr lang="en-US" dirty="0"/>
                        <a:t>(): 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Creates an empty stack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Returns the number of nodes in the stack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Returns true if queue is empty, false otherwise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Adds a new node to the top of the stack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Returns the value in the top node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Removes the top node and returns its value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Returns a string with all the values in the 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48298"/>
                  </a:ext>
                </a:extLst>
              </a:tr>
            </a:tbl>
          </a:graphicData>
        </a:graphic>
      </p:graphicFrame>
      <p:graphicFrame>
        <p:nvGraphicFramePr>
          <p:cNvPr id="25" name="Table 2">
            <a:extLst>
              <a:ext uri="{FF2B5EF4-FFF2-40B4-BE49-F238E27FC236}">
                <a16:creationId xmlns:a16="http://schemas.microsoft.com/office/drawing/2014/main" id="{66A4F0E4-55AD-4AEF-BA5E-1C26919D2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643070"/>
              </p:ext>
            </p:extLst>
          </p:nvPr>
        </p:nvGraphicFramePr>
        <p:xfrm>
          <a:off x="575556" y="4239625"/>
          <a:ext cx="7568364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6639">
                  <a:extLst>
                    <a:ext uri="{9D8B030D-6E8A-4147-A177-3AD203B41FA5}">
                      <a16:colId xmlns:a16="http://schemas.microsoft.com/office/drawing/2014/main" val="1777058937"/>
                    </a:ext>
                  </a:extLst>
                </a:gridCol>
                <a:gridCol w="4381725">
                  <a:extLst>
                    <a:ext uri="{9D8B030D-6E8A-4147-A177-3AD203B41FA5}">
                      <a16:colId xmlns:a16="http://schemas.microsoft.com/office/drawing/2014/main" val="4026885436"/>
                    </a:ext>
                  </a:extLst>
                </a:gridCol>
              </a:tblGrid>
              <a:tr h="345829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MyStackNode</a:t>
                      </a:r>
                      <a:r>
                        <a:rPr lang="en-US" b="1" dirty="0"/>
                        <a:t> &lt;E&gt;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986604"/>
                  </a:ext>
                </a:extLst>
              </a:tr>
              <a:tr h="605201">
                <a:tc>
                  <a:txBody>
                    <a:bodyPr/>
                    <a:lstStyle/>
                    <a:p>
                      <a:r>
                        <a:rPr lang="en-US" dirty="0"/>
                        <a:t>- value: E</a:t>
                      </a:r>
                    </a:p>
                    <a:p>
                      <a:r>
                        <a:rPr lang="en-US" dirty="0"/>
                        <a:t>+ next: </a:t>
                      </a:r>
                      <a:r>
                        <a:rPr lang="en-US" dirty="0" err="1"/>
                        <a:t>MyStackNode</a:t>
                      </a:r>
                      <a:r>
                        <a:rPr lang="en-US" dirty="0"/>
                        <a:t>&lt;E&gt;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Holds the value in this node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Pointer to the next node in the 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490312"/>
                  </a:ext>
                </a:extLst>
              </a:tr>
              <a:tr h="789598">
                <a:tc>
                  <a:txBody>
                    <a:bodyPr/>
                    <a:lstStyle/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MyStackNode</a:t>
                      </a:r>
                      <a:r>
                        <a:rPr lang="en-US" dirty="0"/>
                        <a:t>(o: E)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getValue</a:t>
                      </a:r>
                      <a:r>
                        <a:rPr lang="en-US" dirty="0"/>
                        <a:t>():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Creates a new node with a value of </a:t>
                      </a:r>
                      <a:r>
                        <a:rPr lang="en-US" b="1" dirty="0"/>
                        <a:t>o</a:t>
                      </a:r>
                      <a:r>
                        <a:rPr lang="en-US" b="0" dirty="0"/>
                        <a:t> and sets next = null</a:t>
                      </a:r>
                      <a:endParaRPr lang="en-US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Returns this node’s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734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>
            <a:extLst>
              <a:ext uri="{FF2B5EF4-FFF2-40B4-BE49-F238E27FC236}">
                <a16:creationId xmlns:a16="http://schemas.microsoft.com/office/drawing/2014/main" id="{4A127232-74D1-4CB1-A63C-305EDB7A46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 dirty="0"/>
              <a:t>Our Queue Class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E84028A9-9210-409B-8E36-9A8F5A8C9D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98FA55-8593-4436-A6DF-050C8BE0EDC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5C23CB-285E-4FC0-B02F-0F120606F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293768"/>
              </p:ext>
            </p:extLst>
          </p:nvPr>
        </p:nvGraphicFramePr>
        <p:xfrm>
          <a:off x="889836" y="979695"/>
          <a:ext cx="8038648" cy="356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8088">
                  <a:extLst>
                    <a:ext uri="{9D8B030D-6E8A-4147-A177-3AD203B41FA5}">
                      <a16:colId xmlns:a16="http://schemas.microsoft.com/office/drawing/2014/main" val="1777058937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4026885436"/>
                    </a:ext>
                  </a:extLst>
                </a:gridCol>
              </a:tblGrid>
              <a:tr h="339696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MyQueue</a:t>
                      </a:r>
                      <a:r>
                        <a:rPr lang="en-US" b="1" dirty="0"/>
                        <a:t> &lt;E&gt;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986604"/>
                  </a:ext>
                </a:extLst>
              </a:tr>
              <a:tr h="842191">
                <a:tc>
                  <a:txBody>
                    <a:bodyPr/>
                    <a:lstStyle/>
                    <a:p>
                      <a:r>
                        <a:rPr lang="en-US" dirty="0"/>
                        <a:t>- head: </a:t>
                      </a:r>
                      <a:r>
                        <a:rPr lang="en-US" dirty="0" err="1"/>
                        <a:t>MyQueueNode</a:t>
                      </a:r>
                      <a:r>
                        <a:rPr lang="en-US" dirty="0"/>
                        <a:t> &lt;E&gt;</a:t>
                      </a:r>
                    </a:p>
                    <a:p>
                      <a:r>
                        <a:rPr lang="en-US" dirty="0"/>
                        <a:t>- tail: </a:t>
                      </a:r>
                      <a:r>
                        <a:rPr lang="en-US" dirty="0" err="1"/>
                        <a:t>MyQueueNode</a:t>
                      </a:r>
                      <a:r>
                        <a:rPr lang="en-US" dirty="0"/>
                        <a:t>&lt;E&gt;</a:t>
                      </a:r>
                    </a:p>
                    <a:p>
                      <a:r>
                        <a:rPr lang="en-US" dirty="0"/>
                        <a:t>- size: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Holds the first node in the queue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Holds the last node in the queue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Number of nodes in the 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90312"/>
                  </a:ext>
                </a:extLst>
              </a:tr>
              <a:tr h="1591454">
                <a:tc>
                  <a:txBody>
                    <a:bodyPr/>
                    <a:lstStyle/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MyQueue</a:t>
                      </a:r>
                      <a:r>
                        <a:rPr lang="en-US" dirty="0"/>
                        <a:t>()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getSize</a:t>
                      </a:r>
                      <a:r>
                        <a:rPr lang="en-US" dirty="0"/>
                        <a:t>(): int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isEmpty</a:t>
                      </a:r>
                      <a:r>
                        <a:rPr lang="en-US" dirty="0"/>
                        <a:t>():</a:t>
                      </a:r>
                      <a:r>
                        <a:rPr lang="en-US" dirty="0" err="1"/>
                        <a:t>boolean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+ enqueue(</a:t>
                      </a:r>
                      <a:r>
                        <a:rPr lang="en-US" dirty="0" err="1"/>
                        <a:t>o:E</a:t>
                      </a:r>
                      <a:r>
                        <a:rPr lang="en-US" dirty="0"/>
                        <a:t>): void</a:t>
                      </a:r>
                    </a:p>
                    <a:p>
                      <a:r>
                        <a:rPr lang="en-US" dirty="0"/>
                        <a:t>+ dequeue(): E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toString</a:t>
                      </a:r>
                      <a:r>
                        <a:rPr lang="en-US" dirty="0"/>
                        <a:t>(): 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Creates an empty queue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Returns the number of nodes in the queue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Returns true if queue is empty, false otherwise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Adds a new node to the end of the queue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Removes the first node from the queue and returns its value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Returns a string with all the values in the 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48298"/>
                  </a:ext>
                </a:extLst>
              </a:tr>
            </a:tbl>
          </a:graphicData>
        </a:graphic>
      </p:graphicFrame>
      <p:graphicFrame>
        <p:nvGraphicFramePr>
          <p:cNvPr id="25" name="Table 2">
            <a:extLst>
              <a:ext uri="{FF2B5EF4-FFF2-40B4-BE49-F238E27FC236}">
                <a16:creationId xmlns:a16="http://schemas.microsoft.com/office/drawing/2014/main" id="{66A4F0E4-55AD-4AEF-BA5E-1C26919D2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47531"/>
              </p:ext>
            </p:extLst>
          </p:nvPr>
        </p:nvGraphicFramePr>
        <p:xfrm>
          <a:off x="889836" y="4452254"/>
          <a:ext cx="7568364" cy="1795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6639">
                  <a:extLst>
                    <a:ext uri="{9D8B030D-6E8A-4147-A177-3AD203B41FA5}">
                      <a16:colId xmlns:a16="http://schemas.microsoft.com/office/drawing/2014/main" val="1777058937"/>
                    </a:ext>
                  </a:extLst>
                </a:gridCol>
                <a:gridCol w="4381725">
                  <a:extLst>
                    <a:ext uri="{9D8B030D-6E8A-4147-A177-3AD203B41FA5}">
                      <a16:colId xmlns:a16="http://schemas.microsoft.com/office/drawing/2014/main" val="4026885436"/>
                    </a:ext>
                  </a:extLst>
                </a:gridCol>
              </a:tblGrid>
              <a:tr h="345829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MyQueueNode</a:t>
                      </a:r>
                      <a:r>
                        <a:rPr lang="en-US" b="1" dirty="0"/>
                        <a:t> &lt;E&gt;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986604"/>
                  </a:ext>
                </a:extLst>
              </a:tr>
              <a:tr h="605201">
                <a:tc>
                  <a:txBody>
                    <a:bodyPr/>
                    <a:lstStyle/>
                    <a:p>
                      <a:r>
                        <a:rPr lang="en-US" dirty="0"/>
                        <a:t>- value: E</a:t>
                      </a:r>
                    </a:p>
                    <a:p>
                      <a:r>
                        <a:rPr lang="en-US" dirty="0"/>
                        <a:t>+ next: </a:t>
                      </a:r>
                      <a:r>
                        <a:rPr lang="en-US" dirty="0" err="1"/>
                        <a:t>MyQueueNode</a:t>
                      </a:r>
                      <a:r>
                        <a:rPr lang="en-US" dirty="0"/>
                        <a:t> &lt;E&gt;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Holds the value in this node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Pointer to the next node in the 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490312"/>
                  </a:ext>
                </a:extLst>
              </a:tr>
              <a:tr h="789598">
                <a:tc>
                  <a:txBody>
                    <a:bodyPr/>
                    <a:lstStyle/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MyQueueNode</a:t>
                      </a:r>
                      <a:r>
                        <a:rPr lang="en-US" dirty="0"/>
                        <a:t>(o: E)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getValue</a:t>
                      </a:r>
                      <a:r>
                        <a:rPr lang="en-US" dirty="0"/>
                        <a:t>():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Creates a new node with a value of </a:t>
                      </a:r>
                      <a:r>
                        <a:rPr lang="en-US" b="1" dirty="0"/>
                        <a:t>o</a:t>
                      </a:r>
                      <a:endParaRPr lang="en-US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Returns this node’s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7348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459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B5104D2B-DE67-40E3-ACE2-AB0BF9F64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Example: Using Stacks and Queues</a:t>
            </a:r>
          </a:p>
        </p:txBody>
      </p:sp>
      <p:sp>
        <p:nvSpPr>
          <p:cNvPr id="44048" name="Rectangle 19">
            <a:extLst>
              <a:ext uri="{FF2B5EF4-FFF2-40B4-BE49-F238E27FC236}">
                <a16:creationId xmlns:a16="http://schemas.microsoft.com/office/drawing/2014/main" id="{4CBF96EA-C477-4A65-B910-D7EED95CBD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686800" cy="2286000"/>
          </a:xfrm>
          <a:noFill/>
        </p:spPr>
        <p:txBody>
          <a:bodyPr/>
          <a:lstStyle/>
          <a:p>
            <a:pPr marL="0" indent="0">
              <a:buFont typeface="Monotype Sorts"/>
              <a:buNone/>
            </a:pPr>
            <a:r>
              <a:rPr lang="en-US" altLang="en-US" sz="2800">
                <a:cs typeface="Courier New" panose="02070309020205020404" pitchFamily="49" charset="0"/>
              </a:rPr>
              <a:t>Write a program that creates a stack using </a:t>
            </a:r>
            <a:r>
              <a:rPr lang="en-US" altLang="en-US" sz="2800" u="sng">
                <a:cs typeface="Courier New" panose="02070309020205020404" pitchFamily="49" charset="0"/>
              </a:rPr>
              <a:t>MyStack</a:t>
            </a:r>
            <a:r>
              <a:rPr lang="en-US" altLang="en-US" sz="2800">
                <a:cs typeface="Courier New" panose="02070309020205020404" pitchFamily="49" charset="0"/>
              </a:rPr>
              <a:t> and a queue using </a:t>
            </a:r>
            <a:r>
              <a:rPr lang="en-US" altLang="en-US" sz="2800" u="sng">
                <a:cs typeface="Courier New" panose="02070309020205020404" pitchFamily="49" charset="0"/>
              </a:rPr>
              <a:t>MyQueue</a:t>
            </a:r>
            <a:r>
              <a:rPr lang="en-US" altLang="en-US" sz="2800">
                <a:cs typeface="Courier New" panose="02070309020205020404" pitchFamily="49" charset="0"/>
              </a:rPr>
              <a:t>. It then uses the </a:t>
            </a:r>
            <a:r>
              <a:rPr lang="en-US" altLang="en-US" sz="2800" u="sng">
                <a:cs typeface="Courier New" panose="02070309020205020404" pitchFamily="49" charset="0"/>
              </a:rPr>
              <a:t>push </a:t>
            </a:r>
            <a:r>
              <a:rPr lang="en-US" altLang="en-US" sz="2800">
                <a:cs typeface="Courier New" panose="02070309020205020404" pitchFamily="49" charset="0"/>
              </a:rPr>
              <a:t>(</a:t>
            </a:r>
            <a:r>
              <a:rPr lang="en-US" altLang="en-US" sz="2800" u="sng">
                <a:cs typeface="Courier New" panose="02070309020205020404" pitchFamily="49" charset="0"/>
              </a:rPr>
              <a:t>enqueu</a:t>
            </a:r>
            <a:r>
              <a:rPr lang="en-US" altLang="en-US" sz="2800">
                <a:cs typeface="Courier New" panose="02070309020205020404" pitchFamily="49" charset="0"/>
              </a:rPr>
              <a:t>) method to add strings to the stack (queue) and the </a:t>
            </a:r>
            <a:r>
              <a:rPr lang="en-US" altLang="en-US" sz="2800" u="sng">
                <a:cs typeface="Courier New" panose="02070309020205020404" pitchFamily="49" charset="0"/>
              </a:rPr>
              <a:t>pop</a:t>
            </a:r>
            <a:r>
              <a:rPr lang="en-US" altLang="en-US" sz="2800">
                <a:cs typeface="Courier New" panose="02070309020205020404" pitchFamily="49" charset="0"/>
              </a:rPr>
              <a:t> (</a:t>
            </a:r>
            <a:r>
              <a:rPr lang="en-US" altLang="en-US" sz="2800" u="sng">
                <a:cs typeface="Courier New" panose="02070309020205020404" pitchFamily="49" charset="0"/>
              </a:rPr>
              <a:t>dequeue</a:t>
            </a:r>
            <a:r>
              <a:rPr lang="en-US" altLang="en-US" sz="2800">
                <a:cs typeface="Courier New" panose="02070309020205020404" pitchFamily="49" charset="0"/>
              </a:rPr>
              <a:t>) method to remove strings from the stack (queue). </a:t>
            </a:r>
          </a:p>
        </p:txBody>
      </p:sp>
      <p:sp>
        <p:nvSpPr>
          <p:cNvPr id="44034" name="Slide Number Placeholder 4">
            <a:extLst>
              <a:ext uri="{FF2B5EF4-FFF2-40B4-BE49-F238E27FC236}">
                <a16:creationId xmlns:a16="http://schemas.microsoft.com/office/drawing/2014/main" id="{FC9B05E6-3C6D-4643-8D75-BC465ACBAB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F032B4-4A3C-4987-ADC7-35DE8106866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44049" name="Rectangle 20">
            <a:hlinkClick r:id="rId2"/>
            <a:extLst>
              <a:ext uri="{FF2B5EF4-FFF2-40B4-BE49-F238E27FC236}">
                <a16:creationId xmlns:a16="http://schemas.microsoft.com/office/drawing/2014/main" id="{9650111C-07AF-4963-84DF-065F7DC43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675" y="4271963"/>
            <a:ext cx="195421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TestStackQueue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3B40F5B5-968B-4983-BB90-79C387F28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839200" cy="533400"/>
          </a:xfrm>
          <a:noFill/>
        </p:spPr>
        <p:txBody>
          <a:bodyPr/>
          <a:lstStyle/>
          <a:p>
            <a:r>
              <a:rPr lang="en-US" altLang="en-US" sz="3600"/>
              <a:t>Priority Queue</a:t>
            </a:r>
          </a:p>
        </p:txBody>
      </p:sp>
      <p:sp>
        <p:nvSpPr>
          <p:cNvPr id="45070" name="Rectangle 13">
            <a:extLst>
              <a:ext uri="{FF2B5EF4-FFF2-40B4-BE49-F238E27FC236}">
                <a16:creationId xmlns:a16="http://schemas.microsoft.com/office/drawing/2014/main" id="{793613A6-42A8-4D3B-8C36-677D1D4CA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1925" y="728663"/>
            <a:ext cx="8686800" cy="2476500"/>
          </a:xfrm>
          <a:noFill/>
        </p:spPr>
        <p:txBody>
          <a:bodyPr/>
          <a:lstStyle/>
          <a:p>
            <a:pPr marL="0" indent="0">
              <a:spcBef>
                <a:spcPct val="0"/>
              </a:spcBef>
              <a:buFont typeface="Monotype Sorts"/>
              <a:buNone/>
            </a:pPr>
            <a:r>
              <a:rPr lang="en-US" altLang="en-US" sz="2400"/>
              <a:t>A regular queue is a first-in and first-out data structure. Elements are appended to the end of the queue and are removed from the beginning of the queue. In a priority queue, elements are assigned with priorities. When accessing elements, the element with the highest priority is removed first. A priority queue has a largest-in, first-out behavior. For example, the emergency room in a hospital assigns patients with priority numbers; the patient with the highest priority is treated first.</a:t>
            </a:r>
          </a:p>
        </p:txBody>
      </p:sp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F30027B6-FC9D-4832-84D2-3C20702EFD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9494BE-85EF-4D0C-A2DA-4AA297FDC23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pic>
        <p:nvPicPr>
          <p:cNvPr id="45075" name="Picture 25">
            <a:extLst>
              <a:ext uri="{FF2B5EF4-FFF2-40B4-BE49-F238E27FC236}">
                <a16:creationId xmlns:a16="http://schemas.microsoft.com/office/drawing/2014/main" id="{4BFD9168-87D9-48E0-9360-64B449816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3841750"/>
            <a:ext cx="7029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5076" name="Rectangle 25">
            <a:hlinkClick r:id="rId3"/>
            <a:extLst>
              <a:ext uri="{FF2B5EF4-FFF2-40B4-BE49-F238E27FC236}">
                <a16:creationId xmlns:a16="http://schemas.microsoft.com/office/drawing/2014/main" id="{0E7AEFD9-BA04-444C-94B0-15D63A544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5932488"/>
            <a:ext cx="2155825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MyPriorityQueue</a:t>
            </a:r>
          </a:p>
        </p:txBody>
      </p:sp>
      <p:sp>
        <p:nvSpPr>
          <p:cNvPr id="45077" name="Rectangle 27">
            <a:hlinkClick r:id="rId4"/>
            <a:extLst>
              <a:ext uri="{FF2B5EF4-FFF2-40B4-BE49-F238E27FC236}">
                <a16:creationId xmlns:a16="http://schemas.microsoft.com/office/drawing/2014/main" id="{2A898A7A-BD0F-48F7-8553-6EE53C5ED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5972175"/>
            <a:ext cx="21637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TestPriorityQueue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ti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23 Sorting</Template>
  <TotalTime>38225</TotalTime>
  <Words>2444</Words>
  <Application>Microsoft Office PowerPoint</Application>
  <PresentationFormat>On-screen Show (4:3)</PresentationFormat>
  <Paragraphs>299</Paragraphs>
  <Slides>38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Courier New</vt:lpstr>
      <vt:lpstr>Monotype Sorts</vt:lpstr>
      <vt:lpstr>Times New Roman</vt:lpstr>
      <vt:lpstr>Wingdings</vt:lpstr>
      <vt:lpstr>International</vt:lpstr>
      <vt:lpstr>Picture</vt:lpstr>
      <vt:lpstr>Chapter 24  Implementing Lists, Stacks, Queues, and Priority Queues</vt:lpstr>
      <vt:lpstr>Objectives</vt:lpstr>
      <vt:lpstr>Lists</vt:lpstr>
      <vt:lpstr>Two Ways to Implement Lists</vt:lpstr>
      <vt:lpstr>Design of ArrayList and LinkedList</vt:lpstr>
      <vt:lpstr>MyList Interface</vt:lpstr>
      <vt:lpstr>Array Lists</vt:lpstr>
      <vt:lpstr>Array List Animation</vt:lpstr>
      <vt:lpstr>Insertion</vt:lpstr>
      <vt:lpstr>Deletion</vt:lpstr>
      <vt:lpstr>Implementing MyArrayList</vt:lpstr>
      <vt:lpstr>Linked Lists</vt:lpstr>
      <vt:lpstr>Linked List Animation</vt:lpstr>
      <vt:lpstr>Nodes in Linked Lists</vt:lpstr>
      <vt:lpstr>Adding Three Nodes</vt:lpstr>
      <vt:lpstr>Adding Three Nodes, cont.</vt:lpstr>
      <vt:lpstr>Adding Three Nodes, cont.</vt:lpstr>
      <vt:lpstr>Adding Three Nodes, cont.</vt:lpstr>
      <vt:lpstr>Traversing All Elements in the List</vt:lpstr>
      <vt:lpstr>MyLinkedList</vt:lpstr>
      <vt:lpstr>Implementing addFirst(E e)</vt:lpstr>
      <vt:lpstr>Implementing addLast(E e)</vt:lpstr>
      <vt:lpstr>Implementing add(int index, E e) </vt:lpstr>
      <vt:lpstr>Implementing removeFirst() </vt:lpstr>
      <vt:lpstr>Implementing removeLast() </vt:lpstr>
      <vt:lpstr>Implementing remove(int index) </vt:lpstr>
      <vt:lpstr>Time Complexity for ArrayList and LinkedList </vt:lpstr>
      <vt:lpstr>Circular Linked Lists </vt:lpstr>
      <vt:lpstr>Doubly Linked Lists </vt:lpstr>
      <vt:lpstr>Circular Doubly Linked Lists </vt:lpstr>
      <vt:lpstr>Stacks</vt:lpstr>
      <vt:lpstr>Queues</vt:lpstr>
      <vt:lpstr>Stack Animation</vt:lpstr>
      <vt:lpstr>Queue Animation</vt:lpstr>
      <vt:lpstr>Our Stack Class</vt:lpstr>
      <vt:lpstr>Our Queue Class</vt:lpstr>
      <vt:lpstr>Example: Using Stacks and Queues</vt:lpstr>
      <vt:lpstr>Priority Queue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 Java Data Structures</dc:title>
  <dc:creator>Y. Daniel Liang</dc:creator>
  <cp:lastModifiedBy>Nguyen, Phuong Tran Lan</cp:lastModifiedBy>
  <cp:revision>240</cp:revision>
  <dcterms:created xsi:type="dcterms:W3CDTF">1995-06-10T17:31:50Z</dcterms:created>
  <dcterms:modified xsi:type="dcterms:W3CDTF">2025-10-28T17:18:22Z</dcterms:modified>
</cp:coreProperties>
</file>