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16" r:id="rId1"/>
  </p:sldMasterIdLst>
  <p:notesMasterIdLst>
    <p:notesMasterId r:id="rId35"/>
  </p:notesMasterIdLst>
  <p:handoutMasterIdLst>
    <p:handoutMasterId r:id="rId36"/>
  </p:handoutMasterIdLst>
  <p:sldIdLst>
    <p:sldId id="438" r:id="rId2"/>
    <p:sldId id="488" r:id="rId3"/>
    <p:sldId id="440" r:id="rId4"/>
    <p:sldId id="441" r:id="rId5"/>
    <p:sldId id="443" r:id="rId6"/>
    <p:sldId id="446" r:id="rId7"/>
    <p:sldId id="503" r:id="rId8"/>
    <p:sldId id="504" r:id="rId9"/>
    <p:sldId id="493" r:id="rId10"/>
    <p:sldId id="447" r:id="rId11"/>
    <p:sldId id="448" r:id="rId12"/>
    <p:sldId id="314" r:id="rId13"/>
    <p:sldId id="293" r:id="rId14"/>
    <p:sldId id="511" r:id="rId15"/>
    <p:sldId id="480" r:id="rId16"/>
    <p:sldId id="450" r:id="rId17"/>
    <p:sldId id="451" r:id="rId18"/>
    <p:sldId id="507" r:id="rId19"/>
    <p:sldId id="506" r:id="rId20"/>
    <p:sldId id="452" r:id="rId21"/>
    <p:sldId id="508" r:id="rId22"/>
    <p:sldId id="500" r:id="rId23"/>
    <p:sldId id="509" r:id="rId24"/>
    <p:sldId id="473" r:id="rId25"/>
    <p:sldId id="499" r:id="rId26"/>
    <p:sldId id="487" r:id="rId27"/>
    <p:sldId id="497" r:id="rId28"/>
    <p:sldId id="501" r:id="rId29"/>
    <p:sldId id="502" r:id="rId30"/>
    <p:sldId id="489" r:id="rId31"/>
    <p:sldId id="510" r:id="rId32"/>
    <p:sldId id="475" r:id="rId33"/>
    <p:sldId id="479" r:id="rId3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29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21" autoAdjust="0"/>
    <p:restoredTop sz="79428" autoAdjust="0"/>
  </p:normalViewPr>
  <p:slideViewPr>
    <p:cSldViewPr>
      <p:cViewPr varScale="1">
        <p:scale>
          <a:sx n="58" d="100"/>
          <a:sy n="58" d="100"/>
        </p:scale>
        <p:origin x="45" y="78"/>
      </p:cViewPr>
      <p:guideLst>
        <p:guide orient="horz" pos="1296"/>
        <p:guide pos="576"/>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100" d="100"/>
        <a:sy n="100" d="100"/>
      </p:scale>
      <p:origin x="0" y="7963"/>
    </p:cViewPr>
  </p:sorterViewPr>
  <p:notesViewPr>
    <p:cSldViewPr>
      <p:cViewPr varScale="1">
        <p:scale>
          <a:sx n="43" d="100"/>
          <a:sy n="43" d="100"/>
        </p:scale>
        <p:origin x="-1422" y="-84"/>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slide" Target="slides/slide22.xml"/><Relationship Id="rId1"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0603859-8317-412F-860A-8EE3DC6D971C}"/>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19050" tIns="0" rIns="19050" bIns="0" numCol="1" anchor="t" anchorCtr="0" compatLnSpc="1">
            <a:prstTxWarp prst="textNoShape">
              <a:avLst/>
            </a:prstTxWarp>
          </a:bodyPr>
          <a:lstStyle>
            <a:lvl1pPr>
              <a:defRPr sz="1000" i="1"/>
            </a:lvl1pPr>
          </a:lstStyle>
          <a:p>
            <a:pPr>
              <a:defRPr/>
            </a:pPr>
            <a:endParaRPr lang="en-US"/>
          </a:p>
        </p:txBody>
      </p:sp>
      <p:sp>
        <p:nvSpPr>
          <p:cNvPr id="2051" name="Rectangle 3">
            <a:extLst>
              <a:ext uri="{FF2B5EF4-FFF2-40B4-BE49-F238E27FC236}">
                <a16:creationId xmlns:a16="http://schemas.microsoft.com/office/drawing/2014/main" id="{BF62C91C-A401-4C3C-81BE-E9BCB69812C5}"/>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19050" tIns="0" rIns="19050" bIns="0" numCol="1" anchor="t" anchorCtr="0" compatLnSpc="1">
            <a:prstTxWarp prst="textNoShape">
              <a:avLst/>
            </a:prstTxWarp>
          </a:bodyPr>
          <a:lstStyle>
            <a:lvl1pPr algn="r">
              <a:defRPr sz="1000" i="1"/>
            </a:lvl1pPr>
          </a:lstStyle>
          <a:p>
            <a:pPr>
              <a:defRPr/>
            </a:pPr>
            <a:endParaRPr lang="en-US"/>
          </a:p>
        </p:txBody>
      </p:sp>
      <p:sp>
        <p:nvSpPr>
          <p:cNvPr id="3076" name="Rectangle 4">
            <a:extLst>
              <a:ext uri="{FF2B5EF4-FFF2-40B4-BE49-F238E27FC236}">
                <a16:creationId xmlns:a16="http://schemas.microsoft.com/office/drawing/2014/main" id="{41548D08-6DB5-47FD-8D09-5879A1EB4227}"/>
              </a:ext>
            </a:extLst>
          </p:cNvPr>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6253080F-CCEF-4F5B-8FB1-A8625228646B}"/>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607FE66F-DD26-4988-AD36-2097EB8CF27B}"/>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19050" tIns="0" rIns="19050" bIns="0" numCol="1" anchor="b" anchorCtr="0" compatLnSpc="1">
            <a:prstTxWarp prst="textNoShape">
              <a:avLst/>
            </a:prstTxWarp>
          </a:bodyPr>
          <a:lstStyle>
            <a:lvl1pPr>
              <a:defRPr sz="1000" i="1"/>
            </a:lvl1pPr>
          </a:lstStyle>
          <a:p>
            <a:pPr>
              <a:defRPr/>
            </a:pPr>
            <a:endParaRPr lang="en-US"/>
          </a:p>
        </p:txBody>
      </p:sp>
      <p:sp>
        <p:nvSpPr>
          <p:cNvPr id="2055" name="Rectangle 7">
            <a:extLst>
              <a:ext uri="{FF2B5EF4-FFF2-40B4-BE49-F238E27FC236}">
                <a16:creationId xmlns:a16="http://schemas.microsoft.com/office/drawing/2014/main" id="{52E85B6C-539B-4945-8E5A-11AA1F787E76}"/>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19050" tIns="0" rIns="19050" bIns="0" numCol="1" anchor="b" anchorCtr="0" compatLnSpc="1">
            <a:prstTxWarp prst="textNoShape">
              <a:avLst/>
            </a:prstTxWarp>
          </a:bodyPr>
          <a:lstStyle>
            <a:lvl1pPr algn="r">
              <a:defRPr sz="1000" i="1"/>
            </a:lvl1pPr>
          </a:lstStyle>
          <a:p>
            <a:pPr>
              <a:defRPr/>
            </a:pPr>
            <a:fld id="{106D6337-9CBE-423C-910A-B4C53562057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pPr>
              <a:defRPr/>
            </a:pPr>
            <a:fld id="{106D6337-9CBE-423C-910A-B4C53562057D}" type="slidenum">
              <a:rPr lang="en-US" altLang="en-US" smtClean="0"/>
              <a:pPr>
                <a:defRPr/>
              </a:pPr>
              <a:t>25</a:t>
            </a:fld>
            <a:endParaRPr lang="en-US" altLang="en-US"/>
          </a:p>
        </p:txBody>
      </p:sp>
    </p:spTree>
    <p:extLst>
      <p:ext uri="{BB962C8B-B14F-4D97-AF65-F5344CB8AC3E}">
        <p14:creationId xmlns:p14="http://schemas.microsoft.com/office/powerpoint/2010/main" val="2135683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pPr>
              <a:defRPr/>
            </a:pPr>
            <a:fld id="{106D6337-9CBE-423C-910A-B4C53562057D}" type="slidenum">
              <a:rPr lang="en-US" altLang="en-US" smtClean="0"/>
              <a:pPr>
                <a:defRPr/>
              </a:pPr>
              <a:t>29</a:t>
            </a:fld>
            <a:endParaRPr lang="en-US" altLang="en-US"/>
          </a:p>
        </p:txBody>
      </p:sp>
    </p:spTree>
    <p:extLst>
      <p:ext uri="{BB962C8B-B14F-4D97-AF65-F5344CB8AC3E}">
        <p14:creationId xmlns:p14="http://schemas.microsoft.com/office/powerpoint/2010/main" val="1663039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dirty="0"/>
              <a:t>If you put an entry that already exist, it will change that entry to a new value. (update the value)</a:t>
            </a:r>
            <a:endParaRPr lang="vi-VN" dirty="0"/>
          </a:p>
        </p:txBody>
      </p:sp>
      <p:sp>
        <p:nvSpPr>
          <p:cNvPr id="4" name="Slide Number Placeholder 3"/>
          <p:cNvSpPr>
            <a:spLocks noGrp="1"/>
          </p:cNvSpPr>
          <p:nvPr>
            <p:ph type="sldNum" sz="quarter" idx="5"/>
          </p:nvPr>
        </p:nvSpPr>
        <p:spPr/>
        <p:txBody>
          <a:bodyPr/>
          <a:lstStyle/>
          <a:p>
            <a:pPr>
              <a:defRPr/>
            </a:pPr>
            <a:fld id="{106D6337-9CBE-423C-910A-B4C53562057D}" type="slidenum">
              <a:rPr lang="en-US" altLang="en-US" smtClean="0"/>
              <a:pPr>
                <a:defRPr/>
              </a:pPr>
              <a:t>30</a:t>
            </a:fld>
            <a:endParaRPr lang="en-US" altLang="en-US"/>
          </a:p>
        </p:txBody>
      </p:sp>
    </p:spTree>
    <p:extLst>
      <p:ext uri="{BB962C8B-B14F-4D97-AF65-F5344CB8AC3E}">
        <p14:creationId xmlns:p14="http://schemas.microsoft.com/office/powerpoint/2010/main" val="1162930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pPr>
              <a:defRPr/>
            </a:pPr>
            <a:fld id="{106D6337-9CBE-423C-910A-B4C53562057D}" type="slidenum">
              <a:rPr lang="en-US" altLang="en-US" smtClean="0"/>
              <a:pPr>
                <a:defRPr/>
              </a:pPr>
              <a:t>31</a:t>
            </a:fld>
            <a:endParaRPr lang="en-US" altLang="en-US"/>
          </a:p>
        </p:txBody>
      </p:sp>
    </p:spTree>
    <p:extLst>
      <p:ext uri="{BB962C8B-B14F-4D97-AF65-F5344CB8AC3E}">
        <p14:creationId xmlns:p14="http://schemas.microsoft.com/office/powerpoint/2010/main" val="303039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pPr>
              <a:defRPr/>
            </a:pPr>
            <a:fld id="{106D6337-9CBE-423C-910A-B4C53562057D}" type="slidenum">
              <a:rPr lang="en-US" altLang="en-US" smtClean="0"/>
              <a:pPr>
                <a:defRPr/>
              </a:pPr>
              <a:t>32</a:t>
            </a:fld>
            <a:endParaRPr lang="en-US" altLang="en-US"/>
          </a:p>
        </p:txBody>
      </p:sp>
    </p:spTree>
    <p:extLst>
      <p:ext uri="{BB962C8B-B14F-4D97-AF65-F5344CB8AC3E}">
        <p14:creationId xmlns:p14="http://schemas.microsoft.com/office/powerpoint/2010/main" val="1935554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1">
            <a:extLst>
              <a:ext uri="{FF2B5EF4-FFF2-40B4-BE49-F238E27FC236}">
                <a16:creationId xmlns:a16="http://schemas.microsoft.com/office/drawing/2014/main" id="{61FC91DB-7ADF-4F5A-BE25-54B5E3D6A24C}"/>
              </a:ext>
            </a:extLst>
          </p:cNvPr>
          <p:cNvGrpSpPr>
            <a:grpSpLocks/>
          </p:cNvGrpSpPr>
          <p:nvPr/>
        </p:nvGrpSpPr>
        <p:grpSpPr bwMode="auto">
          <a:xfrm>
            <a:off x="0" y="114300"/>
            <a:ext cx="9142413" cy="6742113"/>
            <a:chOff x="0" y="72"/>
            <a:chExt cx="5759" cy="4247"/>
          </a:xfrm>
        </p:grpSpPr>
        <p:sp>
          <p:nvSpPr>
            <p:cNvPr id="5" name="Rectangle 2">
              <a:extLst>
                <a:ext uri="{FF2B5EF4-FFF2-40B4-BE49-F238E27FC236}">
                  <a16:creationId xmlns:a16="http://schemas.microsoft.com/office/drawing/2014/main" id="{71927960-2F8B-4333-9003-3DB92F56F481}"/>
                </a:ext>
              </a:extLst>
            </p:cNvPr>
            <p:cNvSpPr>
              <a:spLocks noChangeArrowheads="1"/>
            </p:cNvSpPr>
            <p:nvPr/>
          </p:nvSpPr>
          <p:spPr bwMode="hidden">
            <a:xfrm>
              <a:off x="0" y="2112"/>
              <a:ext cx="5759" cy="2207"/>
            </a:xfrm>
            <a:prstGeom prst="rect">
              <a:avLst/>
            </a:prstGeom>
            <a:solidFill>
              <a:schemeClr val="bg1"/>
            </a:soli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30">
              <a:extLst>
                <a:ext uri="{FF2B5EF4-FFF2-40B4-BE49-F238E27FC236}">
                  <a16:creationId xmlns:a16="http://schemas.microsoft.com/office/drawing/2014/main" id="{40FC582F-6612-4C14-99AD-1BEEABB34391}"/>
                </a:ext>
              </a:extLst>
            </p:cNvPr>
            <p:cNvGrpSpPr>
              <a:grpSpLocks/>
            </p:cNvGrpSpPr>
            <p:nvPr/>
          </p:nvGrpSpPr>
          <p:grpSpPr bwMode="auto">
            <a:xfrm>
              <a:off x="0" y="72"/>
              <a:ext cx="5759" cy="2040"/>
              <a:chOff x="0" y="72"/>
              <a:chExt cx="5759" cy="2040"/>
            </a:xfrm>
          </p:grpSpPr>
          <p:sp>
            <p:nvSpPr>
              <p:cNvPr id="7" name="Rectangle 3">
                <a:extLst>
                  <a:ext uri="{FF2B5EF4-FFF2-40B4-BE49-F238E27FC236}">
                    <a16:creationId xmlns:a16="http://schemas.microsoft.com/office/drawing/2014/main" id="{A42B4868-8E85-4E67-9A7E-0EA85A096585}"/>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9">
                <a:extLst>
                  <a:ext uri="{FF2B5EF4-FFF2-40B4-BE49-F238E27FC236}">
                    <a16:creationId xmlns:a16="http://schemas.microsoft.com/office/drawing/2014/main" id="{BDD480BE-E0B8-4DCC-9F8D-21628FAF588C}"/>
                  </a:ext>
                </a:extLst>
              </p:cNvPr>
              <p:cNvGrpSpPr>
                <a:grpSpLocks/>
              </p:cNvGrpSpPr>
              <p:nvPr/>
            </p:nvGrpSpPr>
            <p:grpSpPr bwMode="auto">
              <a:xfrm>
                <a:off x="2289" y="72"/>
                <a:ext cx="1440" cy="1984"/>
                <a:chOff x="2289" y="72"/>
                <a:chExt cx="1440" cy="1984"/>
              </a:xfrm>
            </p:grpSpPr>
            <p:sp>
              <p:nvSpPr>
                <p:cNvPr id="29" name="Freeform 4">
                  <a:extLst>
                    <a:ext uri="{FF2B5EF4-FFF2-40B4-BE49-F238E27FC236}">
                      <a16:creationId xmlns:a16="http://schemas.microsoft.com/office/drawing/2014/main" id="{168EE059-6BB5-42C5-96E3-66D90C9B9F3D}"/>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
                  <a:extLst>
                    <a:ext uri="{FF2B5EF4-FFF2-40B4-BE49-F238E27FC236}">
                      <a16:creationId xmlns:a16="http://schemas.microsoft.com/office/drawing/2014/main" id="{9E5D42EF-22AB-4645-BBFD-4F6971CB4700}"/>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6">
                  <a:extLst>
                    <a:ext uri="{FF2B5EF4-FFF2-40B4-BE49-F238E27FC236}">
                      <a16:creationId xmlns:a16="http://schemas.microsoft.com/office/drawing/2014/main" id="{897446EE-2740-42A8-9EEB-118C99368CAF}"/>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7">
                  <a:extLst>
                    <a:ext uri="{FF2B5EF4-FFF2-40B4-BE49-F238E27FC236}">
                      <a16:creationId xmlns:a16="http://schemas.microsoft.com/office/drawing/2014/main" id="{D28D7690-CB0B-4620-8A92-57BCA6DA968E}"/>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Freeform 8">
                  <a:extLst>
                    <a:ext uri="{FF2B5EF4-FFF2-40B4-BE49-F238E27FC236}">
                      <a16:creationId xmlns:a16="http://schemas.microsoft.com/office/drawing/2014/main" id="{5765BC86-DECA-4DEA-B069-2914D53EAEF9}"/>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Oval 10">
                <a:extLst>
                  <a:ext uri="{FF2B5EF4-FFF2-40B4-BE49-F238E27FC236}">
                    <a16:creationId xmlns:a16="http://schemas.microsoft.com/office/drawing/2014/main" id="{09888EB4-3B26-49B0-9054-3F442DFD260B}"/>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 name="Group 29">
                <a:extLst>
                  <a:ext uri="{FF2B5EF4-FFF2-40B4-BE49-F238E27FC236}">
                    <a16:creationId xmlns:a16="http://schemas.microsoft.com/office/drawing/2014/main" id="{B9D4BEEF-5BB3-4E90-9095-AE08BE9896A9}"/>
                  </a:ext>
                </a:extLst>
              </p:cNvPr>
              <p:cNvGrpSpPr>
                <a:grpSpLocks/>
              </p:cNvGrpSpPr>
              <p:nvPr/>
            </p:nvGrpSpPr>
            <p:grpSpPr bwMode="auto">
              <a:xfrm>
                <a:off x="2071" y="406"/>
                <a:ext cx="1392" cy="1109"/>
                <a:chOff x="2071" y="406"/>
                <a:chExt cx="1392" cy="1109"/>
              </a:xfrm>
            </p:grpSpPr>
            <p:sp>
              <p:nvSpPr>
                <p:cNvPr id="11" name="Freeform 11">
                  <a:extLst>
                    <a:ext uri="{FF2B5EF4-FFF2-40B4-BE49-F238E27FC236}">
                      <a16:creationId xmlns:a16="http://schemas.microsoft.com/office/drawing/2014/main" id="{59EF1FB1-AEFF-4676-AD82-C39B502E736F}"/>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a:extLst>
                    <a:ext uri="{FF2B5EF4-FFF2-40B4-BE49-F238E27FC236}">
                      <a16:creationId xmlns:a16="http://schemas.microsoft.com/office/drawing/2014/main" id="{6C75F2F0-4B08-40AC-8E73-2B8D8891CD6F}"/>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3">
                  <a:extLst>
                    <a:ext uri="{FF2B5EF4-FFF2-40B4-BE49-F238E27FC236}">
                      <a16:creationId xmlns:a16="http://schemas.microsoft.com/office/drawing/2014/main" id="{A2D58DBB-835B-4D45-BE27-3DF11D0E8FA0}"/>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4">
                  <a:extLst>
                    <a:ext uri="{FF2B5EF4-FFF2-40B4-BE49-F238E27FC236}">
                      <a16:creationId xmlns:a16="http://schemas.microsoft.com/office/drawing/2014/main" id="{437C4EB7-F055-4001-A409-0D3789A09CCA}"/>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5">
                  <a:extLst>
                    <a:ext uri="{FF2B5EF4-FFF2-40B4-BE49-F238E27FC236}">
                      <a16:creationId xmlns:a16="http://schemas.microsoft.com/office/drawing/2014/main" id="{A3A9430C-E256-41E4-8B42-D8AEF67883F2}"/>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a:extLst>
                    <a:ext uri="{FF2B5EF4-FFF2-40B4-BE49-F238E27FC236}">
                      <a16:creationId xmlns:a16="http://schemas.microsoft.com/office/drawing/2014/main" id="{49630AAD-236C-42D4-8D0B-AFA88CAC1DAA}"/>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7">
                  <a:extLst>
                    <a:ext uri="{FF2B5EF4-FFF2-40B4-BE49-F238E27FC236}">
                      <a16:creationId xmlns:a16="http://schemas.microsoft.com/office/drawing/2014/main" id="{41CB7C81-78CF-4FC3-BB43-86D7CBD86D0B}"/>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8">
                  <a:extLst>
                    <a:ext uri="{FF2B5EF4-FFF2-40B4-BE49-F238E27FC236}">
                      <a16:creationId xmlns:a16="http://schemas.microsoft.com/office/drawing/2014/main" id="{4887CB1A-7B48-42EC-8EF9-958FA9F7EDAD}"/>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9">
                  <a:extLst>
                    <a:ext uri="{FF2B5EF4-FFF2-40B4-BE49-F238E27FC236}">
                      <a16:creationId xmlns:a16="http://schemas.microsoft.com/office/drawing/2014/main" id="{3D576805-FD94-4E3A-A504-AA3284929A8B}"/>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0">
                  <a:extLst>
                    <a:ext uri="{FF2B5EF4-FFF2-40B4-BE49-F238E27FC236}">
                      <a16:creationId xmlns:a16="http://schemas.microsoft.com/office/drawing/2014/main" id="{9A7D591C-25D2-47D8-9E77-26523B70EB70}"/>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1">
                  <a:extLst>
                    <a:ext uri="{FF2B5EF4-FFF2-40B4-BE49-F238E27FC236}">
                      <a16:creationId xmlns:a16="http://schemas.microsoft.com/office/drawing/2014/main" id="{444B6402-191B-411F-B107-16522A1671BE}"/>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2">
                  <a:extLst>
                    <a:ext uri="{FF2B5EF4-FFF2-40B4-BE49-F238E27FC236}">
                      <a16:creationId xmlns:a16="http://schemas.microsoft.com/office/drawing/2014/main" id="{35E915C1-8462-4C34-8587-DF5E6C68EB62}"/>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3">
                  <a:extLst>
                    <a:ext uri="{FF2B5EF4-FFF2-40B4-BE49-F238E27FC236}">
                      <a16:creationId xmlns:a16="http://schemas.microsoft.com/office/drawing/2014/main" id="{980DC663-7CCB-4F15-BA5D-6DE0D251F967}"/>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4">
                  <a:extLst>
                    <a:ext uri="{FF2B5EF4-FFF2-40B4-BE49-F238E27FC236}">
                      <a16:creationId xmlns:a16="http://schemas.microsoft.com/office/drawing/2014/main" id="{9E29EFC0-9E25-4A72-A0E4-77E4F9ABFEA7}"/>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5">
                  <a:extLst>
                    <a:ext uri="{FF2B5EF4-FFF2-40B4-BE49-F238E27FC236}">
                      <a16:creationId xmlns:a16="http://schemas.microsoft.com/office/drawing/2014/main" id="{F753A5FB-8918-4B2A-8F58-FD5C09DFC447}"/>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6">
                  <a:extLst>
                    <a:ext uri="{FF2B5EF4-FFF2-40B4-BE49-F238E27FC236}">
                      <a16:creationId xmlns:a16="http://schemas.microsoft.com/office/drawing/2014/main" id="{FE3649D4-B83D-4B05-91BE-D908C3764247}"/>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27">
                  <a:extLst>
                    <a:ext uri="{FF2B5EF4-FFF2-40B4-BE49-F238E27FC236}">
                      <a16:creationId xmlns:a16="http://schemas.microsoft.com/office/drawing/2014/main" id="{8ECC7FBC-6EC0-4D53-9EBE-5ED45CBDD82E}"/>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28">
                  <a:extLst>
                    <a:ext uri="{FF2B5EF4-FFF2-40B4-BE49-F238E27FC236}">
                      <a16:creationId xmlns:a16="http://schemas.microsoft.com/office/drawing/2014/main" id="{359AF7C1-C766-45D7-A86F-28F8AB04C41D}"/>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4" name="Rectangle 34">
            <a:extLst>
              <a:ext uri="{FF2B5EF4-FFF2-40B4-BE49-F238E27FC236}">
                <a16:creationId xmlns:a16="http://schemas.microsoft.com/office/drawing/2014/main" id="{8F400BA4-6A40-46F1-B7AC-59CB57C74BDC}"/>
              </a:ext>
            </a:extLst>
          </p:cNvPr>
          <p:cNvSpPr>
            <a:spLocks noGrp="1" noChangeArrowheads="1"/>
          </p:cNvSpPr>
          <p:nvPr>
            <p:ph type="dt" sz="quarter" idx="10"/>
          </p:nvPr>
        </p:nvSpPr>
        <p:spPr/>
        <p:txBody>
          <a:bodyPr/>
          <a:lstStyle>
            <a:lvl1pPr>
              <a:defRPr/>
            </a:lvl1pPr>
          </a:lstStyle>
          <a:p>
            <a:pPr>
              <a:defRPr/>
            </a:pPr>
            <a:endParaRPr lang="en-US"/>
          </a:p>
        </p:txBody>
      </p:sp>
      <p:sp>
        <p:nvSpPr>
          <p:cNvPr id="35" name="Rectangle 35">
            <a:extLst>
              <a:ext uri="{FF2B5EF4-FFF2-40B4-BE49-F238E27FC236}">
                <a16:creationId xmlns:a16="http://schemas.microsoft.com/office/drawing/2014/main" id="{530FE8AD-9622-4D9C-87BB-64811E0DEC1F}"/>
              </a:ext>
            </a:extLst>
          </p:cNvPr>
          <p:cNvSpPr>
            <a:spLocks noGrp="1" noChangeArrowheads="1"/>
          </p:cNvSpPr>
          <p:nvPr>
            <p:ph type="ftr" sz="quarter" idx="11"/>
          </p:nvPr>
        </p:nvSpPr>
        <p:spPr bwMode="auto">
          <a:xfrm>
            <a:off x="3124200" y="6400800"/>
            <a:ext cx="2895600" cy="457200"/>
          </a:xfrm>
          <a:prstGeom prst="rect">
            <a:avLst/>
          </a:prstGeom>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and Data Structures, Twelfth Edition, (c) 2020  Pearson Education, Inc. All rights reserved. </a:t>
            </a:r>
          </a:p>
        </p:txBody>
      </p:sp>
      <p:sp>
        <p:nvSpPr>
          <p:cNvPr id="36" name="Rectangle 36">
            <a:extLst>
              <a:ext uri="{FF2B5EF4-FFF2-40B4-BE49-F238E27FC236}">
                <a16:creationId xmlns:a16="http://schemas.microsoft.com/office/drawing/2014/main" id="{FD20E48A-B6FB-4B76-95F8-3BCC5E596D21}"/>
              </a:ext>
            </a:extLst>
          </p:cNvPr>
          <p:cNvSpPr>
            <a:spLocks noGrp="1" noChangeArrowheads="1"/>
          </p:cNvSpPr>
          <p:nvPr>
            <p:ph type="sldNum" sz="quarter" idx="12"/>
          </p:nvPr>
        </p:nvSpPr>
        <p:spPr>
          <a:xfrm>
            <a:off x="6553200" y="6400800"/>
            <a:ext cx="1905000" cy="457200"/>
          </a:xfrm>
        </p:spPr>
        <p:txBody>
          <a:bodyPr/>
          <a:lstStyle>
            <a:lvl1pPr>
              <a:defRPr/>
            </a:lvl1pPr>
          </a:lstStyle>
          <a:p>
            <a:pPr>
              <a:defRPr/>
            </a:pPr>
            <a:fld id="{6BDBA263-505B-4A63-862A-7FE7B39B1D8E}" type="slidenum">
              <a:rPr lang="en-US" altLang="en-US"/>
              <a:pPr>
                <a:defRPr/>
              </a:pPr>
              <a:t>‹#›</a:t>
            </a:fld>
            <a:endParaRPr lang="en-US" altLang="en-US"/>
          </a:p>
        </p:txBody>
      </p:sp>
    </p:spTree>
    <p:extLst>
      <p:ext uri="{BB962C8B-B14F-4D97-AF65-F5344CB8AC3E}">
        <p14:creationId xmlns:p14="http://schemas.microsoft.com/office/powerpoint/2010/main" val="3178277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7A1450D0-5C6B-4A7D-9DD3-12ABC6CE74D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77C3EC62-E8ED-4B3A-A7A4-D2AC4B0772FA}"/>
              </a:ext>
            </a:extLst>
          </p:cNvPr>
          <p:cNvSpPr>
            <a:spLocks noGrp="1" noChangeArrowheads="1"/>
          </p:cNvSpPr>
          <p:nvPr>
            <p:ph type="sldNum" sz="quarter" idx="11"/>
          </p:nvPr>
        </p:nvSpPr>
        <p:spPr>
          <a:ln/>
        </p:spPr>
        <p:txBody>
          <a:bodyPr/>
          <a:lstStyle>
            <a:lvl1pPr>
              <a:defRPr/>
            </a:lvl1pPr>
          </a:lstStyle>
          <a:p>
            <a:pPr>
              <a:defRPr/>
            </a:pPr>
            <a:fld id="{A4546EDE-DD15-4602-AF91-0C9A6C51550C}" type="slidenum">
              <a:rPr lang="en-US" altLang="en-US"/>
              <a:pPr>
                <a:defRPr/>
              </a:pPr>
              <a:t>‹#›</a:t>
            </a:fld>
            <a:endParaRPr lang="en-US" altLang="en-US"/>
          </a:p>
        </p:txBody>
      </p:sp>
    </p:spTree>
    <p:extLst>
      <p:ext uri="{BB962C8B-B14F-4D97-AF65-F5344CB8AC3E}">
        <p14:creationId xmlns:p14="http://schemas.microsoft.com/office/powerpoint/2010/main" val="1599793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74D14C60-F19C-4EB2-AD48-30730C45662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A7531466-45D1-4A3D-AD82-112BB8F64248}"/>
              </a:ext>
            </a:extLst>
          </p:cNvPr>
          <p:cNvSpPr>
            <a:spLocks noGrp="1" noChangeArrowheads="1"/>
          </p:cNvSpPr>
          <p:nvPr>
            <p:ph type="sldNum" sz="quarter" idx="11"/>
          </p:nvPr>
        </p:nvSpPr>
        <p:spPr>
          <a:ln/>
        </p:spPr>
        <p:txBody>
          <a:bodyPr/>
          <a:lstStyle>
            <a:lvl1pPr>
              <a:defRPr/>
            </a:lvl1pPr>
          </a:lstStyle>
          <a:p>
            <a:pPr>
              <a:defRPr/>
            </a:pPr>
            <a:fld id="{96ECEF9D-0155-4BC8-A5AB-8C0FB36F3B8C}" type="slidenum">
              <a:rPr lang="en-US" altLang="en-US"/>
              <a:pPr>
                <a:defRPr/>
              </a:pPr>
              <a:t>‹#›</a:t>
            </a:fld>
            <a:endParaRPr lang="en-US" altLang="en-US"/>
          </a:p>
        </p:txBody>
      </p:sp>
    </p:spTree>
    <p:extLst>
      <p:ext uri="{BB962C8B-B14F-4D97-AF65-F5344CB8AC3E}">
        <p14:creationId xmlns:p14="http://schemas.microsoft.com/office/powerpoint/2010/main" val="3348667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068F10D1-1835-4088-AD0B-6C7BADD5959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29AAEAB9-5939-47B3-869D-BB65143F9100}"/>
              </a:ext>
            </a:extLst>
          </p:cNvPr>
          <p:cNvSpPr>
            <a:spLocks noGrp="1" noChangeArrowheads="1"/>
          </p:cNvSpPr>
          <p:nvPr>
            <p:ph type="sldNum" sz="quarter" idx="11"/>
          </p:nvPr>
        </p:nvSpPr>
        <p:spPr>
          <a:ln/>
        </p:spPr>
        <p:txBody>
          <a:bodyPr/>
          <a:lstStyle>
            <a:lvl1pPr>
              <a:defRPr/>
            </a:lvl1pPr>
          </a:lstStyle>
          <a:p>
            <a:pPr>
              <a:defRPr/>
            </a:pPr>
            <a:fld id="{AF0FF472-68F5-489E-A2F9-B454EDA1E6B4}" type="slidenum">
              <a:rPr lang="en-US" altLang="en-US"/>
              <a:pPr>
                <a:defRPr/>
              </a:pPr>
              <a:t>‹#›</a:t>
            </a:fld>
            <a:endParaRPr lang="en-US" altLang="en-US"/>
          </a:p>
        </p:txBody>
      </p:sp>
    </p:spTree>
    <p:extLst>
      <p:ext uri="{BB962C8B-B14F-4D97-AF65-F5344CB8AC3E}">
        <p14:creationId xmlns:p14="http://schemas.microsoft.com/office/powerpoint/2010/main" val="1091253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C09A7E37-3E64-47AD-9ADC-4BD16748DDF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2694643A-125A-4E28-A1E6-1B4FDDA66662}"/>
              </a:ext>
            </a:extLst>
          </p:cNvPr>
          <p:cNvSpPr>
            <a:spLocks noGrp="1" noChangeArrowheads="1"/>
          </p:cNvSpPr>
          <p:nvPr>
            <p:ph type="sldNum" sz="quarter" idx="11"/>
          </p:nvPr>
        </p:nvSpPr>
        <p:spPr>
          <a:ln/>
        </p:spPr>
        <p:txBody>
          <a:bodyPr/>
          <a:lstStyle>
            <a:lvl1pPr>
              <a:defRPr/>
            </a:lvl1pPr>
          </a:lstStyle>
          <a:p>
            <a:pPr>
              <a:defRPr/>
            </a:pPr>
            <a:fld id="{849AC49A-7CFC-4AF1-8180-135EF285476E}" type="slidenum">
              <a:rPr lang="en-US" altLang="en-US"/>
              <a:pPr>
                <a:defRPr/>
              </a:pPr>
              <a:t>‹#›</a:t>
            </a:fld>
            <a:endParaRPr lang="en-US" altLang="en-US"/>
          </a:p>
        </p:txBody>
      </p:sp>
    </p:spTree>
    <p:extLst>
      <p:ext uri="{BB962C8B-B14F-4D97-AF65-F5344CB8AC3E}">
        <p14:creationId xmlns:p14="http://schemas.microsoft.com/office/powerpoint/2010/main" val="2273527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391C5B43-3D44-4A5D-BB40-26F113E38ED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2094C956-0F22-4D91-B62A-26663564D2FB}"/>
              </a:ext>
            </a:extLst>
          </p:cNvPr>
          <p:cNvSpPr>
            <a:spLocks noGrp="1" noChangeArrowheads="1"/>
          </p:cNvSpPr>
          <p:nvPr>
            <p:ph type="sldNum" sz="quarter" idx="11"/>
          </p:nvPr>
        </p:nvSpPr>
        <p:spPr>
          <a:ln/>
        </p:spPr>
        <p:txBody>
          <a:bodyPr/>
          <a:lstStyle>
            <a:lvl1pPr>
              <a:defRPr/>
            </a:lvl1pPr>
          </a:lstStyle>
          <a:p>
            <a:pPr>
              <a:defRPr/>
            </a:pPr>
            <a:fld id="{62FBD933-847C-48AB-B6EF-65499DA551E3}" type="slidenum">
              <a:rPr lang="en-US" altLang="en-US"/>
              <a:pPr>
                <a:defRPr/>
              </a:pPr>
              <a:t>‹#›</a:t>
            </a:fld>
            <a:endParaRPr lang="en-US" altLang="en-US"/>
          </a:p>
        </p:txBody>
      </p:sp>
    </p:spTree>
    <p:extLst>
      <p:ext uri="{BB962C8B-B14F-4D97-AF65-F5344CB8AC3E}">
        <p14:creationId xmlns:p14="http://schemas.microsoft.com/office/powerpoint/2010/main" val="502540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BC947A72-855F-404F-9E57-C8FFAA973EB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F121E76E-222C-4DD0-B702-E2DEE761CE89}"/>
              </a:ext>
            </a:extLst>
          </p:cNvPr>
          <p:cNvSpPr>
            <a:spLocks noGrp="1" noChangeArrowheads="1"/>
          </p:cNvSpPr>
          <p:nvPr>
            <p:ph type="sldNum" sz="quarter" idx="11"/>
          </p:nvPr>
        </p:nvSpPr>
        <p:spPr>
          <a:ln/>
        </p:spPr>
        <p:txBody>
          <a:bodyPr/>
          <a:lstStyle>
            <a:lvl1pPr>
              <a:defRPr/>
            </a:lvl1pPr>
          </a:lstStyle>
          <a:p>
            <a:pPr>
              <a:defRPr/>
            </a:pPr>
            <a:fld id="{EBFFE70B-3D13-4B6C-B2A7-18952503D524}" type="slidenum">
              <a:rPr lang="en-US" altLang="en-US"/>
              <a:pPr>
                <a:defRPr/>
              </a:pPr>
              <a:t>‹#›</a:t>
            </a:fld>
            <a:endParaRPr lang="en-US" altLang="en-US"/>
          </a:p>
        </p:txBody>
      </p:sp>
    </p:spTree>
    <p:extLst>
      <p:ext uri="{BB962C8B-B14F-4D97-AF65-F5344CB8AC3E}">
        <p14:creationId xmlns:p14="http://schemas.microsoft.com/office/powerpoint/2010/main" val="219949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0B25BBF2-0F2C-4F7A-A9C7-E1BA50459BA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80CB4D2C-1260-4158-8D07-953D305F2001}"/>
              </a:ext>
            </a:extLst>
          </p:cNvPr>
          <p:cNvSpPr>
            <a:spLocks noGrp="1" noChangeArrowheads="1"/>
          </p:cNvSpPr>
          <p:nvPr>
            <p:ph type="sldNum" sz="quarter" idx="11"/>
          </p:nvPr>
        </p:nvSpPr>
        <p:spPr>
          <a:ln/>
        </p:spPr>
        <p:txBody>
          <a:bodyPr/>
          <a:lstStyle>
            <a:lvl1pPr>
              <a:defRPr/>
            </a:lvl1pPr>
          </a:lstStyle>
          <a:p>
            <a:pPr>
              <a:defRPr/>
            </a:pPr>
            <a:fld id="{2D1A30CA-4676-49EF-B041-3C30BEFAE994}" type="slidenum">
              <a:rPr lang="en-US" altLang="en-US"/>
              <a:pPr>
                <a:defRPr/>
              </a:pPr>
              <a:t>‹#›</a:t>
            </a:fld>
            <a:endParaRPr lang="en-US" altLang="en-US"/>
          </a:p>
        </p:txBody>
      </p:sp>
    </p:spTree>
    <p:extLst>
      <p:ext uri="{BB962C8B-B14F-4D97-AF65-F5344CB8AC3E}">
        <p14:creationId xmlns:p14="http://schemas.microsoft.com/office/powerpoint/2010/main" val="2700405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BB6E36BF-FAC7-4094-AC32-501A1DB4DD6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EB0E6CA6-653C-48AC-AC21-4339465C6A72}"/>
              </a:ext>
            </a:extLst>
          </p:cNvPr>
          <p:cNvSpPr>
            <a:spLocks noGrp="1" noChangeArrowheads="1"/>
          </p:cNvSpPr>
          <p:nvPr>
            <p:ph type="sldNum" sz="quarter" idx="11"/>
          </p:nvPr>
        </p:nvSpPr>
        <p:spPr>
          <a:ln/>
        </p:spPr>
        <p:txBody>
          <a:bodyPr/>
          <a:lstStyle>
            <a:lvl1pPr>
              <a:defRPr/>
            </a:lvl1pPr>
          </a:lstStyle>
          <a:p>
            <a:pPr>
              <a:defRPr/>
            </a:pPr>
            <a:fld id="{3E01416E-7C1B-401E-8C6B-31EB67A387DF}" type="slidenum">
              <a:rPr lang="en-US" altLang="en-US"/>
              <a:pPr>
                <a:defRPr/>
              </a:pPr>
              <a:t>‹#›</a:t>
            </a:fld>
            <a:endParaRPr lang="en-US" altLang="en-US"/>
          </a:p>
        </p:txBody>
      </p:sp>
    </p:spTree>
    <p:extLst>
      <p:ext uri="{BB962C8B-B14F-4D97-AF65-F5344CB8AC3E}">
        <p14:creationId xmlns:p14="http://schemas.microsoft.com/office/powerpoint/2010/main" val="2953807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46254852-8B45-4626-BCE8-A641E688986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BE0E510-CD38-4382-89DE-C76584A1A7F4}"/>
              </a:ext>
            </a:extLst>
          </p:cNvPr>
          <p:cNvSpPr>
            <a:spLocks noGrp="1" noChangeArrowheads="1"/>
          </p:cNvSpPr>
          <p:nvPr>
            <p:ph type="sldNum" sz="quarter" idx="11"/>
          </p:nvPr>
        </p:nvSpPr>
        <p:spPr>
          <a:ln/>
        </p:spPr>
        <p:txBody>
          <a:bodyPr/>
          <a:lstStyle>
            <a:lvl1pPr>
              <a:defRPr/>
            </a:lvl1pPr>
          </a:lstStyle>
          <a:p>
            <a:pPr>
              <a:defRPr/>
            </a:pPr>
            <a:fld id="{5EF4FE55-A53E-41F1-A544-2F2061BB59CD}" type="slidenum">
              <a:rPr lang="en-US" altLang="en-US"/>
              <a:pPr>
                <a:defRPr/>
              </a:pPr>
              <a:t>‹#›</a:t>
            </a:fld>
            <a:endParaRPr lang="en-US" altLang="en-US"/>
          </a:p>
        </p:txBody>
      </p:sp>
    </p:spTree>
    <p:extLst>
      <p:ext uri="{BB962C8B-B14F-4D97-AF65-F5344CB8AC3E}">
        <p14:creationId xmlns:p14="http://schemas.microsoft.com/office/powerpoint/2010/main" val="2818256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0D7007F0-B9D5-4051-892C-827B841066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3B930A4-2CF8-45C1-83CE-984693168F27}"/>
              </a:ext>
            </a:extLst>
          </p:cNvPr>
          <p:cNvSpPr>
            <a:spLocks noGrp="1" noChangeArrowheads="1"/>
          </p:cNvSpPr>
          <p:nvPr>
            <p:ph type="sldNum" sz="quarter" idx="11"/>
          </p:nvPr>
        </p:nvSpPr>
        <p:spPr>
          <a:ln/>
        </p:spPr>
        <p:txBody>
          <a:bodyPr/>
          <a:lstStyle>
            <a:lvl1pPr>
              <a:defRPr/>
            </a:lvl1pPr>
          </a:lstStyle>
          <a:p>
            <a:pPr>
              <a:defRPr/>
            </a:pPr>
            <a:fld id="{1B2CC064-8E1B-4D54-B2AD-CEC652681118}" type="slidenum">
              <a:rPr lang="en-US" altLang="en-US"/>
              <a:pPr>
                <a:defRPr/>
              </a:pPr>
              <a:t>‹#›</a:t>
            </a:fld>
            <a:endParaRPr lang="en-US" altLang="en-US"/>
          </a:p>
        </p:txBody>
      </p:sp>
    </p:spTree>
    <p:extLst>
      <p:ext uri="{BB962C8B-B14F-4D97-AF65-F5344CB8AC3E}">
        <p14:creationId xmlns:p14="http://schemas.microsoft.com/office/powerpoint/2010/main" val="2049757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C3EC5D4F-7241-4D48-A4A7-0981C8FB188A}"/>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EBFA5783-58D9-4D35-9CD0-554773E52F0B}"/>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4" name="Group 28">
              <a:extLst>
                <a:ext uri="{FF2B5EF4-FFF2-40B4-BE49-F238E27FC236}">
                  <a16:creationId xmlns:a16="http://schemas.microsoft.com/office/drawing/2014/main" id="{1739EB3B-E772-4FC7-BDBA-76ED5FAF222B}"/>
                </a:ext>
              </a:extLst>
            </p:cNvPr>
            <p:cNvGrpSpPr>
              <a:grpSpLocks/>
            </p:cNvGrpSpPr>
            <p:nvPr/>
          </p:nvGrpSpPr>
          <p:grpSpPr bwMode="auto">
            <a:xfrm>
              <a:off x="4458" y="2751"/>
              <a:ext cx="1190" cy="1426"/>
              <a:chOff x="4458" y="2751"/>
              <a:chExt cx="1190" cy="1426"/>
            </a:xfrm>
          </p:grpSpPr>
          <p:sp>
            <p:nvSpPr>
              <p:cNvPr id="1035" name="Freeform 3">
                <a:extLst>
                  <a:ext uri="{FF2B5EF4-FFF2-40B4-BE49-F238E27FC236}">
                    <a16:creationId xmlns:a16="http://schemas.microsoft.com/office/drawing/2014/main" id="{E390AD0B-045C-45AF-B2EA-4FD6A8679676}"/>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6" name="Line 4">
                <a:extLst>
                  <a:ext uri="{FF2B5EF4-FFF2-40B4-BE49-F238E27FC236}">
                    <a16:creationId xmlns:a16="http://schemas.microsoft.com/office/drawing/2014/main" id="{29DDE5CF-6ED8-4BEC-A2AB-A210289ACA45}"/>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5">
                <a:extLst>
                  <a:ext uri="{FF2B5EF4-FFF2-40B4-BE49-F238E27FC236}">
                    <a16:creationId xmlns:a16="http://schemas.microsoft.com/office/drawing/2014/main" id="{EA4D0DE6-A17E-4CD0-909A-7835D04A2F27}"/>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Line 6">
                <a:extLst>
                  <a:ext uri="{FF2B5EF4-FFF2-40B4-BE49-F238E27FC236}">
                    <a16:creationId xmlns:a16="http://schemas.microsoft.com/office/drawing/2014/main" id="{B0C4E214-2BC7-4E89-9C34-E60765C9C33E}"/>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9" name="Freeform 7">
                <a:extLst>
                  <a:ext uri="{FF2B5EF4-FFF2-40B4-BE49-F238E27FC236}">
                    <a16:creationId xmlns:a16="http://schemas.microsoft.com/office/drawing/2014/main" id="{4EBC01BC-C4AC-4FBE-A8D9-67FBD691B2C3}"/>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Oval 8">
                <a:extLst>
                  <a:ext uri="{FF2B5EF4-FFF2-40B4-BE49-F238E27FC236}">
                    <a16:creationId xmlns:a16="http://schemas.microsoft.com/office/drawing/2014/main" id="{B5EFB3FB-0C0E-4A82-A156-B8549CFB8D8E}"/>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1" name="Group 27">
                <a:extLst>
                  <a:ext uri="{FF2B5EF4-FFF2-40B4-BE49-F238E27FC236}">
                    <a16:creationId xmlns:a16="http://schemas.microsoft.com/office/drawing/2014/main" id="{7DAA45A8-E4FF-4B83-876D-31C506D7FA9D}"/>
                  </a:ext>
                </a:extLst>
              </p:cNvPr>
              <p:cNvGrpSpPr>
                <a:grpSpLocks/>
              </p:cNvGrpSpPr>
              <p:nvPr/>
            </p:nvGrpSpPr>
            <p:grpSpPr bwMode="auto">
              <a:xfrm>
                <a:off x="4458" y="2991"/>
                <a:ext cx="999" cy="797"/>
                <a:chOff x="4458" y="2991"/>
                <a:chExt cx="999" cy="797"/>
              </a:xfrm>
            </p:grpSpPr>
            <p:sp>
              <p:nvSpPr>
                <p:cNvPr id="1042" name="Freeform 9">
                  <a:extLst>
                    <a:ext uri="{FF2B5EF4-FFF2-40B4-BE49-F238E27FC236}">
                      <a16:creationId xmlns:a16="http://schemas.microsoft.com/office/drawing/2014/main" id="{10AF373A-5478-4732-8B93-C7FA2214DC06}"/>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0">
                  <a:extLst>
                    <a:ext uri="{FF2B5EF4-FFF2-40B4-BE49-F238E27FC236}">
                      <a16:creationId xmlns:a16="http://schemas.microsoft.com/office/drawing/2014/main" id="{18C3FF5F-1087-4A14-B05C-EF93FED535E3}"/>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1">
                  <a:extLst>
                    <a:ext uri="{FF2B5EF4-FFF2-40B4-BE49-F238E27FC236}">
                      <a16:creationId xmlns:a16="http://schemas.microsoft.com/office/drawing/2014/main" id="{768B6B30-DD10-4951-9D6F-0FE59F9AEC7A}"/>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2">
                  <a:extLst>
                    <a:ext uri="{FF2B5EF4-FFF2-40B4-BE49-F238E27FC236}">
                      <a16:creationId xmlns:a16="http://schemas.microsoft.com/office/drawing/2014/main" id="{F59CCDAA-0C06-4A12-A642-F7BE4F4AB7BA}"/>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3">
                  <a:extLst>
                    <a:ext uri="{FF2B5EF4-FFF2-40B4-BE49-F238E27FC236}">
                      <a16:creationId xmlns:a16="http://schemas.microsoft.com/office/drawing/2014/main" id="{088C8B6F-F05E-44F8-9265-BBB3EDA55A46}"/>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4">
                  <a:extLst>
                    <a:ext uri="{FF2B5EF4-FFF2-40B4-BE49-F238E27FC236}">
                      <a16:creationId xmlns:a16="http://schemas.microsoft.com/office/drawing/2014/main" id="{E48D41F2-F24F-45D4-842F-BD116865DBE1}"/>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5">
                  <a:extLst>
                    <a:ext uri="{FF2B5EF4-FFF2-40B4-BE49-F238E27FC236}">
                      <a16:creationId xmlns:a16="http://schemas.microsoft.com/office/drawing/2014/main" id="{6E3BF754-3A1F-40DB-A2B5-41FCE932A98D}"/>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6">
                  <a:extLst>
                    <a:ext uri="{FF2B5EF4-FFF2-40B4-BE49-F238E27FC236}">
                      <a16:creationId xmlns:a16="http://schemas.microsoft.com/office/drawing/2014/main" id="{318B4698-4323-4853-8C17-9F1F9E9F3D45}"/>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7">
                  <a:extLst>
                    <a:ext uri="{FF2B5EF4-FFF2-40B4-BE49-F238E27FC236}">
                      <a16:creationId xmlns:a16="http://schemas.microsoft.com/office/drawing/2014/main" id="{28585D53-7679-4221-AB50-808FA417F754}"/>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8">
                  <a:extLst>
                    <a:ext uri="{FF2B5EF4-FFF2-40B4-BE49-F238E27FC236}">
                      <a16:creationId xmlns:a16="http://schemas.microsoft.com/office/drawing/2014/main" id="{CAEDA6BB-ABDC-44FF-B8F1-57AF8920E62B}"/>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19">
                  <a:extLst>
                    <a:ext uri="{FF2B5EF4-FFF2-40B4-BE49-F238E27FC236}">
                      <a16:creationId xmlns:a16="http://schemas.microsoft.com/office/drawing/2014/main" id="{B52588C3-F7A7-4750-8958-9E46DC30128D}"/>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0">
                  <a:extLst>
                    <a:ext uri="{FF2B5EF4-FFF2-40B4-BE49-F238E27FC236}">
                      <a16:creationId xmlns:a16="http://schemas.microsoft.com/office/drawing/2014/main" id="{1B242CA3-251C-49A8-9F8B-3C36D19DAF99}"/>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1">
                  <a:extLst>
                    <a:ext uri="{FF2B5EF4-FFF2-40B4-BE49-F238E27FC236}">
                      <a16:creationId xmlns:a16="http://schemas.microsoft.com/office/drawing/2014/main" id="{934A00C5-C8F2-4AB7-9F6D-983AF931C1BD}"/>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2">
                  <a:extLst>
                    <a:ext uri="{FF2B5EF4-FFF2-40B4-BE49-F238E27FC236}">
                      <a16:creationId xmlns:a16="http://schemas.microsoft.com/office/drawing/2014/main" id="{56A807CD-D73B-4E85-BD9C-E48E63EFE8A6}"/>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3">
                  <a:extLst>
                    <a:ext uri="{FF2B5EF4-FFF2-40B4-BE49-F238E27FC236}">
                      <a16:creationId xmlns:a16="http://schemas.microsoft.com/office/drawing/2014/main" id="{E7FCF25E-43F2-47F9-84CA-88DA94BC6C90}"/>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4">
                  <a:extLst>
                    <a:ext uri="{FF2B5EF4-FFF2-40B4-BE49-F238E27FC236}">
                      <a16:creationId xmlns:a16="http://schemas.microsoft.com/office/drawing/2014/main" id="{941BF1B0-B0FC-4B26-87D2-8E92F0B923BB}"/>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 name="Freeform 25">
                  <a:extLst>
                    <a:ext uri="{FF2B5EF4-FFF2-40B4-BE49-F238E27FC236}">
                      <a16:creationId xmlns:a16="http://schemas.microsoft.com/office/drawing/2014/main" id="{58386E5A-8831-41BF-A518-267851851837}"/>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9" name="Freeform 26">
                  <a:extLst>
                    <a:ext uri="{FF2B5EF4-FFF2-40B4-BE49-F238E27FC236}">
                      <a16:creationId xmlns:a16="http://schemas.microsoft.com/office/drawing/2014/main" id="{42A36C76-0897-4DBC-8C24-F1DE13438B11}"/>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0C33E6C5-337F-4255-A1DA-43C86CD19DD8}"/>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7299F587-A84B-44B9-8C48-AC1437FF5217}"/>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039852B9-9585-4786-86B9-2B6A70406C43}"/>
              </a:ext>
            </a:extLst>
          </p:cNvPr>
          <p:cNvSpPr>
            <a:spLocks noGrp="1" noChangeArrowheads="1"/>
          </p:cNvSpPr>
          <p:nvPr>
            <p:ph type="dt" sz="half" idx="2"/>
          </p:nvPr>
        </p:nvSpPr>
        <p:spPr bwMode="auto">
          <a:xfrm>
            <a:off x="685800" y="6400800"/>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121C8707-69C6-4ACD-BD95-09F063A7B008}"/>
              </a:ext>
            </a:extLst>
          </p:cNvPr>
          <p:cNvSpPr>
            <a:spLocks noGrp="1" noChangeArrowheads="1"/>
          </p:cNvSpPr>
          <p:nvPr>
            <p:ph type="sldNum" sz="quarter" idx="4"/>
          </p:nvPr>
        </p:nvSpPr>
        <p:spPr bwMode="auto">
          <a:xfrm>
            <a:off x="6553200" y="6399213"/>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r">
              <a:defRPr sz="1400"/>
            </a:lvl1pPr>
          </a:lstStyle>
          <a:p>
            <a:pPr>
              <a:defRPr/>
            </a:pPr>
            <a:fld id="{1E474C50-5B89-4C8D-9603-F9CFC12EC5E1}" type="slidenum">
              <a:rPr lang="en-US" altLang="en-US"/>
              <a:pPr>
                <a:defRPr/>
              </a:pPr>
              <a:t>‹#›</a:t>
            </a:fld>
            <a:endParaRPr lang="en-US" altLang="en-US"/>
          </a:p>
        </p:txBody>
      </p:sp>
      <p:sp>
        <p:nvSpPr>
          <p:cNvPr id="1031" name="Rectangle 35">
            <a:extLst>
              <a:ext uri="{FF2B5EF4-FFF2-40B4-BE49-F238E27FC236}">
                <a16:creationId xmlns:a16="http://schemas.microsoft.com/office/drawing/2014/main" id="{C1639140-DF82-447C-8940-97C93664B7A5}"/>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5" name="Rectangle 35">
            <a:extLst>
              <a:ext uri="{FF2B5EF4-FFF2-40B4-BE49-F238E27FC236}">
                <a16:creationId xmlns:a16="http://schemas.microsoft.com/office/drawing/2014/main" id="{B16DA2B3-3106-4A65-A620-A5451B6A92B9}"/>
              </a:ext>
            </a:extLst>
          </p:cNvPr>
          <p:cNvSpPr>
            <a:spLocks noChangeArrowheads="1"/>
          </p:cNvSpPr>
          <p:nvPr userDrawn="1"/>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Tree>
  </p:cSld>
  <p:clrMap bg1="lt1" tx1="dk1" bg2="lt2" tx2="dk2" accent1="accent1" accent2="accent2" accent3="accent3" accent4="accent4" accent5="accent5" accent6="accent6" hlink="hlink" folHlink="folHlink"/>
  <p:sldLayoutIdLst>
    <p:sldLayoutId id="2147483899"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liveexample.pearsoncmg.com/html/TestHashSet.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liveexample.pearsoncmg.com/html/TestLinkedHashSet.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liveexample.pearsoncmg.com/html/TestTreeSet.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liveexample.pearsoncmg.com/html/TestTreeSetWithComparator.htm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liveexample.pearsoncmg.com/html/CountKeywords.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geeksforgeeks.org/differences-treemap-hashmap-linkedhashmap-jav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w3schools.com/java/java_hashmap.asp"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liveexample.pearsoncmg.com/html/TestMap.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liveexample.pearsoncmg.com/html/CountOccurrenceOfWord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B148AC46-93DD-4E6F-9133-CF404B5FB1BC}"/>
              </a:ext>
            </a:extLst>
          </p:cNvPr>
          <p:cNvSpPr>
            <a:spLocks noGrp="1" noChangeArrowheads="1"/>
          </p:cNvSpPr>
          <p:nvPr>
            <p:ph type="title"/>
          </p:nvPr>
        </p:nvSpPr>
        <p:spPr>
          <a:xfrm>
            <a:off x="685800" y="285750"/>
            <a:ext cx="7924800" cy="2152650"/>
          </a:xfrm>
          <a:noFill/>
        </p:spPr>
        <p:txBody>
          <a:bodyPr/>
          <a:lstStyle/>
          <a:p>
            <a:pPr eaLnBrk="1" hangingPunct="1"/>
            <a:r>
              <a:rPr lang="en-US" altLang="en-US" sz="4000" dirty="0"/>
              <a:t>Chapter 21 Sets and Maps</a:t>
            </a:r>
          </a:p>
        </p:txBody>
      </p:sp>
      <p:sp>
        <p:nvSpPr>
          <p:cNvPr id="4099" name="Slide Number Placeholder 4">
            <a:extLst>
              <a:ext uri="{FF2B5EF4-FFF2-40B4-BE49-F238E27FC236}">
                <a16:creationId xmlns:a16="http://schemas.microsoft.com/office/drawing/2014/main" id="{EBF8C316-A9C2-42F2-80E8-438D0A14144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7CBF6C2-29FE-4559-8119-90794C6EBE56}" type="slidenum">
              <a:rPr lang="en-US" altLang="en-US" sz="1400" smtClean="0"/>
              <a:pPr>
                <a:spcBef>
                  <a:spcPct val="0"/>
                </a:spcBef>
                <a:buClrTx/>
                <a:buSzTx/>
                <a:buFontTx/>
                <a:buNone/>
              </a:pPr>
              <a:t>1</a:t>
            </a:fld>
            <a:endParaRPr lang="en-US" alt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D4C5D624-32ED-4691-A77D-DD6426432FE8}"/>
              </a:ext>
            </a:extLst>
          </p:cNvPr>
          <p:cNvSpPr>
            <a:spLocks noGrp="1" noChangeArrowheads="1"/>
          </p:cNvSpPr>
          <p:nvPr>
            <p:ph type="title"/>
          </p:nvPr>
        </p:nvSpPr>
        <p:spPr>
          <a:xfrm>
            <a:off x="685800" y="152400"/>
            <a:ext cx="7772400" cy="457200"/>
          </a:xfrm>
          <a:noFill/>
        </p:spPr>
        <p:txBody>
          <a:bodyPr/>
          <a:lstStyle/>
          <a:p>
            <a:pPr eaLnBrk="1" hangingPunct="1"/>
            <a:r>
              <a:rPr lang="en-US" altLang="en-US"/>
              <a:t>Objectives</a:t>
            </a:r>
          </a:p>
        </p:txBody>
      </p:sp>
      <p:sp>
        <p:nvSpPr>
          <p:cNvPr id="5123" name="Rectangle 3">
            <a:extLst>
              <a:ext uri="{FF2B5EF4-FFF2-40B4-BE49-F238E27FC236}">
                <a16:creationId xmlns:a16="http://schemas.microsoft.com/office/drawing/2014/main" id="{00B60CD4-5216-4250-B6F8-3EBB9EAB5A32}"/>
              </a:ext>
            </a:extLst>
          </p:cNvPr>
          <p:cNvSpPr>
            <a:spLocks noGrp="1" noChangeArrowheads="1"/>
          </p:cNvSpPr>
          <p:nvPr>
            <p:ph idx="1"/>
          </p:nvPr>
        </p:nvSpPr>
        <p:spPr>
          <a:xfrm>
            <a:off x="152400" y="685800"/>
            <a:ext cx="8763000" cy="5791200"/>
          </a:xfrm>
        </p:spPr>
        <p:txBody>
          <a:bodyPr/>
          <a:lstStyle/>
          <a:p>
            <a:pPr eaLnBrk="1" hangingPunct="1">
              <a:buFont typeface="Wingdings" panose="05000000000000000000" pitchFamily="2" charset="2"/>
              <a:buChar char="q"/>
            </a:pPr>
            <a:r>
              <a:rPr lang="en-US" altLang="en-US" sz="2400"/>
              <a:t>To store unordered, nonduplicate elements using a set (§21.2). </a:t>
            </a:r>
          </a:p>
          <a:p>
            <a:pPr eaLnBrk="1" hangingPunct="1">
              <a:buFont typeface="Wingdings" panose="05000000000000000000" pitchFamily="2" charset="2"/>
              <a:buChar char="q"/>
            </a:pPr>
            <a:r>
              <a:rPr lang="en-US" altLang="en-US" sz="2400"/>
              <a:t>To explore how and when to use HashSet (§21.2.1), LinkedHashSet (§21.2.2), or TreeSet (§21.2.3) to store elements.</a:t>
            </a:r>
          </a:p>
          <a:p>
            <a:pPr eaLnBrk="1" hangingPunct="1">
              <a:buFont typeface="Wingdings" panose="05000000000000000000" pitchFamily="2" charset="2"/>
              <a:buChar char="q"/>
            </a:pPr>
            <a:r>
              <a:rPr lang="en-US" altLang="en-US" sz="2400"/>
              <a:t>To compare performance of sets and lists (§21.3).</a:t>
            </a:r>
          </a:p>
          <a:p>
            <a:pPr eaLnBrk="1" hangingPunct="1">
              <a:buFont typeface="Wingdings" panose="05000000000000000000" pitchFamily="2" charset="2"/>
              <a:buChar char="q"/>
            </a:pPr>
            <a:r>
              <a:rPr lang="en-US" altLang="en-US" sz="2400"/>
              <a:t>To use sets to develop a program that counts the keywords in a Java source file (§21.4).</a:t>
            </a:r>
          </a:p>
          <a:p>
            <a:pPr eaLnBrk="1" hangingPunct="1">
              <a:buFont typeface="Wingdings" panose="05000000000000000000" pitchFamily="2" charset="2"/>
              <a:buChar char="q"/>
            </a:pPr>
            <a:r>
              <a:rPr lang="en-US" altLang="en-US" sz="2400"/>
              <a:t>To tell the differences between Collection and Map and describe when and how to use HashMap, LinkedHashMap, and TreeMap to store values associated with keys (§21.5). </a:t>
            </a:r>
          </a:p>
          <a:p>
            <a:pPr eaLnBrk="1" hangingPunct="1">
              <a:buFont typeface="Wingdings" panose="05000000000000000000" pitchFamily="2" charset="2"/>
              <a:buChar char="q"/>
            </a:pPr>
            <a:r>
              <a:rPr lang="en-US" altLang="en-US" sz="2400"/>
              <a:t>To use maps to develop a program that counts the occurrence of the words in a text (§21.6).</a:t>
            </a:r>
          </a:p>
          <a:p>
            <a:pPr eaLnBrk="1" hangingPunct="1">
              <a:buFont typeface="Wingdings" panose="05000000000000000000" pitchFamily="2" charset="2"/>
              <a:buChar char="q"/>
            </a:pPr>
            <a:r>
              <a:rPr lang="en-US" altLang="en-US" sz="2400"/>
              <a:t>To obtain singleton sets, lists, and maps, and unmodifiable sets, lists, and maps, using the static methods in the Collections class (§21.7). </a:t>
            </a:r>
          </a:p>
        </p:txBody>
      </p:sp>
      <p:sp>
        <p:nvSpPr>
          <p:cNvPr id="5124" name="Slide Number Placeholder 4">
            <a:extLst>
              <a:ext uri="{FF2B5EF4-FFF2-40B4-BE49-F238E27FC236}">
                <a16:creationId xmlns:a16="http://schemas.microsoft.com/office/drawing/2014/main" id="{4D878268-5A2A-439E-8CD3-6D685914E11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0B5A609-02CC-4E2A-A5D6-354654FEAF11}" type="slidenum">
              <a:rPr lang="en-US" altLang="en-US" sz="1400" smtClean="0"/>
              <a:pPr>
                <a:spcBef>
                  <a:spcPct val="0"/>
                </a:spcBef>
                <a:buClrTx/>
                <a:buSzTx/>
                <a:buFontTx/>
                <a:buNone/>
              </a:pPr>
              <a:t>2</a:t>
            </a:fld>
            <a:endParaRPr lang="en-US"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92A055E-C6B6-4377-927D-B97E8B9DA6A2}"/>
              </a:ext>
            </a:extLst>
          </p:cNvPr>
          <p:cNvSpPr>
            <a:spLocks noGrp="1" noChangeArrowheads="1"/>
          </p:cNvSpPr>
          <p:nvPr>
            <p:ph type="title"/>
          </p:nvPr>
        </p:nvSpPr>
        <p:spPr>
          <a:xfrm>
            <a:off x="685800" y="228600"/>
            <a:ext cx="7924800" cy="609600"/>
          </a:xfrm>
          <a:noFill/>
        </p:spPr>
        <p:txBody>
          <a:bodyPr/>
          <a:lstStyle/>
          <a:p>
            <a:pPr eaLnBrk="1" hangingPunct="1"/>
            <a:r>
              <a:rPr lang="en-US" altLang="en-US"/>
              <a:t>Motivations</a:t>
            </a:r>
          </a:p>
        </p:txBody>
      </p:sp>
      <p:sp>
        <p:nvSpPr>
          <p:cNvPr id="6147" name="Rectangle 3">
            <a:extLst>
              <a:ext uri="{FF2B5EF4-FFF2-40B4-BE49-F238E27FC236}">
                <a16:creationId xmlns:a16="http://schemas.microsoft.com/office/drawing/2014/main" id="{2F51F574-A4F2-438F-B6E2-89D9A7D83D97}"/>
              </a:ext>
            </a:extLst>
          </p:cNvPr>
          <p:cNvSpPr>
            <a:spLocks noGrp="1" noChangeArrowheads="1"/>
          </p:cNvSpPr>
          <p:nvPr>
            <p:ph idx="1"/>
          </p:nvPr>
        </p:nvSpPr>
        <p:spPr>
          <a:xfrm>
            <a:off x="381000" y="990600"/>
            <a:ext cx="8458200" cy="2819400"/>
          </a:xfrm>
        </p:spPr>
        <p:txBody>
          <a:bodyPr/>
          <a:lstStyle/>
          <a:p>
            <a:pPr marL="0" indent="0" eaLnBrk="1" hangingPunct="1">
              <a:buFont typeface="Monotype Sorts"/>
              <a:buNone/>
            </a:pPr>
            <a:r>
              <a:rPr lang="en-US" altLang="en-US" sz="2400"/>
              <a:t>The “</a:t>
            </a:r>
            <a:r>
              <a:rPr lang="en-US" altLang="en-US" sz="2400" b="1"/>
              <a:t>No</a:t>
            </a:r>
            <a:r>
              <a:rPr lang="en-US" altLang="en-US" sz="2400"/>
              <a:t>-</a:t>
            </a:r>
            <a:r>
              <a:rPr lang="en-US" altLang="en-US" sz="2400" b="1"/>
              <a:t>Fly</a:t>
            </a:r>
            <a:r>
              <a:rPr lang="en-US" altLang="en-US" sz="2400"/>
              <a:t>”</a:t>
            </a:r>
            <a:r>
              <a:rPr lang="en-US" altLang="en-US" sz="2400" b="1"/>
              <a:t> list</a:t>
            </a:r>
            <a:r>
              <a:rPr lang="en-US" altLang="en-US" sz="2400"/>
              <a:t> is a list, created and maintained by the U.S. government’s Terrorist Screening Center, of people who are not permitted to board a commercial aircraft for travel in or out of the United States. Suppose we need to write a program that checks whether a person is on the No-Fly list. You can use a list to store names in the No-Fly list. However, a more efficient data structure for this application is a </a:t>
            </a:r>
            <a:r>
              <a:rPr lang="en-US" altLang="en-US" sz="2400" i="1"/>
              <a:t>set</a:t>
            </a:r>
            <a:r>
              <a:rPr lang="en-US" altLang="en-US" sz="2400"/>
              <a:t>.</a:t>
            </a:r>
            <a:endParaRPr lang="en-US" altLang="en-US" sz="2400" noProof="1"/>
          </a:p>
        </p:txBody>
      </p:sp>
      <p:sp>
        <p:nvSpPr>
          <p:cNvPr id="6148" name="Slide Number Placeholder 4">
            <a:extLst>
              <a:ext uri="{FF2B5EF4-FFF2-40B4-BE49-F238E27FC236}">
                <a16:creationId xmlns:a16="http://schemas.microsoft.com/office/drawing/2014/main" id="{E5F43B19-A32C-4574-98FB-871E238C4A8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4F81E16-BF6B-41C9-871A-D3469A33C565}" type="slidenum">
              <a:rPr lang="en-US" altLang="en-US" sz="1400" smtClean="0"/>
              <a:pPr>
                <a:spcBef>
                  <a:spcPct val="0"/>
                </a:spcBef>
                <a:buClrTx/>
                <a:buSzTx/>
                <a:buFontTx/>
                <a:buNone/>
              </a:pPr>
              <a:t>3</a:t>
            </a:fld>
            <a:endParaRPr lang="en-US" altLang="en-US" sz="1400"/>
          </a:p>
        </p:txBody>
      </p:sp>
      <p:sp>
        <p:nvSpPr>
          <p:cNvPr id="6149" name="Rectangle 4">
            <a:extLst>
              <a:ext uri="{FF2B5EF4-FFF2-40B4-BE49-F238E27FC236}">
                <a16:creationId xmlns:a16="http://schemas.microsoft.com/office/drawing/2014/main" id="{EC3222C4-A2C4-4003-8164-78EAF2F80CB0}"/>
              </a:ext>
            </a:extLst>
          </p:cNvPr>
          <p:cNvSpPr>
            <a:spLocks noChangeArrowheads="1"/>
          </p:cNvSpPr>
          <p:nvPr/>
        </p:nvSpPr>
        <p:spPr bwMode="auto">
          <a:xfrm>
            <a:off x="381000" y="4114800"/>
            <a:ext cx="84582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400"/>
              <a:t>Suppose your program also needs to store detailed information about terrorists in the No-Fly list. The detailed information such as gender, height, weight, and nationality can be retrieved using the name as the key. A </a:t>
            </a:r>
            <a:r>
              <a:rPr lang="en-US" altLang="en-US" sz="2400" i="1"/>
              <a:t>map</a:t>
            </a:r>
            <a:r>
              <a:rPr lang="en-US" altLang="en-US" sz="2400"/>
              <a:t> is an efficient data structure for such a task.</a:t>
            </a:r>
            <a:endParaRPr lang="en-US" altLang="en-US" sz="2400" noProof="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B0977A0-A1C0-4573-836C-63D6FE910139}"/>
              </a:ext>
            </a:extLst>
          </p:cNvPr>
          <p:cNvSpPr>
            <a:spLocks noGrp="1" noChangeArrowheads="1"/>
          </p:cNvSpPr>
          <p:nvPr>
            <p:ph type="title"/>
          </p:nvPr>
        </p:nvSpPr>
        <p:spPr>
          <a:xfrm>
            <a:off x="685800" y="228600"/>
            <a:ext cx="7924800" cy="1143000"/>
          </a:xfrm>
          <a:noFill/>
        </p:spPr>
        <p:txBody>
          <a:bodyPr/>
          <a:lstStyle/>
          <a:p>
            <a:pPr eaLnBrk="1" hangingPunct="1"/>
            <a:r>
              <a:rPr lang="en-US" altLang="en-US"/>
              <a:t>Review of Java Collection Framework hierarchy</a:t>
            </a:r>
          </a:p>
        </p:txBody>
      </p:sp>
      <p:sp>
        <p:nvSpPr>
          <p:cNvPr id="7171" name="Rectangle 7">
            <a:extLst>
              <a:ext uri="{FF2B5EF4-FFF2-40B4-BE49-F238E27FC236}">
                <a16:creationId xmlns:a16="http://schemas.microsoft.com/office/drawing/2014/main" id="{FA37534A-01EC-4469-977B-6A1DC88C3A35}"/>
              </a:ext>
            </a:extLst>
          </p:cNvPr>
          <p:cNvSpPr>
            <a:spLocks noGrp="1" noChangeArrowheads="1"/>
          </p:cNvSpPr>
          <p:nvPr>
            <p:ph idx="1"/>
          </p:nvPr>
        </p:nvSpPr>
        <p:spPr>
          <a:xfrm>
            <a:off x="457200" y="1676400"/>
            <a:ext cx="8458200" cy="914400"/>
          </a:xfrm>
        </p:spPr>
        <p:txBody>
          <a:bodyPr/>
          <a:lstStyle/>
          <a:p>
            <a:pPr marL="0" indent="0" eaLnBrk="1" hangingPunct="1">
              <a:buFont typeface="Monotype Sorts"/>
              <a:buNone/>
            </a:pPr>
            <a:r>
              <a:rPr lang="en-US" altLang="en-US" dirty="0">
                <a:highlight>
                  <a:srgbClr val="FFFF00"/>
                </a:highlight>
                <a:cs typeface="Times New Roman" panose="02020603050405020304" pitchFamily="18" charset="0"/>
              </a:rPr>
              <a:t>Set and List are </a:t>
            </a:r>
            <a:r>
              <a:rPr lang="en-US" altLang="en-US" dirty="0" err="1">
                <a:highlight>
                  <a:srgbClr val="FFFF00"/>
                </a:highlight>
                <a:cs typeface="Times New Roman" panose="02020603050405020304" pitchFamily="18" charset="0"/>
              </a:rPr>
              <a:t>subinterfaces</a:t>
            </a:r>
            <a:r>
              <a:rPr lang="en-US" altLang="en-US" dirty="0">
                <a:highlight>
                  <a:srgbClr val="FFFF00"/>
                </a:highlight>
                <a:cs typeface="Times New Roman" panose="02020603050405020304" pitchFamily="18" charset="0"/>
              </a:rPr>
              <a:t> of Collection</a:t>
            </a:r>
            <a:r>
              <a:rPr lang="en-US" altLang="en-US" dirty="0">
                <a:cs typeface="Times New Roman" panose="02020603050405020304" pitchFamily="18" charset="0"/>
              </a:rPr>
              <a:t>.</a:t>
            </a:r>
          </a:p>
        </p:txBody>
      </p:sp>
      <p:sp>
        <p:nvSpPr>
          <p:cNvPr id="7172" name="Slide Number Placeholder 4">
            <a:extLst>
              <a:ext uri="{FF2B5EF4-FFF2-40B4-BE49-F238E27FC236}">
                <a16:creationId xmlns:a16="http://schemas.microsoft.com/office/drawing/2014/main" id="{07BE64F7-386D-4F97-B7F3-1DB8C51F6A4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D7678F8-38E7-48CA-8123-6D2DE3126C73}" type="slidenum">
              <a:rPr lang="en-US" altLang="en-US" sz="1400" smtClean="0"/>
              <a:pPr>
                <a:spcBef>
                  <a:spcPct val="0"/>
                </a:spcBef>
                <a:buClrTx/>
                <a:buSzTx/>
                <a:buFontTx/>
                <a:buNone/>
              </a:pPr>
              <a:t>4</a:t>
            </a:fld>
            <a:endParaRPr lang="en-US" altLang="en-US" sz="1400"/>
          </a:p>
        </p:txBody>
      </p:sp>
      <p:pic>
        <p:nvPicPr>
          <p:cNvPr id="7176" name="Picture 9">
            <a:extLst>
              <a:ext uri="{FF2B5EF4-FFF2-40B4-BE49-F238E27FC236}">
                <a16:creationId xmlns:a16="http://schemas.microsoft.com/office/drawing/2014/main" id="{3DB889A1-A161-4FB2-82DF-0CD31EE62617}"/>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725" y="2439988"/>
            <a:ext cx="8464550" cy="382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14">
            <a:extLst>
              <a:ext uri="{FF2B5EF4-FFF2-40B4-BE49-F238E27FC236}">
                <a16:creationId xmlns:a16="http://schemas.microsoft.com/office/drawing/2014/main" id="{49A9DB98-1B88-4821-89D0-7BC286CF0675}"/>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400"/>
            <a:ext cx="8769350" cy="627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8195" name="Rectangle 4">
            <a:extLst>
              <a:ext uri="{FF2B5EF4-FFF2-40B4-BE49-F238E27FC236}">
                <a16:creationId xmlns:a16="http://schemas.microsoft.com/office/drawing/2014/main" id="{B92BE9E2-4EAB-4604-A8E0-F3473A5DE605}"/>
              </a:ext>
            </a:extLst>
          </p:cNvPr>
          <p:cNvSpPr>
            <a:spLocks noGrp="1" noChangeArrowheads="1"/>
          </p:cNvSpPr>
          <p:nvPr>
            <p:ph idx="1"/>
          </p:nvPr>
        </p:nvSpPr>
        <p:spPr>
          <a:xfrm>
            <a:off x="4572000" y="1143000"/>
            <a:ext cx="4343400" cy="685800"/>
          </a:xfrm>
          <a:ln>
            <a:solidFill>
              <a:schemeClr val="accent1"/>
            </a:solidFill>
            <a:miter lim="800000"/>
            <a:headEnd/>
            <a:tailEnd/>
          </a:ln>
        </p:spPr>
        <p:txBody>
          <a:bodyPr/>
          <a:lstStyle/>
          <a:p>
            <a:pPr marL="0" indent="0" eaLnBrk="1" hangingPunct="1">
              <a:lnSpc>
                <a:spcPct val="90000"/>
              </a:lnSpc>
              <a:spcBef>
                <a:spcPct val="0"/>
              </a:spcBef>
              <a:buFont typeface="Monotype Sorts"/>
              <a:buNone/>
            </a:pPr>
            <a:r>
              <a:rPr lang="en-US" altLang="en-US" sz="1800">
                <a:cs typeface="Times New Roman" panose="02020603050405020304" pitchFamily="18" charset="0"/>
              </a:rPr>
              <a:t>The Collection interface is the root interface for manipulating a collection of objects.</a:t>
            </a:r>
            <a:r>
              <a:rPr lang="en-US" altLang="en-US" sz="2400">
                <a:latin typeface="Courier"/>
                <a:cs typeface="Times New Roman" panose="02020603050405020304" pitchFamily="18" charset="0"/>
              </a:rPr>
              <a:t> </a:t>
            </a:r>
            <a:endParaRPr lang="en-US" altLang="en-US" sz="2400" noProof="1">
              <a:latin typeface="Courier"/>
              <a:cs typeface="Times New Roman" panose="02020603050405020304" pitchFamily="18" charset="0"/>
            </a:endParaRPr>
          </a:p>
        </p:txBody>
      </p:sp>
      <p:sp>
        <p:nvSpPr>
          <p:cNvPr id="8196" name="Slide Number Placeholder 4">
            <a:extLst>
              <a:ext uri="{FF2B5EF4-FFF2-40B4-BE49-F238E27FC236}">
                <a16:creationId xmlns:a16="http://schemas.microsoft.com/office/drawing/2014/main" id="{FBFB2E01-8D26-4BFA-822E-8E54C1E1C47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35CFC2C-8831-40C5-9F29-6ADFE846DEA8}" type="slidenum">
              <a:rPr lang="en-US" altLang="en-US" sz="1400" smtClean="0"/>
              <a:pPr>
                <a:spcBef>
                  <a:spcPct val="0"/>
                </a:spcBef>
                <a:buClrTx/>
                <a:buSzTx/>
                <a:buFontTx/>
                <a:buNone/>
              </a:pPr>
              <a:t>5</a:t>
            </a:fld>
            <a:endParaRPr lang="en-US" altLang="en-US" sz="1400"/>
          </a:p>
        </p:txBody>
      </p:sp>
      <p:sp>
        <p:nvSpPr>
          <p:cNvPr id="2" name="Title 1">
            <a:extLst>
              <a:ext uri="{FF2B5EF4-FFF2-40B4-BE49-F238E27FC236}">
                <a16:creationId xmlns:a16="http://schemas.microsoft.com/office/drawing/2014/main" id="{D5FA5E8C-34D4-421B-ABE3-B16BE951D961}"/>
              </a:ext>
            </a:extLst>
          </p:cNvPr>
          <p:cNvSpPr>
            <a:spLocks noGrp="1"/>
          </p:cNvSpPr>
          <p:nvPr>
            <p:ph type="title"/>
          </p:nvPr>
        </p:nvSpPr>
        <p:spPr>
          <a:xfrm>
            <a:off x="4953000" y="133350"/>
            <a:ext cx="3200400" cy="514350"/>
          </a:xfrm>
        </p:spPr>
        <p:txBody>
          <a:bodyPr/>
          <a:lstStyle/>
          <a:p>
            <a:r>
              <a:rPr lang="en-US" sz="2800" dirty="0"/>
              <a:t>Collection Interface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DEDE63C-F96A-4D68-ACAA-E0290427D13C}"/>
              </a:ext>
            </a:extLst>
          </p:cNvPr>
          <p:cNvSpPr>
            <a:spLocks noGrp="1" noChangeArrowheads="1"/>
          </p:cNvSpPr>
          <p:nvPr>
            <p:ph type="title"/>
          </p:nvPr>
        </p:nvSpPr>
        <p:spPr>
          <a:xfrm>
            <a:off x="685800" y="228600"/>
            <a:ext cx="7924800" cy="1143000"/>
          </a:xfrm>
          <a:noFill/>
        </p:spPr>
        <p:txBody>
          <a:bodyPr/>
          <a:lstStyle/>
          <a:p>
            <a:pPr eaLnBrk="1" hangingPunct="1"/>
            <a:r>
              <a:rPr lang="en-US" altLang="en-US">
                <a:cs typeface="Times New Roman" panose="02020603050405020304" pitchFamily="18" charset="0"/>
              </a:rPr>
              <a:t>The Set Interface</a:t>
            </a:r>
          </a:p>
        </p:txBody>
      </p:sp>
      <p:sp>
        <p:nvSpPr>
          <p:cNvPr id="9219" name="Rectangle 4">
            <a:extLst>
              <a:ext uri="{FF2B5EF4-FFF2-40B4-BE49-F238E27FC236}">
                <a16:creationId xmlns:a16="http://schemas.microsoft.com/office/drawing/2014/main" id="{6CB1D2FE-5D20-48C8-BA0A-380A9BE7EA80}"/>
              </a:ext>
            </a:extLst>
          </p:cNvPr>
          <p:cNvSpPr>
            <a:spLocks noGrp="1" noChangeArrowheads="1"/>
          </p:cNvSpPr>
          <p:nvPr>
            <p:ph idx="1"/>
          </p:nvPr>
        </p:nvSpPr>
        <p:spPr>
          <a:xfrm>
            <a:off x="152400" y="1295400"/>
            <a:ext cx="8839200" cy="4876800"/>
          </a:xfrm>
        </p:spPr>
        <p:txBody>
          <a:bodyPr/>
          <a:lstStyle/>
          <a:p>
            <a:pPr eaLnBrk="1" hangingPunct="1">
              <a:spcBef>
                <a:spcPct val="0"/>
              </a:spcBef>
              <a:spcAft>
                <a:spcPts val="1200"/>
              </a:spcAft>
              <a:buFont typeface="Wingdings" panose="05000000000000000000" pitchFamily="2" charset="2"/>
              <a:buChar char="§"/>
            </a:pPr>
            <a:r>
              <a:rPr lang="en-US" altLang="en-US" sz="2600">
                <a:cs typeface="Times New Roman" panose="02020603050405020304" pitchFamily="18" charset="0"/>
              </a:rPr>
              <a:t>The </a:t>
            </a:r>
            <a:r>
              <a:rPr lang="en-US" altLang="en-US" sz="2600" b="1">
                <a:cs typeface="Times New Roman" panose="02020603050405020304" pitchFamily="18" charset="0"/>
              </a:rPr>
              <a:t>Set</a:t>
            </a:r>
            <a:r>
              <a:rPr lang="en-US" altLang="en-US" sz="2600">
                <a:cs typeface="Times New Roman" panose="02020603050405020304" pitchFamily="18" charset="0"/>
              </a:rPr>
              <a:t> interface extends the Collection interface. </a:t>
            </a:r>
          </a:p>
          <a:p>
            <a:pPr eaLnBrk="1" hangingPunct="1">
              <a:spcBef>
                <a:spcPct val="0"/>
              </a:spcBef>
              <a:spcAft>
                <a:spcPts val="1200"/>
              </a:spcAft>
              <a:buFont typeface="Wingdings" panose="05000000000000000000" pitchFamily="2" charset="2"/>
              <a:buChar char="§"/>
            </a:pPr>
            <a:r>
              <a:rPr lang="en-US" altLang="en-US" sz="2600">
                <a:cs typeface="Times New Roman" panose="02020603050405020304" pitchFamily="18" charset="0"/>
              </a:rPr>
              <a:t>It does not introduce new methods or constants, but it stipulates that an instance of Set contains </a:t>
            </a:r>
            <a:r>
              <a:rPr lang="en-US" altLang="en-US" sz="2600" u="sng">
                <a:cs typeface="Times New Roman" panose="02020603050405020304" pitchFamily="18" charset="0"/>
              </a:rPr>
              <a:t>no duplicate elements</a:t>
            </a:r>
            <a:r>
              <a:rPr lang="en-US" altLang="en-US" sz="2600">
                <a:cs typeface="Times New Roman" panose="02020603050405020304" pitchFamily="18" charset="0"/>
              </a:rPr>
              <a:t>. </a:t>
            </a:r>
          </a:p>
          <a:p>
            <a:pPr eaLnBrk="1" hangingPunct="1">
              <a:spcBef>
                <a:spcPct val="0"/>
              </a:spcBef>
              <a:spcAft>
                <a:spcPts val="1200"/>
              </a:spcAft>
              <a:buFont typeface="Wingdings" panose="05000000000000000000" pitchFamily="2" charset="2"/>
              <a:buChar char="§"/>
            </a:pPr>
            <a:r>
              <a:rPr lang="en-US" altLang="en-US" sz="2600">
                <a:cs typeface="Times New Roman" panose="02020603050405020304" pitchFamily="18" charset="0"/>
              </a:rPr>
              <a:t>The concrete classes that implement Set must ensure that no duplicate elements can be added to the set. Thus, no two elements e1 and e2 can be in the set where </a:t>
            </a:r>
            <a:r>
              <a:rPr lang="en-US" altLang="en-US" sz="2600" i="1">
                <a:cs typeface="Times New Roman" panose="02020603050405020304" pitchFamily="18" charset="0"/>
              </a:rPr>
              <a:t>e1.equals(e2) </a:t>
            </a:r>
            <a:r>
              <a:rPr lang="en-US" altLang="en-US" sz="2600">
                <a:cs typeface="Times New Roman" panose="02020603050405020304" pitchFamily="18" charset="0"/>
              </a:rPr>
              <a:t>is true.</a:t>
            </a:r>
          </a:p>
          <a:p>
            <a:pPr eaLnBrk="1" hangingPunct="1">
              <a:spcBef>
                <a:spcPct val="0"/>
              </a:spcBef>
              <a:spcAft>
                <a:spcPts val="1200"/>
              </a:spcAft>
              <a:buFont typeface="Wingdings" panose="05000000000000000000" pitchFamily="2" charset="2"/>
              <a:buChar char="§"/>
            </a:pPr>
            <a:r>
              <a:rPr lang="en-US" altLang="en-US" sz="2600">
                <a:cs typeface="Times New Roman" panose="02020603050405020304" pitchFamily="18" charset="0"/>
              </a:rPr>
              <a:t>One major purpose for using a set is to determine if a specific object is in that set. (Like if a passenger is in the “No-Fly” list.)</a:t>
            </a:r>
          </a:p>
        </p:txBody>
      </p:sp>
      <p:sp>
        <p:nvSpPr>
          <p:cNvPr id="9220" name="Slide Number Placeholder 4">
            <a:extLst>
              <a:ext uri="{FF2B5EF4-FFF2-40B4-BE49-F238E27FC236}">
                <a16:creationId xmlns:a16="http://schemas.microsoft.com/office/drawing/2014/main" id="{FA44D68A-5548-4639-BD5E-3C1B00AD3309}"/>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CBBB0FB-B2A8-42F6-9268-561AC01FF0B6}" type="slidenum">
              <a:rPr lang="en-US" altLang="en-US" sz="1400" smtClean="0"/>
              <a:pPr>
                <a:spcBef>
                  <a:spcPct val="0"/>
                </a:spcBef>
                <a:buClrTx/>
                <a:buSzTx/>
                <a:buFontTx/>
                <a:buNone/>
              </a:pPr>
              <a:t>6</a:t>
            </a:fld>
            <a:endParaRPr lang="en-US" alt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8AFD49E-D65B-4BE3-BB38-324FB663BEB9}"/>
              </a:ext>
            </a:extLst>
          </p:cNvPr>
          <p:cNvSpPr>
            <a:spLocks noGrp="1" noChangeArrowheads="1"/>
          </p:cNvSpPr>
          <p:nvPr>
            <p:ph type="title"/>
          </p:nvPr>
        </p:nvSpPr>
        <p:spPr>
          <a:xfrm>
            <a:off x="685800" y="228600"/>
            <a:ext cx="7924800" cy="1143000"/>
          </a:xfrm>
        </p:spPr>
        <p:txBody>
          <a:bodyPr/>
          <a:lstStyle/>
          <a:p>
            <a:pPr eaLnBrk="1" hangingPunct="1"/>
            <a:r>
              <a:rPr lang="en-US" altLang="en-US">
                <a:cs typeface="Times New Roman" panose="02020603050405020304" pitchFamily="18" charset="0"/>
              </a:rPr>
              <a:t>The Set Interface</a:t>
            </a:r>
          </a:p>
        </p:txBody>
      </p:sp>
      <p:sp>
        <p:nvSpPr>
          <p:cNvPr id="10243" name="Rectangle 4">
            <a:extLst>
              <a:ext uri="{FF2B5EF4-FFF2-40B4-BE49-F238E27FC236}">
                <a16:creationId xmlns:a16="http://schemas.microsoft.com/office/drawing/2014/main" id="{35EF367D-488F-470B-A61C-EA8D2DB09170}"/>
              </a:ext>
            </a:extLst>
          </p:cNvPr>
          <p:cNvSpPr>
            <a:spLocks noGrp="1" noChangeArrowheads="1"/>
          </p:cNvSpPr>
          <p:nvPr>
            <p:ph idx="1"/>
          </p:nvPr>
        </p:nvSpPr>
        <p:spPr>
          <a:xfrm>
            <a:off x="152400" y="1371600"/>
            <a:ext cx="8610600" cy="4951413"/>
          </a:xfrm>
        </p:spPr>
        <p:txBody>
          <a:bodyPr/>
          <a:lstStyle/>
          <a:p>
            <a:pPr eaLnBrk="1" hangingPunct="1">
              <a:spcBef>
                <a:spcPct val="0"/>
              </a:spcBef>
              <a:spcAft>
                <a:spcPts val="1200"/>
              </a:spcAft>
              <a:buFont typeface="Wingdings" panose="05000000000000000000" pitchFamily="2" charset="2"/>
              <a:buChar char="§"/>
            </a:pPr>
            <a:r>
              <a:rPr lang="en-US" altLang="en-US" sz="1900" dirty="0">
                <a:highlight>
                  <a:srgbClr val="FFFF00"/>
                </a:highlight>
                <a:cs typeface="Times New Roman" panose="02020603050405020304" pitchFamily="18" charset="0"/>
              </a:rPr>
              <a:t>Java has three basic Set implementations: </a:t>
            </a:r>
            <a:r>
              <a:rPr lang="en-US" altLang="en-US" sz="1900" b="1" dirty="0">
                <a:highlight>
                  <a:srgbClr val="FFFF00"/>
                </a:highlight>
                <a:cs typeface="Times New Roman" panose="02020603050405020304" pitchFamily="18" charset="0"/>
              </a:rPr>
              <a:t>HashSet</a:t>
            </a:r>
            <a:r>
              <a:rPr lang="en-US" altLang="en-US" sz="1900" dirty="0">
                <a:highlight>
                  <a:srgbClr val="FFFF00"/>
                </a:highlight>
                <a:cs typeface="Times New Roman" panose="02020603050405020304" pitchFamily="18" charset="0"/>
              </a:rPr>
              <a:t>, </a:t>
            </a:r>
            <a:r>
              <a:rPr lang="en-US" altLang="en-US" sz="1900" b="1" dirty="0" err="1">
                <a:highlight>
                  <a:srgbClr val="FFFF00"/>
                </a:highlight>
                <a:cs typeface="Times New Roman" panose="02020603050405020304" pitchFamily="18" charset="0"/>
              </a:rPr>
              <a:t>TreeSet</a:t>
            </a:r>
            <a:r>
              <a:rPr lang="en-US" altLang="en-US" sz="1900" dirty="0">
                <a:highlight>
                  <a:srgbClr val="FFFF00"/>
                </a:highlight>
                <a:cs typeface="Times New Roman" panose="02020603050405020304" pitchFamily="18" charset="0"/>
              </a:rPr>
              <a:t>, and </a:t>
            </a:r>
            <a:r>
              <a:rPr lang="en-US" altLang="en-US" sz="1900" b="1" dirty="0" err="1">
                <a:highlight>
                  <a:srgbClr val="FFFF00"/>
                </a:highlight>
                <a:cs typeface="Times New Roman" panose="02020603050405020304" pitchFamily="18" charset="0"/>
              </a:rPr>
              <a:t>LinkedHashSet</a:t>
            </a:r>
            <a:r>
              <a:rPr lang="en-US" altLang="en-US" sz="1900" dirty="0">
                <a:cs typeface="Times New Roman" panose="02020603050405020304" pitchFamily="18" charset="0"/>
              </a:rPr>
              <a:t>. </a:t>
            </a:r>
          </a:p>
          <a:p>
            <a:pPr eaLnBrk="1" hangingPunct="1">
              <a:spcBef>
                <a:spcPct val="0"/>
              </a:spcBef>
              <a:spcAft>
                <a:spcPts val="300"/>
              </a:spcAft>
              <a:buFont typeface="Wingdings" panose="05000000000000000000" pitchFamily="2" charset="2"/>
              <a:buChar char="§"/>
            </a:pPr>
            <a:r>
              <a:rPr lang="en-US" altLang="en-US" sz="1900" b="1" dirty="0">
                <a:highlight>
                  <a:srgbClr val="FFFF00"/>
                </a:highlight>
                <a:cs typeface="Times New Roman" panose="02020603050405020304" pitchFamily="18" charset="0"/>
              </a:rPr>
              <a:t>HashSet</a:t>
            </a:r>
            <a:r>
              <a:rPr lang="en-US" altLang="en-US" sz="1900" dirty="0">
                <a:highlight>
                  <a:srgbClr val="FFFF00"/>
                </a:highlight>
                <a:cs typeface="Times New Roman" panose="02020603050405020304" pitchFamily="18" charset="0"/>
              </a:rPr>
              <a:t>: </a:t>
            </a:r>
          </a:p>
          <a:p>
            <a:pPr lvl="1" eaLnBrk="1" hangingPunct="1">
              <a:spcBef>
                <a:spcPct val="0"/>
              </a:spcBef>
              <a:spcAft>
                <a:spcPts val="300"/>
              </a:spcAft>
              <a:buFont typeface="Arial" panose="020B0604020202020204" pitchFamily="34" charset="0"/>
              <a:buChar char="•"/>
            </a:pPr>
            <a:r>
              <a:rPr lang="en-US" altLang="en-US" sz="1900" dirty="0">
                <a:cs typeface="Times New Roman" panose="02020603050405020304" pitchFamily="18" charset="0"/>
              </a:rPr>
              <a:t>Stores its elements in a hash table</a:t>
            </a:r>
          </a:p>
          <a:p>
            <a:pPr lvl="1" eaLnBrk="1" hangingPunct="1">
              <a:spcBef>
                <a:spcPct val="0"/>
              </a:spcBef>
              <a:spcAft>
                <a:spcPts val="300"/>
              </a:spcAft>
              <a:buFont typeface="Arial" panose="020B0604020202020204" pitchFamily="34" charset="0"/>
              <a:buChar char="•"/>
            </a:pPr>
            <a:r>
              <a:rPr lang="en-US" altLang="en-US" sz="1900" dirty="0">
                <a:highlight>
                  <a:srgbClr val="FFFF00"/>
                </a:highlight>
                <a:cs typeface="Times New Roman" panose="02020603050405020304" pitchFamily="18" charset="0"/>
              </a:rPr>
              <a:t>Most efficient </a:t>
            </a:r>
            <a:r>
              <a:rPr lang="en-US" altLang="en-US" sz="1900" dirty="0">
                <a:cs typeface="Times New Roman" panose="02020603050405020304" pitchFamily="18" charset="0"/>
              </a:rPr>
              <a:t>of the three </a:t>
            </a:r>
          </a:p>
          <a:p>
            <a:pPr lvl="1" eaLnBrk="1" hangingPunct="1">
              <a:spcBef>
                <a:spcPct val="0"/>
              </a:spcBef>
              <a:spcAft>
                <a:spcPts val="300"/>
              </a:spcAft>
              <a:buFont typeface="Arial" panose="020B0604020202020204" pitchFamily="34" charset="0"/>
              <a:buChar char="•"/>
            </a:pPr>
            <a:r>
              <a:rPr lang="en-US" altLang="en-US" sz="1900" dirty="0">
                <a:highlight>
                  <a:srgbClr val="FFFF00"/>
                </a:highlight>
                <a:cs typeface="Times New Roman" panose="02020603050405020304" pitchFamily="18" charset="0"/>
              </a:rPr>
              <a:t>But it does not control the order </a:t>
            </a:r>
            <a:r>
              <a:rPr lang="en-US" altLang="en-US" sz="1900" dirty="0">
                <a:cs typeface="Times New Roman" panose="02020603050405020304" pitchFamily="18" charset="0"/>
              </a:rPr>
              <a:t>of the objects</a:t>
            </a:r>
          </a:p>
          <a:p>
            <a:pPr eaLnBrk="1" hangingPunct="1">
              <a:spcBef>
                <a:spcPts val="600"/>
              </a:spcBef>
              <a:spcAft>
                <a:spcPts val="300"/>
              </a:spcAft>
              <a:buFont typeface="Wingdings" panose="05000000000000000000" pitchFamily="2" charset="2"/>
              <a:buChar char="§"/>
            </a:pPr>
            <a:r>
              <a:rPr lang="en-US" altLang="en-US" sz="1900" b="1" dirty="0" err="1">
                <a:highlight>
                  <a:srgbClr val="FFFF00"/>
                </a:highlight>
                <a:cs typeface="Times New Roman" panose="02020603050405020304" pitchFamily="18" charset="0"/>
              </a:rPr>
              <a:t>TreeSet</a:t>
            </a:r>
            <a:r>
              <a:rPr lang="en-US" altLang="en-US" sz="1900" b="1" dirty="0">
                <a:highlight>
                  <a:srgbClr val="FFFF00"/>
                </a:highlight>
                <a:cs typeface="Times New Roman" panose="02020603050405020304" pitchFamily="18" charset="0"/>
              </a:rPr>
              <a:t>:</a:t>
            </a:r>
            <a:r>
              <a:rPr lang="en-US" altLang="en-US" sz="1900" b="1" dirty="0">
                <a:cs typeface="Times New Roman" panose="02020603050405020304" pitchFamily="18" charset="0"/>
              </a:rPr>
              <a:t> </a:t>
            </a:r>
          </a:p>
          <a:p>
            <a:pPr lvl="1" eaLnBrk="1" hangingPunct="1">
              <a:spcBef>
                <a:spcPct val="0"/>
              </a:spcBef>
              <a:spcAft>
                <a:spcPts val="300"/>
              </a:spcAft>
              <a:buFont typeface="Arial" panose="020B0604020202020204" pitchFamily="34" charset="0"/>
              <a:buChar char="•"/>
            </a:pPr>
            <a:r>
              <a:rPr lang="en-US" altLang="en-US" sz="1900" dirty="0">
                <a:cs typeface="Times New Roman" panose="02020603050405020304" pitchFamily="18" charset="0"/>
              </a:rPr>
              <a:t>Stores its elements in an underlying </a:t>
            </a:r>
            <a:r>
              <a:rPr lang="en-US" altLang="en-US" sz="1900" dirty="0">
                <a:highlight>
                  <a:srgbClr val="FFFF00"/>
                </a:highlight>
                <a:cs typeface="Times New Roman" panose="02020603050405020304" pitchFamily="18" charset="0"/>
              </a:rPr>
              <a:t>sorted</a:t>
            </a:r>
            <a:r>
              <a:rPr lang="en-US" altLang="en-US" sz="1900" dirty="0">
                <a:cs typeface="Times New Roman" panose="02020603050405020304" pitchFamily="18" charset="0"/>
              </a:rPr>
              <a:t> tree structure </a:t>
            </a:r>
          </a:p>
          <a:p>
            <a:pPr lvl="1" eaLnBrk="1" hangingPunct="1">
              <a:spcBef>
                <a:spcPct val="0"/>
              </a:spcBef>
              <a:spcAft>
                <a:spcPts val="300"/>
              </a:spcAft>
              <a:buFont typeface="Arial" panose="020B0604020202020204" pitchFamily="34" charset="0"/>
              <a:buChar char="•"/>
            </a:pPr>
            <a:r>
              <a:rPr lang="en-US" altLang="en-US" sz="1900" dirty="0">
                <a:cs typeface="Times New Roman" panose="02020603050405020304" pitchFamily="18" charset="0"/>
              </a:rPr>
              <a:t>Orders its elements based on their values</a:t>
            </a:r>
          </a:p>
          <a:p>
            <a:pPr lvl="1" eaLnBrk="1" hangingPunct="1">
              <a:spcBef>
                <a:spcPct val="0"/>
              </a:spcBef>
              <a:spcAft>
                <a:spcPts val="300"/>
              </a:spcAft>
              <a:buFont typeface="Arial" panose="020B0604020202020204" pitchFamily="34" charset="0"/>
              <a:buChar char="•"/>
            </a:pPr>
            <a:r>
              <a:rPr lang="en-US" altLang="en-US" sz="1900" dirty="0">
                <a:highlight>
                  <a:srgbClr val="FFFF00"/>
                </a:highlight>
                <a:cs typeface="Times New Roman" panose="02020603050405020304" pitchFamily="18" charset="0"/>
              </a:rPr>
              <a:t>Much slower than HashSet</a:t>
            </a:r>
            <a:r>
              <a:rPr lang="en-US" altLang="en-US" sz="1900" dirty="0">
                <a:cs typeface="Times New Roman" panose="02020603050405020304" pitchFamily="18" charset="0"/>
              </a:rPr>
              <a:t>. </a:t>
            </a:r>
          </a:p>
          <a:p>
            <a:pPr eaLnBrk="1" hangingPunct="1">
              <a:spcBef>
                <a:spcPts val="600"/>
              </a:spcBef>
              <a:spcAft>
                <a:spcPts val="300"/>
              </a:spcAft>
              <a:buFont typeface="Wingdings" panose="05000000000000000000" pitchFamily="2" charset="2"/>
              <a:buChar char="§"/>
            </a:pPr>
            <a:r>
              <a:rPr lang="en-US" altLang="en-US" sz="1900" b="1" dirty="0" err="1">
                <a:highlight>
                  <a:srgbClr val="FFFF00"/>
                </a:highlight>
                <a:cs typeface="Times New Roman" panose="02020603050405020304" pitchFamily="18" charset="0"/>
              </a:rPr>
              <a:t>LinkedHashSet</a:t>
            </a:r>
            <a:r>
              <a:rPr lang="en-US" altLang="en-US" sz="1900" dirty="0">
                <a:highlight>
                  <a:srgbClr val="FFFF00"/>
                </a:highlight>
                <a:cs typeface="Times New Roman" panose="02020603050405020304" pitchFamily="18" charset="0"/>
              </a:rPr>
              <a:t>: </a:t>
            </a:r>
          </a:p>
          <a:p>
            <a:pPr lvl="1" eaLnBrk="1" hangingPunct="1">
              <a:spcBef>
                <a:spcPct val="0"/>
              </a:spcBef>
              <a:spcAft>
                <a:spcPts val="300"/>
              </a:spcAft>
              <a:buFont typeface="Arial" panose="020B0604020202020204" pitchFamily="34" charset="0"/>
              <a:buChar char="•"/>
            </a:pPr>
            <a:r>
              <a:rPr lang="en-US" altLang="en-US" sz="1900" dirty="0">
                <a:cs typeface="Times New Roman" panose="02020603050405020304" pitchFamily="18" charset="0"/>
              </a:rPr>
              <a:t>Structured as an underlying hash table with a linked list running through it </a:t>
            </a:r>
          </a:p>
          <a:p>
            <a:pPr lvl="1" eaLnBrk="1" hangingPunct="1">
              <a:spcBef>
                <a:spcPct val="0"/>
              </a:spcBef>
              <a:spcAft>
                <a:spcPts val="300"/>
              </a:spcAft>
              <a:buFont typeface="Arial" panose="020B0604020202020204" pitchFamily="34" charset="0"/>
              <a:buChar char="•"/>
            </a:pPr>
            <a:r>
              <a:rPr lang="en-US" altLang="en-US" sz="1900" dirty="0">
                <a:cs typeface="Times New Roman" panose="02020603050405020304" pitchFamily="18" charset="0"/>
              </a:rPr>
              <a:t>Orders its elements based on </a:t>
            </a:r>
            <a:r>
              <a:rPr lang="en-US" altLang="en-US" sz="1900" dirty="0">
                <a:highlight>
                  <a:srgbClr val="FFFF00"/>
                </a:highlight>
                <a:cs typeface="Times New Roman" panose="02020603050405020304" pitchFamily="18" charset="0"/>
              </a:rPr>
              <a:t>the order in which they were inserted into the set </a:t>
            </a:r>
          </a:p>
          <a:p>
            <a:pPr lvl="1" eaLnBrk="1" hangingPunct="1">
              <a:spcBef>
                <a:spcPct val="0"/>
              </a:spcBef>
              <a:spcAft>
                <a:spcPts val="300"/>
              </a:spcAft>
              <a:buFont typeface="Arial" panose="020B0604020202020204" pitchFamily="34" charset="0"/>
              <a:buChar char="•"/>
            </a:pPr>
            <a:r>
              <a:rPr lang="en-US" altLang="en-US" sz="1900" dirty="0">
                <a:cs typeface="Times New Roman" panose="02020603050405020304" pitchFamily="18" charset="0"/>
              </a:rPr>
              <a:t>Provides some order to the set with </a:t>
            </a:r>
            <a:r>
              <a:rPr lang="en-US" altLang="en-US" sz="1900" dirty="0">
                <a:highlight>
                  <a:srgbClr val="FFFF00"/>
                </a:highlight>
                <a:cs typeface="Times New Roman" panose="02020603050405020304" pitchFamily="18" charset="0"/>
              </a:rPr>
              <a:t>just a little more work than HashSet</a:t>
            </a:r>
          </a:p>
        </p:txBody>
      </p:sp>
      <p:sp>
        <p:nvSpPr>
          <p:cNvPr id="10244" name="Slide Number Placeholder 4">
            <a:extLst>
              <a:ext uri="{FF2B5EF4-FFF2-40B4-BE49-F238E27FC236}">
                <a16:creationId xmlns:a16="http://schemas.microsoft.com/office/drawing/2014/main" id="{44109381-8269-4475-A2F1-3A342800381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17ECA42-44BB-4108-B384-41E5AFEEDA41}" type="slidenum">
              <a:rPr lang="en-US" altLang="en-US" sz="1400" smtClean="0"/>
              <a:pPr>
                <a:spcBef>
                  <a:spcPct val="0"/>
                </a:spcBef>
                <a:buClrTx/>
                <a:buSzTx/>
                <a:buFontTx/>
                <a:buNone/>
              </a:pPr>
              <a:t>7</a:t>
            </a:fld>
            <a:endParaRPr lang="en-US" alt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DA81D34C-3F45-4F1C-A260-AA61A3B4E225}"/>
              </a:ext>
            </a:extLst>
          </p:cNvPr>
          <p:cNvSpPr>
            <a:spLocks noGrp="1" noChangeArrowheads="1"/>
          </p:cNvSpPr>
          <p:nvPr>
            <p:ph type="title"/>
          </p:nvPr>
        </p:nvSpPr>
        <p:spPr>
          <a:xfrm>
            <a:off x="685800" y="227013"/>
            <a:ext cx="7772400" cy="523875"/>
          </a:xfrm>
        </p:spPr>
        <p:txBody>
          <a:bodyPr/>
          <a:lstStyle/>
          <a:p>
            <a:pPr eaLnBrk="1" hangingPunct="1"/>
            <a:r>
              <a:rPr lang="en-US" altLang="en-US"/>
              <a:t>Set Operations</a:t>
            </a:r>
          </a:p>
        </p:txBody>
      </p:sp>
      <p:graphicFrame>
        <p:nvGraphicFramePr>
          <p:cNvPr id="5" name="Table 5">
            <a:extLst>
              <a:ext uri="{FF2B5EF4-FFF2-40B4-BE49-F238E27FC236}">
                <a16:creationId xmlns:a16="http://schemas.microsoft.com/office/drawing/2014/main" id="{7B343BA8-C126-4626-92E7-661936FB1031}"/>
              </a:ext>
            </a:extLst>
          </p:cNvPr>
          <p:cNvGraphicFramePr>
            <a:graphicFrameLocks noGrp="1"/>
          </p:cNvGraphicFramePr>
          <p:nvPr>
            <p:ph idx="1"/>
            <p:extLst>
              <p:ext uri="{D42A27DB-BD31-4B8C-83A1-F6EECF244321}">
                <p14:modId xmlns:p14="http://schemas.microsoft.com/office/powerpoint/2010/main" val="1374535362"/>
              </p:ext>
            </p:extLst>
          </p:nvPr>
        </p:nvGraphicFramePr>
        <p:xfrm>
          <a:off x="236538" y="838200"/>
          <a:ext cx="8670925" cy="5562600"/>
        </p:xfrm>
        <a:graphic>
          <a:graphicData uri="http://schemas.openxmlformats.org/drawingml/2006/table">
            <a:tbl>
              <a:tblPr firstRow="1" bandRow="1">
                <a:tableStyleId>{5C22544A-7EE6-4342-B048-85BDC9FD1C3A}</a:tableStyleId>
              </a:tblPr>
              <a:tblGrid>
                <a:gridCol w="8670925">
                  <a:extLst>
                    <a:ext uri="{9D8B030D-6E8A-4147-A177-3AD203B41FA5}">
                      <a16:colId xmlns:a16="http://schemas.microsoft.com/office/drawing/2014/main" val="20000"/>
                    </a:ext>
                  </a:extLst>
                </a:gridCol>
              </a:tblGrid>
              <a:tr h="370840">
                <a:tc>
                  <a:txBody>
                    <a:bodyPr/>
                    <a:lstStyle/>
                    <a:p>
                      <a:r>
                        <a:rPr lang="en-US" sz="1200" dirty="0"/>
                        <a:t>Description</a:t>
                      </a:r>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t>boolean</a:t>
                      </a:r>
                      <a:r>
                        <a:rPr lang="en-US" sz="1200" b="1" dirty="0"/>
                        <a:t> add (E e): </a:t>
                      </a:r>
                      <a:r>
                        <a:rPr lang="en-US" sz="1200" dirty="0"/>
                        <a:t>Adds element </a:t>
                      </a:r>
                      <a:r>
                        <a:rPr lang="en-US" sz="1200" b="1" dirty="0"/>
                        <a:t>e</a:t>
                      </a:r>
                      <a:r>
                        <a:rPr lang="en-US" sz="1200" dirty="0"/>
                        <a:t> to the set, if it’s not already there</a:t>
                      </a:r>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t>boolean</a:t>
                      </a:r>
                      <a:r>
                        <a:rPr lang="en-US" sz="1200" b="1" dirty="0"/>
                        <a:t> </a:t>
                      </a:r>
                      <a:r>
                        <a:rPr lang="en-US" sz="1200" b="1" dirty="0" err="1"/>
                        <a:t>addAll</a:t>
                      </a:r>
                      <a:r>
                        <a:rPr lang="en-US" sz="1200" b="1" dirty="0"/>
                        <a:t>(Collection&lt;? Extends E&gt; c: </a:t>
                      </a:r>
                      <a:r>
                        <a:rPr lang="en-US" sz="1200" b="0" dirty="0"/>
                        <a:t>adds all the elements in collection </a:t>
                      </a:r>
                      <a:r>
                        <a:rPr lang="en-US" sz="1200" b="1" dirty="0"/>
                        <a:t>c</a:t>
                      </a:r>
                      <a:r>
                        <a:rPr lang="en-US" sz="1200" b="0" dirty="0"/>
                        <a:t> to the set if they are not already there</a:t>
                      </a:r>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r>
                        <a:rPr lang="en-US" sz="1200" b="1" dirty="0"/>
                        <a:t>void clear(): </a:t>
                      </a:r>
                      <a:r>
                        <a:rPr lang="en-US" sz="1200" dirty="0"/>
                        <a:t>removes all elements from the set</a:t>
                      </a:r>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r>
                        <a:rPr lang="en-US" sz="1200" b="1" dirty="0" err="1"/>
                        <a:t>boolean</a:t>
                      </a:r>
                      <a:r>
                        <a:rPr lang="en-US" sz="1200" b="1" dirty="0"/>
                        <a:t> contains(Object o): </a:t>
                      </a:r>
                      <a:r>
                        <a:rPr lang="en-US" sz="1200" dirty="0"/>
                        <a:t>returns true if </a:t>
                      </a:r>
                      <a:r>
                        <a:rPr lang="en-US" sz="1200" b="1" dirty="0"/>
                        <a:t>o</a:t>
                      </a:r>
                      <a:r>
                        <a:rPr lang="en-US" sz="1200" b="0" dirty="0"/>
                        <a:t> is in the set</a:t>
                      </a:r>
                      <a:endParaRPr lang="en-US" sz="1200" dirty="0"/>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r>
                        <a:rPr lang="en-US" sz="1200" b="1" dirty="0" err="1"/>
                        <a:t>boolean</a:t>
                      </a:r>
                      <a:r>
                        <a:rPr lang="en-US" sz="1200" b="1" dirty="0"/>
                        <a:t> </a:t>
                      </a:r>
                      <a:r>
                        <a:rPr lang="en-US" sz="1200" b="1" dirty="0" err="1"/>
                        <a:t>containsAll</a:t>
                      </a:r>
                      <a:r>
                        <a:rPr lang="en-US" sz="1200" b="1" dirty="0"/>
                        <a:t>(Collection &lt;?&gt; c): </a:t>
                      </a:r>
                      <a:r>
                        <a:rPr lang="en-US" sz="1200" b="0" dirty="0"/>
                        <a:t> returns true if the set contains all of the elements in </a:t>
                      </a:r>
                      <a:r>
                        <a:rPr lang="en-US" sz="1200" b="1" dirty="0"/>
                        <a:t>c</a:t>
                      </a:r>
                      <a:endParaRPr lang="en-US" sz="1200" dirty="0"/>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r>
                        <a:rPr lang="en-US" sz="1200" b="1" dirty="0" err="1"/>
                        <a:t>boolean</a:t>
                      </a:r>
                      <a:r>
                        <a:rPr lang="en-US" sz="1200" b="1" dirty="0"/>
                        <a:t> equals(Object o): </a:t>
                      </a:r>
                      <a:r>
                        <a:rPr lang="en-US" sz="1200" b="0" dirty="0"/>
                        <a:t>returns true if this set is equal to </a:t>
                      </a:r>
                      <a:r>
                        <a:rPr lang="en-US" sz="1200" b="1" dirty="0"/>
                        <a:t>o</a:t>
                      </a:r>
                      <a:endParaRPr lang="en-US" sz="1200" dirty="0"/>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r>
                        <a:rPr lang="en-US" sz="1200" b="1" dirty="0"/>
                        <a:t>int </a:t>
                      </a:r>
                      <a:r>
                        <a:rPr lang="en-US" sz="1200" b="1" dirty="0" err="1"/>
                        <a:t>hashcode</a:t>
                      </a:r>
                      <a:r>
                        <a:rPr lang="en-US" sz="1200" b="1" dirty="0"/>
                        <a:t>(): </a:t>
                      </a:r>
                      <a:r>
                        <a:rPr lang="en-US" sz="1200" dirty="0"/>
                        <a:t>returns the </a:t>
                      </a:r>
                      <a:r>
                        <a:rPr lang="en-US" sz="1200" dirty="0" err="1"/>
                        <a:t>hashcode</a:t>
                      </a:r>
                      <a:r>
                        <a:rPr lang="en-US" sz="1200" dirty="0"/>
                        <a:t> value for this set</a:t>
                      </a:r>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7"/>
                  </a:ext>
                </a:extLst>
              </a:tr>
              <a:tr h="370840">
                <a:tc>
                  <a:txBody>
                    <a:bodyPr/>
                    <a:lstStyle/>
                    <a:p>
                      <a:r>
                        <a:rPr lang="en-US" sz="1200" b="1" dirty="0" err="1"/>
                        <a:t>boolean</a:t>
                      </a:r>
                      <a:r>
                        <a:rPr lang="en-US" sz="1200" b="1" dirty="0"/>
                        <a:t> </a:t>
                      </a:r>
                      <a:r>
                        <a:rPr lang="en-US" sz="1200" b="1" dirty="0" err="1"/>
                        <a:t>isEmpty</a:t>
                      </a:r>
                      <a:r>
                        <a:rPr lang="en-US" sz="1200" b="1" dirty="0"/>
                        <a:t>():</a:t>
                      </a:r>
                      <a:r>
                        <a:rPr lang="en-US" sz="1200" b="0" dirty="0"/>
                        <a:t> returns true if the set is empty</a:t>
                      </a:r>
                      <a:endParaRPr lang="en-US" sz="1200" dirty="0"/>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8"/>
                  </a:ext>
                </a:extLst>
              </a:tr>
              <a:tr h="370840">
                <a:tc>
                  <a:txBody>
                    <a:bodyPr/>
                    <a:lstStyle/>
                    <a:p>
                      <a:r>
                        <a:rPr lang="en-US" sz="1200" b="1" dirty="0"/>
                        <a:t>Iterator iterator():</a:t>
                      </a:r>
                      <a:r>
                        <a:rPr lang="en-US" sz="1200" b="0" dirty="0"/>
                        <a:t> returns an iterator object that can be used to traverse this set </a:t>
                      </a:r>
                      <a:r>
                        <a:rPr lang="en-US" sz="1200" b="0" dirty="0">
                          <a:highlight>
                            <a:srgbClr val="FFFF00"/>
                          </a:highlight>
                        </a:rPr>
                        <a:t>CANNOT USE LISTITERATOR.</a:t>
                      </a:r>
                      <a:endParaRPr lang="en-US" sz="1200" dirty="0">
                        <a:highlight>
                          <a:srgbClr val="FFFF00"/>
                        </a:highlight>
                      </a:endParaRPr>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370840">
                <a:tc>
                  <a:txBody>
                    <a:bodyPr/>
                    <a:lstStyle/>
                    <a:p>
                      <a:r>
                        <a:rPr lang="en-US" sz="1200" b="1" dirty="0" err="1"/>
                        <a:t>boolean</a:t>
                      </a:r>
                      <a:r>
                        <a:rPr lang="en-US" sz="1200" b="1" dirty="0"/>
                        <a:t> remove(Object o): </a:t>
                      </a:r>
                      <a:r>
                        <a:rPr lang="en-US" sz="1200" b="0" dirty="0"/>
                        <a:t>removes object, </a:t>
                      </a:r>
                      <a:r>
                        <a:rPr lang="en-US" sz="1200" b="1" dirty="0"/>
                        <a:t>o</a:t>
                      </a:r>
                      <a:r>
                        <a:rPr lang="en-US" sz="1200" b="0" dirty="0"/>
                        <a:t>, from the set if it is there</a:t>
                      </a:r>
                      <a:endParaRPr lang="en-US" sz="1200" dirty="0"/>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370840">
                <a:tc>
                  <a:txBody>
                    <a:bodyPr/>
                    <a:lstStyle/>
                    <a:p>
                      <a:r>
                        <a:rPr lang="en-US" sz="1200" b="1" dirty="0" err="1"/>
                        <a:t>boolean</a:t>
                      </a:r>
                      <a:r>
                        <a:rPr lang="en-US" sz="1200" b="1" dirty="0"/>
                        <a:t> </a:t>
                      </a:r>
                      <a:r>
                        <a:rPr lang="en-US" sz="1200" b="1" dirty="0" err="1"/>
                        <a:t>removeAll</a:t>
                      </a:r>
                      <a:r>
                        <a:rPr lang="en-US" sz="1200" b="1" dirty="0"/>
                        <a:t>(Collection &lt;?&gt; c):</a:t>
                      </a:r>
                      <a:r>
                        <a:rPr lang="en-US" sz="1200" b="0" dirty="0"/>
                        <a:t> removes all of the objects that are in </a:t>
                      </a:r>
                      <a:r>
                        <a:rPr lang="en-US" sz="1200" b="1" dirty="0"/>
                        <a:t>c</a:t>
                      </a:r>
                      <a:r>
                        <a:rPr lang="en-US" sz="1200" b="0" dirty="0"/>
                        <a:t> from this set</a:t>
                      </a:r>
                      <a:endParaRPr lang="en-US" sz="1200" dirty="0"/>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1"/>
                  </a:ext>
                </a:extLst>
              </a:tr>
              <a:tr h="370840">
                <a:tc>
                  <a:txBody>
                    <a:bodyPr/>
                    <a:lstStyle/>
                    <a:p>
                      <a:r>
                        <a:rPr lang="en-US" sz="1200" b="1" dirty="0" err="1"/>
                        <a:t>boolean</a:t>
                      </a:r>
                      <a:r>
                        <a:rPr lang="en-US" sz="1200" b="1" dirty="0"/>
                        <a:t> </a:t>
                      </a:r>
                      <a:r>
                        <a:rPr lang="en-US" sz="1200" b="1" dirty="0" err="1"/>
                        <a:t>retainAll</a:t>
                      </a:r>
                      <a:r>
                        <a:rPr lang="en-US" sz="1200" b="1" dirty="0"/>
                        <a:t>(Collection &lt;?&gt; c): </a:t>
                      </a:r>
                      <a:r>
                        <a:rPr lang="en-US" sz="1200" b="0" dirty="0"/>
                        <a:t>retain only the elements that are in </a:t>
                      </a:r>
                      <a:r>
                        <a:rPr lang="en-US" sz="1200" b="1" dirty="0"/>
                        <a:t>c</a:t>
                      </a:r>
                      <a:endParaRPr lang="en-US" sz="1200" dirty="0"/>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2"/>
                  </a:ext>
                </a:extLst>
              </a:tr>
              <a:tr h="370840">
                <a:tc>
                  <a:txBody>
                    <a:bodyPr/>
                    <a:lstStyle/>
                    <a:p>
                      <a:r>
                        <a:rPr lang="en-US" sz="1200" b="1" dirty="0"/>
                        <a:t>int size(): </a:t>
                      </a:r>
                      <a:r>
                        <a:rPr lang="en-US" sz="1200" b="0" dirty="0"/>
                        <a:t>returns the number of elements in the set</a:t>
                      </a:r>
                      <a:endParaRPr lang="en-US" sz="1200" b="1" dirty="0"/>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Object[ ] </a:t>
                      </a:r>
                      <a:r>
                        <a:rPr lang="en-US" sz="1200" b="1" dirty="0" err="1"/>
                        <a:t>toArray</a:t>
                      </a:r>
                      <a:r>
                        <a:rPr lang="en-US" sz="1200" b="1" dirty="0"/>
                        <a:t>(): </a:t>
                      </a:r>
                      <a:r>
                        <a:rPr lang="en-US" sz="1200" dirty="0"/>
                        <a:t>returns an array with all of the elements in this set</a:t>
                      </a:r>
                    </a:p>
                  </a:txBody>
                  <a:tcPr marL="91443" marR="9144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11301" name="Slide Number Placeholder 3">
            <a:extLst>
              <a:ext uri="{FF2B5EF4-FFF2-40B4-BE49-F238E27FC236}">
                <a16:creationId xmlns:a16="http://schemas.microsoft.com/office/drawing/2014/main" id="{5883BC01-D628-4DEF-86BC-C3EA41C60442}"/>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E595D21-45CF-4D2C-802B-D846580E418C}" type="slidenum">
              <a:rPr lang="en-US" altLang="en-US" sz="1400" smtClean="0"/>
              <a:pPr>
                <a:spcBef>
                  <a:spcPct val="0"/>
                </a:spcBef>
                <a:buClrTx/>
                <a:buSzTx/>
                <a:buFontTx/>
                <a:buNone/>
              </a:pPr>
              <a:t>8</a:t>
            </a:fld>
            <a:endParaRPr lang="en-US" alt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1">
            <a:extLst>
              <a:ext uri="{FF2B5EF4-FFF2-40B4-BE49-F238E27FC236}">
                <a16:creationId xmlns:a16="http://schemas.microsoft.com/office/drawing/2014/main" id="{A1C34F19-3210-426D-B4FE-640D4ECC74E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5" y="34925"/>
            <a:ext cx="7153275" cy="632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2291" name="Rectangle 2">
            <a:extLst>
              <a:ext uri="{FF2B5EF4-FFF2-40B4-BE49-F238E27FC236}">
                <a16:creationId xmlns:a16="http://schemas.microsoft.com/office/drawing/2014/main" id="{24B00FF8-D302-4908-91DA-2CBD75CF34C0}"/>
              </a:ext>
            </a:extLst>
          </p:cNvPr>
          <p:cNvSpPr>
            <a:spLocks noGrp="1" noChangeArrowheads="1"/>
          </p:cNvSpPr>
          <p:nvPr>
            <p:ph type="title"/>
          </p:nvPr>
        </p:nvSpPr>
        <p:spPr>
          <a:xfrm>
            <a:off x="65088" y="152400"/>
            <a:ext cx="3821112" cy="1066800"/>
          </a:xfrm>
          <a:noFill/>
        </p:spPr>
        <p:txBody>
          <a:bodyPr/>
          <a:lstStyle/>
          <a:p>
            <a:pPr eaLnBrk="1" hangingPunct="1"/>
            <a:r>
              <a:rPr lang="en-US" altLang="en-US" sz="4000">
                <a:cs typeface="Times New Roman" panose="02020603050405020304" pitchFamily="18" charset="0"/>
              </a:rPr>
              <a:t>The Set Interface Hierarchy</a:t>
            </a:r>
          </a:p>
        </p:txBody>
      </p:sp>
      <p:sp>
        <p:nvSpPr>
          <p:cNvPr id="12292" name="Slide Number Placeholder 4">
            <a:extLst>
              <a:ext uri="{FF2B5EF4-FFF2-40B4-BE49-F238E27FC236}">
                <a16:creationId xmlns:a16="http://schemas.microsoft.com/office/drawing/2014/main" id="{647058A0-84EF-4E5B-A594-7A657304759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61B2C69-C29B-4B68-8854-B59E14B420A9}" type="slidenum">
              <a:rPr lang="en-US" altLang="en-US" sz="1400" smtClean="0"/>
              <a:pPr>
                <a:spcBef>
                  <a:spcPct val="0"/>
                </a:spcBef>
                <a:buClrTx/>
                <a:buSzTx/>
                <a:buFontTx/>
                <a:buNone/>
              </a:pPr>
              <a:t>9</a:t>
            </a:fld>
            <a:endParaRPr lang="en-US" alt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572D207-B22C-4DE4-9AD3-A1D972CCA83B}"/>
              </a:ext>
            </a:extLst>
          </p:cNvPr>
          <p:cNvSpPr>
            <a:spLocks noGrp="1" noChangeArrowheads="1"/>
          </p:cNvSpPr>
          <p:nvPr>
            <p:ph type="title"/>
          </p:nvPr>
        </p:nvSpPr>
        <p:spPr>
          <a:xfrm>
            <a:off x="685800" y="228600"/>
            <a:ext cx="7924800" cy="1143000"/>
          </a:xfrm>
          <a:noFill/>
        </p:spPr>
        <p:txBody>
          <a:bodyPr/>
          <a:lstStyle/>
          <a:p>
            <a:pPr eaLnBrk="1" hangingPunct="1"/>
            <a:r>
              <a:rPr lang="en-US" altLang="en-US">
                <a:cs typeface="Times New Roman" panose="02020603050405020304" pitchFamily="18" charset="0"/>
              </a:rPr>
              <a:t>The AbstractSet Class</a:t>
            </a:r>
          </a:p>
        </p:txBody>
      </p:sp>
      <p:sp>
        <p:nvSpPr>
          <p:cNvPr id="13315" name="Rectangle 4">
            <a:extLst>
              <a:ext uri="{FF2B5EF4-FFF2-40B4-BE49-F238E27FC236}">
                <a16:creationId xmlns:a16="http://schemas.microsoft.com/office/drawing/2014/main" id="{85BFA357-FDC8-41F9-9FDB-3E444A7D79D0}"/>
              </a:ext>
            </a:extLst>
          </p:cNvPr>
          <p:cNvSpPr>
            <a:spLocks noGrp="1" noChangeArrowheads="1"/>
          </p:cNvSpPr>
          <p:nvPr>
            <p:ph idx="1"/>
          </p:nvPr>
        </p:nvSpPr>
        <p:spPr>
          <a:xfrm>
            <a:off x="381000" y="1447800"/>
            <a:ext cx="8610600" cy="4800600"/>
          </a:xfrm>
        </p:spPr>
        <p:txBody>
          <a:bodyPr/>
          <a:lstStyle/>
          <a:p>
            <a:pPr eaLnBrk="1" hangingPunct="1">
              <a:spcBef>
                <a:spcPct val="0"/>
              </a:spcBef>
              <a:spcAft>
                <a:spcPts val="1200"/>
              </a:spcAft>
              <a:buFont typeface="Wingdings" panose="05000000000000000000" pitchFamily="2" charset="2"/>
              <a:buChar char="§"/>
            </a:pPr>
            <a:r>
              <a:rPr lang="en-US" altLang="en-US" sz="2800">
                <a:cs typeface="Times New Roman" panose="02020603050405020304" pitchFamily="18" charset="0"/>
              </a:rPr>
              <a:t>The AbstractSet class is a convenience class that extends AbstractCollection and implements Set.</a:t>
            </a:r>
          </a:p>
          <a:p>
            <a:pPr eaLnBrk="1" hangingPunct="1">
              <a:spcBef>
                <a:spcPct val="0"/>
              </a:spcBef>
              <a:spcAft>
                <a:spcPts val="1200"/>
              </a:spcAft>
              <a:buFont typeface="Wingdings" panose="05000000000000000000" pitchFamily="2" charset="2"/>
              <a:buChar char="§"/>
            </a:pPr>
            <a:r>
              <a:rPr lang="en-US" altLang="en-US" sz="2800">
                <a:cs typeface="Times New Roman" panose="02020603050405020304" pitchFamily="18" charset="0"/>
              </a:rPr>
              <a:t>The AbstractSet class provides concrete implementations for the </a:t>
            </a:r>
            <a:r>
              <a:rPr lang="en-US" altLang="en-US" sz="2800" b="1">
                <a:cs typeface="Times New Roman" panose="02020603050405020304" pitchFamily="18" charset="0"/>
              </a:rPr>
              <a:t>equals</a:t>
            </a:r>
            <a:r>
              <a:rPr lang="en-US" altLang="en-US" sz="2800">
                <a:cs typeface="Times New Roman" panose="02020603050405020304" pitchFamily="18" charset="0"/>
              </a:rPr>
              <a:t> method and the </a:t>
            </a:r>
            <a:r>
              <a:rPr lang="en-US" altLang="en-US" sz="2800" b="1">
                <a:cs typeface="Times New Roman" panose="02020603050405020304" pitchFamily="18" charset="0"/>
              </a:rPr>
              <a:t>hashCode</a:t>
            </a:r>
            <a:r>
              <a:rPr lang="en-US" altLang="en-US" sz="2800">
                <a:cs typeface="Times New Roman" panose="02020603050405020304" pitchFamily="18" charset="0"/>
              </a:rPr>
              <a:t> method. </a:t>
            </a:r>
          </a:p>
          <a:p>
            <a:pPr eaLnBrk="1" hangingPunct="1">
              <a:spcBef>
                <a:spcPct val="0"/>
              </a:spcBef>
              <a:spcAft>
                <a:spcPts val="1200"/>
              </a:spcAft>
              <a:buFont typeface="Wingdings" panose="05000000000000000000" pitchFamily="2" charset="2"/>
              <a:buChar char="§"/>
            </a:pPr>
            <a:r>
              <a:rPr lang="en-US" altLang="en-US" sz="2800">
                <a:cs typeface="Times New Roman" panose="02020603050405020304" pitchFamily="18" charset="0"/>
              </a:rPr>
              <a:t>The </a:t>
            </a:r>
            <a:r>
              <a:rPr lang="en-US" altLang="en-US" sz="2800" b="1">
                <a:cs typeface="Times New Roman" panose="02020603050405020304" pitchFamily="18" charset="0"/>
              </a:rPr>
              <a:t>hash code </a:t>
            </a:r>
            <a:r>
              <a:rPr lang="en-US" altLang="en-US" sz="2800">
                <a:cs typeface="Times New Roman" panose="02020603050405020304" pitchFamily="18" charset="0"/>
              </a:rPr>
              <a:t>of a set is the sum of the hash code of all the elements in the set. </a:t>
            </a:r>
          </a:p>
          <a:p>
            <a:pPr eaLnBrk="1" hangingPunct="1">
              <a:spcBef>
                <a:spcPct val="0"/>
              </a:spcBef>
              <a:spcAft>
                <a:spcPts val="1200"/>
              </a:spcAft>
              <a:buFont typeface="Wingdings" panose="05000000000000000000" pitchFamily="2" charset="2"/>
              <a:buChar char="§"/>
            </a:pPr>
            <a:r>
              <a:rPr lang="en-US" altLang="en-US" sz="2800">
                <a:cs typeface="Times New Roman" panose="02020603050405020304" pitchFamily="18" charset="0"/>
              </a:rPr>
              <a:t>Since the size method and iterator method are not implemented in the AbstractSet class, AbstractSet is an abstract class. </a:t>
            </a:r>
          </a:p>
        </p:txBody>
      </p:sp>
      <p:sp>
        <p:nvSpPr>
          <p:cNvPr id="13316" name="Slide Number Placeholder 4">
            <a:extLst>
              <a:ext uri="{FF2B5EF4-FFF2-40B4-BE49-F238E27FC236}">
                <a16:creationId xmlns:a16="http://schemas.microsoft.com/office/drawing/2014/main" id="{A3E4ED22-A307-4B11-8F65-E5289082EB9D}"/>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0A910ED-8ECA-4005-B071-8121F709EEBF}" type="slidenum">
              <a:rPr lang="en-US" altLang="en-US" sz="1400" smtClean="0"/>
              <a:pPr>
                <a:spcBef>
                  <a:spcPct val="0"/>
                </a:spcBef>
                <a:buClrTx/>
                <a:buSzTx/>
                <a:buFontTx/>
                <a:buNone/>
              </a:pPr>
              <a:t>10</a:t>
            </a:fld>
            <a:endParaRPr lang="en-US" altLang="en-US"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9FD561A-46DE-4C66-8B15-AA06563729BA}"/>
              </a:ext>
            </a:extLst>
          </p:cNvPr>
          <p:cNvSpPr>
            <a:spLocks noGrp="1" noChangeArrowheads="1"/>
          </p:cNvSpPr>
          <p:nvPr>
            <p:ph type="title"/>
          </p:nvPr>
        </p:nvSpPr>
        <p:spPr>
          <a:xfrm>
            <a:off x="685800" y="228600"/>
            <a:ext cx="7924800" cy="1143000"/>
          </a:xfrm>
          <a:noFill/>
        </p:spPr>
        <p:txBody>
          <a:bodyPr/>
          <a:lstStyle/>
          <a:p>
            <a:pPr eaLnBrk="1" hangingPunct="1"/>
            <a:r>
              <a:rPr lang="en-US" altLang="en-US">
                <a:cs typeface="Times New Roman" panose="02020603050405020304" pitchFamily="18" charset="0"/>
              </a:rPr>
              <a:t>The HashSet Class</a:t>
            </a:r>
          </a:p>
        </p:txBody>
      </p:sp>
      <p:sp>
        <p:nvSpPr>
          <p:cNvPr id="14339" name="Rectangle 4">
            <a:extLst>
              <a:ext uri="{FF2B5EF4-FFF2-40B4-BE49-F238E27FC236}">
                <a16:creationId xmlns:a16="http://schemas.microsoft.com/office/drawing/2014/main" id="{D2A0FE78-5E79-42C6-B133-46C522E17555}"/>
              </a:ext>
            </a:extLst>
          </p:cNvPr>
          <p:cNvSpPr>
            <a:spLocks noGrp="1" noChangeArrowheads="1"/>
          </p:cNvSpPr>
          <p:nvPr>
            <p:ph idx="1"/>
          </p:nvPr>
        </p:nvSpPr>
        <p:spPr>
          <a:xfrm>
            <a:off x="381000" y="1447800"/>
            <a:ext cx="8610600" cy="4800600"/>
          </a:xfrm>
        </p:spPr>
        <p:txBody>
          <a:bodyPr/>
          <a:lstStyle/>
          <a:p>
            <a:pPr eaLnBrk="1" hangingPunct="1">
              <a:buFont typeface="Wingdings" panose="05000000000000000000" pitchFamily="2" charset="2"/>
              <a:buChar char="§"/>
            </a:pPr>
            <a:r>
              <a:rPr lang="en-US" altLang="en-US" sz="3600">
                <a:cs typeface="Times New Roman" panose="02020603050405020304" pitchFamily="18" charset="0"/>
              </a:rPr>
              <a:t>The </a:t>
            </a:r>
            <a:r>
              <a:rPr lang="en-US" altLang="en-US" sz="3600" b="1">
                <a:cs typeface="Times New Roman" panose="02020603050405020304" pitchFamily="18" charset="0"/>
              </a:rPr>
              <a:t>HashSet</a:t>
            </a:r>
            <a:r>
              <a:rPr lang="en-US" altLang="en-US" sz="3600">
                <a:cs typeface="Times New Roman" panose="02020603050405020304" pitchFamily="18" charset="0"/>
              </a:rPr>
              <a:t> class is a concrete class that implements Set. </a:t>
            </a:r>
          </a:p>
          <a:p>
            <a:pPr eaLnBrk="1" hangingPunct="1">
              <a:buFont typeface="Wingdings" panose="05000000000000000000" pitchFamily="2" charset="2"/>
              <a:buChar char="§"/>
            </a:pPr>
            <a:r>
              <a:rPr lang="en-US" altLang="en-US" sz="3600">
                <a:cs typeface="Times New Roman" panose="02020603050405020304" pitchFamily="18" charset="0"/>
              </a:rPr>
              <a:t>It can be used to store duplicate-free elements. </a:t>
            </a:r>
          </a:p>
          <a:p>
            <a:pPr eaLnBrk="1" hangingPunct="1">
              <a:buFont typeface="Wingdings" panose="05000000000000000000" pitchFamily="2" charset="2"/>
              <a:buChar char="§"/>
            </a:pPr>
            <a:r>
              <a:rPr lang="en-US" altLang="en-US" sz="3600">
                <a:cs typeface="Times New Roman" panose="02020603050405020304" pitchFamily="18" charset="0"/>
              </a:rPr>
              <a:t>For efficiency, objects added to a hash set need to implement the </a:t>
            </a:r>
            <a:r>
              <a:rPr lang="en-US" altLang="en-US" sz="3600" b="1">
                <a:cs typeface="Times New Roman" panose="02020603050405020304" pitchFamily="18" charset="0"/>
              </a:rPr>
              <a:t>hashCode</a:t>
            </a:r>
            <a:r>
              <a:rPr lang="en-US" altLang="en-US" sz="3600">
                <a:cs typeface="Times New Roman" panose="02020603050405020304" pitchFamily="18" charset="0"/>
              </a:rPr>
              <a:t> method in a manner that properly disperses the hash code. </a:t>
            </a:r>
          </a:p>
        </p:txBody>
      </p:sp>
      <p:sp>
        <p:nvSpPr>
          <p:cNvPr id="14340" name="Slide Number Placeholder 4">
            <a:extLst>
              <a:ext uri="{FF2B5EF4-FFF2-40B4-BE49-F238E27FC236}">
                <a16:creationId xmlns:a16="http://schemas.microsoft.com/office/drawing/2014/main" id="{22949CE9-E6B2-49DC-92FB-04F7139C1DA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57F07EE-0A23-49D3-8AEF-B38D4295E35D}" type="slidenum">
              <a:rPr lang="en-US" altLang="en-US" sz="1400" smtClean="0"/>
              <a:pPr>
                <a:spcBef>
                  <a:spcPct val="0"/>
                </a:spcBef>
                <a:buClrTx/>
                <a:buSzTx/>
                <a:buFontTx/>
                <a:buNone/>
              </a:pPr>
              <a:t>11</a:t>
            </a:fld>
            <a:endParaRPr lang="en-US" altLang="en-US"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30D177D9-31E8-4778-9668-802D50E2F5C6}"/>
              </a:ext>
            </a:extLst>
          </p:cNvPr>
          <p:cNvSpPr>
            <a:spLocks noGrp="1" noChangeArrowheads="1"/>
          </p:cNvSpPr>
          <p:nvPr>
            <p:ph type="title"/>
          </p:nvPr>
        </p:nvSpPr>
        <p:spPr>
          <a:xfrm>
            <a:off x="676275" y="-4763"/>
            <a:ext cx="7772400" cy="1143001"/>
          </a:xfrm>
        </p:spPr>
        <p:txBody>
          <a:bodyPr/>
          <a:lstStyle/>
          <a:p>
            <a:r>
              <a:rPr lang="en-US" altLang="en-US"/>
              <a:t>Implementing Sets and Maps</a:t>
            </a:r>
          </a:p>
        </p:txBody>
      </p:sp>
      <p:sp>
        <p:nvSpPr>
          <p:cNvPr id="15363" name="Content Placeholder 2">
            <a:extLst>
              <a:ext uri="{FF2B5EF4-FFF2-40B4-BE49-F238E27FC236}">
                <a16:creationId xmlns:a16="http://schemas.microsoft.com/office/drawing/2014/main" id="{3DE391F8-BD27-4710-93A4-783E804DC4B3}"/>
              </a:ext>
            </a:extLst>
          </p:cNvPr>
          <p:cNvSpPr>
            <a:spLocks noGrp="1" noChangeArrowheads="1"/>
          </p:cNvSpPr>
          <p:nvPr>
            <p:ph idx="1"/>
          </p:nvPr>
        </p:nvSpPr>
        <p:spPr>
          <a:xfrm>
            <a:off x="671513" y="1138238"/>
            <a:ext cx="7772400" cy="4652962"/>
          </a:xfrm>
        </p:spPr>
        <p:txBody>
          <a:bodyPr/>
          <a:lstStyle/>
          <a:p>
            <a:pPr>
              <a:spcBef>
                <a:spcPct val="0"/>
              </a:spcBef>
              <a:spcAft>
                <a:spcPts val="1200"/>
              </a:spcAft>
              <a:buFont typeface="Wingdings" panose="05000000000000000000" pitchFamily="2" charset="2"/>
              <a:buChar char="§"/>
            </a:pPr>
            <a:r>
              <a:rPr lang="en-US" altLang="en-US" sz="2000" dirty="0"/>
              <a:t>The </a:t>
            </a:r>
            <a:r>
              <a:rPr lang="en-US" altLang="en-US" sz="2000" b="1" dirty="0">
                <a:latin typeface="Courier New" panose="02070309020205020404" pitchFamily="49" charset="0"/>
                <a:cs typeface="Courier New" panose="02070309020205020404" pitchFamily="49" charset="0"/>
              </a:rPr>
              <a:t>HashSet</a:t>
            </a:r>
            <a:r>
              <a:rPr lang="en-US" altLang="en-US" sz="2000" dirty="0"/>
              <a:t> and </a:t>
            </a:r>
            <a:r>
              <a:rPr lang="en-US" altLang="en-US" sz="2000" b="1" dirty="0">
                <a:latin typeface="Courier New" panose="02070309020205020404" pitchFamily="49" charset="0"/>
                <a:cs typeface="Courier New" panose="02070309020205020404" pitchFamily="49" charset="0"/>
              </a:rPr>
              <a:t>HashMap</a:t>
            </a:r>
            <a:r>
              <a:rPr lang="en-US" altLang="en-US" sz="2000" dirty="0"/>
              <a:t> classes are implemented using a process called </a:t>
            </a:r>
            <a:r>
              <a:rPr lang="en-US" altLang="en-US" sz="2000" b="1" dirty="0"/>
              <a:t>hashing</a:t>
            </a:r>
          </a:p>
          <a:p>
            <a:pPr>
              <a:spcBef>
                <a:spcPct val="0"/>
              </a:spcBef>
              <a:spcAft>
                <a:spcPts val="1200"/>
              </a:spcAft>
              <a:buFont typeface="Wingdings" panose="05000000000000000000" pitchFamily="2" charset="2"/>
              <a:buChar char="§"/>
            </a:pPr>
            <a:r>
              <a:rPr lang="en-US" altLang="en-US" sz="2000" dirty="0"/>
              <a:t>The elements in them are stored in an underlying </a:t>
            </a:r>
            <a:r>
              <a:rPr lang="en-US" altLang="en-US" sz="2000" b="1" dirty="0"/>
              <a:t>hash table </a:t>
            </a:r>
            <a:r>
              <a:rPr lang="en-US" altLang="en-US" sz="2000" dirty="0"/>
              <a:t>with indexes</a:t>
            </a:r>
          </a:p>
          <a:p>
            <a:pPr>
              <a:spcBef>
                <a:spcPct val="0"/>
              </a:spcBef>
              <a:spcAft>
                <a:spcPts val="1200"/>
              </a:spcAft>
              <a:buFont typeface="Wingdings" panose="05000000000000000000" pitchFamily="2" charset="2"/>
              <a:buChar char="§"/>
            </a:pPr>
            <a:r>
              <a:rPr lang="en-US" altLang="en-US" sz="2000" dirty="0"/>
              <a:t>An element’s index in a hash table is calculated using a </a:t>
            </a:r>
            <a:r>
              <a:rPr lang="en-US" altLang="en-US" sz="2000" b="1" dirty="0"/>
              <a:t>hash function</a:t>
            </a:r>
          </a:p>
          <a:p>
            <a:pPr>
              <a:spcBef>
                <a:spcPct val="0"/>
              </a:spcBef>
              <a:spcAft>
                <a:spcPts val="1200"/>
              </a:spcAft>
              <a:buFont typeface="Wingdings" panose="05000000000000000000" pitchFamily="2" charset="2"/>
              <a:buChar char="§"/>
            </a:pPr>
            <a:r>
              <a:rPr lang="en-US" altLang="en-US" sz="2000" dirty="0"/>
              <a:t>A hash function takes the element itself and performs some type of calculation on it, resulting in an integer.  That integer is used as an index for the element’s position in the hash table.</a:t>
            </a:r>
          </a:p>
          <a:p>
            <a:pPr>
              <a:spcBef>
                <a:spcPct val="0"/>
              </a:spcBef>
              <a:spcAft>
                <a:spcPts val="1200"/>
              </a:spcAft>
              <a:buFont typeface="Wingdings" panose="05000000000000000000" pitchFamily="2" charset="2"/>
              <a:buChar char="§"/>
            </a:pPr>
            <a:r>
              <a:rPr lang="en-US" altLang="en-US" sz="2000" dirty="0"/>
              <a:t>More than one element may be stored in the same location (this is called a </a:t>
            </a:r>
            <a:r>
              <a:rPr lang="en-US" altLang="en-US" sz="2000" b="1" dirty="0"/>
              <a:t>collision</a:t>
            </a:r>
            <a:r>
              <a:rPr lang="en-US" altLang="en-US" sz="2000" dirty="0"/>
              <a:t>)</a:t>
            </a:r>
          </a:p>
          <a:p>
            <a:pPr>
              <a:spcBef>
                <a:spcPct val="0"/>
              </a:spcBef>
              <a:spcAft>
                <a:spcPts val="1200"/>
              </a:spcAft>
              <a:buFont typeface="Wingdings" panose="05000000000000000000" pitchFamily="2" charset="2"/>
              <a:buChar char="§"/>
            </a:pPr>
            <a:r>
              <a:rPr lang="en-US" altLang="en-US" sz="2000" dirty="0">
                <a:highlight>
                  <a:srgbClr val="FFFF00"/>
                </a:highlight>
              </a:rPr>
              <a:t>A hashing function that calculates a unique index for each element is called a </a:t>
            </a:r>
            <a:r>
              <a:rPr lang="en-US" altLang="en-US" sz="2000" b="1" dirty="0">
                <a:highlight>
                  <a:srgbClr val="FFFF00"/>
                </a:highlight>
              </a:rPr>
              <a:t>perfect hashing function</a:t>
            </a:r>
          </a:p>
        </p:txBody>
      </p:sp>
      <p:sp>
        <p:nvSpPr>
          <p:cNvPr id="6" name="Slide Number Placeholder 4">
            <a:extLst>
              <a:ext uri="{FF2B5EF4-FFF2-40B4-BE49-F238E27FC236}">
                <a16:creationId xmlns:a16="http://schemas.microsoft.com/office/drawing/2014/main" id="{271506BE-D9F0-4EAB-B8ED-CAC97C1D6D02}"/>
              </a:ext>
            </a:extLst>
          </p:cNvPr>
          <p:cNvSpPr>
            <a:spLocks noGrp="1"/>
          </p:cNvSpPr>
          <p:nvPr>
            <p:ph type="ftr" sz="quarter" idx="4294967295"/>
          </p:nvPr>
        </p:nvSpPr>
        <p:spPr>
          <a:xfrm>
            <a:off x="6553200" y="6399213"/>
            <a:ext cx="1905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57F07EE-0A23-49D3-8AEF-B38D4295E35D}" type="slidenum">
              <a:rPr lang="en-US" altLang="en-US" sz="1400" smtClean="0"/>
              <a:pPr>
                <a:spcBef>
                  <a:spcPct val="0"/>
                </a:spcBef>
                <a:buClrTx/>
                <a:buSzTx/>
                <a:buFontTx/>
                <a:buNone/>
              </a:pPr>
              <a:t>12</a:t>
            </a:fld>
            <a:endParaRPr lang="en-US" alt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C7D3D4D3-E0E1-40FF-A09F-25D897948E55}"/>
              </a:ext>
            </a:extLst>
          </p:cNvPr>
          <p:cNvSpPr>
            <a:spLocks noGrp="1" noChangeArrowheads="1"/>
          </p:cNvSpPr>
          <p:nvPr>
            <p:ph type="title"/>
          </p:nvPr>
        </p:nvSpPr>
        <p:spPr/>
        <p:txBody>
          <a:bodyPr/>
          <a:lstStyle/>
          <a:p>
            <a:r>
              <a:rPr lang="en-US" altLang="en-US"/>
              <a:t>Hashing</a:t>
            </a:r>
          </a:p>
        </p:txBody>
      </p:sp>
      <p:sp>
        <p:nvSpPr>
          <p:cNvPr id="16387" name="Content Placeholder 2">
            <a:extLst>
              <a:ext uri="{FF2B5EF4-FFF2-40B4-BE49-F238E27FC236}">
                <a16:creationId xmlns:a16="http://schemas.microsoft.com/office/drawing/2014/main" id="{7A5DE4F4-DCB5-4160-A3DB-AE804384F917}"/>
              </a:ext>
            </a:extLst>
          </p:cNvPr>
          <p:cNvSpPr>
            <a:spLocks noGrp="1" noChangeArrowheads="1"/>
          </p:cNvSpPr>
          <p:nvPr>
            <p:ph idx="1"/>
          </p:nvPr>
        </p:nvSpPr>
        <p:spPr>
          <a:xfrm>
            <a:off x="284163" y="1254125"/>
            <a:ext cx="6269037" cy="5102225"/>
          </a:xfrm>
        </p:spPr>
        <p:txBody>
          <a:bodyPr/>
          <a:lstStyle/>
          <a:p>
            <a:pPr>
              <a:buFont typeface="Wingdings" panose="05000000000000000000" pitchFamily="2" charset="2"/>
              <a:buChar char="§"/>
            </a:pPr>
            <a:r>
              <a:rPr lang="en-US" altLang="en-US"/>
              <a:t>A hash table with a basic hash function that is based on the first letter of each name:</a:t>
            </a:r>
          </a:p>
          <a:p>
            <a:pPr>
              <a:buFont typeface="Wingdings" panose="05000000000000000000" pitchFamily="2" charset="2"/>
              <a:buChar char="§"/>
            </a:pPr>
            <a:r>
              <a:rPr lang="en-US" altLang="en-US"/>
              <a:t>If you have collisions, then Java determines a way to store multiple items at that location. (Often using a linked list.)</a:t>
            </a:r>
          </a:p>
        </p:txBody>
      </p:sp>
      <p:pic>
        <p:nvPicPr>
          <p:cNvPr id="16389" name="Picture 6">
            <a:extLst>
              <a:ext uri="{FF2B5EF4-FFF2-40B4-BE49-F238E27FC236}">
                <a16:creationId xmlns:a16="http://schemas.microsoft.com/office/drawing/2014/main" id="{35397C59-D46C-47DA-941B-39E8084DA3CD}"/>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8013" y="1254125"/>
            <a:ext cx="849312" cy="469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4">
            <a:extLst>
              <a:ext uri="{FF2B5EF4-FFF2-40B4-BE49-F238E27FC236}">
                <a16:creationId xmlns:a16="http://schemas.microsoft.com/office/drawing/2014/main" id="{36512FAE-55AB-486E-B99D-05E4142E9525}"/>
              </a:ext>
            </a:extLst>
          </p:cNvPr>
          <p:cNvSpPr txBox="1">
            <a:spLocks/>
          </p:cNvSpPr>
          <p:nvPr/>
        </p:nvSpPr>
        <p:spPr>
          <a:xfrm>
            <a:off x="7239000" y="63436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9pPr>
          </a:lstStyle>
          <a:p>
            <a:pPr algn="ctr">
              <a:spcBef>
                <a:spcPct val="0"/>
              </a:spcBef>
              <a:buClrTx/>
              <a:buSzTx/>
              <a:buFontTx/>
              <a:buNone/>
            </a:pPr>
            <a:fld id="{857F07EE-0A23-49D3-8AEF-B38D4295E35D}" type="slidenum">
              <a:rPr lang="en-US" altLang="en-US" sz="1400" smtClean="0"/>
              <a:pPr algn="ctr">
                <a:spcBef>
                  <a:spcPct val="0"/>
                </a:spcBef>
                <a:buClrTx/>
                <a:buSzTx/>
                <a:buFontTx/>
                <a:buNone/>
              </a:pPr>
              <a:t>13</a:t>
            </a:fld>
            <a:endParaRPr lang="en-US" altLang="en-US"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718BA9C-B6C0-4A1A-9CE9-905CA0B1CC96}"/>
              </a:ext>
            </a:extLst>
          </p:cNvPr>
          <p:cNvSpPr>
            <a:spLocks noGrp="1" noChangeArrowheads="1"/>
          </p:cNvSpPr>
          <p:nvPr>
            <p:ph type="title"/>
          </p:nvPr>
        </p:nvSpPr>
        <p:spPr/>
        <p:txBody>
          <a:bodyPr/>
          <a:lstStyle/>
          <a:p>
            <a:r>
              <a:rPr lang="en-US" altLang="en-US"/>
              <a:t>Example: Using HashSet</a:t>
            </a:r>
          </a:p>
        </p:txBody>
      </p:sp>
      <p:sp>
        <p:nvSpPr>
          <p:cNvPr id="17411" name="Content Placeholder 2">
            <a:extLst>
              <a:ext uri="{FF2B5EF4-FFF2-40B4-BE49-F238E27FC236}">
                <a16:creationId xmlns:a16="http://schemas.microsoft.com/office/drawing/2014/main" id="{1209138D-DD1D-49FA-B617-0AB82ED5C328}"/>
              </a:ext>
            </a:extLst>
          </p:cNvPr>
          <p:cNvSpPr>
            <a:spLocks noGrp="1"/>
          </p:cNvSpPr>
          <p:nvPr>
            <p:ph idx="1"/>
          </p:nvPr>
        </p:nvSpPr>
        <p:spPr>
          <a:xfrm>
            <a:off x="696913" y="2208213"/>
            <a:ext cx="3886200" cy="4194175"/>
          </a:xfrm>
          <a:ln>
            <a:solidFill>
              <a:schemeClr val="tx1"/>
            </a:solidFill>
            <a:miter lim="800000"/>
            <a:headEnd/>
            <a:tailEnd/>
          </a:ln>
        </p:spPr>
        <p:txBody>
          <a:bodyPr/>
          <a:lstStyle/>
          <a:p>
            <a:pPr marL="111125" indent="0">
              <a:buFont typeface="Monotype Sorts"/>
              <a:buNone/>
            </a:pPr>
            <a:endParaRPr lang="en-US" altLang="en-US" sz="1400" i="1"/>
          </a:p>
          <a:p>
            <a:pPr marL="111125" indent="0">
              <a:buFont typeface="Monotype Sorts"/>
              <a:buNone/>
            </a:pPr>
            <a:r>
              <a:rPr lang="en-US" altLang="en-US" sz="1400" i="1"/>
              <a:t>// Create a HashSet object called countries</a:t>
            </a:r>
          </a:p>
          <a:p>
            <a:pPr marL="111125" indent="0">
              <a:buFont typeface="Monotype Sorts"/>
              <a:buNone/>
            </a:pPr>
            <a:r>
              <a:rPr lang="en-US" altLang="en-US" sz="1400" b="1"/>
              <a:t>HashSet&lt;String&gt; countries = new HashSet&lt;String&gt;();</a:t>
            </a:r>
          </a:p>
          <a:p>
            <a:pPr marL="111125" indent="0">
              <a:buFont typeface="Monotype Sorts"/>
              <a:buNone/>
            </a:pPr>
            <a:r>
              <a:rPr lang="en-US" altLang="en-US" sz="1400" b="1"/>
              <a:t>	</a:t>
            </a:r>
          </a:p>
          <a:p>
            <a:pPr marL="111125" indent="0">
              <a:buFont typeface="Monotype Sorts"/>
              <a:buNone/>
            </a:pPr>
            <a:r>
              <a:rPr lang="en-US" altLang="en-US" sz="1400" b="1"/>
              <a:t>countries.add("Uruguay");</a:t>
            </a:r>
          </a:p>
          <a:p>
            <a:pPr marL="111125" indent="0">
              <a:buFont typeface="Monotype Sorts"/>
              <a:buNone/>
            </a:pPr>
            <a:r>
              <a:rPr lang="en-US" altLang="en-US" sz="1400" b="1"/>
              <a:t>countries.add("Poland");</a:t>
            </a:r>
          </a:p>
          <a:p>
            <a:pPr marL="111125" indent="0">
              <a:buFont typeface="Monotype Sorts"/>
              <a:buNone/>
            </a:pPr>
            <a:r>
              <a:rPr lang="en-US" altLang="en-US" sz="1400" b="1"/>
              <a:t>countries.add("Singapore");</a:t>
            </a:r>
          </a:p>
          <a:p>
            <a:pPr marL="111125" indent="0">
              <a:buFont typeface="Monotype Sorts"/>
              <a:buNone/>
            </a:pPr>
            <a:r>
              <a:rPr lang="en-US" altLang="en-US" sz="1400" b="1"/>
              <a:t>countries.add("Indonesia");</a:t>
            </a:r>
          </a:p>
          <a:p>
            <a:pPr marL="111125" indent="0">
              <a:buFont typeface="Monotype Sorts"/>
              <a:buNone/>
            </a:pPr>
            <a:r>
              <a:rPr lang="en-US" altLang="en-US" sz="1400" b="1"/>
              <a:t>countries.add("Austria");</a:t>
            </a:r>
          </a:p>
          <a:p>
            <a:pPr marL="111125" indent="0">
              <a:buFont typeface="Monotype Sorts"/>
              <a:buNone/>
            </a:pPr>
            <a:r>
              <a:rPr lang="en-US" altLang="en-US" sz="1400" i="1"/>
              <a:t>// print the HashSet using the built-in toString</a:t>
            </a:r>
            <a:br>
              <a:rPr lang="en-US" altLang="en-US" sz="1400" i="1"/>
            </a:br>
            <a:r>
              <a:rPr lang="en-US" altLang="en-US" sz="1400" i="1"/>
              <a:t>//         method</a:t>
            </a:r>
          </a:p>
          <a:p>
            <a:pPr marL="111125" indent="0">
              <a:buFont typeface="Monotype Sorts"/>
              <a:buNone/>
            </a:pPr>
            <a:r>
              <a:rPr lang="en-US" altLang="en-US" sz="1400" b="1"/>
              <a:t>System.out.println(countries);</a:t>
            </a:r>
          </a:p>
          <a:p>
            <a:pPr marL="111125" indent="0">
              <a:buFont typeface="Monotype Sorts"/>
              <a:buNone/>
            </a:pPr>
            <a:r>
              <a:rPr lang="en-US" altLang="en-US" sz="1400" b="1"/>
              <a:t>    	    </a:t>
            </a:r>
          </a:p>
          <a:p>
            <a:pPr marL="111125" indent="0">
              <a:buFont typeface="Monotype Sorts"/>
              <a:buNone/>
            </a:pPr>
            <a:r>
              <a:rPr lang="en-US" altLang="en-US" sz="1400" i="1"/>
              <a:t>// remove an element from the set</a:t>
            </a:r>
          </a:p>
          <a:p>
            <a:pPr marL="111125" indent="0">
              <a:buFont typeface="Monotype Sorts"/>
              <a:buNone/>
            </a:pPr>
            <a:r>
              <a:rPr lang="en-US" altLang="en-US" sz="1400" b="1"/>
              <a:t>countries.remove("Poland");</a:t>
            </a:r>
          </a:p>
          <a:p>
            <a:pPr marL="111125" indent="0">
              <a:buFont typeface="Monotype Sorts"/>
              <a:buNone/>
            </a:pPr>
            <a:r>
              <a:rPr lang="en-US" altLang="en-US" sz="1400" b="1"/>
              <a:t>    </a:t>
            </a:r>
          </a:p>
        </p:txBody>
      </p:sp>
      <p:sp>
        <p:nvSpPr>
          <p:cNvPr id="17412" name="Slide Number Placeholder 3">
            <a:extLst>
              <a:ext uri="{FF2B5EF4-FFF2-40B4-BE49-F238E27FC236}">
                <a16:creationId xmlns:a16="http://schemas.microsoft.com/office/drawing/2014/main" id="{6653C87C-FFDF-4595-8833-BA9C4F5AC9F5}"/>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CDF80B0-B958-4EC1-831A-82BFD93C4337}" type="slidenum">
              <a:rPr lang="en-US" altLang="en-US" sz="1400" smtClean="0"/>
              <a:pPr/>
              <a:t>14</a:t>
            </a:fld>
            <a:endParaRPr lang="en-US" altLang="en-US" sz="1400"/>
          </a:p>
        </p:txBody>
      </p:sp>
      <p:sp>
        <p:nvSpPr>
          <p:cNvPr id="17413" name="Content Placeholder 2">
            <a:extLst>
              <a:ext uri="{FF2B5EF4-FFF2-40B4-BE49-F238E27FC236}">
                <a16:creationId xmlns:a16="http://schemas.microsoft.com/office/drawing/2014/main" id="{6308E576-D2D3-4004-8A82-D57E3C82CD9D}"/>
              </a:ext>
            </a:extLst>
          </p:cNvPr>
          <p:cNvSpPr txBox="1">
            <a:spLocks/>
          </p:cNvSpPr>
          <p:nvPr/>
        </p:nvSpPr>
        <p:spPr bwMode="auto">
          <a:xfrm>
            <a:off x="4572000" y="2205038"/>
            <a:ext cx="3886200" cy="41941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176213">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1400" b="1"/>
              <a:t>    </a:t>
            </a:r>
          </a:p>
          <a:p>
            <a:pPr>
              <a:buFont typeface="Monotype Sorts"/>
              <a:buNone/>
            </a:pPr>
            <a:r>
              <a:rPr lang="en-US" altLang="en-US" sz="1400" i="1"/>
              <a:t>// check if a country is in the list</a:t>
            </a:r>
          </a:p>
          <a:p>
            <a:pPr>
              <a:buFont typeface="Monotype Sorts"/>
              <a:buNone/>
            </a:pPr>
            <a:r>
              <a:rPr lang="en-US" altLang="en-US" sz="1400" b="1"/>
              <a:t>if (countries.contains("Poland"))</a:t>
            </a:r>
          </a:p>
          <a:p>
            <a:pPr>
              <a:buFont typeface="Monotype Sorts"/>
              <a:buNone/>
            </a:pPr>
            <a:r>
              <a:rPr lang="en-US" altLang="en-US" sz="1400" b="1"/>
              <a:t>     System.out.println("Poland is in the set");</a:t>
            </a:r>
          </a:p>
          <a:p>
            <a:pPr>
              <a:buFont typeface="Monotype Sorts"/>
              <a:buNone/>
            </a:pPr>
            <a:r>
              <a:rPr lang="en-US" altLang="en-US" sz="1400" b="1"/>
              <a:t>else</a:t>
            </a:r>
          </a:p>
          <a:p>
            <a:pPr>
              <a:buFont typeface="Monotype Sorts"/>
              <a:buNone/>
            </a:pPr>
            <a:r>
              <a:rPr lang="en-US" altLang="en-US" sz="1400" b="1"/>
              <a:t>     System.out.println("Poland is not in the set");</a:t>
            </a:r>
          </a:p>
          <a:p>
            <a:pPr>
              <a:buFont typeface="Monotype Sorts"/>
              <a:buNone/>
            </a:pPr>
            <a:r>
              <a:rPr lang="en-US" altLang="en-US" sz="1400" b="1"/>
              <a:t>    </a:t>
            </a:r>
          </a:p>
          <a:p>
            <a:pPr>
              <a:buFont typeface="Monotype Sorts"/>
              <a:buNone/>
            </a:pPr>
            <a:r>
              <a:rPr lang="en-US" altLang="en-US" sz="1400" i="1"/>
              <a:t>// loop through the HashSet</a:t>
            </a:r>
          </a:p>
          <a:p>
            <a:pPr>
              <a:buFont typeface="Monotype Sorts"/>
              <a:buNone/>
            </a:pPr>
            <a:r>
              <a:rPr lang="en-US" altLang="en-US" sz="1400" b="1"/>
              <a:t>for (String c: countries)</a:t>
            </a:r>
          </a:p>
          <a:p>
            <a:pPr>
              <a:buFont typeface="Monotype Sorts"/>
              <a:buNone/>
            </a:pPr>
            <a:r>
              <a:rPr lang="en-US" altLang="en-US" sz="1400" b="1"/>
              <a:t>     System.out.print(c + "  ");</a:t>
            </a:r>
          </a:p>
          <a:p>
            <a:pPr>
              <a:buFont typeface="Monotype Sorts"/>
              <a:buNone/>
            </a:pPr>
            <a:r>
              <a:rPr lang="en-US" altLang="en-US" sz="1400" b="1"/>
              <a:t>System.out.println();</a:t>
            </a:r>
          </a:p>
          <a:p>
            <a:pPr>
              <a:buFont typeface="Monotype Sorts"/>
              <a:buNone/>
            </a:pPr>
            <a:r>
              <a:rPr lang="en-US" altLang="en-US" sz="1400" b="1"/>
              <a:t>    </a:t>
            </a:r>
          </a:p>
          <a:p>
            <a:pPr>
              <a:buFont typeface="Monotype Sorts"/>
              <a:buNone/>
            </a:pPr>
            <a:r>
              <a:rPr lang="en-US" altLang="en-US" sz="1400" i="1"/>
              <a:t>//clear the HashSet</a:t>
            </a:r>
          </a:p>
          <a:p>
            <a:pPr>
              <a:buFont typeface="Monotype Sorts"/>
              <a:buNone/>
            </a:pPr>
            <a:r>
              <a:rPr lang="en-US" altLang="en-US" sz="1400" b="1"/>
              <a:t>countries.clear();</a:t>
            </a:r>
            <a:endParaRPr lang="en-US" altLang="en-US" sz="1200" b="1"/>
          </a:p>
        </p:txBody>
      </p:sp>
      <p:sp>
        <p:nvSpPr>
          <p:cNvPr id="17414" name="Rectangle 4">
            <a:extLst>
              <a:ext uri="{FF2B5EF4-FFF2-40B4-BE49-F238E27FC236}">
                <a16:creationId xmlns:a16="http://schemas.microsoft.com/office/drawing/2014/main" id="{EBAABBA0-8B38-41C2-8E99-7C52EC55F7DB}"/>
              </a:ext>
            </a:extLst>
          </p:cNvPr>
          <p:cNvSpPr txBox="1">
            <a:spLocks noChangeArrowheads="1"/>
          </p:cNvSpPr>
          <p:nvPr/>
        </p:nvSpPr>
        <p:spPr bwMode="auto">
          <a:xfrm>
            <a:off x="685800" y="1371600"/>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buFont typeface="Monotype Sorts"/>
              <a:buNone/>
            </a:pPr>
            <a:r>
              <a:rPr lang="en-US" altLang="en-US" sz="2000">
                <a:solidFill>
                  <a:srgbClr val="002060"/>
                </a:solidFill>
                <a:cs typeface="Times New Roman" panose="02020603050405020304" pitchFamily="18" charset="0"/>
              </a:rPr>
              <a:t>This example creates a hash set filled with strings and uses different HashSet methods on it</a:t>
            </a:r>
          </a:p>
        </p:txBody>
      </p:sp>
      <p:sp>
        <p:nvSpPr>
          <p:cNvPr id="17415" name="Rectangle 8">
            <a:hlinkClick r:id="rId2"/>
            <a:extLst>
              <a:ext uri="{FF2B5EF4-FFF2-40B4-BE49-F238E27FC236}">
                <a16:creationId xmlns:a16="http://schemas.microsoft.com/office/drawing/2014/main" id="{4F5069C1-2066-49E4-88D9-F6C17EC667C7}"/>
              </a:ext>
            </a:extLst>
          </p:cNvPr>
          <p:cNvSpPr>
            <a:spLocks noChangeArrowheads="1"/>
          </p:cNvSpPr>
          <p:nvPr/>
        </p:nvSpPr>
        <p:spPr bwMode="auto">
          <a:xfrm>
            <a:off x="7391400" y="1843088"/>
            <a:ext cx="1600200" cy="288925"/>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a:t>Another Example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EDB7820-58FC-4E5D-8694-4B8F35808648}"/>
              </a:ext>
            </a:extLst>
          </p:cNvPr>
          <p:cNvSpPr>
            <a:spLocks noGrp="1" noChangeArrowheads="1"/>
          </p:cNvSpPr>
          <p:nvPr>
            <p:ph type="title"/>
          </p:nvPr>
        </p:nvSpPr>
        <p:spPr>
          <a:xfrm>
            <a:off x="0" y="228600"/>
            <a:ext cx="9372600" cy="762000"/>
          </a:xfrm>
          <a:noFill/>
        </p:spPr>
        <p:txBody>
          <a:bodyPr/>
          <a:lstStyle/>
          <a:p>
            <a:pPr eaLnBrk="1" hangingPunct="1"/>
            <a:r>
              <a:rPr lang="en-US" altLang="en-US">
                <a:cs typeface="Times New Roman" panose="02020603050405020304" pitchFamily="18" charset="0"/>
              </a:rPr>
              <a:t>Example: Using LinkedHashSet</a:t>
            </a:r>
          </a:p>
        </p:txBody>
      </p:sp>
      <p:sp>
        <p:nvSpPr>
          <p:cNvPr id="18435" name="Rectangle 4">
            <a:extLst>
              <a:ext uri="{FF2B5EF4-FFF2-40B4-BE49-F238E27FC236}">
                <a16:creationId xmlns:a16="http://schemas.microsoft.com/office/drawing/2014/main" id="{3920F319-6BA9-4691-B5E4-870087655701}"/>
              </a:ext>
            </a:extLst>
          </p:cNvPr>
          <p:cNvSpPr>
            <a:spLocks noGrp="1" noChangeArrowheads="1"/>
          </p:cNvSpPr>
          <p:nvPr>
            <p:ph idx="1"/>
          </p:nvPr>
        </p:nvSpPr>
        <p:spPr>
          <a:xfrm>
            <a:off x="6172200" y="1166813"/>
            <a:ext cx="2819400" cy="1881187"/>
          </a:xfrm>
          <a:ln>
            <a:solidFill>
              <a:schemeClr val="tx1"/>
            </a:solidFill>
            <a:miter lim="800000"/>
            <a:headEnd/>
            <a:tailEnd/>
          </a:ln>
        </p:spPr>
        <p:txBody>
          <a:bodyPr/>
          <a:lstStyle/>
          <a:p>
            <a:pPr marL="0" indent="0" eaLnBrk="1" hangingPunct="1">
              <a:buFont typeface="Monotype Sorts"/>
              <a:buNone/>
            </a:pPr>
            <a:r>
              <a:rPr lang="en-US" altLang="en-US" sz="2000">
                <a:cs typeface="Times New Roman" panose="02020603050405020304" pitchFamily="18" charset="0"/>
              </a:rPr>
              <a:t>This example creates a linked hash set filled with strings and uses an enhanced for loop to traverse the elements in the list.</a:t>
            </a:r>
            <a:r>
              <a:rPr lang="en-US" altLang="en-US" sz="2000">
                <a:latin typeface="Courier"/>
                <a:cs typeface="Times New Roman" panose="02020603050405020304" pitchFamily="18" charset="0"/>
              </a:rPr>
              <a:t> </a:t>
            </a:r>
          </a:p>
        </p:txBody>
      </p:sp>
      <p:sp>
        <p:nvSpPr>
          <p:cNvPr id="18436" name="Slide Number Placeholder 4">
            <a:extLst>
              <a:ext uri="{FF2B5EF4-FFF2-40B4-BE49-F238E27FC236}">
                <a16:creationId xmlns:a16="http://schemas.microsoft.com/office/drawing/2014/main" id="{C6BEE602-F706-467A-A389-D6410980AF6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70F4291-ED52-4FA3-B4BB-FD290A33A114}" type="slidenum">
              <a:rPr lang="en-US" altLang="en-US" sz="1400" smtClean="0"/>
              <a:pPr>
                <a:spcBef>
                  <a:spcPct val="0"/>
                </a:spcBef>
                <a:buClrTx/>
                <a:buSzTx/>
                <a:buFontTx/>
                <a:buNone/>
              </a:pPr>
              <a:t>15</a:t>
            </a:fld>
            <a:endParaRPr lang="en-US" altLang="en-US" sz="1400"/>
          </a:p>
        </p:txBody>
      </p:sp>
      <p:sp>
        <p:nvSpPr>
          <p:cNvPr id="18439" name="Rectangle 8">
            <a:hlinkClick r:id="rId2"/>
            <a:extLst>
              <a:ext uri="{FF2B5EF4-FFF2-40B4-BE49-F238E27FC236}">
                <a16:creationId xmlns:a16="http://schemas.microsoft.com/office/drawing/2014/main" id="{C02CD009-7DE4-4AB9-9BB2-10F0D4F41702}"/>
              </a:ext>
            </a:extLst>
          </p:cNvPr>
          <p:cNvSpPr>
            <a:spLocks noChangeArrowheads="1"/>
          </p:cNvSpPr>
          <p:nvPr/>
        </p:nvSpPr>
        <p:spPr bwMode="auto">
          <a:xfrm>
            <a:off x="6819900" y="6003925"/>
            <a:ext cx="21764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TestLinkedHashSet</a:t>
            </a:r>
          </a:p>
        </p:txBody>
      </p:sp>
      <p:sp>
        <p:nvSpPr>
          <p:cNvPr id="18440" name="Rectangle 4">
            <a:extLst>
              <a:ext uri="{FF2B5EF4-FFF2-40B4-BE49-F238E27FC236}">
                <a16:creationId xmlns:a16="http://schemas.microsoft.com/office/drawing/2014/main" id="{33CE5CAD-FFEF-4E8E-A499-CCD06DEA8CDF}"/>
              </a:ext>
            </a:extLst>
          </p:cNvPr>
          <p:cNvSpPr txBox="1">
            <a:spLocks noChangeArrowheads="1"/>
          </p:cNvSpPr>
          <p:nvPr/>
        </p:nvSpPr>
        <p:spPr bwMode="auto">
          <a:xfrm>
            <a:off x="304800" y="990600"/>
            <a:ext cx="6515100" cy="5345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28600" indent="-228600">
              <a:spcBef>
                <a:spcPct val="20000"/>
              </a:spcBef>
              <a:buClr>
                <a:schemeClr val="tx2"/>
              </a:buClr>
              <a:buSzPct val="75000"/>
              <a:buFont typeface="Monotype Sorts"/>
              <a:buChar char="F"/>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defRPr sz="2000">
                <a:solidFill>
                  <a:schemeClr val="tx1"/>
                </a:solidFill>
                <a:latin typeface="Times New Roman" panose="02020603050405020304" pitchFamily="18" charset="0"/>
              </a:defRPr>
            </a:lvl9pPr>
          </a:lstStyle>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import java.util.*;</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public class TestLinkedHashSet {</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public static void main(String[] args) {</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a:t>
            </a:r>
            <a:r>
              <a:rPr lang="en-US" altLang="en-US" sz="1400" i="1">
                <a:solidFill>
                  <a:srgbClr val="000000"/>
                </a:solidFill>
                <a:latin typeface="Courier New" panose="02070309020205020404" pitchFamily="49" charset="0"/>
                <a:cs typeface="Times New Roman" panose="02020603050405020304" pitchFamily="18" charset="0"/>
              </a:rPr>
              <a:t>// Create a linked hash set</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Set&lt;String&gt; set = new LinkedHashSet&lt;&gt;();</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a:t>
            </a:r>
            <a:r>
              <a:rPr lang="en-US" altLang="en-US" sz="1400" i="1">
                <a:solidFill>
                  <a:srgbClr val="000000"/>
                </a:solidFill>
                <a:latin typeface="Courier New" panose="02070309020205020404" pitchFamily="49" charset="0"/>
                <a:cs typeface="Times New Roman" panose="02020603050405020304" pitchFamily="18" charset="0"/>
              </a:rPr>
              <a:t>// Add strings to the set</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set.add("London");</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set.add("Paris");</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set.add("New York");</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set.add("San Francisco");</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set.add("Beijing");</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set.add("New York");</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System.out.println(set);</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a:t>
            </a:r>
            <a:r>
              <a:rPr lang="en-US" altLang="en-US" sz="1400" i="1">
                <a:solidFill>
                  <a:srgbClr val="000000"/>
                </a:solidFill>
                <a:latin typeface="Courier New" panose="02070309020205020404" pitchFamily="49" charset="0"/>
                <a:cs typeface="Times New Roman" panose="02020603050405020304" pitchFamily="18" charset="0"/>
              </a:rPr>
              <a:t>// Display the elements in the hash set</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for (String element: set)</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System.out.print(element.toLowerCase() + " ");</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a:t>
            </a:r>
          </a:p>
          <a:p>
            <a:pPr>
              <a:lnSpc>
                <a:spcPct val="107000"/>
              </a:lnSpc>
              <a:spcBef>
                <a:spcPct val="0"/>
              </a:spcBef>
              <a:buFont typeface="Times New Roman" panose="02020603050405020304" pitchFamily="18" charset="0"/>
              <a:buAutoNum type="arabicPeriod"/>
            </a:pPr>
            <a:r>
              <a:rPr lang="en-US" altLang="en-US" sz="1400" b="1">
                <a:solidFill>
                  <a:srgbClr val="000000"/>
                </a:solidFill>
                <a:latin typeface="Courier New" panose="02070309020205020404" pitchFamily="49" charset="0"/>
                <a:cs typeface="Times New Roman" panose="02020603050405020304" pitchFamily="18" charset="0"/>
              </a:rPr>
              <a:t>} </a:t>
            </a:r>
          </a:p>
          <a:p>
            <a:pPr>
              <a:lnSpc>
                <a:spcPct val="107000"/>
              </a:lnSpc>
              <a:spcBef>
                <a:spcPct val="0"/>
              </a:spcBef>
              <a:buFont typeface="Times New Roman" panose="02020603050405020304" pitchFamily="18" charset="0"/>
              <a:buAutoNum type="arabicPeriod"/>
            </a:pPr>
            <a:endParaRPr lang="en-US" altLang="en-US" sz="120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CE2A40A-E2E4-49AD-9338-ECD8A4DC65C1}"/>
              </a:ext>
            </a:extLst>
          </p:cNvPr>
          <p:cNvSpPr>
            <a:spLocks noGrp="1" noChangeArrowheads="1"/>
          </p:cNvSpPr>
          <p:nvPr>
            <p:ph type="title"/>
          </p:nvPr>
        </p:nvSpPr>
        <p:spPr>
          <a:xfrm>
            <a:off x="685800" y="228600"/>
            <a:ext cx="7924800" cy="1143000"/>
          </a:xfrm>
          <a:noFill/>
        </p:spPr>
        <p:txBody>
          <a:bodyPr/>
          <a:lstStyle/>
          <a:p>
            <a:pPr eaLnBrk="1" hangingPunct="1"/>
            <a:r>
              <a:rPr lang="en-US" altLang="en-US">
                <a:cs typeface="Times New Roman" panose="02020603050405020304" pitchFamily="18" charset="0"/>
              </a:rPr>
              <a:t>The SortedSet Interface and the TreeSet Class</a:t>
            </a:r>
          </a:p>
        </p:txBody>
      </p:sp>
      <p:sp>
        <p:nvSpPr>
          <p:cNvPr id="19459" name="Rectangle 4">
            <a:extLst>
              <a:ext uri="{FF2B5EF4-FFF2-40B4-BE49-F238E27FC236}">
                <a16:creationId xmlns:a16="http://schemas.microsoft.com/office/drawing/2014/main" id="{48AC687B-4A80-4B0A-B559-4EF2809082D6}"/>
              </a:ext>
            </a:extLst>
          </p:cNvPr>
          <p:cNvSpPr>
            <a:spLocks noGrp="1" noChangeArrowheads="1"/>
          </p:cNvSpPr>
          <p:nvPr>
            <p:ph idx="1"/>
          </p:nvPr>
        </p:nvSpPr>
        <p:spPr>
          <a:xfrm>
            <a:off x="381000" y="1752600"/>
            <a:ext cx="8458200" cy="4419600"/>
          </a:xfrm>
        </p:spPr>
        <p:txBody>
          <a:bodyPr/>
          <a:lstStyle/>
          <a:p>
            <a:pPr eaLnBrk="1" hangingPunct="1">
              <a:spcBef>
                <a:spcPct val="0"/>
              </a:spcBef>
              <a:spcAft>
                <a:spcPts val="1200"/>
              </a:spcAft>
              <a:buFont typeface="Wingdings" panose="05000000000000000000" pitchFamily="2" charset="2"/>
              <a:buChar char="§"/>
            </a:pPr>
            <a:r>
              <a:rPr lang="en-US" altLang="en-US" sz="2800" b="1">
                <a:cs typeface="Times New Roman" panose="02020603050405020304" pitchFamily="18" charset="0"/>
              </a:rPr>
              <a:t>SortedSet</a:t>
            </a:r>
            <a:r>
              <a:rPr lang="en-US" altLang="en-US" sz="2800">
                <a:cs typeface="Times New Roman" panose="02020603050405020304" pitchFamily="18" charset="0"/>
              </a:rPr>
              <a:t> is a subinterface of Set, which guarantees that the elements in the set are sorted. </a:t>
            </a:r>
          </a:p>
          <a:p>
            <a:pPr eaLnBrk="1" hangingPunct="1">
              <a:spcBef>
                <a:spcPct val="0"/>
              </a:spcBef>
              <a:spcAft>
                <a:spcPts val="1200"/>
              </a:spcAft>
              <a:buFont typeface="Wingdings" panose="05000000000000000000" pitchFamily="2" charset="2"/>
              <a:buChar char="§"/>
            </a:pPr>
            <a:r>
              <a:rPr lang="en-US" altLang="en-US" sz="2800" b="1">
                <a:cs typeface="Times New Roman" panose="02020603050405020304" pitchFamily="18" charset="0"/>
              </a:rPr>
              <a:t>TreeSet</a:t>
            </a:r>
            <a:r>
              <a:rPr lang="en-US" altLang="en-US" sz="2800">
                <a:cs typeface="Times New Roman" panose="02020603050405020304" pitchFamily="18" charset="0"/>
              </a:rPr>
              <a:t> is a concrete class that implements the SortedSet interface. </a:t>
            </a:r>
          </a:p>
          <a:p>
            <a:pPr eaLnBrk="1" hangingPunct="1">
              <a:spcBef>
                <a:spcPct val="0"/>
              </a:spcBef>
              <a:spcAft>
                <a:spcPts val="1200"/>
              </a:spcAft>
              <a:buFont typeface="Wingdings" panose="05000000000000000000" pitchFamily="2" charset="2"/>
              <a:buChar char="§"/>
            </a:pPr>
            <a:r>
              <a:rPr lang="en-US" altLang="en-US" sz="2800">
                <a:cs typeface="Times New Roman" panose="02020603050405020304" pitchFamily="18" charset="0"/>
              </a:rPr>
              <a:t>You can use an iterator to traverse the elements in the sorted order. </a:t>
            </a:r>
          </a:p>
          <a:p>
            <a:pPr eaLnBrk="1" hangingPunct="1">
              <a:spcBef>
                <a:spcPct val="0"/>
              </a:spcBef>
              <a:spcAft>
                <a:spcPts val="1200"/>
              </a:spcAft>
              <a:buFont typeface="Wingdings" panose="05000000000000000000" pitchFamily="2" charset="2"/>
              <a:buChar char="§"/>
            </a:pPr>
            <a:r>
              <a:rPr lang="en-US" altLang="en-US" sz="2800">
                <a:cs typeface="Times New Roman" panose="02020603050405020304" pitchFamily="18" charset="0"/>
              </a:rPr>
              <a:t>The elements can be sorted in two ways. </a:t>
            </a:r>
          </a:p>
        </p:txBody>
      </p:sp>
      <p:sp>
        <p:nvSpPr>
          <p:cNvPr id="19460" name="Slide Number Placeholder 4">
            <a:extLst>
              <a:ext uri="{FF2B5EF4-FFF2-40B4-BE49-F238E27FC236}">
                <a16:creationId xmlns:a16="http://schemas.microsoft.com/office/drawing/2014/main" id="{E4C7DDCB-1845-44A6-8FD9-9D8E2D0AA3BC}"/>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5570A12-08D6-4E37-89A0-98B8FAF05A48}" type="slidenum">
              <a:rPr lang="en-US" altLang="en-US" sz="1400" smtClean="0"/>
              <a:pPr>
                <a:spcBef>
                  <a:spcPct val="0"/>
                </a:spcBef>
                <a:buClrTx/>
                <a:buSzTx/>
                <a:buFontTx/>
                <a:buNone/>
              </a:pPr>
              <a:t>16</a:t>
            </a:fld>
            <a:endParaRPr lang="en-US" altLang="en-US"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05A0B41-11BA-4429-AA03-A1AAEBAC73AB}"/>
              </a:ext>
            </a:extLst>
          </p:cNvPr>
          <p:cNvSpPr>
            <a:spLocks noGrp="1" noChangeArrowheads="1"/>
          </p:cNvSpPr>
          <p:nvPr>
            <p:ph type="title"/>
          </p:nvPr>
        </p:nvSpPr>
        <p:spPr>
          <a:xfrm>
            <a:off x="685800" y="228600"/>
            <a:ext cx="7924800" cy="1143000"/>
          </a:xfrm>
          <a:noFill/>
        </p:spPr>
        <p:txBody>
          <a:bodyPr/>
          <a:lstStyle/>
          <a:p>
            <a:pPr eaLnBrk="1" hangingPunct="1"/>
            <a:r>
              <a:rPr lang="en-US" altLang="en-US">
                <a:cs typeface="Times New Roman" panose="02020603050405020304" pitchFamily="18" charset="0"/>
              </a:rPr>
              <a:t>The SortedSet Interface and the TreeSet Class, cont.</a:t>
            </a:r>
          </a:p>
        </p:txBody>
      </p:sp>
      <p:sp>
        <p:nvSpPr>
          <p:cNvPr id="17413" name="Rectangle 4">
            <a:extLst>
              <a:ext uri="{FF2B5EF4-FFF2-40B4-BE49-F238E27FC236}">
                <a16:creationId xmlns:a16="http://schemas.microsoft.com/office/drawing/2014/main" id="{F52DF384-2311-4C57-9E1B-86ECABFE5F08}"/>
              </a:ext>
            </a:extLst>
          </p:cNvPr>
          <p:cNvSpPr>
            <a:spLocks noGrp="1" noChangeArrowheads="1"/>
          </p:cNvSpPr>
          <p:nvPr>
            <p:ph idx="1"/>
          </p:nvPr>
        </p:nvSpPr>
        <p:spPr>
          <a:xfrm>
            <a:off x="381000" y="1752600"/>
            <a:ext cx="8458200" cy="4419600"/>
          </a:xfrm>
        </p:spPr>
        <p:txBody>
          <a:bodyPr/>
          <a:lstStyle/>
          <a:p>
            <a:pPr eaLnBrk="1" hangingPunct="1">
              <a:lnSpc>
                <a:spcPct val="90000"/>
              </a:lnSpc>
              <a:spcBef>
                <a:spcPts val="0"/>
              </a:spcBef>
              <a:spcAft>
                <a:spcPts val="1200"/>
              </a:spcAft>
              <a:buFont typeface="Wingdings" panose="05000000000000000000" pitchFamily="2" charset="2"/>
              <a:buChar char="§"/>
              <a:defRPr/>
            </a:pPr>
            <a:r>
              <a:rPr lang="en-US" altLang="en-US" sz="2800" dirty="0">
                <a:cs typeface="Times New Roman" panose="02020603050405020304" pitchFamily="18" charset="0"/>
              </a:rPr>
              <a:t>One way is to use the </a:t>
            </a:r>
            <a:r>
              <a:rPr lang="en-US" altLang="en-US" sz="2800" dirty="0">
                <a:highlight>
                  <a:srgbClr val="FFFF00"/>
                </a:highlight>
                <a:cs typeface="Times New Roman" panose="02020603050405020304" pitchFamily="18" charset="0"/>
              </a:rPr>
              <a:t>Comparable interface</a:t>
            </a:r>
            <a:r>
              <a:rPr lang="en-US" altLang="en-US" sz="2800" dirty="0">
                <a:cs typeface="Times New Roman" panose="02020603050405020304" pitchFamily="18" charset="0"/>
              </a:rPr>
              <a:t>. </a:t>
            </a:r>
          </a:p>
          <a:p>
            <a:pPr marL="0" indent="0" eaLnBrk="1" hangingPunct="1">
              <a:lnSpc>
                <a:spcPct val="90000"/>
              </a:lnSpc>
              <a:spcBef>
                <a:spcPts val="0"/>
              </a:spcBef>
              <a:spcAft>
                <a:spcPts val="1200"/>
              </a:spcAft>
              <a:buFont typeface="Monotype Sorts"/>
              <a:buNone/>
              <a:defRPr/>
            </a:pPr>
            <a:endParaRPr lang="en-US" altLang="en-US" sz="1600" dirty="0">
              <a:cs typeface="Times New Roman" panose="02020603050405020304" pitchFamily="18" charset="0"/>
            </a:endParaRPr>
          </a:p>
          <a:p>
            <a:pPr eaLnBrk="1" hangingPunct="1">
              <a:lnSpc>
                <a:spcPct val="90000"/>
              </a:lnSpc>
              <a:spcBef>
                <a:spcPts val="0"/>
              </a:spcBef>
              <a:spcAft>
                <a:spcPts val="1200"/>
              </a:spcAft>
              <a:buFont typeface="Wingdings" panose="05000000000000000000" pitchFamily="2" charset="2"/>
              <a:buChar char="§"/>
              <a:defRPr/>
            </a:pPr>
            <a:r>
              <a:rPr lang="en-US" altLang="en-US" sz="2800" dirty="0">
                <a:cs typeface="Times New Roman" panose="02020603050405020304" pitchFamily="18" charset="0"/>
              </a:rPr>
              <a:t>The other way is to specify a comparator for the elements in the set if the class for the elements does not implement the Comparable interface, or you don’t want to use the </a:t>
            </a:r>
            <a:r>
              <a:rPr lang="en-US" altLang="en-US" sz="2800" dirty="0" err="1">
                <a:cs typeface="Times New Roman" panose="02020603050405020304" pitchFamily="18" charset="0"/>
              </a:rPr>
              <a:t>compareTo</a:t>
            </a:r>
            <a:r>
              <a:rPr lang="en-US" altLang="en-US" sz="2800" dirty="0">
                <a:cs typeface="Times New Roman" panose="02020603050405020304" pitchFamily="18" charset="0"/>
              </a:rPr>
              <a:t> method in the class that implements the Comparable interface. </a:t>
            </a:r>
          </a:p>
          <a:p>
            <a:pPr eaLnBrk="1" hangingPunct="1">
              <a:lnSpc>
                <a:spcPct val="90000"/>
              </a:lnSpc>
              <a:spcBef>
                <a:spcPts val="0"/>
              </a:spcBef>
              <a:spcAft>
                <a:spcPts val="1200"/>
              </a:spcAft>
              <a:buFont typeface="Wingdings" panose="05000000000000000000" pitchFamily="2" charset="2"/>
              <a:buChar char="§"/>
              <a:defRPr/>
            </a:pPr>
            <a:r>
              <a:rPr lang="en-US" altLang="en-US" sz="2800" dirty="0">
                <a:cs typeface="Times New Roman" panose="02020603050405020304" pitchFamily="18" charset="0"/>
              </a:rPr>
              <a:t>This approach is referred to as </a:t>
            </a:r>
            <a:r>
              <a:rPr lang="en-US" altLang="en-US" sz="2800" b="1" i="1" dirty="0">
                <a:highlight>
                  <a:srgbClr val="FFFF00"/>
                </a:highlight>
                <a:cs typeface="Times New Roman" panose="02020603050405020304" pitchFamily="18" charset="0"/>
              </a:rPr>
              <a:t>order by comparator</a:t>
            </a:r>
            <a:r>
              <a:rPr lang="en-US" altLang="en-US" sz="2800" dirty="0">
                <a:cs typeface="Times New Roman" panose="02020603050405020304" pitchFamily="18" charset="0"/>
              </a:rPr>
              <a:t>.</a:t>
            </a:r>
          </a:p>
        </p:txBody>
      </p:sp>
      <p:sp>
        <p:nvSpPr>
          <p:cNvPr id="20484" name="Slide Number Placeholder 4">
            <a:extLst>
              <a:ext uri="{FF2B5EF4-FFF2-40B4-BE49-F238E27FC236}">
                <a16:creationId xmlns:a16="http://schemas.microsoft.com/office/drawing/2014/main" id="{BED6E926-14A4-47BE-BE74-3576563E114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6D8B713-694D-4AEF-8585-D9A2DC2CF188}" type="slidenum">
              <a:rPr lang="en-US" altLang="en-US" sz="1400" smtClean="0"/>
              <a:pPr>
                <a:spcBef>
                  <a:spcPct val="0"/>
                </a:spcBef>
                <a:buClrTx/>
                <a:buSzTx/>
                <a:buFontTx/>
                <a:buNone/>
              </a:pPr>
              <a:t>17</a:t>
            </a:fld>
            <a:endParaRPr lang="en-US" altLang="en-US"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549F18B5-3CED-49C7-AA1C-BDFDCE098802}"/>
              </a:ext>
            </a:extLst>
          </p:cNvPr>
          <p:cNvSpPr>
            <a:spLocks noGrp="1" noChangeArrowheads="1"/>
          </p:cNvSpPr>
          <p:nvPr>
            <p:ph type="title"/>
          </p:nvPr>
        </p:nvSpPr>
        <p:spPr>
          <a:xfrm>
            <a:off x="685800" y="227013"/>
            <a:ext cx="7772400" cy="523875"/>
          </a:xfrm>
        </p:spPr>
        <p:txBody>
          <a:bodyPr/>
          <a:lstStyle/>
          <a:p>
            <a:pPr eaLnBrk="1" hangingPunct="1"/>
            <a:r>
              <a:rPr lang="en-US" altLang="en-US" dirty="0"/>
              <a:t>Some </a:t>
            </a:r>
            <a:r>
              <a:rPr lang="en-US" altLang="en-US" dirty="0" err="1"/>
              <a:t>TreeSet</a:t>
            </a:r>
            <a:r>
              <a:rPr lang="en-US" altLang="en-US" dirty="0"/>
              <a:t> Operations</a:t>
            </a:r>
          </a:p>
        </p:txBody>
      </p:sp>
      <p:graphicFrame>
        <p:nvGraphicFramePr>
          <p:cNvPr id="5" name="Table 5">
            <a:extLst>
              <a:ext uri="{FF2B5EF4-FFF2-40B4-BE49-F238E27FC236}">
                <a16:creationId xmlns:a16="http://schemas.microsoft.com/office/drawing/2014/main" id="{77D6FCFF-5697-43BA-AD18-1AED76CBE98C}"/>
              </a:ext>
            </a:extLst>
          </p:cNvPr>
          <p:cNvGraphicFramePr>
            <a:graphicFrameLocks noGrp="1"/>
          </p:cNvGraphicFramePr>
          <p:nvPr>
            <p:ph idx="1"/>
            <p:extLst>
              <p:ext uri="{D42A27DB-BD31-4B8C-83A1-F6EECF244321}">
                <p14:modId xmlns:p14="http://schemas.microsoft.com/office/powerpoint/2010/main" val="2119406165"/>
              </p:ext>
            </p:extLst>
          </p:nvPr>
        </p:nvGraphicFramePr>
        <p:xfrm>
          <a:off x="236538" y="1295400"/>
          <a:ext cx="8670925" cy="4962566"/>
        </p:xfrm>
        <a:graphic>
          <a:graphicData uri="http://schemas.openxmlformats.org/drawingml/2006/table">
            <a:tbl>
              <a:tblPr firstRow="1" bandRow="1">
                <a:tableStyleId>{5C22544A-7EE6-4342-B048-85BDC9FD1C3A}</a:tableStyleId>
              </a:tblPr>
              <a:tblGrid>
                <a:gridCol w="8670925">
                  <a:extLst>
                    <a:ext uri="{9D8B030D-6E8A-4147-A177-3AD203B41FA5}">
                      <a16:colId xmlns:a16="http://schemas.microsoft.com/office/drawing/2014/main" val="20000"/>
                    </a:ext>
                  </a:extLst>
                </a:gridCol>
              </a:tblGrid>
              <a:tr h="370750">
                <a:tc>
                  <a:txBody>
                    <a:bodyPr/>
                    <a:lstStyle/>
                    <a:p>
                      <a:r>
                        <a:rPr lang="en-US" sz="1400" dirty="0"/>
                        <a:t>Description</a:t>
                      </a:r>
                    </a:p>
                  </a:txBody>
                  <a:tcPr marL="91443" marR="91443"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highlight>
                            <a:srgbClr val="FFFF00"/>
                          </a:highlight>
                        </a:rPr>
                        <a:t>E first() </a:t>
                      </a:r>
                      <a:r>
                        <a:rPr lang="en-US" sz="1400" dirty="0">
                          <a:highlight>
                            <a:srgbClr val="FFFF00"/>
                          </a:highlight>
                        </a:rPr>
                        <a:t>Returns the first (lowest) element currently in this set.</a:t>
                      </a:r>
                    </a:p>
                  </a:txBody>
                  <a:tcPr marL="91443" marR="91443"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highlight>
                            <a:srgbClr val="FFFF00"/>
                          </a:highlight>
                        </a:rPr>
                        <a:t>E last() </a:t>
                      </a:r>
                      <a:r>
                        <a:rPr lang="en-US" sz="1400" b="0" dirty="0">
                          <a:highlight>
                            <a:srgbClr val="FFFF00"/>
                          </a:highlight>
                        </a:rPr>
                        <a:t>Returns the last (highest) element currently in this set.</a:t>
                      </a:r>
                    </a:p>
                  </a:txBody>
                  <a:tcPr marL="91443" marR="91443"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518129">
                <a:tc>
                  <a:txBody>
                    <a:bodyPr/>
                    <a:lstStyle/>
                    <a:p>
                      <a:r>
                        <a:rPr lang="en-US" sz="1400" b="1" dirty="0">
                          <a:highlight>
                            <a:srgbClr val="FFFF00"/>
                          </a:highlight>
                        </a:rPr>
                        <a:t>E ceiling(E e) </a:t>
                      </a:r>
                      <a:r>
                        <a:rPr lang="en-US" sz="1400" dirty="0">
                          <a:highlight>
                            <a:srgbClr val="FFFF00"/>
                          </a:highlight>
                        </a:rPr>
                        <a:t>Returns the least element in this set greater than or equal to the given element, or null if there is no such element.</a:t>
                      </a:r>
                    </a:p>
                  </a:txBody>
                  <a:tcPr marL="91443" marR="91443"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518129">
                <a:tc>
                  <a:txBody>
                    <a:bodyPr/>
                    <a:lstStyle/>
                    <a:p>
                      <a:r>
                        <a:rPr lang="en-US" sz="1400" b="1" dirty="0">
                          <a:highlight>
                            <a:srgbClr val="FFFF00"/>
                          </a:highlight>
                        </a:rPr>
                        <a:t>E floor(E e) </a:t>
                      </a:r>
                      <a:r>
                        <a:rPr lang="en-US" sz="1400" dirty="0">
                          <a:highlight>
                            <a:srgbClr val="FFFF00"/>
                          </a:highlight>
                        </a:rPr>
                        <a:t>Returns the greatest element in this set less than or equal to the given element, or null if there is no such element.</a:t>
                      </a:r>
                    </a:p>
                  </a:txBody>
                  <a:tcPr marL="91443" marR="91443"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518129">
                <a:tc>
                  <a:txBody>
                    <a:bodyPr/>
                    <a:lstStyle/>
                    <a:p>
                      <a:r>
                        <a:rPr lang="en-US" sz="1400" b="1" dirty="0" err="1"/>
                        <a:t>SortedSet</a:t>
                      </a:r>
                      <a:r>
                        <a:rPr lang="en-US" sz="1400" b="1" dirty="0"/>
                        <a:t>&lt;E&gt; </a:t>
                      </a:r>
                      <a:r>
                        <a:rPr lang="en-US" sz="1400" b="1" dirty="0" err="1"/>
                        <a:t>headSet</a:t>
                      </a:r>
                      <a:r>
                        <a:rPr lang="en-US" sz="1400" b="1" dirty="0"/>
                        <a:t>(E </a:t>
                      </a:r>
                      <a:r>
                        <a:rPr lang="en-US" sz="1400" b="1" dirty="0" err="1"/>
                        <a:t>toElement</a:t>
                      </a:r>
                      <a:r>
                        <a:rPr lang="en-US" sz="1400" b="1" dirty="0"/>
                        <a:t>) </a:t>
                      </a:r>
                      <a:r>
                        <a:rPr lang="en-US" sz="1400" dirty="0"/>
                        <a:t>Returns a view of the portion of this set whose elements are strictly less than </a:t>
                      </a:r>
                      <a:r>
                        <a:rPr lang="en-US" sz="1400" dirty="0" err="1"/>
                        <a:t>toElement</a:t>
                      </a:r>
                      <a:r>
                        <a:rPr lang="en-US" sz="1400" dirty="0"/>
                        <a:t>.</a:t>
                      </a:r>
                    </a:p>
                  </a:txBody>
                  <a:tcPr marL="91443" marR="91443"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518129">
                <a:tc>
                  <a:txBody>
                    <a:bodyPr/>
                    <a:lstStyle/>
                    <a:p>
                      <a:r>
                        <a:rPr lang="en-US" sz="1400" b="1" dirty="0" err="1"/>
                        <a:t>SortedSet</a:t>
                      </a:r>
                      <a:r>
                        <a:rPr lang="en-US" sz="1400" b="1" dirty="0"/>
                        <a:t>&lt;E&gt; </a:t>
                      </a:r>
                      <a:r>
                        <a:rPr lang="en-US" sz="1400" b="1" dirty="0" err="1"/>
                        <a:t>tailSet</a:t>
                      </a:r>
                      <a:r>
                        <a:rPr lang="en-US" sz="1400" b="1" dirty="0"/>
                        <a:t>(E </a:t>
                      </a:r>
                      <a:r>
                        <a:rPr lang="en-US" sz="1400" b="1" dirty="0" err="1"/>
                        <a:t>fromElement</a:t>
                      </a:r>
                      <a:r>
                        <a:rPr lang="en-US" sz="1400" b="1" dirty="0"/>
                        <a:t>) </a:t>
                      </a:r>
                      <a:r>
                        <a:rPr lang="en-US" sz="1400" dirty="0"/>
                        <a:t>Returns a view of the portion of this set whose elements are greater than or equal to </a:t>
                      </a:r>
                      <a:r>
                        <a:rPr lang="en-US" sz="1400" dirty="0" err="1"/>
                        <a:t>fromElement</a:t>
                      </a:r>
                      <a:r>
                        <a:rPr lang="en-US" sz="1400" dirty="0"/>
                        <a:t>.</a:t>
                      </a:r>
                    </a:p>
                  </a:txBody>
                  <a:tcPr marL="91443" marR="91443"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518129">
                <a:tc>
                  <a:txBody>
                    <a:bodyPr/>
                    <a:lstStyle/>
                    <a:p>
                      <a:r>
                        <a:rPr lang="en-US" sz="1400" b="1" dirty="0"/>
                        <a:t>E lower(E e) </a:t>
                      </a:r>
                      <a:r>
                        <a:rPr lang="en-US" sz="1400" dirty="0"/>
                        <a:t>Returns the greatest element in this set strictly less than the given element, or null if there is no such element.</a:t>
                      </a:r>
                    </a:p>
                  </a:txBody>
                  <a:tcPr marL="91443" marR="91443"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7"/>
                  </a:ext>
                </a:extLst>
              </a:tr>
              <a:tr h="518129">
                <a:tc>
                  <a:txBody>
                    <a:bodyPr/>
                    <a:lstStyle/>
                    <a:p>
                      <a:r>
                        <a:rPr lang="en-US" sz="1400" b="1" dirty="0"/>
                        <a:t>E higher(E e) </a:t>
                      </a:r>
                      <a:r>
                        <a:rPr lang="en-US" sz="1400" dirty="0"/>
                        <a:t>Returns the least element in this set strictly greater than the given element, or null if there is no such element.</a:t>
                      </a:r>
                    </a:p>
                  </a:txBody>
                  <a:tcPr marL="91443" marR="91443"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8"/>
                  </a:ext>
                </a:extLst>
              </a:tr>
              <a:tr h="370750">
                <a:tc>
                  <a:txBody>
                    <a:bodyPr/>
                    <a:lstStyle/>
                    <a:p>
                      <a:r>
                        <a:rPr lang="en-US" sz="1400" b="1" dirty="0"/>
                        <a:t>E </a:t>
                      </a:r>
                      <a:r>
                        <a:rPr lang="en-US" sz="1400" b="1" dirty="0" err="1"/>
                        <a:t>pollFirst</a:t>
                      </a:r>
                      <a:r>
                        <a:rPr lang="en-US" sz="1400" b="1" dirty="0"/>
                        <a:t>() </a:t>
                      </a:r>
                      <a:r>
                        <a:rPr lang="en-US" sz="1400" dirty="0"/>
                        <a:t>Retrieves and removes the first (lowest) element or returns null if this set is empty.</a:t>
                      </a:r>
                    </a:p>
                  </a:txBody>
                  <a:tcPr marL="91443" marR="91443"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370750">
                <a:tc>
                  <a:txBody>
                    <a:bodyPr/>
                    <a:lstStyle/>
                    <a:p>
                      <a:r>
                        <a:rPr lang="en-US" sz="1400" b="1" dirty="0"/>
                        <a:t>E </a:t>
                      </a:r>
                      <a:r>
                        <a:rPr lang="en-US" sz="1400" b="1" dirty="0" err="1"/>
                        <a:t>pollLast</a:t>
                      </a:r>
                      <a:r>
                        <a:rPr lang="en-US" sz="1400" b="1" dirty="0"/>
                        <a:t>() </a:t>
                      </a:r>
                      <a:r>
                        <a:rPr lang="en-US" sz="1400" dirty="0"/>
                        <a:t>Retrieves and removes the last (highest) element or returns null if this set is empty.</a:t>
                      </a:r>
                    </a:p>
                  </a:txBody>
                  <a:tcPr marL="91443" marR="91443"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21533" name="Slide Number Placeholder 3">
            <a:extLst>
              <a:ext uri="{FF2B5EF4-FFF2-40B4-BE49-F238E27FC236}">
                <a16:creationId xmlns:a16="http://schemas.microsoft.com/office/drawing/2014/main" id="{684CA1F2-B342-4E57-8F2A-ADA8F08B9001}"/>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4C98FE1-C62D-4EB8-8CB7-732ADC281F74}" type="slidenum">
              <a:rPr lang="en-US" altLang="en-US" sz="1400" smtClean="0"/>
              <a:pPr>
                <a:spcBef>
                  <a:spcPct val="0"/>
                </a:spcBef>
                <a:buClrTx/>
                <a:buSzTx/>
                <a:buFontTx/>
                <a:buNone/>
              </a:pPr>
              <a:t>18</a:t>
            </a:fld>
            <a:endParaRPr lang="en-US" altLang="en-US"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EDCB071-BE7D-476D-85A7-E77A1BA2713B}"/>
              </a:ext>
            </a:extLst>
          </p:cNvPr>
          <p:cNvSpPr>
            <a:spLocks noGrp="1" noChangeArrowheads="1"/>
          </p:cNvSpPr>
          <p:nvPr>
            <p:ph type="title"/>
          </p:nvPr>
        </p:nvSpPr>
        <p:spPr>
          <a:xfrm>
            <a:off x="685800" y="228600"/>
            <a:ext cx="7924800" cy="1143000"/>
          </a:xfrm>
        </p:spPr>
        <p:txBody>
          <a:bodyPr/>
          <a:lstStyle/>
          <a:p>
            <a:pPr eaLnBrk="1" hangingPunct="1"/>
            <a:r>
              <a:rPr lang="en-US" altLang="en-US">
                <a:cs typeface="Times New Roman" panose="02020603050405020304" pitchFamily="18" charset="0"/>
              </a:rPr>
              <a:t>Example: Using TreeSet to Sort Elements in a Set</a:t>
            </a:r>
          </a:p>
        </p:txBody>
      </p:sp>
      <p:sp>
        <p:nvSpPr>
          <p:cNvPr id="22531" name="Rectangle 4">
            <a:extLst>
              <a:ext uri="{FF2B5EF4-FFF2-40B4-BE49-F238E27FC236}">
                <a16:creationId xmlns:a16="http://schemas.microsoft.com/office/drawing/2014/main" id="{D0DBEC88-0CCB-4EE0-B9CA-88CD6FBE5B41}"/>
              </a:ext>
            </a:extLst>
          </p:cNvPr>
          <p:cNvSpPr>
            <a:spLocks noGrp="1" noChangeArrowheads="1"/>
          </p:cNvSpPr>
          <p:nvPr>
            <p:ph idx="1"/>
          </p:nvPr>
        </p:nvSpPr>
        <p:spPr>
          <a:xfrm>
            <a:off x="381000" y="1600200"/>
            <a:ext cx="8229600" cy="3970338"/>
          </a:xfrm>
        </p:spPr>
        <p:txBody>
          <a:bodyPr/>
          <a:lstStyle/>
          <a:p>
            <a:pPr eaLnBrk="1" hangingPunct="1">
              <a:lnSpc>
                <a:spcPct val="90000"/>
              </a:lnSpc>
              <a:buFont typeface="Wingdings" panose="05000000000000000000" pitchFamily="2" charset="2"/>
              <a:buChar char="§"/>
            </a:pPr>
            <a:r>
              <a:rPr lang="en-US" altLang="en-US" sz="2800">
                <a:cs typeface="Times New Roman" panose="02020603050405020304" pitchFamily="18" charset="0"/>
              </a:rPr>
              <a:t>The example on the next page creates a hash set filled with strings, and then creates a tree set for the same strings. </a:t>
            </a:r>
          </a:p>
          <a:p>
            <a:pPr eaLnBrk="1" hangingPunct="1">
              <a:lnSpc>
                <a:spcPct val="90000"/>
              </a:lnSpc>
              <a:buFont typeface="Wingdings" panose="05000000000000000000" pitchFamily="2" charset="2"/>
              <a:buChar char="§"/>
            </a:pPr>
            <a:r>
              <a:rPr lang="en-US" altLang="en-US" sz="2800">
                <a:cs typeface="Times New Roman" panose="02020603050405020304" pitchFamily="18" charset="0"/>
              </a:rPr>
              <a:t>The strings are sorted in the tree set using the compareTo method in the Comparable interface. </a:t>
            </a:r>
          </a:p>
          <a:p>
            <a:pPr eaLnBrk="1" hangingPunct="1">
              <a:lnSpc>
                <a:spcPct val="90000"/>
              </a:lnSpc>
              <a:buFont typeface="Wingdings" panose="05000000000000000000" pitchFamily="2" charset="2"/>
              <a:buChar char="§"/>
            </a:pPr>
            <a:r>
              <a:rPr lang="en-US" altLang="en-US" sz="2800">
                <a:cs typeface="Times New Roman" panose="02020603050405020304" pitchFamily="18" charset="0"/>
              </a:rPr>
              <a:t>The example also creates a tree set of geometric objects.</a:t>
            </a:r>
          </a:p>
          <a:p>
            <a:pPr eaLnBrk="1" hangingPunct="1">
              <a:lnSpc>
                <a:spcPct val="90000"/>
              </a:lnSpc>
              <a:buFont typeface="Wingdings" panose="05000000000000000000" pitchFamily="2" charset="2"/>
              <a:buChar char="§"/>
            </a:pPr>
            <a:r>
              <a:rPr lang="en-US" altLang="en-US" sz="2800">
                <a:cs typeface="Times New Roman" panose="02020603050405020304" pitchFamily="18" charset="0"/>
              </a:rPr>
              <a:t>The geometric objects are sorted using the compare method in the Comparator interface. </a:t>
            </a:r>
          </a:p>
        </p:txBody>
      </p:sp>
      <p:sp>
        <p:nvSpPr>
          <p:cNvPr id="22532" name="Slide Number Placeholder 4">
            <a:extLst>
              <a:ext uri="{FF2B5EF4-FFF2-40B4-BE49-F238E27FC236}">
                <a16:creationId xmlns:a16="http://schemas.microsoft.com/office/drawing/2014/main" id="{A72C6C04-0636-4B2F-9637-9456231BB30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60ECF70-4F71-4CE3-BCA9-1FE314885CBC}" type="slidenum">
              <a:rPr lang="en-US" altLang="en-US" sz="1400" smtClean="0"/>
              <a:pPr>
                <a:spcBef>
                  <a:spcPct val="0"/>
                </a:spcBef>
                <a:buClrTx/>
                <a:buSzTx/>
                <a:buFontTx/>
                <a:buNone/>
              </a:pPr>
              <a:t>19</a:t>
            </a:fld>
            <a:endParaRPr lang="en-US" altLang="en-US" sz="1400"/>
          </a:p>
        </p:txBody>
      </p:sp>
      <p:sp>
        <p:nvSpPr>
          <p:cNvPr id="22535" name="Rectangle 8">
            <a:hlinkClick r:id="rId2"/>
            <a:extLst>
              <a:ext uri="{FF2B5EF4-FFF2-40B4-BE49-F238E27FC236}">
                <a16:creationId xmlns:a16="http://schemas.microsoft.com/office/drawing/2014/main" id="{5CEA0F0D-5171-4D58-A422-F0C36ACD3C19}"/>
              </a:ext>
            </a:extLst>
          </p:cNvPr>
          <p:cNvSpPr>
            <a:spLocks noChangeArrowheads="1"/>
          </p:cNvSpPr>
          <p:nvPr/>
        </p:nvSpPr>
        <p:spPr bwMode="auto">
          <a:xfrm>
            <a:off x="6692900" y="5794375"/>
            <a:ext cx="17954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TestTreeSet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9398613-72E2-4EF9-9D94-4348E30748DE}"/>
              </a:ext>
            </a:extLst>
          </p:cNvPr>
          <p:cNvSpPr>
            <a:spLocks noGrp="1" noChangeArrowheads="1"/>
          </p:cNvSpPr>
          <p:nvPr>
            <p:ph type="title"/>
          </p:nvPr>
        </p:nvSpPr>
        <p:spPr>
          <a:xfrm>
            <a:off x="609600" y="0"/>
            <a:ext cx="7924800" cy="1143000"/>
          </a:xfrm>
          <a:noFill/>
        </p:spPr>
        <p:txBody>
          <a:bodyPr/>
          <a:lstStyle/>
          <a:p>
            <a:pPr eaLnBrk="1" hangingPunct="1"/>
            <a:r>
              <a:rPr lang="en-US" altLang="en-US">
                <a:cs typeface="Times New Roman" panose="02020603050405020304" pitchFamily="18" charset="0"/>
              </a:rPr>
              <a:t>Example: Using TreeSet to Sort Elements in a Set</a:t>
            </a:r>
          </a:p>
        </p:txBody>
      </p:sp>
      <p:sp>
        <p:nvSpPr>
          <p:cNvPr id="23555" name="Rectangle 4">
            <a:extLst>
              <a:ext uri="{FF2B5EF4-FFF2-40B4-BE49-F238E27FC236}">
                <a16:creationId xmlns:a16="http://schemas.microsoft.com/office/drawing/2014/main" id="{6C62D391-94B7-46EA-B440-CFD76F5F3804}"/>
              </a:ext>
            </a:extLst>
          </p:cNvPr>
          <p:cNvSpPr>
            <a:spLocks noGrp="1" noChangeArrowheads="1"/>
          </p:cNvSpPr>
          <p:nvPr>
            <p:ph idx="1"/>
          </p:nvPr>
        </p:nvSpPr>
        <p:spPr>
          <a:xfrm>
            <a:off x="228600" y="1295400"/>
            <a:ext cx="4343400" cy="4953000"/>
          </a:xfrm>
          <a:ln>
            <a:solidFill>
              <a:schemeClr val="tx1"/>
            </a:solidFill>
            <a:miter lim="800000"/>
            <a:headEnd/>
            <a:tailEnd/>
          </a:ln>
        </p:spPr>
        <p:txBody>
          <a:bodyPr/>
          <a:lstStyle/>
          <a:p>
            <a:pPr marL="0" indent="0" eaLnBrk="1" hangingPunct="1">
              <a:lnSpc>
                <a:spcPct val="90000"/>
              </a:lnSpc>
              <a:buFont typeface="Monotype Sorts"/>
              <a:buNone/>
            </a:pPr>
            <a:r>
              <a:rPr lang="en-US" altLang="en-US" sz="1200" b="1" dirty="0">
                <a:cs typeface="Times New Roman" panose="02020603050405020304" pitchFamily="18" charset="0"/>
              </a:rPr>
              <a:t>public class </a:t>
            </a:r>
            <a:r>
              <a:rPr lang="en-US" altLang="en-US" sz="1200" b="1" dirty="0" err="1">
                <a:cs typeface="Times New Roman" panose="02020603050405020304" pitchFamily="18" charset="0"/>
              </a:rPr>
              <a:t>TestTreeSet</a:t>
            </a:r>
            <a:r>
              <a:rPr lang="en-US" altLang="en-US" sz="1200" b="1" dirty="0">
                <a:cs typeface="Times New Roman" panose="02020603050405020304" pitchFamily="18" charset="0"/>
              </a:rPr>
              <a:t> {</a:t>
            </a:r>
          </a:p>
          <a:p>
            <a:pPr marL="0" indent="0" eaLnBrk="1" hangingPunct="1">
              <a:lnSpc>
                <a:spcPct val="90000"/>
              </a:lnSpc>
              <a:buFont typeface="Monotype Sorts"/>
              <a:buNone/>
            </a:pPr>
            <a:r>
              <a:rPr lang="en-US" altLang="en-US" sz="1200" b="1" dirty="0">
                <a:cs typeface="Times New Roman" panose="02020603050405020304" pitchFamily="18" charset="0"/>
              </a:rPr>
              <a:t>  public static void main(String[] </a:t>
            </a:r>
            <a:r>
              <a:rPr lang="en-US" altLang="en-US" sz="1200" b="1" dirty="0" err="1">
                <a:cs typeface="Times New Roman" panose="02020603050405020304" pitchFamily="18" charset="0"/>
              </a:rPr>
              <a:t>args</a:t>
            </a:r>
            <a:r>
              <a:rPr lang="en-US" altLang="en-US" sz="1200" b="1" dirty="0">
                <a:cs typeface="Times New Roman" panose="02020603050405020304" pitchFamily="18" charset="0"/>
              </a:rPr>
              <a:t>) {</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i="1" dirty="0">
                <a:cs typeface="Times New Roman" panose="02020603050405020304" pitchFamily="18" charset="0"/>
              </a:rPr>
              <a:t>// Create a hash set</a:t>
            </a:r>
          </a:p>
          <a:p>
            <a:pPr marL="0" indent="0" eaLnBrk="1" hangingPunct="1">
              <a:lnSpc>
                <a:spcPct val="90000"/>
              </a:lnSpc>
              <a:buFont typeface="Monotype Sorts"/>
              <a:buNone/>
            </a:pPr>
            <a:r>
              <a:rPr lang="en-US" altLang="en-US" sz="1200" b="1" dirty="0">
                <a:cs typeface="Times New Roman" panose="02020603050405020304" pitchFamily="18" charset="0"/>
              </a:rPr>
              <a:t>      Set&lt;String&gt; set = new HashSet&lt;&gt;();</a:t>
            </a:r>
          </a:p>
          <a:p>
            <a:pPr marL="0" indent="0" eaLnBrk="1" hangingPunct="1">
              <a:lnSpc>
                <a:spcPct val="90000"/>
              </a:lnSpc>
              <a:buFont typeface="Monotype Sorts"/>
              <a:buNone/>
            </a:pPr>
            <a:endParaRPr lang="en-US" altLang="en-US" sz="1200" b="1" dirty="0">
              <a:cs typeface="Times New Roman" panose="02020603050405020304" pitchFamily="18" charset="0"/>
            </a:endParaRP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i="1" dirty="0">
                <a:cs typeface="Times New Roman" panose="02020603050405020304" pitchFamily="18" charset="0"/>
              </a:rPr>
              <a:t>// Add strings to the set</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set.add</a:t>
            </a:r>
            <a:r>
              <a:rPr lang="en-US" altLang="en-US" sz="1200" b="1" dirty="0">
                <a:cs typeface="Times New Roman" panose="02020603050405020304" pitchFamily="18" charset="0"/>
              </a:rPr>
              <a:t>("London");</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set.add</a:t>
            </a:r>
            <a:r>
              <a:rPr lang="en-US" altLang="en-US" sz="1200" b="1" dirty="0">
                <a:cs typeface="Times New Roman" panose="02020603050405020304" pitchFamily="18" charset="0"/>
              </a:rPr>
              <a:t>("Paris");</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set.add</a:t>
            </a:r>
            <a:r>
              <a:rPr lang="en-US" altLang="en-US" sz="1200" b="1" dirty="0">
                <a:cs typeface="Times New Roman" panose="02020603050405020304" pitchFamily="18" charset="0"/>
              </a:rPr>
              <a:t>("New York");</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set.add</a:t>
            </a:r>
            <a:r>
              <a:rPr lang="en-US" altLang="en-US" sz="1200" b="1" dirty="0">
                <a:cs typeface="Times New Roman" panose="02020603050405020304" pitchFamily="18" charset="0"/>
              </a:rPr>
              <a:t>("San Francisco");</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set.add</a:t>
            </a:r>
            <a:r>
              <a:rPr lang="en-US" altLang="en-US" sz="1200" b="1" dirty="0">
                <a:cs typeface="Times New Roman" panose="02020603050405020304" pitchFamily="18" charset="0"/>
              </a:rPr>
              <a:t>("Beijing");</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set.add</a:t>
            </a:r>
            <a:r>
              <a:rPr lang="en-US" altLang="en-US" sz="1200" b="1" dirty="0">
                <a:cs typeface="Times New Roman" panose="02020603050405020304" pitchFamily="18" charset="0"/>
              </a:rPr>
              <a:t>("New York");</a:t>
            </a:r>
          </a:p>
          <a:p>
            <a:pPr marL="0" indent="0" eaLnBrk="1" hangingPunct="1">
              <a:lnSpc>
                <a:spcPct val="90000"/>
              </a:lnSpc>
              <a:buFont typeface="Monotype Sorts"/>
              <a:buNone/>
            </a:pPr>
            <a:endParaRPr lang="en-US" altLang="en-US" sz="1200" b="1" dirty="0">
              <a:cs typeface="Times New Roman" panose="02020603050405020304" pitchFamily="18" charset="0"/>
            </a:endParaRP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i="1" dirty="0">
                <a:cs typeface="Times New Roman" panose="02020603050405020304" pitchFamily="18" charset="0"/>
              </a:rPr>
              <a:t>// Create a tree set from the hash set</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TreeSet</a:t>
            </a:r>
            <a:r>
              <a:rPr lang="en-US" altLang="en-US" sz="1200" b="1" dirty="0">
                <a:cs typeface="Times New Roman" panose="02020603050405020304" pitchFamily="18" charset="0"/>
              </a:rPr>
              <a:t>&lt;String&gt; </a:t>
            </a:r>
            <a:r>
              <a:rPr lang="en-US" altLang="en-US" sz="1200" b="1" dirty="0" err="1">
                <a:cs typeface="Times New Roman" panose="02020603050405020304" pitchFamily="18" charset="0"/>
              </a:rPr>
              <a:t>treeSet</a:t>
            </a:r>
            <a:r>
              <a:rPr lang="en-US" altLang="en-US" sz="1200" b="1" dirty="0">
                <a:cs typeface="Times New Roman" panose="02020603050405020304" pitchFamily="18" charset="0"/>
              </a:rPr>
              <a:t> = new </a:t>
            </a:r>
            <a:r>
              <a:rPr lang="en-US" altLang="en-US" sz="1200" b="1" dirty="0" err="1">
                <a:cs typeface="Times New Roman" panose="02020603050405020304" pitchFamily="18" charset="0"/>
              </a:rPr>
              <a:t>TreeSet</a:t>
            </a:r>
            <a:r>
              <a:rPr lang="en-US" altLang="en-US" sz="1200" b="1" dirty="0">
                <a:cs typeface="Times New Roman" panose="02020603050405020304" pitchFamily="18" charset="0"/>
              </a:rPr>
              <a:t>&lt;&gt;(set);</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System.out.println</a:t>
            </a:r>
            <a:r>
              <a:rPr lang="en-US" altLang="en-US" sz="1200" b="1" dirty="0">
                <a:cs typeface="Times New Roman" panose="02020603050405020304" pitchFamily="18" charset="0"/>
              </a:rPr>
              <a:t>("Sorted tree set: " + </a:t>
            </a:r>
            <a:r>
              <a:rPr lang="en-US" altLang="en-US" sz="1200" b="1" dirty="0" err="1">
                <a:cs typeface="Times New Roman" panose="02020603050405020304" pitchFamily="18" charset="0"/>
              </a:rPr>
              <a:t>treeSet</a:t>
            </a:r>
            <a:r>
              <a:rPr lang="en-US" altLang="en-US" sz="1200" b="1" dirty="0">
                <a:cs typeface="Times New Roman" panose="02020603050405020304" pitchFamily="18" charset="0"/>
              </a:rPr>
              <a:t>);</a:t>
            </a:r>
          </a:p>
          <a:p>
            <a:pPr marL="0" indent="0" eaLnBrk="1" hangingPunct="1">
              <a:lnSpc>
                <a:spcPct val="90000"/>
              </a:lnSpc>
              <a:buFont typeface="Monotype Sorts"/>
              <a:buNone/>
            </a:pPr>
            <a:endParaRPr lang="en-US" altLang="en-US" sz="1200" b="1" dirty="0">
              <a:cs typeface="Times New Roman" panose="02020603050405020304" pitchFamily="18" charset="0"/>
            </a:endParaRP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i="1" dirty="0">
                <a:cs typeface="Times New Roman" panose="02020603050405020304" pitchFamily="18" charset="0"/>
              </a:rPr>
              <a:t>// Use the methods in </a:t>
            </a:r>
            <a:r>
              <a:rPr lang="en-US" altLang="en-US" sz="1200" i="1" dirty="0" err="1">
                <a:cs typeface="Times New Roman" panose="02020603050405020304" pitchFamily="18" charset="0"/>
              </a:rPr>
              <a:t>SortedSet</a:t>
            </a:r>
            <a:r>
              <a:rPr lang="en-US" altLang="en-US" sz="1200" i="1" dirty="0">
                <a:cs typeface="Times New Roman" panose="02020603050405020304" pitchFamily="18" charset="0"/>
              </a:rPr>
              <a:t> interface</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System.out.println</a:t>
            </a:r>
            <a:r>
              <a:rPr lang="en-US" altLang="en-US" sz="1200" b="1" dirty="0">
                <a:cs typeface="Times New Roman" panose="02020603050405020304" pitchFamily="18" charset="0"/>
              </a:rPr>
              <a:t>("first(): " + </a:t>
            </a:r>
            <a:r>
              <a:rPr lang="en-US" altLang="en-US" sz="1200" b="1" dirty="0" err="1">
                <a:cs typeface="Times New Roman" panose="02020603050405020304" pitchFamily="18" charset="0"/>
              </a:rPr>
              <a:t>treeSet.first</a:t>
            </a:r>
            <a:r>
              <a:rPr lang="en-US" altLang="en-US" sz="1200" b="1" dirty="0">
                <a:cs typeface="Times New Roman" panose="02020603050405020304" pitchFamily="18" charset="0"/>
              </a:rPr>
              <a:t>());</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System.out.println</a:t>
            </a:r>
            <a:r>
              <a:rPr lang="en-US" altLang="en-US" sz="1200" b="1" dirty="0">
                <a:cs typeface="Times New Roman" panose="02020603050405020304" pitchFamily="18" charset="0"/>
              </a:rPr>
              <a:t>("last(): " + </a:t>
            </a:r>
            <a:r>
              <a:rPr lang="en-US" altLang="en-US" sz="1200" b="1" dirty="0" err="1">
                <a:cs typeface="Times New Roman" panose="02020603050405020304" pitchFamily="18" charset="0"/>
              </a:rPr>
              <a:t>treeSet.last</a:t>
            </a:r>
            <a:r>
              <a:rPr lang="en-US" altLang="en-US" sz="1200" b="1" dirty="0">
                <a:cs typeface="Times New Roman" panose="02020603050405020304" pitchFamily="18" charset="0"/>
              </a:rPr>
              <a:t>());</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System.out.println</a:t>
            </a:r>
            <a:r>
              <a:rPr lang="en-US" altLang="en-US" sz="1200" b="1" dirty="0">
                <a:cs typeface="Times New Roman" panose="02020603050405020304" pitchFamily="18" charset="0"/>
              </a:rPr>
              <a:t>("</a:t>
            </a:r>
            <a:r>
              <a:rPr lang="en-US" altLang="en-US" sz="1200" b="1" dirty="0" err="1">
                <a:cs typeface="Times New Roman" panose="02020603050405020304" pitchFamily="18" charset="0"/>
              </a:rPr>
              <a:t>headSet</a:t>
            </a:r>
            <a:r>
              <a:rPr lang="en-US" altLang="en-US" sz="1200" b="1" dirty="0">
                <a:cs typeface="Times New Roman" panose="02020603050405020304" pitchFamily="18" charset="0"/>
              </a:rPr>
              <a:t>(\"New York\"): " + </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treeSet.headSet</a:t>
            </a:r>
            <a:r>
              <a:rPr lang="en-US" altLang="en-US" sz="1200" b="1" dirty="0">
                <a:cs typeface="Times New Roman" panose="02020603050405020304" pitchFamily="18" charset="0"/>
              </a:rPr>
              <a:t>("New York"));</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System.out.println</a:t>
            </a:r>
            <a:r>
              <a:rPr lang="en-US" altLang="en-US" sz="1200" b="1" dirty="0">
                <a:cs typeface="Times New Roman" panose="02020603050405020304" pitchFamily="18" charset="0"/>
              </a:rPr>
              <a:t>("</a:t>
            </a:r>
            <a:r>
              <a:rPr lang="en-US" altLang="en-US" sz="1200" b="1" dirty="0" err="1">
                <a:cs typeface="Times New Roman" panose="02020603050405020304" pitchFamily="18" charset="0"/>
              </a:rPr>
              <a:t>tailSet</a:t>
            </a:r>
            <a:r>
              <a:rPr lang="en-US" altLang="en-US" sz="1200" b="1" dirty="0">
                <a:cs typeface="Times New Roman" panose="02020603050405020304" pitchFamily="18" charset="0"/>
              </a:rPr>
              <a:t>(\"New York\"): " + </a:t>
            </a:r>
          </a:p>
          <a:p>
            <a:pPr marL="0" indent="0"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treeSet.tailSet</a:t>
            </a:r>
            <a:r>
              <a:rPr lang="en-US" altLang="en-US" sz="1200" b="1" dirty="0">
                <a:cs typeface="Times New Roman" panose="02020603050405020304" pitchFamily="18" charset="0"/>
              </a:rPr>
              <a:t>("New York"));</a:t>
            </a:r>
          </a:p>
          <a:p>
            <a:pPr marL="0" indent="0" eaLnBrk="1" hangingPunct="1">
              <a:lnSpc>
                <a:spcPct val="90000"/>
              </a:lnSpc>
              <a:buFont typeface="Monotype Sorts"/>
              <a:buNone/>
            </a:pPr>
            <a:endParaRPr lang="en-US" altLang="en-US" sz="1200" dirty="0">
              <a:cs typeface="Times New Roman" panose="02020603050405020304" pitchFamily="18" charset="0"/>
            </a:endParaRPr>
          </a:p>
        </p:txBody>
      </p:sp>
      <p:sp>
        <p:nvSpPr>
          <p:cNvPr id="23556" name="Slide Number Placeholder 4">
            <a:extLst>
              <a:ext uri="{FF2B5EF4-FFF2-40B4-BE49-F238E27FC236}">
                <a16:creationId xmlns:a16="http://schemas.microsoft.com/office/drawing/2014/main" id="{85F459A4-B3C4-4136-8FB5-0FC72A3F5DE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B87F8A8-5768-4834-904B-3812FD8FE3F6}" type="slidenum">
              <a:rPr lang="en-US" altLang="en-US" sz="1400" smtClean="0"/>
              <a:pPr>
                <a:spcBef>
                  <a:spcPct val="0"/>
                </a:spcBef>
                <a:buClrTx/>
                <a:buSzTx/>
                <a:buFontTx/>
                <a:buNone/>
              </a:pPr>
              <a:t>20</a:t>
            </a:fld>
            <a:endParaRPr lang="en-US" altLang="en-US" sz="1400"/>
          </a:p>
        </p:txBody>
      </p:sp>
      <p:sp>
        <p:nvSpPr>
          <p:cNvPr id="23557" name="Rectangle 4">
            <a:extLst>
              <a:ext uri="{FF2B5EF4-FFF2-40B4-BE49-F238E27FC236}">
                <a16:creationId xmlns:a16="http://schemas.microsoft.com/office/drawing/2014/main" id="{CE485745-D40D-4349-BA0C-3DC22B2919FC}"/>
              </a:ext>
            </a:extLst>
          </p:cNvPr>
          <p:cNvSpPr txBox="1">
            <a:spLocks noChangeArrowheads="1"/>
          </p:cNvSpPr>
          <p:nvPr/>
        </p:nvSpPr>
        <p:spPr bwMode="auto">
          <a:xfrm>
            <a:off x="4572000" y="1295400"/>
            <a:ext cx="4495800" cy="4953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lnSpc>
                <a:spcPct val="90000"/>
              </a:lnSpc>
              <a:buFont typeface="Monotype Sorts"/>
              <a:buNone/>
            </a:pPr>
            <a:endParaRPr lang="en-US" altLang="en-US" sz="1200" dirty="0">
              <a:cs typeface="Times New Roman" panose="02020603050405020304" pitchFamily="18" charset="0"/>
            </a:endParaRPr>
          </a:p>
          <a:p>
            <a:pPr eaLnBrk="1" hangingPunct="1">
              <a:lnSpc>
                <a:spcPct val="90000"/>
              </a:lnSpc>
              <a:buFont typeface="Monotype Sorts"/>
              <a:buNone/>
            </a:pPr>
            <a:r>
              <a:rPr lang="en-US" altLang="en-US" sz="1200" dirty="0">
                <a:cs typeface="Times New Roman" panose="02020603050405020304" pitchFamily="18" charset="0"/>
              </a:rPr>
              <a:t>      </a:t>
            </a:r>
            <a:r>
              <a:rPr lang="en-US" altLang="en-US" sz="1200" i="1" dirty="0">
                <a:cs typeface="Times New Roman" panose="02020603050405020304" pitchFamily="18" charset="0"/>
              </a:rPr>
              <a:t>// Use the methods in </a:t>
            </a:r>
            <a:r>
              <a:rPr lang="en-US" altLang="en-US" sz="1200" i="1" dirty="0" err="1">
                <a:cs typeface="Times New Roman" panose="02020603050405020304" pitchFamily="18" charset="0"/>
              </a:rPr>
              <a:t>NavigableSet</a:t>
            </a:r>
            <a:r>
              <a:rPr lang="en-US" altLang="en-US" sz="1200" i="1" dirty="0">
                <a:cs typeface="Times New Roman" panose="02020603050405020304" pitchFamily="18" charset="0"/>
              </a:rPr>
              <a:t> interface</a:t>
            </a:r>
          </a:p>
          <a:p>
            <a:pPr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System.out.println</a:t>
            </a:r>
            <a:r>
              <a:rPr lang="en-US" altLang="en-US" sz="1200" b="1" dirty="0">
                <a:cs typeface="Times New Roman" panose="02020603050405020304" pitchFamily="18" charset="0"/>
              </a:rPr>
              <a:t>("lower(\"P\"): " + </a:t>
            </a:r>
            <a:r>
              <a:rPr lang="en-US" altLang="en-US" sz="1200" b="1" dirty="0" err="1">
                <a:cs typeface="Times New Roman" panose="02020603050405020304" pitchFamily="18" charset="0"/>
              </a:rPr>
              <a:t>treeSet.lower</a:t>
            </a:r>
            <a:r>
              <a:rPr lang="en-US" altLang="en-US" sz="1200" b="1" dirty="0">
                <a:cs typeface="Times New Roman" panose="02020603050405020304" pitchFamily="18" charset="0"/>
              </a:rPr>
              <a:t>("P"));</a:t>
            </a:r>
          </a:p>
          <a:p>
            <a:pPr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System.out.println</a:t>
            </a:r>
            <a:r>
              <a:rPr lang="en-US" altLang="en-US" sz="1200" b="1" dirty="0">
                <a:cs typeface="Times New Roman" panose="02020603050405020304" pitchFamily="18" charset="0"/>
              </a:rPr>
              <a:t>("higher(\"P\"): " + </a:t>
            </a:r>
            <a:r>
              <a:rPr lang="en-US" altLang="en-US" sz="1200" b="1" dirty="0" err="1">
                <a:cs typeface="Times New Roman" panose="02020603050405020304" pitchFamily="18" charset="0"/>
              </a:rPr>
              <a:t>treeSet.higher</a:t>
            </a:r>
            <a:r>
              <a:rPr lang="en-US" altLang="en-US" sz="1200" b="1" dirty="0">
                <a:cs typeface="Times New Roman" panose="02020603050405020304" pitchFamily="18" charset="0"/>
              </a:rPr>
              <a:t>("P"));</a:t>
            </a:r>
          </a:p>
          <a:p>
            <a:pPr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System.out.println</a:t>
            </a:r>
            <a:r>
              <a:rPr lang="en-US" altLang="en-US" sz="1200" b="1" dirty="0">
                <a:cs typeface="Times New Roman" panose="02020603050405020304" pitchFamily="18" charset="0"/>
              </a:rPr>
              <a:t>("floor(\"P\"): " + </a:t>
            </a:r>
            <a:r>
              <a:rPr lang="en-US" altLang="en-US" sz="1200" b="1" dirty="0" err="1">
                <a:cs typeface="Times New Roman" panose="02020603050405020304" pitchFamily="18" charset="0"/>
              </a:rPr>
              <a:t>treeSet.floor</a:t>
            </a:r>
            <a:r>
              <a:rPr lang="en-US" altLang="en-US" sz="1200" b="1" dirty="0">
                <a:cs typeface="Times New Roman" panose="02020603050405020304" pitchFamily="18" charset="0"/>
              </a:rPr>
              <a:t>("P"));</a:t>
            </a:r>
          </a:p>
          <a:p>
            <a:pPr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System.out.println</a:t>
            </a:r>
            <a:r>
              <a:rPr lang="en-US" altLang="en-US" sz="1200" b="1" dirty="0">
                <a:cs typeface="Times New Roman" panose="02020603050405020304" pitchFamily="18" charset="0"/>
              </a:rPr>
              <a:t>("ceiling(\"P\"): " + </a:t>
            </a:r>
            <a:r>
              <a:rPr lang="en-US" altLang="en-US" sz="1200" b="1" dirty="0" err="1">
                <a:cs typeface="Times New Roman" panose="02020603050405020304" pitchFamily="18" charset="0"/>
              </a:rPr>
              <a:t>treeSet.ceiling</a:t>
            </a:r>
            <a:r>
              <a:rPr lang="en-US" altLang="en-US" sz="1200" b="1" dirty="0">
                <a:cs typeface="Times New Roman" panose="02020603050405020304" pitchFamily="18" charset="0"/>
              </a:rPr>
              <a:t>("P"));</a:t>
            </a:r>
          </a:p>
          <a:p>
            <a:pPr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System.out.println</a:t>
            </a:r>
            <a:r>
              <a:rPr lang="en-US" altLang="en-US" sz="1200" b="1" dirty="0">
                <a:cs typeface="Times New Roman" panose="02020603050405020304" pitchFamily="18" charset="0"/>
              </a:rPr>
              <a:t>("</a:t>
            </a:r>
            <a:r>
              <a:rPr lang="en-US" altLang="en-US" sz="1200" b="1" dirty="0" err="1">
                <a:cs typeface="Times New Roman" panose="02020603050405020304" pitchFamily="18" charset="0"/>
              </a:rPr>
              <a:t>pollFirst</a:t>
            </a:r>
            <a:r>
              <a:rPr lang="en-US" altLang="en-US" sz="1200" b="1" dirty="0">
                <a:cs typeface="Times New Roman" panose="02020603050405020304" pitchFamily="18" charset="0"/>
              </a:rPr>
              <a:t>(): " + </a:t>
            </a:r>
            <a:r>
              <a:rPr lang="en-US" altLang="en-US" sz="1200" b="1" dirty="0" err="1">
                <a:cs typeface="Times New Roman" panose="02020603050405020304" pitchFamily="18" charset="0"/>
              </a:rPr>
              <a:t>treeSet.pollFirst</a:t>
            </a:r>
            <a:r>
              <a:rPr lang="en-US" altLang="en-US" sz="1200" b="1" dirty="0">
                <a:cs typeface="Times New Roman" panose="02020603050405020304" pitchFamily="18" charset="0"/>
              </a:rPr>
              <a:t>());</a:t>
            </a:r>
          </a:p>
          <a:p>
            <a:pPr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System.out.println</a:t>
            </a:r>
            <a:r>
              <a:rPr lang="en-US" altLang="en-US" sz="1200" b="1" dirty="0">
                <a:cs typeface="Times New Roman" panose="02020603050405020304" pitchFamily="18" charset="0"/>
              </a:rPr>
              <a:t>("</a:t>
            </a:r>
            <a:r>
              <a:rPr lang="en-US" altLang="en-US" sz="1200" b="1" dirty="0" err="1">
                <a:cs typeface="Times New Roman" panose="02020603050405020304" pitchFamily="18" charset="0"/>
              </a:rPr>
              <a:t>pollLast</a:t>
            </a:r>
            <a:r>
              <a:rPr lang="en-US" altLang="en-US" sz="1200" b="1" dirty="0">
                <a:cs typeface="Times New Roman" panose="02020603050405020304" pitchFamily="18" charset="0"/>
              </a:rPr>
              <a:t>(): " + </a:t>
            </a:r>
            <a:r>
              <a:rPr lang="en-US" altLang="en-US" sz="1200" b="1" dirty="0" err="1">
                <a:cs typeface="Times New Roman" panose="02020603050405020304" pitchFamily="18" charset="0"/>
              </a:rPr>
              <a:t>treeSet.pollLast</a:t>
            </a:r>
            <a:r>
              <a:rPr lang="en-US" altLang="en-US" sz="1200" b="1" dirty="0">
                <a:cs typeface="Times New Roman" panose="02020603050405020304" pitchFamily="18" charset="0"/>
              </a:rPr>
              <a:t>());</a:t>
            </a:r>
          </a:p>
          <a:p>
            <a:pPr eaLnBrk="1" hangingPunct="1">
              <a:lnSpc>
                <a:spcPct val="90000"/>
              </a:lnSpc>
              <a:buFont typeface="Monotype Sorts"/>
              <a:buNone/>
            </a:pPr>
            <a:r>
              <a:rPr lang="en-US" altLang="en-US" sz="1200" b="1" dirty="0">
                <a:cs typeface="Times New Roman" panose="02020603050405020304" pitchFamily="18" charset="0"/>
              </a:rPr>
              <a:t>      </a:t>
            </a:r>
            <a:r>
              <a:rPr lang="en-US" altLang="en-US" sz="1200" b="1" dirty="0" err="1">
                <a:cs typeface="Times New Roman" panose="02020603050405020304" pitchFamily="18" charset="0"/>
              </a:rPr>
              <a:t>System.out.println</a:t>
            </a:r>
            <a:r>
              <a:rPr lang="en-US" altLang="en-US" sz="1200" b="1" dirty="0">
                <a:cs typeface="Times New Roman" panose="02020603050405020304" pitchFamily="18" charset="0"/>
              </a:rPr>
              <a:t>("New tree set: " + </a:t>
            </a:r>
            <a:r>
              <a:rPr lang="en-US" altLang="en-US" sz="1200" b="1" dirty="0" err="1">
                <a:cs typeface="Times New Roman" panose="02020603050405020304" pitchFamily="18" charset="0"/>
              </a:rPr>
              <a:t>treeSet</a:t>
            </a:r>
            <a:r>
              <a:rPr lang="en-US" altLang="en-US" sz="1200" b="1" dirty="0">
                <a:cs typeface="Times New Roman" panose="02020603050405020304" pitchFamily="18" charset="0"/>
              </a:rPr>
              <a:t>);</a:t>
            </a:r>
          </a:p>
          <a:p>
            <a:pPr eaLnBrk="1" hangingPunct="1">
              <a:lnSpc>
                <a:spcPct val="90000"/>
              </a:lnSpc>
              <a:buFont typeface="Monotype Sorts"/>
              <a:buNone/>
            </a:pPr>
            <a:r>
              <a:rPr lang="en-US" altLang="en-US" sz="1200" dirty="0">
                <a:cs typeface="Times New Roman" panose="02020603050405020304" pitchFamily="18" charset="0"/>
              </a:rPr>
              <a:t>  }</a:t>
            </a:r>
          </a:p>
          <a:p>
            <a:pPr eaLnBrk="1" hangingPunct="1">
              <a:lnSpc>
                <a:spcPct val="90000"/>
              </a:lnSpc>
              <a:buFont typeface="Monotype Sorts"/>
              <a:buNone/>
            </a:pPr>
            <a:r>
              <a:rPr lang="en-US" altLang="en-US" sz="1200" dirty="0">
                <a:cs typeface="Times New Roman" panose="02020603050405020304" pitchFamily="18"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32A6234-BE6D-4A2E-8AC3-B90CF4C119C8}"/>
              </a:ext>
            </a:extLst>
          </p:cNvPr>
          <p:cNvSpPr>
            <a:spLocks noGrp="1" noChangeArrowheads="1"/>
          </p:cNvSpPr>
          <p:nvPr>
            <p:ph type="title"/>
          </p:nvPr>
        </p:nvSpPr>
        <p:spPr>
          <a:xfrm>
            <a:off x="0" y="228600"/>
            <a:ext cx="9144000" cy="1227138"/>
          </a:xfrm>
        </p:spPr>
        <p:txBody>
          <a:bodyPr/>
          <a:lstStyle/>
          <a:p>
            <a:pPr eaLnBrk="1" hangingPunct="1"/>
            <a:r>
              <a:rPr lang="en-US" altLang="en-US">
                <a:cs typeface="Times New Roman" panose="02020603050405020304" pitchFamily="18" charset="0"/>
              </a:rPr>
              <a:t>Example: The Using Comparator to Sort Elements in a Set</a:t>
            </a:r>
          </a:p>
        </p:txBody>
      </p:sp>
      <p:sp>
        <p:nvSpPr>
          <p:cNvPr id="24579" name="Rectangle 4">
            <a:extLst>
              <a:ext uri="{FF2B5EF4-FFF2-40B4-BE49-F238E27FC236}">
                <a16:creationId xmlns:a16="http://schemas.microsoft.com/office/drawing/2014/main" id="{5496540C-BCD5-49F8-9F12-98A1BB1030F6}"/>
              </a:ext>
            </a:extLst>
          </p:cNvPr>
          <p:cNvSpPr>
            <a:spLocks noGrp="1" noChangeArrowheads="1"/>
          </p:cNvSpPr>
          <p:nvPr>
            <p:ph idx="1"/>
          </p:nvPr>
        </p:nvSpPr>
        <p:spPr>
          <a:xfrm>
            <a:off x="96838" y="1633538"/>
            <a:ext cx="8382000" cy="4648200"/>
          </a:xfrm>
        </p:spPr>
        <p:txBody>
          <a:bodyPr/>
          <a:lstStyle/>
          <a:p>
            <a:pPr marL="0" indent="0" eaLnBrk="1" hangingPunct="1">
              <a:buFont typeface="Monotype Sorts"/>
              <a:buNone/>
            </a:pPr>
            <a:r>
              <a:rPr lang="en-US" altLang="en-US" sz="1400" b="1">
                <a:cs typeface="Times New Roman" panose="02020603050405020304" pitchFamily="18" charset="0"/>
              </a:rPr>
              <a:t>import java.util.*;</a:t>
            </a:r>
          </a:p>
          <a:p>
            <a:pPr marL="0" indent="0" eaLnBrk="1" hangingPunct="1">
              <a:buFont typeface="Monotype Sorts"/>
              <a:buNone/>
            </a:pPr>
            <a:endParaRPr lang="en-US" altLang="en-US" sz="1400" b="1">
              <a:cs typeface="Times New Roman" panose="02020603050405020304" pitchFamily="18" charset="0"/>
            </a:endParaRPr>
          </a:p>
          <a:p>
            <a:pPr marL="0" indent="0" eaLnBrk="1" hangingPunct="1">
              <a:buFont typeface="Monotype Sorts"/>
              <a:buNone/>
            </a:pPr>
            <a:r>
              <a:rPr lang="en-US" altLang="en-US" sz="1400" b="1">
                <a:cs typeface="Times New Roman" panose="02020603050405020304" pitchFamily="18" charset="0"/>
              </a:rPr>
              <a:t>public class TestTreeSetWithComparator {</a:t>
            </a:r>
          </a:p>
          <a:p>
            <a:pPr marL="0" indent="0" eaLnBrk="1" hangingPunct="1">
              <a:buFont typeface="Monotype Sorts"/>
              <a:buNone/>
            </a:pPr>
            <a:r>
              <a:rPr lang="en-US" altLang="en-US" sz="1400" b="1">
                <a:cs typeface="Times New Roman" panose="02020603050405020304" pitchFamily="18" charset="0"/>
              </a:rPr>
              <a:t>    public static void main(String[] args) {</a:t>
            </a:r>
          </a:p>
          <a:p>
            <a:pPr marL="0" indent="0" eaLnBrk="1" hangingPunct="1">
              <a:buFont typeface="Monotype Sorts"/>
              <a:buNone/>
            </a:pPr>
            <a:r>
              <a:rPr lang="en-US" altLang="en-US" sz="1400" b="1">
                <a:cs typeface="Times New Roman" panose="02020603050405020304" pitchFamily="18" charset="0"/>
              </a:rPr>
              <a:t>          </a:t>
            </a:r>
            <a:r>
              <a:rPr lang="en-US" altLang="en-US" sz="1400" i="1">
                <a:cs typeface="Times New Roman" panose="02020603050405020304" pitchFamily="18" charset="0"/>
              </a:rPr>
              <a:t>// Create a tree set for geometric objects using a comparator</a:t>
            </a:r>
          </a:p>
          <a:p>
            <a:pPr marL="0" indent="0" eaLnBrk="1" hangingPunct="1">
              <a:buFont typeface="Monotype Sorts"/>
              <a:buNone/>
            </a:pPr>
            <a:r>
              <a:rPr lang="en-US" altLang="en-US" sz="1400" b="1">
                <a:cs typeface="Times New Roman" panose="02020603050405020304" pitchFamily="18" charset="0"/>
              </a:rPr>
              <a:t>          Set&lt;GeometricObject&gt; set = new TreeSet&lt;&gt;(new GeometricObjectComparator());</a:t>
            </a:r>
          </a:p>
          <a:p>
            <a:pPr marL="0" indent="0" eaLnBrk="1" hangingPunct="1">
              <a:buFont typeface="Monotype Sorts"/>
              <a:buNone/>
            </a:pPr>
            <a:r>
              <a:rPr lang="en-US" altLang="en-US" sz="1400" b="1">
                <a:cs typeface="Times New Roman" panose="02020603050405020304" pitchFamily="18" charset="0"/>
              </a:rPr>
              <a:t>          set.add(new Rectangle(4, 5));</a:t>
            </a:r>
          </a:p>
          <a:p>
            <a:pPr marL="0" indent="0" eaLnBrk="1" hangingPunct="1">
              <a:buFont typeface="Monotype Sorts"/>
              <a:buNone/>
            </a:pPr>
            <a:r>
              <a:rPr lang="en-US" altLang="en-US" sz="1400" b="1">
                <a:cs typeface="Times New Roman" panose="02020603050405020304" pitchFamily="18" charset="0"/>
              </a:rPr>
              <a:t>          set.add(new Circle(40));</a:t>
            </a:r>
          </a:p>
          <a:p>
            <a:pPr marL="0" indent="0" eaLnBrk="1" hangingPunct="1">
              <a:buFont typeface="Monotype Sorts"/>
              <a:buNone/>
            </a:pPr>
            <a:r>
              <a:rPr lang="en-US" altLang="en-US" sz="1400" b="1">
                <a:cs typeface="Times New Roman" panose="02020603050405020304" pitchFamily="18" charset="0"/>
              </a:rPr>
              <a:t>          set.add(new Circle(40));</a:t>
            </a:r>
          </a:p>
          <a:p>
            <a:pPr marL="0" indent="0" eaLnBrk="1" hangingPunct="1">
              <a:buFont typeface="Monotype Sorts"/>
              <a:buNone/>
            </a:pPr>
            <a:r>
              <a:rPr lang="en-US" altLang="en-US" sz="1400" b="1">
                <a:cs typeface="Times New Roman" panose="02020603050405020304" pitchFamily="18" charset="0"/>
              </a:rPr>
              <a:t>          set.add(new Rectangle(4, 1));</a:t>
            </a:r>
          </a:p>
          <a:p>
            <a:pPr marL="0" indent="0" eaLnBrk="1" hangingPunct="1">
              <a:buFont typeface="Monotype Sorts"/>
              <a:buNone/>
            </a:pPr>
            <a:endParaRPr lang="en-US" altLang="en-US" sz="1400" b="1">
              <a:cs typeface="Times New Roman" panose="02020603050405020304" pitchFamily="18" charset="0"/>
            </a:endParaRPr>
          </a:p>
          <a:p>
            <a:pPr marL="0" indent="0" eaLnBrk="1" hangingPunct="1">
              <a:buFont typeface="Monotype Sorts"/>
              <a:buNone/>
            </a:pPr>
            <a:r>
              <a:rPr lang="en-US" altLang="en-US" sz="1400" b="1">
                <a:cs typeface="Times New Roman" panose="02020603050405020304" pitchFamily="18" charset="0"/>
              </a:rPr>
              <a:t>          </a:t>
            </a:r>
            <a:r>
              <a:rPr lang="en-US" altLang="en-US" sz="1400" i="1">
                <a:cs typeface="Times New Roman" panose="02020603050405020304" pitchFamily="18" charset="0"/>
              </a:rPr>
              <a:t>// Display geometric objects in the tree set</a:t>
            </a:r>
          </a:p>
          <a:p>
            <a:pPr marL="0" indent="0" eaLnBrk="1" hangingPunct="1">
              <a:buFont typeface="Monotype Sorts"/>
              <a:buNone/>
            </a:pPr>
            <a:r>
              <a:rPr lang="en-US" altLang="en-US" sz="1400" b="1">
                <a:cs typeface="Times New Roman" panose="02020603050405020304" pitchFamily="18" charset="0"/>
              </a:rPr>
              <a:t>          System.out.println("A sorted set of geometric objects");</a:t>
            </a:r>
          </a:p>
          <a:p>
            <a:pPr marL="0" indent="0" eaLnBrk="1" hangingPunct="1">
              <a:buFont typeface="Monotype Sorts"/>
              <a:buNone/>
            </a:pPr>
            <a:r>
              <a:rPr lang="en-US" altLang="en-US" sz="1400" b="1">
                <a:cs typeface="Times New Roman" panose="02020603050405020304" pitchFamily="18" charset="0"/>
              </a:rPr>
              <a:t>          for (GeometricObject element: set)</a:t>
            </a:r>
          </a:p>
          <a:p>
            <a:pPr marL="0" indent="0" eaLnBrk="1" hangingPunct="1">
              <a:buFont typeface="Monotype Sorts"/>
              <a:buNone/>
            </a:pPr>
            <a:r>
              <a:rPr lang="en-US" altLang="en-US" sz="1400" b="1">
                <a:cs typeface="Times New Roman" panose="02020603050405020304" pitchFamily="18" charset="0"/>
              </a:rPr>
              <a:t>                System.out.println("area = " + element.getArea());</a:t>
            </a:r>
          </a:p>
          <a:p>
            <a:pPr marL="0" indent="0" eaLnBrk="1" hangingPunct="1">
              <a:buFont typeface="Monotype Sorts"/>
              <a:buNone/>
            </a:pPr>
            <a:r>
              <a:rPr lang="en-US" altLang="en-US" sz="1400" b="1">
                <a:cs typeface="Times New Roman" panose="02020603050405020304" pitchFamily="18" charset="0"/>
              </a:rPr>
              <a:t>    }</a:t>
            </a:r>
          </a:p>
          <a:p>
            <a:pPr marL="0" indent="0" eaLnBrk="1" hangingPunct="1">
              <a:buFont typeface="Monotype Sorts"/>
              <a:buNone/>
            </a:pPr>
            <a:r>
              <a:rPr lang="en-US" altLang="en-US" sz="1400" b="1">
                <a:cs typeface="Times New Roman" panose="02020603050405020304" pitchFamily="18" charset="0"/>
              </a:rPr>
              <a:t>}</a:t>
            </a:r>
          </a:p>
        </p:txBody>
      </p:sp>
      <p:sp>
        <p:nvSpPr>
          <p:cNvPr id="24580" name="Slide Number Placeholder 4">
            <a:extLst>
              <a:ext uri="{FF2B5EF4-FFF2-40B4-BE49-F238E27FC236}">
                <a16:creationId xmlns:a16="http://schemas.microsoft.com/office/drawing/2014/main" id="{487480B0-E031-45AA-86C0-E1AEF07B9A2C}"/>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3E223BF-AC10-4D39-AC6C-D52A3E7BC0EB}" type="slidenum">
              <a:rPr lang="en-US" altLang="en-US" sz="1400" smtClean="0"/>
              <a:pPr>
                <a:spcBef>
                  <a:spcPct val="0"/>
                </a:spcBef>
                <a:buClrTx/>
                <a:buSzTx/>
                <a:buFontTx/>
                <a:buNone/>
              </a:pPr>
              <a:t>21</a:t>
            </a:fld>
            <a:endParaRPr lang="en-US" altLang="en-US" sz="1400"/>
          </a:p>
        </p:txBody>
      </p:sp>
      <p:sp>
        <p:nvSpPr>
          <p:cNvPr id="24584" name="Rectangle 4">
            <a:extLst>
              <a:ext uri="{FF2B5EF4-FFF2-40B4-BE49-F238E27FC236}">
                <a16:creationId xmlns:a16="http://schemas.microsoft.com/office/drawing/2014/main" id="{D01D0160-29FA-4364-BA9A-463FE58E5FE9}"/>
              </a:ext>
            </a:extLst>
          </p:cNvPr>
          <p:cNvSpPr txBox="1">
            <a:spLocks noChangeArrowheads="1"/>
          </p:cNvSpPr>
          <p:nvPr/>
        </p:nvSpPr>
        <p:spPr bwMode="auto">
          <a:xfrm>
            <a:off x="6534150" y="3341688"/>
            <a:ext cx="2387600" cy="20812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buFont typeface="Monotype Sorts"/>
              <a:buNone/>
            </a:pPr>
            <a:r>
              <a:rPr lang="en-US" altLang="en-US" sz="1400">
                <a:cs typeface="Times New Roman" panose="02020603050405020304" pitchFamily="18" charset="0"/>
              </a:rPr>
              <a:t>This program demonstrates how to sort elements in a tree set using the Comparator interface. The example creates a tree set of geometric objects. The geometric objects are sorted using the compare method in the Comparator interface. </a:t>
            </a:r>
          </a:p>
        </p:txBody>
      </p:sp>
      <p:sp>
        <p:nvSpPr>
          <p:cNvPr id="24585" name="Rectangle 8">
            <a:hlinkClick r:id="rId2"/>
            <a:extLst>
              <a:ext uri="{FF2B5EF4-FFF2-40B4-BE49-F238E27FC236}">
                <a16:creationId xmlns:a16="http://schemas.microsoft.com/office/drawing/2014/main" id="{467938B0-04FC-400F-AE68-924FF7E11BAF}"/>
              </a:ext>
            </a:extLst>
          </p:cNvPr>
          <p:cNvSpPr>
            <a:spLocks noChangeArrowheads="1"/>
          </p:cNvSpPr>
          <p:nvPr/>
        </p:nvSpPr>
        <p:spPr bwMode="auto">
          <a:xfrm>
            <a:off x="6119813" y="5981700"/>
            <a:ext cx="28194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TestTreeSetWithComparator</a:t>
            </a:r>
            <a:endParaRPr lang="en-US" alt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3F2FC29-F248-4F45-827F-7318BD380C33}"/>
              </a:ext>
            </a:extLst>
          </p:cNvPr>
          <p:cNvSpPr>
            <a:spLocks noGrp="1" noChangeArrowheads="1"/>
          </p:cNvSpPr>
          <p:nvPr>
            <p:ph type="title"/>
          </p:nvPr>
        </p:nvSpPr>
        <p:spPr>
          <a:xfrm>
            <a:off x="304800" y="228600"/>
            <a:ext cx="8839200" cy="685800"/>
          </a:xfrm>
          <a:noFill/>
        </p:spPr>
        <p:txBody>
          <a:bodyPr/>
          <a:lstStyle/>
          <a:p>
            <a:pPr eaLnBrk="1" hangingPunct="1"/>
            <a:r>
              <a:rPr lang="en-US" altLang="en-US">
                <a:cs typeface="Times New Roman" panose="02020603050405020304" pitchFamily="18" charset="0"/>
              </a:rPr>
              <a:t>Case Study: Counting Keywords</a:t>
            </a:r>
          </a:p>
        </p:txBody>
      </p:sp>
      <p:sp>
        <p:nvSpPr>
          <p:cNvPr id="25603" name="Rectangle 11">
            <a:extLst>
              <a:ext uri="{FF2B5EF4-FFF2-40B4-BE49-F238E27FC236}">
                <a16:creationId xmlns:a16="http://schemas.microsoft.com/office/drawing/2014/main" id="{59B97156-F3D3-4DEA-9095-4A08FA998462}"/>
              </a:ext>
            </a:extLst>
          </p:cNvPr>
          <p:cNvSpPr>
            <a:spLocks noGrp="1" noChangeArrowheads="1"/>
          </p:cNvSpPr>
          <p:nvPr>
            <p:ph idx="1"/>
          </p:nvPr>
        </p:nvSpPr>
        <p:spPr>
          <a:xfrm>
            <a:off x="381000" y="1524000"/>
            <a:ext cx="8382000" cy="2438400"/>
          </a:xfrm>
        </p:spPr>
        <p:txBody>
          <a:bodyPr/>
          <a:lstStyle/>
          <a:p>
            <a:pPr marL="0" indent="0" eaLnBrk="1" hangingPunct="1">
              <a:buFont typeface="Monotype Sorts"/>
              <a:buNone/>
            </a:pPr>
            <a:r>
              <a:rPr lang="en-US" altLang="en-US"/>
              <a:t>The example on the next page presents an application that counts the number of the keywords in a Java source code file.</a:t>
            </a:r>
          </a:p>
        </p:txBody>
      </p:sp>
      <p:sp>
        <p:nvSpPr>
          <p:cNvPr id="25604" name="Slide Number Placeholder 4">
            <a:extLst>
              <a:ext uri="{FF2B5EF4-FFF2-40B4-BE49-F238E27FC236}">
                <a16:creationId xmlns:a16="http://schemas.microsoft.com/office/drawing/2014/main" id="{E090C6F6-3186-4C56-A132-42DB88ED9F9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6113C3B-221B-4F04-8EBB-32E16CD5914C}" type="slidenum">
              <a:rPr lang="en-US" altLang="en-US" sz="1400" smtClean="0"/>
              <a:pPr>
                <a:spcBef>
                  <a:spcPct val="0"/>
                </a:spcBef>
                <a:buClrTx/>
                <a:buSzTx/>
                <a:buFontTx/>
                <a:buNone/>
              </a:pPr>
              <a:t>22</a:t>
            </a:fld>
            <a:endParaRPr lang="en-US" altLang="en-US" sz="1400"/>
          </a:p>
        </p:txBody>
      </p:sp>
      <p:sp>
        <p:nvSpPr>
          <p:cNvPr id="25611" name="Rectangle 8">
            <a:hlinkClick r:id="rId2"/>
            <a:extLst>
              <a:ext uri="{FF2B5EF4-FFF2-40B4-BE49-F238E27FC236}">
                <a16:creationId xmlns:a16="http://schemas.microsoft.com/office/drawing/2014/main" id="{6B0EF22C-2D6C-4468-95E9-D6100F464DF2}"/>
              </a:ext>
            </a:extLst>
          </p:cNvPr>
          <p:cNvSpPr>
            <a:spLocks noChangeArrowheads="1"/>
          </p:cNvSpPr>
          <p:nvPr/>
        </p:nvSpPr>
        <p:spPr bwMode="auto">
          <a:xfrm>
            <a:off x="4343400" y="4929188"/>
            <a:ext cx="25003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CountKeywords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EB804BF-E6A2-4CA1-AFC1-77B66D8A45A4}"/>
              </a:ext>
            </a:extLst>
          </p:cNvPr>
          <p:cNvSpPr>
            <a:spLocks noGrp="1" noChangeArrowheads="1"/>
          </p:cNvSpPr>
          <p:nvPr>
            <p:ph type="title"/>
          </p:nvPr>
        </p:nvSpPr>
        <p:spPr>
          <a:xfrm>
            <a:off x="152400" y="-9525"/>
            <a:ext cx="8839200" cy="685800"/>
          </a:xfrm>
        </p:spPr>
        <p:txBody>
          <a:bodyPr/>
          <a:lstStyle/>
          <a:p>
            <a:pPr eaLnBrk="1" hangingPunct="1"/>
            <a:r>
              <a:rPr lang="en-US" altLang="en-US">
                <a:cs typeface="Times New Roman" panose="02020603050405020304" pitchFamily="18" charset="0"/>
              </a:rPr>
              <a:t>Case Study: Counting Keywords</a:t>
            </a:r>
          </a:p>
        </p:txBody>
      </p:sp>
      <p:sp>
        <p:nvSpPr>
          <p:cNvPr id="26627" name="Rectangle 11">
            <a:extLst>
              <a:ext uri="{FF2B5EF4-FFF2-40B4-BE49-F238E27FC236}">
                <a16:creationId xmlns:a16="http://schemas.microsoft.com/office/drawing/2014/main" id="{00508739-6D9E-4869-AD27-CE363C335B89}"/>
              </a:ext>
            </a:extLst>
          </p:cNvPr>
          <p:cNvSpPr>
            <a:spLocks noGrp="1" noChangeArrowheads="1"/>
          </p:cNvSpPr>
          <p:nvPr>
            <p:ph idx="1"/>
          </p:nvPr>
        </p:nvSpPr>
        <p:spPr>
          <a:xfrm>
            <a:off x="0" y="762000"/>
            <a:ext cx="4332288" cy="6078538"/>
          </a:xfrm>
          <a:solidFill>
            <a:schemeClr val="bg1"/>
          </a:solidFill>
          <a:ln>
            <a:solidFill>
              <a:schemeClr val="tx1"/>
            </a:solidFill>
            <a:miter lim="800000"/>
            <a:headEnd/>
            <a:tailEnd/>
          </a:ln>
        </p:spPr>
        <p:txBody>
          <a:bodyPr/>
          <a:lstStyle/>
          <a:p>
            <a:pPr marL="0" indent="0" eaLnBrk="1" hangingPunct="1">
              <a:buFont typeface="Monotype Sorts"/>
              <a:buNone/>
            </a:pPr>
            <a:endParaRPr lang="en-US" altLang="en-US" sz="1100"/>
          </a:p>
          <a:p>
            <a:pPr marL="0" indent="0" eaLnBrk="1" hangingPunct="1">
              <a:buFont typeface="Monotype Sorts"/>
              <a:buNone/>
            </a:pPr>
            <a:r>
              <a:rPr lang="en-US" altLang="en-US" sz="1100"/>
              <a:t>import java.util.*;</a:t>
            </a:r>
          </a:p>
          <a:p>
            <a:pPr marL="0" indent="0" eaLnBrk="1" hangingPunct="1">
              <a:buFont typeface="Monotype Sorts"/>
              <a:buNone/>
            </a:pPr>
            <a:r>
              <a:rPr lang="en-US" altLang="en-US" sz="1100"/>
              <a:t>import java.io.*;</a:t>
            </a:r>
          </a:p>
          <a:p>
            <a:pPr marL="0" indent="0" eaLnBrk="1" hangingPunct="1">
              <a:buFont typeface="Monotype Sorts"/>
              <a:buNone/>
            </a:pPr>
            <a:endParaRPr lang="en-US" altLang="en-US" sz="1100"/>
          </a:p>
          <a:p>
            <a:pPr marL="0" indent="0" eaLnBrk="1" hangingPunct="1">
              <a:buFont typeface="Monotype Sorts"/>
              <a:buNone/>
            </a:pPr>
            <a:r>
              <a:rPr lang="en-US" altLang="en-US" sz="1100"/>
              <a:t>public class CountKeywords </a:t>
            </a:r>
          </a:p>
          <a:p>
            <a:pPr marL="0" indent="0" eaLnBrk="1" hangingPunct="1">
              <a:buFont typeface="Monotype Sorts"/>
              <a:buNone/>
            </a:pPr>
            <a:r>
              <a:rPr lang="en-US" altLang="en-US" sz="1100"/>
              <a:t>{</a:t>
            </a:r>
          </a:p>
          <a:p>
            <a:pPr marL="0" indent="0" eaLnBrk="1" hangingPunct="1">
              <a:buFont typeface="Monotype Sorts"/>
              <a:buNone/>
            </a:pPr>
            <a:r>
              <a:rPr lang="en-US" altLang="en-US" sz="1100"/>
              <a:t>      public static void main(String[] args) throws Exception </a:t>
            </a:r>
          </a:p>
          <a:p>
            <a:pPr marL="0" indent="0" eaLnBrk="1" hangingPunct="1">
              <a:buFont typeface="Monotype Sorts"/>
              <a:buNone/>
            </a:pPr>
            <a:r>
              <a:rPr lang="en-US" altLang="en-US" sz="1100"/>
              <a:t>     {  </a:t>
            </a:r>
          </a:p>
          <a:p>
            <a:pPr marL="0" indent="0" eaLnBrk="1" hangingPunct="1">
              <a:buFont typeface="Monotype Sorts"/>
              <a:buNone/>
            </a:pPr>
            <a:r>
              <a:rPr lang="en-US" altLang="en-US" sz="1100"/>
              <a:t>            Scanner input = new Scanner(System.in);</a:t>
            </a:r>
          </a:p>
          <a:p>
            <a:pPr marL="0" indent="0" eaLnBrk="1" hangingPunct="1">
              <a:buFont typeface="Monotype Sorts"/>
              <a:buNone/>
            </a:pPr>
            <a:r>
              <a:rPr lang="en-US" altLang="en-US" sz="1100"/>
              <a:t>            System.out.print("Enter a Java source file: ");</a:t>
            </a:r>
          </a:p>
          <a:p>
            <a:pPr marL="0" indent="0" eaLnBrk="1" hangingPunct="1">
              <a:buFont typeface="Monotype Sorts"/>
              <a:buNone/>
            </a:pPr>
            <a:r>
              <a:rPr lang="en-US" altLang="en-US" sz="1100"/>
              <a:t>            String filename = input.nextLine();</a:t>
            </a:r>
          </a:p>
          <a:p>
            <a:pPr marL="0" indent="0" eaLnBrk="1" hangingPunct="1">
              <a:buFont typeface="Monotype Sorts"/>
              <a:buNone/>
            </a:pPr>
            <a:endParaRPr lang="en-US" altLang="en-US" sz="1100"/>
          </a:p>
          <a:p>
            <a:pPr marL="0" indent="0" eaLnBrk="1" hangingPunct="1">
              <a:buFont typeface="Monotype Sorts"/>
              <a:buNone/>
            </a:pPr>
            <a:r>
              <a:rPr lang="en-US" altLang="en-US" sz="1100"/>
              <a:t>            File file = new File(filename);</a:t>
            </a:r>
          </a:p>
          <a:p>
            <a:pPr marL="0" indent="0" eaLnBrk="1" hangingPunct="1">
              <a:buFont typeface="Monotype Sorts"/>
              <a:buNone/>
            </a:pPr>
            <a:r>
              <a:rPr lang="en-US" altLang="en-US" sz="1100"/>
              <a:t>            if (file.exists()) </a:t>
            </a:r>
          </a:p>
          <a:p>
            <a:pPr marL="0" indent="0" eaLnBrk="1" hangingPunct="1">
              <a:buFont typeface="Monotype Sorts"/>
              <a:buNone/>
            </a:pPr>
            <a:r>
              <a:rPr lang="en-US" altLang="en-US" sz="1100"/>
              <a:t>           {</a:t>
            </a:r>
          </a:p>
          <a:p>
            <a:pPr marL="0" indent="0" eaLnBrk="1" hangingPunct="1">
              <a:buFont typeface="Monotype Sorts"/>
              <a:buNone/>
            </a:pPr>
            <a:r>
              <a:rPr lang="en-US" altLang="en-US" sz="1100"/>
              <a:t>                  System.out.println("The number of keywords in " + filename </a:t>
            </a:r>
          </a:p>
          <a:p>
            <a:pPr marL="0" indent="0" eaLnBrk="1" hangingPunct="1">
              <a:buFont typeface="Monotype Sorts"/>
              <a:buNone/>
            </a:pPr>
            <a:r>
              <a:rPr lang="en-US" altLang="en-US" sz="1100"/>
              <a:t>                        + " is " + countKeywords(file));</a:t>
            </a:r>
          </a:p>
          <a:p>
            <a:pPr marL="0" indent="0" eaLnBrk="1" hangingPunct="1">
              <a:buFont typeface="Monotype Sorts"/>
              <a:buNone/>
            </a:pPr>
            <a:r>
              <a:rPr lang="en-US" altLang="en-US" sz="1100"/>
              <a:t>            }</a:t>
            </a:r>
          </a:p>
          <a:p>
            <a:pPr marL="0" indent="0" eaLnBrk="1" hangingPunct="1">
              <a:buFont typeface="Monotype Sorts"/>
              <a:buNone/>
            </a:pPr>
            <a:r>
              <a:rPr lang="en-US" altLang="en-US" sz="1100"/>
              <a:t>            else </a:t>
            </a:r>
          </a:p>
          <a:p>
            <a:pPr marL="0" indent="0" eaLnBrk="1" hangingPunct="1">
              <a:buFont typeface="Monotype Sorts"/>
              <a:buNone/>
            </a:pPr>
            <a:r>
              <a:rPr lang="en-US" altLang="en-US" sz="1100"/>
              <a:t>                 System.out.println("File " + filename + " does not exist");   </a:t>
            </a:r>
          </a:p>
          <a:p>
            <a:pPr marL="0" indent="0" eaLnBrk="1" hangingPunct="1">
              <a:buFont typeface="Monotype Sorts"/>
              <a:buNone/>
            </a:pPr>
            <a:r>
              <a:rPr lang="en-US" altLang="en-US" sz="1100"/>
              <a:t>      }</a:t>
            </a:r>
          </a:p>
          <a:p>
            <a:pPr marL="0" indent="0" eaLnBrk="1" hangingPunct="1">
              <a:buFont typeface="Monotype Sorts"/>
              <a:buNone/>
            </a:pPr>
            <a:endParaRPr lang="en-US" altLang="en-US" sz="1100"/>
          </a:p>
          <a:p>
            <a:pPr marL="0" indent="0" eaLnBrk="1" hangingPunct="1">
              <a:buFont typeface="Monotype Sorts"/>
              <a:buNone/>
            </a:pPr>
            <a:endParaRPr lang="en-US" altLang="en-US" sz="1100"/>
          </a:p>
        </p:txBody>
      </p:sp>
      <p:sp>
        <p:nvSpPr>
          <p:cNvPr id="26628" name="Slide Number Placeholder 4">
            <a:extLst>
              <a:ext uri="{FF2B5EF4-FFF2-40B4-BE49-F238E27FC236}">
                <a16:creationId xmlns:a16="http://schemas.microsoft.com/office/drawing/2014/main" id="{8E35DD85-F25B-4383-B50B-87A6BB375284}"/>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7F18916-E4EB-437F-95DB-FF55152BB442}" type="slidenum">
              <a:rPr lang="en-US" altLang="en-US" sz="1400" smtClean="0"/>
              <a:pPr>
                <a:spcBef>
                  <a:spcPct val="0"/>
                </a:spcBef>
                <a:buClrTx/>
                <a:buSzTx/>
                <a:buFontTx/>
                <a:buNone/>
              </a:pPr>
              <a:t>23</a:t>
            </a:fld>
            <a:endParaRPr lang="en-US" altLang="en-US" sz="1400"/>
          </a:p>
        </p:txBody>
      </p:sp>
      <p:sp>
        <p:nvSpPr>
          <p:cNvPr id="26635" name="Rectangle 11">
            <a:extLst>
              <a:ext uri="{FF2B5EF4-FFF2-40B4-BE49-F238E27FC236}">
                <a16:creationId xmlns:a16="http://schemas.microsoft.com/office/drawing/2014/main" id="{A041CF1B-4D0D-4CF3-946D-36C51332B639}"/>
              </a:ext>
            </a:extLst>
          </p:cNvPr>
          <p:cNvSpPr txBox="1">
            <a:spLocks noChangeArrowheads="1"/>
          </p:cNvSpPr>
          <p:nvPr/>
        </p:nvSpPr>
        <p:spPr bwMode="auto">
          <a:xfrm>
            <a:off x="4332288" y="762000"/>
            <a:ext cx="4811712" cy="6078538"/>
          </a:xfrm>
          <a:prstGeom prst="rect">
            <a:avLst/>
          </a:prstGeom>
          <a:solidFill>
            <a:schemeClr val="bg1"/>
          </a:solidFill>
          <a:ln w="9525">
            <a:solidFill>
              <a:schemeClr val="tx1"/>
            </a:solidFill>
            <a:miter lim="800000"/>
            <a:headEnd/>
            <a:tailEnd/>
          </a:ln>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buFont typeface="Monotype Sorts"/>
              <a:buNone/>
            </a:pPr>
            <a:r>
              <a:rPr lang="en-US" altLang="en-US" sz="1100"/>
              <a:t> </a:t>
            </a:r>
          </a:p>
          <a:p>
            <a:pPr eaLnBrk="1" hangingPunct="1">
              <a:buFont typeface="Monotype Sorts"/>
              <a:buNone/>
            </a:pPr>
            <a:r>
              <a:rPr lang="en-US" altLang="en-US" sz="1100"/>
              <a:t> public static int countKeywords(File file) throws Exception {  </a:t>
            </a:r>
          </a:p>
          <a:p>
            <a:pPr eaLnBrk="1" hangingPunct="1">
              <a:buFont typeface="Monotype Sorts"/>
              <a:buNone/>
            </a:pPr>
            <a:r>
              <a:rPr lang="en-US" altLang="en-US" sz="1100"/>
              <a:t>        </a:t>
            </a:r>
            <a:r>
              <a:rPr lang="en-US" altLang="en-US" sz="1100" i="1"/>
              <a:t>// Array of all Java keywords + true, false and null</a:t>
            </a:r>
          </a:p>
          <a:p>
            <a:pPr eaLnBrk="1" hangingPunct="1">
              <a:buFont typeface="Monotype Sorts"/>
              <a:buNone/>
            </a:pPr>
            <a:r>
              <a:rPr lang="en-US" altLang="en-US" sz="1100"/>
              <a:t>        String[] keywordString = {"abstract", "assert", "boolean", </a:t>
            </a:r>
          </a:p>
          <a:p>
            <a:pPr eaLnBrk="1" hangingPunct="1">
              <a:buFont typeface="Monotype Sorts"/>
              <a:buNone/>
            </a:pPr>
            <a:r>
              <a:rPr lang="en-US" altLang="en-US" sz="1100"/>
              <a:t>            "break", "byte", "case", "catch", "char", "class", "const",</a:t>
            </a:r>
          </a:p>
          <a:p>
            <a:pPr eaLnBrk="1" hangingPunct="1">
              <a:buFont typeface="Monotype Sorts"/>
              <a:buNone/>
            </a:pPr>
            <a:r>
              <a:rPr lang="en-US" altLang="en-US" sz="1100"/>
              <a:t>            "continue", "default", "do", "double", "else", "enum",</a:t>
            </a:r>
          </a:p>
          <a:p>
            <a:pPr eaLnBrk="1" hangingPunct="1">
              <a:buFont typeface="Monotype Sorts"/>
              <a:buNone/>
            </a:pPr>
            <a:r>
              <a:rPr lang="en-US" altLang="en-US" sz="1100"/>
              <a:t>            "extends", "for", "final", "finally", "float", "goto",</a:t>
            </a:r>
          </a:p>
          <a:p>
            <a:pPr eaLnBrk="1" hangingPunct="1">
              <a:buFont typeface="Monotype Sorts"/>
              <a:buNone/>
            </a:pPr>
            <a:r>
              <a:rPr lang="en-US" altLang="en-US" sz="1100"/>
              <a:t>            "if", "implements", "import", "instanceof", "int", </a:t>
            </a:r>
          </a:p>
          <a:p>
            <a:pPr eaLnBrk="1" hangingPunct="1">
              <a:buFont typeface="Monotype Sorts"/>
              <a:buNone/>
            </a:pPr>
            <a:r>
              <a:rPr lang="en-US" altLang="en-US" sz="1100"/>
              <a:t>            "interface", "long", "native", "new", "package", "private",</a:t>
            </a:r>
          </a:p>
          <a:p>
            <a:pPr eaLnBrk="1" hangingPunct="1">
              <a:buFont typeface="Monotype Sorts"/>
              <a:buNone/>
            </a:pPr>
            <a:r>
              <a:rPr lang="en-US" altLang="en-US" sz="1100"/>
              <a:t>            "protected", "public", "return", "short", "static", </a:t>
            </a:r>
          </a:p>
          <a:p>
            <a:pPr eaLnBrk="1" hangingPunct="1">
              <a:buFont typeface="Monotype Sorts"/>
              <a:buNone/>
            </a:pPr>
            <a:r>
              <a:rPr lang="en-US" altLang="en-US" sz="1100"/>
              <a:t>            "strictfp", "super", "switch", "synchronized", "this",</a:t>
            </a:r>
          </a:p>
          <a:p>
            <a:pPr eaLnBrk="1" hangingPunct="1">
              <a:buFont typeface="Monotype Sorts"/>
              <a:buNone/>
            </a:pPr>
            <a:r>
              <a:rPr lang="en-US" altLang="en-US" sz="1100"/>
              <a:t>            "throw", "throws", "transient", "try", "void", "volatile",</a:t>
            </a:r>
          </a:p>
          <a:p>
            <a:pPr eaLnBrk="1" hangingPunct="1">
              <a:buFont typeface="Monotype Sorts"/>
              <a:buNone/>
            </a:pPr>
            <a:r>
              <a:rPr lang="en-US" altLang="en-US" sz="1100"/>
              <a:t>            "while", "true", "false", "null"};</a:t>
            </a:r>
          </a:p>
          <a:p>
            <a:pPr eaLnBrk="1" hangingPunct="1">
              <a:buFont typeface="Monotype Sorts"/>
              <a:buNone/>
            </a:pPr>
            <a:endParaRPr lang="en-US" altLang="en-US" sz="1100"/>
          </a:p>
          <a:p>
            <a:pPr eaLnBrk="1" hangingPunct="1">
              <a:buFont typeface="Monotype Sorts"/>
              <a:buNone/>
            </a:pPr>
            <a:r>
              <a:rPr lang="en-US" altLang="en-US" sz="1100"/>
              <a:t>        Set&lt;String&gt; keywordSet = new HashSet&lt;&gt;(Arrays.asList(keywordString));</a:t>
            </a:r>
          </a:p>
          <a:p>
            <a:pPr eaLnBrk="1" hangingPunct="1">
              <a:buFont typeface="Monotype Sorts"/>
              <a:buNone/>
            </a:pPr>
            <a:r>
              <a:rPr lang="en-US" altLang="en-US" sz="1100"/>
              <a:t>        int count = 0;    </a:t>
            </a:r>
          </a:p>
          <a:p>
            <a:pPr eaLnBrk="1" hangingPunct="1">
              <a:buFont typeface="Monotype Sorts"/>
              <a:buNone/>
            </a:pPr>
            <a:endParaRPr lang="en-US" altLang="en-US" sz="1100"/>
          </a:p>
          <a:p>
            <a:pPr eaLnBrk="1" hangingPunct="1">
              <a:buFont typeface="Monotype Sorts"/>
              <a:buNone/>
            </a:pPr>
            <a:r>
              <a:rPr lang="en-US" altLang="en-US" sz="1100"/>
              <a:t>        Scanner input = new Scanner(file);</a:t>
            </a:r>
          </a:p>
          <a:p>
            <a:pPr eaLnBrk="1" hangingPunct="1">
              <a:buFont typeface="Monotype Sorts"/>
              <a:buNone/>
            </a:pPr>
            <a:endParaRPr lang="en-US" altLang="en-US" sz="1100"/>
          </a:p>
          <a:p>
            <a:pPr eaLnBrk="1" hangingPunct="1">
              <a:buFont typeface="Monotype Sorts"/>
              <a:buNone/>
            </a:pPr>
            <a:r>
              <a:rPr lang="en-US" altLang="en-US" sz="1100"/>
              <a:t>        while (input.hasNext()) </a:t>
            </a:r>
          </a:p>
          <a:p>
            <a:pPr eaLnBrk="1" hangingPunct="1">
              <a:buFont typeface="Monotype Sorts"/>
              <a:buNone/>
            </a:pPr>
            <a:r>
              <a:rPr lang="en-US" altLang="en-US" sz="1100"/>
              <a:t>        {</a:t>
            </a:r>
          </a:p>
          <a:p>
            <a:pPr eaLnBrk="1" hangingPunct="1">
              <a:buFont typeface="Monotype Sorts"/>
              <a:buNone/>
            </a:pPr>
            <a:r>
              <a:rPr lang="en-US" altLang="en-US" sz="1100"/>
              <a:t>              String word = input.next();</a:t>
            </a:r>
          </a:p>
          <a:p>
            <a:pPr eaLnBrk="1" hangingPunct="1">
              <a:buFont typeface="Monotype Sorts"/>
              <a:buNone/>
            </a:pPr>
            <a:r>
              <a:rPr lang="en-US" altLang="en-US" sz="1100"/>
              <a:t>              if (keywordSet.contains(word)) </a:t>
            </a:r>
          </a:p>
          <a:p>
            <a:pPr eaLnBrk="1" hangingPunct="1">
              <a:buFont typeface="Monotype Sorts"/>
              <a:buNone/>
            </a:pPr>
            <a:r>
              <a:rPr lang="en-US" altLang="en-US" sz="1100"/>
              <a:t>                   count++;</a:t>
            </a:r>
          </a:p>
          <a:p>
            <a:pPr eaLnBrk="1" hangingPunct="1">
              <a:buFont typeface="Monotype Sorts"/>
              <a:buNone/>
            </a:pPr>
            <a:r>
              <a:rPr lang="en-US" altLang="en-US" sz="1100"/>
              <a:t>        }</a:t>
            </a:r>
          </a:p>
          <a:p>
            <a:pPr eaLnBrk="1" hangingPunct="1">
              <a:buFont typeface="Monotype Sorts"/>
              <a:buNone/>
            </a:pPr>
            <a:endParaRPr lang="en-US" altLang="en-US" sz="1100"/>
          </a:p>
          <a:p>
            <a:pPr eaLnBrk="1" hangingPunct="1">
              <a:buFont typeface="Monotype Sorts"/>
              <a:buNone/>
            </a:pPr>
            <a:r>
              <a:rPr lang="en-US" altLang="en-US" sz="1100"/>
              <a:t>        return count;</a:t>
            </a:r>
          </a:p>
          <a:p>
            <a:pPr eaLnBrk="1" hangingPunct="1">
              <a:buFont typeface="Monotype Sorts"/>
              <a:buNone/>
            </a:pPr>
            <a:r>
              <a:rPr lang="en-US" altLang="en-US" sz="1100"/>
              <a:t>  }</a:t>
            </a:r>
          </a:p>
          <a:p>
            <a:pPr eaLnBrk="1" hangingPunct="1">
              <a:buFont typeface="Monotype Sorts"/>
              <a:buNone/>
            </a:pPr>
            <a:r>
              <a:rPr lang="en-US" altLang="en-US" sz="110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CE22D8D-8A57-40F8-805F-3735AB201799}"/>
              </a:ext>
            </a:extLst>
          </p:cNvPr>
          <p:cNvSpPr>
            <a:spLocks noGrp="1" noChangeArrowheads="1"/>
          </p:cNvSpPr>
          <p:nvPr>
            <p:ph type="title"/>
          </p:nvPr>
        </p:nvSpPr>
        <p:spPr>
          <a:xfrm>
            <a:off x="533400" y="228600"/>
            <a:ext cx="7924800" cy="685800"/>
          </a:xfrm>
          <a:noFill/>
        </p:spPr>
        <p:txBody>
          <a:bodyPr/>
          <a:lstStyle/>
          <a:p>
            <a:pPr eaLnBrk="1" hangingPunct="1"/>
            <a:r>
              <a:rPr lang="en-US" altLang="en-US" sz="4000">
                <a:cs typeface="Times New Roman" panose="02020603050405020304" pitchFamily="18" charset="0"/>
              </a:rPr>
              <a:t>The Map Interface</a:t>
            </a:r>
          </a:p>
        </p:txBody>
      </p:sp>
      <p:sp>
        <p:nvSpPr>
          <p:cNvPr id="27651" name="Rectangle 4">
            <a:extLst>
              <a:ext uri="{FF2B5EF4-FFF2-40B4-BE49-F238E27FC236}">
                <a16:creationId xmlns:a16="http://schemas.microsoft.com/office/drawing/2014/main" id="{06A6E898-11F8-403E-94BB-6363ACF2D9AF}"/>
              </a:ext>
            </a:extLst>
          </p:cNvPr>
          <p:cNvSpPr>
            <a:spLocks noGrp="1" noChangeArrowheads="1"/>
          </p:cNvSpPr>
          <p:nvPr>
            <p:ph idx="1"/>
          </p:nvPr>
        </p:nvSpPr>
        <p:spPr>
          <a:xfrm>
            <a:off x="228600" y="1096963"/>
            <a:ext cx="8534400" cy="1512887"/>
          </a:xfrm>
        </p:spPr>
        <p:txBody>
          <a:bodyPr/>
          <a:lstStyle/>
          <a:p>
            <a:pPr marL="0" indent="0" eaLnBrk="1" hangingPunct="1">
              <a:buFont typeface="Monotype Sorts"/>
              <a:buNone/>
            </a:pPr>
            <a:r>
              <a:rPr lang="en-US" altLang="en-US">
                <a:cs typeface="Times New Roman" panose="02020603050405020304" pitchFamily="18" charset="0"/>
              </a:rPr>
              <a:t>The Map interface maps keys to the elements. The keys are like indexes. In List, the indexes are integer. In Map, the keys can be any objects. </a:t>
            </a:r>
          </a:p>
        </p:txBody>
      </p:sp>
      <p:sp>
        <p:nvSpPr>
          <p:cNvPr id="27652" name="Slide Number Placeholder 4">
            <a:extLst>
              <a:ext uri="{FF2B5EF4-FFF2-40B4-BE49-F238E27FC236}">
                <a16:creationId xmlns:a16="http://schemas.microsoft.com/office/drawing/2014/main" id="{1F29032C-6A8A-47C7-889F-5FF4FD49DB2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A7FAD92-1125-4D74-A390-90B441359713}" type="slidenum">
              <a:rPr lang="en-US" altLang="en-US" sz="1400" smtClean="0"/>
              <a:pPr>
                <a:spcBef>
                  <a:spcPct val="0"/>
                </a:spcBef>
                <a:buClrTx/>
                <a:buSzTx/>
                <a:buFontTx/>
                <a:buNone/>
              </a:pPr>
              <a:t>24</a:t>
            </a:fld>
            <a:endParaRPr lang="en-US" altLang="en-US" sz="1400"/>
          </a:p>
        </p:txBody>
      </p:sp>
      <p:pic>
        <p:nvPicPr>
          <p:cNvPr id="27659" name="Picture 13">
            <a:extLst>
              <a:ext uri="{FF2B5EF4-FFF2-40B4-BE49-F238E27FC236}">
                <a16:creationId xmlns:a16="http://schemas.microsoft.com/office/drawing/2014/main" id="{0E633D70-121D-4F7E-96AF-2C24E5B52F8F}"/>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767013"/>
            <a:ext cx="8524875" cy="3714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09B5401-784F-4314-8BAA-5FFBE2F77748}"/>
              </a:ext>
            </a:extLst>
          </p:cNvPr>
          <p:cNvSpPr>
            <a:spLocks noGrp="1" noChangeArrowheads="1"/>
          </p:cNvSpPr>
          <p:nvPr>
            <p:ph type="title"/>
          </p:nvPr>
        </p:nvSpPr>
        <p:spPr>
          <a:xfrm>
            <a:off x="685800" y="228600"/>
            <a:ext cx="7924800" cy="1143000"/>
          </a:xfrm>
          <a:noFill/>
        </p:spPr>
        <p:txBody>
          <a:bodyPr/>
          <a:lstStyle/>
          <a:p>
            <a:pPr eaLnBrk="1" hangingPunct="1"/>
            <a:r>
              <a:rPr lang="en-US" altLang="en-US"/>
              <a:t>Map Interface and Class Hierarchy</a:t>
            </a:r>
          </a:p>
        </p:txBody>
      </p:sp>
      <p:sp>
        <p:nvSpPr>
          <p:cNvPr id="28675" name="Rectangle 4">
            <a:extLst>
              <a:ext uri="{FF2B5EF4-FFF2-40B4-BE49-F238E27FC236}">
                <a16:creationId xmlns:a16="http://schemas.microsoft.com/office/drawing/2014/main" id="{2FEE8A97-2ECD-41AB-B77B-20A77B614697}"/>
              </a:ext>
            </a:extLst>
          </p:cNvPr>
          <p:cNvSpPr>
            <a:spLocks noGrp="1" noChangeArrowheads="1"/>
          </p:cNvSpPr>
          <p:nvPr>
            <p:ph idx="1"/>
          </p:nvPr>
        </p:nvSpPr>
        <p:spPr>
          <a:xfrm>
            <a:off x="457200" y="1676400"/>
            <a:ext cx="8534400" cy="1752600"/>
          </a:xfrm>
        </p:spPr>
        <p:txBody>
          <a:bodyPr/>
          <a:lstStyle/>
          <a:p>
            <a:pPr eaLnBrk="1" hangingPunct="1">
              <a:lnSpc>
                <a:spcPct val="90000"/>
              </a:lnSpc>
              <a:buFont typeface="Wingdings" panose="05000000000000000000" pitchFamily="2" charset="2"/>
              <a:buChar char="§"/>
            </a:pPr>
            <a:r>
              <a:rPr lang="en-US" altLang="en-US" sz="2800" dirty="0">
                <a:cs typeface="Times New Roman" panose="02020603050405020304" pitchFamily="18" charset="0"/>
              </a:rPr>
              <a:t>An instance of Map represents a group of objects, each of which is associated with a key. </a:t>
            </a:r>
          </a:p>
          <a:p>
            <a:pPr eaLnBrk="1" hangingPunct="1">
              <a:lnSpc>
                <a:spcPct val="90000"/>
              </a:lnSpc>
              <a:buFont typeface="Wingdings" panose="05000000000000000000" pitchFamily="2" charset="2"/>
              <a:buChar char="§"/>
            </a:pPr>
            <a:r>
              <a:rPr lang="en-US" altLang="en-US" sz="2800" dirty="0">
                <a:cs typeface="Times New Roman" panose="02020603050405020304" pitchFamily="18" charset="0"/>
              </a:rPr>
              <a:t>You can get the object from a map using a key, and you have to use a key to put the object into the map. </a:t>
            </a:r>
          </a:p>
          <a:p>
            <a:pPr eaLnBrk="1" hangingPunct="1">
              <a:lnSpc>
                <a:spcPct val="90000"/>
              </a:lnSpc>
              <a:buFont typeface="Wingdings" panose="05000000000000000000" pitchFamily="2" charset="2"/>
              <a:buChar char="§"/>
            </a:pPr>
            <a:r>
              <a:rPr lang="en-US" altLang="en-US" sz="2800" noProof="1">
                <a:highlight>
                  <a:srgbClr val="FFFF00"/>
                </a:highlight>
                <a:cs typeface="Times New Roman" panose="02020603050405020304" pitchFamily="18" charset="0"/>
              </a:rPr>
              <a:t>Keys must be unique, </a:t>
            </a:r>
            <a:r>
              <a:rPr lang="en-US" altLang="en-US" sz="2800" noProof="1">
                <a:cs typeface="Times New Roman" panose="02020603050405020304" pitchFamily="18" charset="0"/>
              </a:rPr>
              <a:t>but there </a:t>
            </a:r>
            <a:r>
              <a:rPr lang="en-US" altLang="en-US" sz="2800" noProof="1">
                <a:highlight>
                  <a:srgbClr val="FFFF00"/>
                </a:highlight>
                <a:cs typeface="Times New Roman" panose="02020603050405020304" pitchFamily="18" charset="0"/>
              </a:rPr>
              <a:t>can be duplicate values</a:t>
            </a:r>
          </a:p>
        </p:txBody>
      </p:sp>
      <p:sp>
        <p:nvSpPr>
          <p:cNvPr id="28676" name="Slide Number Placeholder 4">
            <a:extLst>
              <a:ext uri="{FF2B5EF4-FFF2-40B4-BE49-F238E27FC236}">
                <a16:creationId xmlns:a16="http://schemas.microsoft.com/office/drawing/2014/main" id="{5AE45102-C61F-426D-AB9B-FCF8C8C9CE8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AA11DE2-9996-4A47-BF8B-003A0B7A32AE}" type="slidenum">
              <a:rPr lang="en-US" altLang="en-US" sz="1400" smtClean="0"/>
              <a:pPr>
                <a:spcBef>
                  <a:spcPct val="0"/>
                </a:spcBef>
                <a:buClrTx/>
                <a:buSzTx/>
                <a:buFontTx/>
                <a:buNone/>
              </a:pPr>
              <a:t>25</a:t>
            </a:fld>
            <a:endParaRPr lang="en-US" altLang="en-US" sz="1400"/>
          </a:p>
        </p:txBody>
      </p:sp>
      <p:pic>
        <p:nvPicPr>
          <p:cNvPr id="28680" name="Picture 10">
            <a:extLst>
              <a:ext uri="{FF2B5EF4-FFF2-40B4-BE49-F238E27FC236}">
                <a16:creationId xmlns:a16="http://schemas.microsoft.com/office/drawing/2014/main" id="{08811FAF-426B-4F98-B025-A04799A47F5E}"/>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489450"/>
            <a:ext cx="7880350" cy="2101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092BB80-1AE7-46F3-BAE2-63C466801CD3}"/>
              </a:ext>
            </a:extLst>
          </p:cNvPr>
          <p:cNvSpPr>
            <a:spLocks noGrp="1" noChangeArrowheads="1"/>
          </p:cNvSpPr>
          <p:nvPr>
            <p:ph type="title"/>
          </p:nvPr>
        </p:nvSpPr>
        <p:spPr>
          <a:xfrm>
            <a:off x="533400" y="0"/>
            <a:ext cx="7924800" cy="762000"/>
          </a:xfrm>
          <a:noFill/>
        </p:spPr>
        <p:txBody>
          <a:bodyPr/>
          <a:lstStyle/>
          <a:p>
            <a:pPr eaLnBrk="1" hangingPunct="1"/>
            <a:r>
              <a:rPr lang="en-US" altLang="en-US">
                <a:cs typeface="Times New Roman" panose="02020603050405020304" pitchFamily="18" charset="0"/>
              </a:rPr>
              <a:t>The Map Interface Methods</a:t>
            </a:r>
          </a:p>
        </p:txBody>
      </p:sp>
      <p:sp>
        <p:nvSpPr>
          <p:cNvPr id="29699" name="Slide Number Placeholder 4">
            <a:extLst>
              <a:ext uri="{FF2B5EF4-FFF2-40B4-BE49-F238E27FC236}">
                <a16:creationId xmlns:a16="http://schemas.microsoft.com/office/drawing/2014/main" id="{2BDEB1C5-31CE-4BC5-A726-25F75463D78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263BD81-CB90-49C8-87CF-92CC3D3A4F0C}" type="slidenum">
              <a:rPr lang="en-US" altLang="en-US" sz="1400" smtClean="0"/>
              <a:pPr>
                <a:spcBef>
                  <a:spcPct val="0"/>
                </a:spcBef>
                <a:buClrTx/>
                <a:buSzTx/>
                <a:buFontTx/>
                <a:buNone/>
              </a:pPr>
              <a:t>26</a:t>
            </a:fld>
            <a:endParaRPr lang="en-US" altLang="en-US" sz="1400"/>
          </a:p>
        </p:txBody>
      </p:sp>
      <p:graphicFrame>
        <p:nvGraphicFramePr>
          <p:cNvPr id="11" name="Table 5">
            <a:extLst>
              <a:ext uri="{FF2B5EF4-FFF2-40B4-BE49-F238E27FC236}">
                <a16:creationId xmlns:a16="http://schemas.microsoft.com/office/drawing/2014/main" id="{E8AD487F-4CFC-4C34-B873-C92563C97628}"/>
              </a:ext>
            </a:extLst>
          </p:cNvPr>
          <p:cNvGraphicFramePr>
            <a:graphicFrameLocks noGrp="1"/>
          </p:cNvGraphicFramePr>
          <p:nvPr>
            <p:ph idx="1"/>
          </p:nvPr>
        </p:nvGraphicFramePr>
        <p:xfrm>
          <a:off x="304800" y="990600"/>
          <a:ext cx="8670925" cy="5808666"/>
        </p:xfrm>
        <a:graphic>
          <a:graphicData uri="http://schemas.openxmlformats.org/drawingml/2006/table">
            <a:tbl>
              <a:tblPr firstRow="1" bandRow="1">
                <a:tableStyleId>{5C22544A-7EE6-4342-B048-85BDC9FD1C3A}</a:tableStyleId>
              </a:tblPr>
              <a:tblGrid>
                <a:gridCol w="8670925">
                  <a:extLst>
                    <a:ext uri="{9D8B030D-6E8A-4147-A177-3AD203B41FA5}">
                      <a16:colId xmlns:a16="http://schemas.microsoft.com/office/drawing/2014/main" val="20000"/>
                    </a:ext>
                  </a:extLst>
                </a:gridCol>
              </a:tblGrid>
              <a:tr h="327775">
                <a:tc>
                  <a:txBody>
                    <a:bodyPr/>
                    <a:lstStyle/>
                    <a:p>
                      <a:r>
                        <a:rPr lang="en-US" sz="1400" dirty="0"/>
                        <a:t>Description</a:t>
                      </a:r>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void clear() </a:t>
                      </a:r>
                      <a:r>
                        <a:rPr lang="en-US" sz="1400" dirty="0"/>
                        <a:t>- Removes all of the mappings from this map (optional operation).</a:t>
                      </a:r>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t>boolean</a:t>
                      </a:r>
                      <a:r>
                        <a:rPr lang="en-US" sz="1400" b="1" dirty="0"/>
                        <a:t> containsKey(Object key) </a:t>
                      </a:r>
                      <a:r>
                        <a:rPr lang="en-US" sz="1400" dirty="0"/>
                        <a:t>- Returns true if this map contains a mapping for the specified key.</a:t>
                      </a:r>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518109">
                <a:tc>
                  <a:txBody>
                    <a:bodyPr/>
                    <a:lstStyle/>
                    <a:p>
                      <a:r>
                        <a:rPr lang="en-US" sz="1400" b="1" dirty="0" err="1"/>
                        <a:t>boolean</a:t>
                      </a:r>
                      <a:r>
                        <a:rPr lang="en-US" sz="1400" b="1" dirty="0"/>
                        <a:t> </a:t>
                      </a:r>
                      <a:r>
                        <a:rPr lang="en-US" sz="1400" b="1" dirty="0" err="1"/>
                        <a:t>containsValue</a:t>
                      </a:r>
                      <a:r>
                        <a:rPr lang="en-US" sz="1400" b="1" dirty="0"/>
                        <a:t>(Object value) </a:t>
                      </a:r>
                      <a:r>
                        <a:rPr lang="en-US" sz="1400" b="0" dirty="0"/>
                        <a:t>- </a:t>
                      </a:r>
                      <a:r>
                        <a:rPr lang="en-US" sz="1400" b="0" i="0" kern="1200" dirty="0">
                          <a:solidFill>
                            <a:schemeClr val="dk1"/>
                          </a:solidFill>
                          <a:effectLst/>
                          <a:latin typeface="+mn-lt"/>
                          <a:ea typeface="+mn-ea"/>
                          <a:cs typeface="+mn-cs"/>
                        </a:rPr>
                        <a:t>Returns </a:t>
                      </a:r>
                      <a:r>
                        <a:rPr lang="en-US" sz="1400" dirty="0"/>
                        <a:t>true</a:t>
                      </a:r>
                      <a:r>
                        <a:rPr lang="en-US" sz="1400" b="0" i="0" kern="1200" dirty="0">
                          <a:solidFill>
                            <a:schemeClr val="dk1"/>
                          </a:solidFill>
                          <a:effectLst/>
                          <a:latin typeface="+mn-lt"/>
                          <a:ea typeface="+mn-ea"/>
                          <a:cs typeface="+mn-cs"/>
                        </a:rPr>
                        <a:t> if this map maps one or more keys to the specified value.</a:t>
                      </a:r>
                      <a:endParaRPr lang="en-US" sz="1400" dirty="0"/>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518109">
                <a:tc>
                  <a:txBody>
                    <a:bodyPr/>
                    <a:lstStyle/>
                    <a:p>
                      <a:r>
                        <a:rPr lang="en-US" sz="1400" b="1" dirty="0"/>
                        <a:t>Set&lt;</a:t>
                      </a:r>
                      <a:r>
                        <a:rPr lang="en-US" sz="1400" b="1" dirty="0" err="1"/>
                        <a:t>Map.Entry</a:t>
                      </a:r>
                      <a:r>
                        <a:rPr lang="en-US" sz="1400" b="1" dirty="0"/>
                        <a:t>&lt;K,V&gt;&gt; </a:t>
                      </a:r>
                      <a:r>
                        <a:rPr lang="en-US" sz="1400" b="1" dirty="0" err="1"/>
                        <a:t>entrySet</a:t>
                      </a:r>
                      <a:r>
                        <a:rPr lang="en-US" sz="1400" b="1" dirty="0"/>
                        <a:t>() </a:t>
                      </a:r>
                      <a:r>
                        <a:rPr lang="en-US" sz="1400" dirty="0"/>
                        <a:t>- Returns a Set view of the mappings contained in this map.</a:t>
                      </a:r>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518163">
                <a:tc>
                  <a:txBody>
                    <a:bodyPr/>
                    <a:lstStyle/>
                    <a:p>
                      <a:r>
                        <a:rPr lang="en-US" sz="1400" b="1" dirty="0"/>
                        <a:t>V get(Object key) </a:t>
                      </a:r>
                      <a:r>
                        <a:rPr lang="en-US" sz="1400" dirty="0"/>
                        <a:t>- </a:t>
                      </a:r>
                      <a:r>
                        <a:rPr lang="en-US" sz="1400" b="0" i="0" kern="1200" dirty="0">
                          <a:solidFill>
                            <a:schemeClr val="dk1"/>
                          </a:solidFill>
                          <a:effectLst/>
                          <a:latin typeface="+mn-lt"/>
                          <a:ea typeface="+mn-ea"/>
                          <a:cs typeface="+mn-cs"/>
                        </a:rPr>
                        <a:t>Returns the value to which the specified key is mapped, or </a:t>
                      </a:r>
                      <a:r>
                        <a:rPr lang="en-US" sz="1400" dirty="0"/>
                        <a:t>null</a:t>
                      </a:r>
                      <a:r>
                        <a:rPr lang="en-US" sz="1400" b="0" i="0" kern="1200" dirty="0">
                          <a:solidFill>
                            <a:schemeClr val="dk1"/>
                          </a:solidFill>
                          <a:effectLst/>
                          <a:latin typeface="+mn-lt"/>
                          <a:ea typeface="+mn-ea"/>
                          <a:cs typeface="+mn-cs"/>
                        </a:rPr>
                        <a:t> if this map contains no mapping for the key.</a:t>
                      </a:r>
                      <a:endParaRPr lang="en-US" sz="1400" dirty="0"/>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518109">
                <a:tc>
                  <a:txBody>
                    <a:bodyPr/>
                    <a:lstStyle/>
                    <a:p>
                      <a:r>
                        <a:rPr lang="en-US" sz="1400" b="1" dirty="0" err="1"/>
                        <a:t>boolean</a:t>
                      </a:r>
                      <a:r>
                        <a:rPr lang="en-US" sz="1400" b="1" dirty="0"/>
                        <a:t> </a:t>
                      </a:r>
                      <a:r>
                        <a:rPr lang="en-US" sz="1400" b="1" dirty="0" err="1"/>
                        <a:t>isEmpty</a:t>
                      </a:r>
                      <a:r>
                        <a:rPr lang="en-US" sz="1400" b="1" dirty="0"/>
                        <a:t>() </a:t>
                      </a:r>
                      <a:r>
                        <a:rPr lang="en-US" sz="1400" b="0" dirty="0"/>
                        <a:t> - </a:t>
                      </a:r>
                      <a:r>
                        <a:rPr lang="en-US" sz="1400" b="0" i="0" kern="1200" dirty="0">
                          <a:solidFill>
                            <a:schemeClr val="dk1"/>
                          </a:solidFill>
                          <a:effectLst/>
                          <a:latin typeface="+mn-lt"/>
                          <a:ea typeface="+mn-ea"/>
                          <a:cs typeface="+mn-cs"/>
                        </a:rPr>
                        <a:t>Returns </a:t>
                      </a:r>
                      <a:r>
                        <a:rPr lang="en-US" sz="1400" dirty="0"/>
                        <a:t>true</a:t>
                      </a:r>
                      <a:r>
                        <a:rPr lang="en-US" sz="1400" b="0" i="0" kern="1200" dirty="0">
                          <a:solidFill>
                            <a:schemeClr val="dk1"/>
                          </a:solidFill>
                          <a:effectLst/>
                          <a:latin typeface="+mn-lt"/>
                          <a:ea typeface="+mn-ea"/>
                          <a:cs typeface="+mn-cs"/>
                        </a:rPr>
                        <a:t> if this map contains no key-value mapping</a:t>
                      </a:r>
                      <a:endParaRPr lang="en-US" sz="1400" b="1" dirty="0"/>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518109">
                <a:tc>
                  <a:txBody>
                    <a:bodyPr/>
                    <a:lstStyle/>
                    <a:p>
                      <a:r>
                        <a:rPr lang="en-US" sz="1400" b="1" dirty="0"/>
                        <a:t>Set&lt;K&gt; keySet() </a:t>
                      </a:r>
                      <a:r>
                        <a:rPr lang="en-US" sz="1400" dirty="0"/>
                        <a:t>- Returns a Set view of the keys contained in this map.</a:t>
                      </a:r>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7"/>
                  </a:ext>
                </a:extLst>
              </a:tr>
              <a:tr h="5181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V put(</a:t>
                      </a:r>
                      <a:r>
                        <a:rPr lang="en-US" sz="1400" b="1" u="none" strike="noStrike" kern="1200" dirty="0">
                          <a:solidFill>
                            <a:schemeClr val="dk1"/>
                          </a:solidFill>
                          <a:effectLst/>
                          <a:latin typeface="+mn-lt"/>
                          <a:ea typeface="+mn-ea"/>
                          <a:cs typeface="+mn-cs"/>
                        </a:rPr>
                        <a:t>K</a:t>
                      </a:r>
                      <a:r>
                        <a:rPr lang="en-US" sz="1400" b="1" dirty="0"/>
                        <a:t> key, </a:t>
                      </a:r>
                      <a:r>
                        <a:rPr lang="en-US" sz="1400" b="1" u="none" strike="noStrike" kern="1200" dirty="0">
                          <a:solidFill>
                            <a:schemeClr val="dk1"/>
                          </a:solidFill>
                          <a:effectLst/>
                          <a:latin typeface="+mn-lt"/>
                          <a:ea typeface="+mn-ea"/>
                          <a:cs typeface="+mn-cs"/>
                        </a:rPr>
                        <a:t>V</a:t>
                      </a:r>
                      <a:r>
                        <a:rPr lang="en-US" sz="1400" b="1" dirty="0"/>
                        <a:t> value) </a:t>
                      </a:r>
                      <a:r>
                        <a:rPr lang="en-US" sz="1400" dirty="0"/>
                        <a:t>– </a:t>
                      </a:r>
                      <a:r>
                        <a:rPr lang="en-US" sz="1400" b="0" i="0" kern="1200" dirty="0">
                          <a:solidFill>
                            <a:schemeClr val="dk1"/>
                          </a:solidFill>
                          <a:effectLst/>
                          <a:latin typeface="+mn-lt"/>
                          <a:ea typeface="+mn-ea"/>
                          <a:cs typeface="+mn-cs"/>
                        </a:rPr>
                        <a:t>Inserts a key and value pair into the map</a:t>
                      </a:r>
                      <a:endParaRPr lang="en-US" sz="1400" b="1" dirty="0"/>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8"/>
                  </a:ext>
                </a:extLst>
              </a:tr>
              <a:tr h="518163">
                <a:tc>
                  <a:txBody>
                    <a:bodyPr/>
                    <a:lstStyle/>
                    <a:p>
                      <a:r>
                        <a:rPr lang="en-US" sz="1400" b="1" dirty="0"/>
                        <a:t>void </a:t>
                      </a:r>
                      <a:r>
                        <a:rPr lang="en-US" sz="1400" b="1" dirty="0" err="1"/>
                        <a:t>putAll</a:t>
                      </a:r>
                      <a:r>
                        <a:rPr lang="en-US" sz="1400" b="1" dirty="0"/>
                        <a:t>(Map&lt;? extends K,? extends V&gt; m) </a:t>
                      </a:r>
                      <a:r>
                        <a:rPr lang="en-US" sz="1400" dirty="0"/>
                        <a:t>- Copies all of the mappings from the specified map to this map (optional operation).</a:t>
                      </a:r>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370804">
                <a:tc>
                  <a:txBody>
                    <a:bodyPr/>
                    <a:lstStyle/>
                    <a:p>
                      <a:r>
                        <a:rPr lang="en-US" sz="1400" b="1" dirty="0"/>
                        <a:t>V remove(Object key) </a:t>
                      </a:r>
                      <a:r>
                        <a:rPr lang="en-US" sz="1400" dirty="0"/>
                        <a:t>- Removes the mapping for a key from this map if it is present </a:t>
                      </a:r>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370804">
                <a:tc>
                  <a:txBody>
                    <a:bodyPr/>
                    <a:lstStyle/>
                    <a:p>
                      <a:r>
                        <a:rPr lang="en-US" sz="1400" b="1" dirty="0"/>
                        <a:t>int size() </a:t>
                      </a:r>
                      <a:r>
                        <a:rPr lang="en-US" sz="1400" dirty="0"/>
                        <a:t>- Returns the number of key-value pairs in this map.</a:t>
                      </a:r>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1"/>
                  </a:ext>
                </a:extLst>
              </a:tr>
              <a:tr h="370804">
                <a:tc>
                  <a:txBody>
                    <a:bodyPr/>
                    <a:lstStyle/>
                    <a:p>
                      <a:r>
                        <a:rPr lang="en-US" sz="1400" b="1" dirty="0"/>
                        <a:t>Collection&lt;V&gt; values() </a:t>
                      </a:r>
                      <a:r>
                        <a:rPr lang="en-US" sz="1400" dirty="0"/>
                        <a:t>- Returns a Collection view of the values contained in this map.</a:t>
                      </a:r>
                    </a:p>
                  </a:txBody>
                  <a:tcPr marL="91443" marR="91443" marT="45715" marB="457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2"/>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EE97ACE-0404-4659-B98D-4F1B97B9A6C7}"/>
              </a:ext>
            </a:extLst>
          </p:cNvPr>
          <p:cNvSpPr>
            <a:spLocks noGrp="1" noChangeArrowheads="1"/>
          </p:cNvSpPr>
          <p:nvPr>
            <p:ph type="title"/>
          </p:nvPr>
        </p:nvSpPr>
        <p:spPr>
          <a:xfrm>
            <a:off x="492125" y="76200"/>
            <a:ext cx="7924800" cy="609600"/>
          </a:xfrm>
          <a:noFill/>
        </p:spPr>
        <p:txBody>
          <a:bodyPr/>
          <a:lstStyle/>
          <a:p>
            <a:pPr eaLnBrk="1" hangingPunct="1"/>
            <a:r>
              <a:rPr lang="en-US" altLang="en-US" sz="4000">
                <a:cs typeface="Times New Roman" panose="02020603050405020304" pitchFamily="18" charset="0"/>
              </a:rPr>
              <a:t>Concrete Map Classes</a:t>
            </a:r>
          </a:p>
        </p:txBody>
      </p:sp>
      <p:sp>
        <p:nvSpPr>
          <p:cNvPr id="30723" name="Slide Number Placeholder 4">
            <a:extLst>
              <a:ext uri="{FF2B5EF4-FFF2-40B4-BE49-F238E27FC236}">
                <a16:creationId xmlns:a16="http://schemas.microsoft.com/office/drawing/2014/main" id="{AF7659F1-CB77-4B2B-BBCE-89BFDB227DC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18A89C3-B1C5-4982-9AD3-A34E7A8AACE6}" type="slidenum">
              <a:rPr lang="en-US" altLang="en-US" sz="1400" smtClean="0"/>
              <a:pPr>
                <a:spcBef>
                  <a:spcPct val="0"/>
                </a:spcBef>
                <a:buClrTx/>
                <a:buSzTx/>
                <a:buFontTx/>
                <a:buNone/>
              </a:pPr>
              <a:t>27</a:t>
            </a:fld>
            <a:endParaRPr lang="en-US" altLang="en-US" sz="1400"/>
          </a:p>
        </p:txBody>
      </p:sp>
      <p:pic>
        <p:nvPicPr>
          <p:cNvPr id="30732" name="Picture 14">
            <a:extLst>
              <a:ext uri="{FF2B5EF4-FFF2-40B4-BE49-F238E27FC236}">
                <a16:creationId xmlns:a16="http://schemas.microsoft.com/office/drawing/2014/main" id="{D9D27195-7F95-4B61-BB50-F85BE3A6535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838" y="771525"/>
            <a:ext cx="7089775" cy="5668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0716418-82D2-4E45-99EC-2EAA3751ECA1}"/>
              </a:ext>
            </a:extLst>
          </p:cNvPr>
          <p:cNvSpPr>
            <a:spLocks noGrp="1" noChangeArrowheads="1"/>
          </p:cNvSpPr>
          <p:nvPr>
            <p:ph type="title"/>
          </p:nvPr>
        </p:nvSpPr>
        <p:spPr>
          <a:xfrm>
            <a:off x="492125" y="76200"/>
            <a:ext cx="7924800" cy="609600"/>
          </a:xfrm>
          <a:noFill/>
        </p:spPr>
        <p:txBody>
          <a:bodyPr/>
          <a:lstStyle/>
          <a:p>
            <a:pPr eaLnBrk="1" hangingPunct="1"/>
            <a:r>
              <a:rPr lang="en-US" altLang="en-US" sz="4000">
                <a:cs typeface="Times New Roman" panose="02020603050405020304" pitchFamily="18" charset="0"/>
              </a:rPr>
              <a:t>Entry</a:t>
            </a:r>
          </a:p>
        </p:txBody>
      </p:sp>
      <p:sp>
        <p:nvSpPr>
          <p:cNvPr id="31747" name="Slide Number Placeholder 4">
            <a:extLst>
              <a:ext uri="{FF2B5EF4-FFF2-40B4-BE49-F238E27FC236}">
                <a16:creationId xmlns:a16="http://schemas.microsoft.com/office/drawing/2014/main" id="{28E48372-9FBC-4A6B-A1CF-7FDEAC455C0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D290C4B-833D-42DB-A3E8-D60F193EF271}" type="slidenum">
              <a:rPr lang="en-US" altLang="en-US" sz="1400" smtClean="0"/>
              <a:pPr>
                <a:spcBef>
                  <a:spcPct val="0"/>
                </a:spcBef>
                <a:buClrTx/>
                <a:buSzTx/>
                <a:buFontTx/>
                <a:buNone/>
              </a:pPr>
              <a:t>28</a:t>
            </a:fld>
            <a:endParaRPr lang="en-US" altLang="en-US" sz="1400"/>
          </a:p>
        </p:txBody>
      </p:sp>
      <p:pic>
        <p:nvPicPr>
          <p:cNvPr id="31756" name="Picture 2">
            <a:extLst>
              <a:ext uri="{FF2B5EF4-FFF2-40B4-BE49-F238E27FC236}">
                <a16:creationId xmlns:a16="http://schemas.microsoft.com/office/drawing/2014/main" id="{DB145D7A-C981-4D38-8447-B0010D8AB850}"/>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8" y="1443038"/>
            <a:ext cx="8963025" cy="191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D6C9FA9D-5999-4CE3-867B-E90A0556A384}"/>
              </a:ext>
            </a:extLst>
          </p:cNvPr>
          <p:cNvSpPr>
            <a:spLocks noGrp="1" noChangeArrowheads="1"/>
          </p:cNvSpPr>
          <p:nvPr>
            <p:ph type="title"/>
          </p:nvPr>
        </p:nvSpPr>
        <p:spPr>
          <a:xfrm>
            <a:off x="228600" y="228600"/>
            <a:ext cx="8610600" cy="685800"/>
          </a:xfrm>
          <a:noFill/>
        </p:spPr>
        <p:txBody>
          <a:bodyPr/>
          <a:lstStyle/>
          <a:p>
            <a:pPr eaLnBrk="1" hangingPunct="1"/>
            <a:r>
              <a:rPr lang="en-US" altLang="en-US" sz="3600">
                <a:cs typeface="Times New Roman" panose="02020603050405020304" pitchFamily="18" charset="0"/>
              </a:rPr>
              <a:t>HashMap and TreeMap</a:t>
            </a:r>
          </a:p>
        </p:txBody>
      </p:sp>
      <p:sp>
        <p:nvSpPr>
          <p:cNvPr id="32771" name="Rectangle 4">
            <a:extLst>
              <a:ext uri="{FF2B5EF4-FFF2-40B4-BE49-F238E27FC236}">
                <a16:creationId xmlns:a16="http://schemas.microsoft.com/office/drawing/2014/main" id="{AC47CA2A-3945-44FC-9C5F-A79379EF7DC1}"/>
              </a:ext>
            </a:extLst>
          </p:cNvPr>
          <p:cNvSpPr>
            <a:spLocks noGrp="1" noChangeArrowheads="1"/>
          </p:cNvSpPr>
          <p:nvPr>
            <p:ph idx="1"/>
          </p:nvPr>
        </p:nvSpPr>
        <p:spPr>
          <a:xfrm>
            <a:off x="228600" y="1066800"/>
            <a:ext cx="8610600" cy="5029200"/>
          </a:xfrm>
        </p:spPr>
        <p:txBody>
          <a:bodyPr/>
          <a:lstStyle/>
          <a:p>
            <a:pPr eaLnBrk="1" hangingPunct="1">
              <a:spcBef>
                <a:spcPct val="0"/>
              </a:spcBef>
              <a:spcAft>
                <a:spcPts val="1200"/>
              </a:spcAft>
              <a:buFont typeface="Wingdings" panose="05000000000000000000" pitchFamily="2" charset="2"/>
              <a:buChar char="§"/>
            </a:pPr>
            <a:r>
              <a:rPr lang="en-US" altLang="en-US" sz="2800">
                <a:cs typeface="Times New Roman" panose="02020603050405020304" pitchFamily="18" charset="0"/>
              </a:rPr>
              <a:t>The HashMap, LinkedHashMap, and TreeMap classes are three concrete implementations of the Map interface. </a:t>
            </a:r>
          </a:p>
          <a:p>
            <a:pPr eaLnBrk="1" hangingPunct="1">
              <a:spcBef>
                <a:spcPct val="0"/>
              </a:spcBef>
              <a:spcAft>
                <a:spcPts val="1200"/>
              </a:spcAft>
              <a:buFont typeface="Wingdings" panose="05000000000000000000" pitchFamily="2" charset="2"/>
              <a:buChar char="§"/>
            </a:pPr>
            <a:r>
              <a:rPr lang="en-US" altLang="en-US" sz="2800">
                <a:cs typeface="Times New Roman" panose="02020603050405020304" pitchFamily="18" charset="0"/>
              </a:rPr>
              <a:t>The </a:t>
            </a:r>
            <a:r>
              <a:rPr lang="en-US" altLang="en-US" sz="2800" b="1">
                <a:cs typeface="Times New Roman" panose="02020603050405020304" pitchFamily="18" charset="0"/>
              </a:rPr>
              <a:t>HashMap</a:t>
            </a:r>
            <a:r>
              <a:rPr lang="en-US" altLang="en-US" sz="2800">
                <a:cs typeface="Times New Roman" panose="02020603050405020304" pitchFamily="18" charset="0"/>
              </a:rPr>
              <a:t> class is efficient for locating a value, inserting a mapping, and deleting a mapping. </a:t>
            </a:r>
          </a:p>
          <a:p>
            <a:pPr eaLnBrk="1" hangingPunct="1">
              <a:spcBef>
                <a:spcPct val="0"/>
              </a:spcBef>
              <a:spcAft>
                <a:spcPts val="1200"/>
              </a:spcAft>
              <a:buFont typeface="Wingdings" panose="05000000000000000000" pitchFamily="2" charset="2"/>
              <a:buChar char="§"/>
            </a:pPr>
            <a:r>
              <a:rPr lang="en-US" altLang="en-US" sz="2800">
                <a:cs typeface="Times New Roman" panose="02020603050405020304" pitchFamily="18" charset="0"/>
              </a:rPr>
              <a:t>The keys are not stored in any particular order in a HashMap though</a:t>
            </a:r>
          </a:p>
          <a:p>
            <a:pPr eaLnBrk="1" hangingPunct="1">
              <a:spcBef>
                <a:spcPct val="0"/>
              </a:spcBef>
              <a:spcAft>
                <a:spcPts val="1200"/>
              </a:spcAft>
              <a:buFont typeface="Wingdings" panose="05000000000000000000" pitchFamily="2" charset="2"/>
              <a:buChar char="§"/>
            </a:pPr>
            <a:r>
              <a:rPr lang="en-US" altLang="en-US" sz="2800">
                <a:cs typeface="Times New Roman" panose="02020603050405020304" pitchFamily="18" charset="0"/>
              </a:rPr>
              <a:t>The </a:t>
            </a:r>
            <a:r>
              <a:rPr lang="en-US" altLang="en-US" sz="2800" b="1">
                <a:cs typeface="Times New Roman" panose="02020603050405020304" pitchFamily="18" charset="0"/>
              </a:rPr>
              <a:t>TreeMap</a:t>
            </a:r>
            <a:r>
              <a:rPr lang="en-US" altLang="en-US" sz="2800">
                <a:cs typeface="Times New Roman" panose="02020603050405020304" pitchFamily="18" charset="0"/>
              </a:rPr>
              <a:t> class (implementing SortedMap) lets you traverse the keys in a </a:t>
            </a:r>
            <a:r>
              <a:rPr lang="en-US" altLang="en-US" sz="2800" u="sng">
                <a:cs typeface="Times New Roman" panose="02020603050405020304" pitchFamily="18" charset="0"/>
              </a:rPr>
              <a:t>sorted</a:t>
            </a:r>
            <a:r>
              <a:rPr lang="en-US" altLang="en-US" sz="2800">
                <a:cs typeface="Times New Roman" panose="02020603050405020304" pitchFamily="18" charset="0"/>
              </a:rPr>
              <a:t> order. </a:t>
            </a:r>
          </a:p>
          <a:p>
            <a:pPr eaLnBrk="1" hangingPunct="1">
              <a:spcBef>
                <a:spcPct val="0"/>
              </a:spcBef>
              <a:spcAft>
                <a:spcPts val="1200"/>
              </a:spcAft>
              <a:buFont typeface="Wingdings" panose="05000000000000000000" pitchFamily="2" charset="2"/>
              <a:buChar char="§"/>
            </a:pPr>
            <a:r>
              <a:rPr lang="en-US" altLang="en-US" sz="2800">
                <a:cs typeface="Times New Roman" panose="02020603050405020304" pitchFamily="18" charset="0"/>
              </a:rPr>
              <a:t>The TreeMap class requires a little more overhead by Java since it keeps the keys sorted for you.</a:t>
            </a:r>
          </a:p>
        </p:txBody>
      </p:sp>
      <p:sp>
        <p:nvSpPr>
          <p:cNvPr id="32772" name="Slide Number Placeholder 4">
            <a:extLst>
              <a:ext uri="{FF2B5EF4-FFF2-40B4-BE49-F238E27FC236}">
                <a16:creationId xmlns:a16="http://schemas.microsoft.com/office/drawing/2014/main" id="{BEFC1F25-DD3E-4312-90FF-60F85FAD39F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34EA43C-765D-4A57-9EAF-57974379C8FD}" type="slidenum">
              <a:rPr lang="en-US" altLang="en-US" sz="1400" smtClean="0"/>
              <a:pPr>
                <a:spcBef>
                  <a:spcPct val="0"/>
                </a:spcBef>
                <a:buClrTx/>
                <a:buSzTx/>
                <a:buFontTx/>
                <a:buNone/>
              </a:pPr>
              <a:t>29</a:t>
            </a:fld>
            <a:endParaRPr lang="en-US" altLang="en-US" sz="1400"/>
          </a:p>
        </p:txBody>
      </p:sp>
      <p:sp>
        <p:nvSpPr>
          <p:cNvPr id="32778" name="TextBox 1">
            <a:extLst>
              <a:ext uri="{FF2B5EF4-FFF2-40B4-BE49-F238E27FC236}">
                <a16:creationId xmlns:a16="http://schemas.microsoft.com/office/drawing/2014/main" id="{37EAD242-0293-4D76-951E-39BFC692C6D7}"/>
              </a:ext>
            </a:extLst>
          </p:cNvPr>
          <p:cNvSpPr txBox="1">
            <a:spLocks noChangeArrowheads="1"/>
          </p:cNvSpPr>
          <p:nvPr/>
        </p:nvSpPr>
        <p:spPr bwMode="auto">
          <a:xfrm>
            <a:off x="7391400" y="5867400"/>
            <a:ext cx="152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a:t>References</a:t>
            </a:r>
            <a:endParaRPr lang="en-US" altLang="en-US" sz="1200">
              <a:hlinkClick r:id="rId3"/>
            </a:endParaRPr>
          </a:p>
          <a:p>
            <a:pPr>
              <a:spcBef>
                <a:spcPct val="0"/>
              </a:spcBef>
              <a:buClrTx/>
              <a:buSzTx/>
              <a:buFontTx/>
              <a:buNone/>
            </a:pPr>
            <a:r>
              <a:rPr lang="en-US" altLang="en-US" sz="1200">
                <a:hlinkClick r:id="rId3"/>
              </a:rPr>
              <a:t>Geeksforgeeks</a:t>
            </a:r>
            <a:endParaRPr lang="en-US" altLang="en-US" sz="1200"/>
          </a:p>
          <a:p>
            <a:pPr>
              <a:spcBef>
                <a:spcPct val="0"/>
              </a:spcBef>
              <a:buClrTx/>
              <a:buSzTx/>
              <a:buFontTx/>
              <a:buNone/>
            </a:pPr>
            <a:r>
              <a:rPr lang="en-US" altLang="en-US" sz="1200">
                <a:hlinkClick r:id="rId4"/>
              </a:rPr>
              <a:t>W3Schools HashMap</a:t>
            </a:r>
            <a:endParaRPr lang="en-US" altLang="en-US" sz="1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AA68D2AB-0D28-4386-B136-FF915D145CB9}"/>
              </a:ext>
            </a:extLst>
          </p:cNvPr>
          <p:cNvSpPr>
            <a:spLocks noGrp="1" noChangeArrowheads="1"/>
          </p:cNvSpPr>
          <p:nvPr>
            <p:ph type="title"/>
          </p:nvPr>
        </p:nvSpPr>
        <p:spPr>
          <a:xfrm>
            <a:off x="228600" y="228600"/>
            <a:ext cx="8610600" cy="685800"/>
          </a:xfrm>
          <a:noFill/>
        </p:spPr>
        <p:txBody>
          <a:bodyPr/>
          <a:lstStyle/>
          <a:p>
            <a:pPr eaLnBrk="1" hangingPunct="1"/>
            <a:r>
              <a:rPr lang="en-US" altLang="en-US" sz="3600">
                <a:cs typeface="Times New Roman" panose="02020603050405020304" pitchFamily="18" charset="0"/>
              </a:rPr>
              <a:t>LinkedHashMap</a:t>
            </a:r>
          </a:p>
        </p:txBody>
      </p:sp>
      <p:sp>
        <p:nvSpPr>
          <p:cNvPr id="33795" name="Rectangle 4">
            <a:extLst>
              <a:ext uri="{FF2B5EF4-FFF2-40B4-BE49-F238E27FC236}">
                <a16:creationId xmlns:a16="http://schemas.microsoft.com/office/drawing/2014/main" id="{F6D20210-CDC4-491C-8DAF-7E851A698E75}"/>
              </a:ext>
            </a:extLst>
          </p:cNvPr>
          <p:cNvSpPr>
            <a:spLocks noGrp="1" noChangeArrowheads="1"/>
          </p:cNvSpPr>
          <p:nvPr>
            <p:ph idx="1"/>
          </p:nvPr>
        </p:nvSpPr>
        <p:spPr>
          <a:xfrm>
            <a:off x="228600" y="1066800"/>
            <a:ext cx="8686800" cy="4953000"/>
          </a:xfrm>
        </p:spPr>
        <p:txBody>
          <a:bodyPr/>
          <a:lstStyle/>
          <a:p>
            <a:pPr eaLnBrk="1" hangingPunct="1">
              <a:lnSpc>
                <a:spcPct val="90000"/>
              </a:lnSpc>
              <a:spcBef>
                <a:spcPct val="0"/>
              </a:spcBef>
              <a:spcAft>
                <a:spcPts val="1200"/>
              </a:spcAft>
              <a:buFont typeface="Wingdings" panose="05000000000000000000" pitchFamily="2" charset="2"/>
              <a:buChar char="§"/>
            </a:pPr>
            <a:r>
              <a:rPr lang="en-US" altLang="en-US" sz="2400" b="1">
                <a:cs typeface="Times New Roman" panose="02020603050405020304" pitchFamily="18" charset="0"/>
              </a:rPr>
              <a:t>LinkedHashMap</a:t>
            </a:r>
            <a:r>
              <a:rPr lang="en-US" altLang="en-US" sz="2400">
                <a:cs typeface="Times New Roman" panose="02020603050405020304" pitchFamily="18" charset="0"/>
              </a:rPr>
              <a:t> extends HashMap with a linked list implementation that supports an ordering of the entries in the map. </a:t>
            </a:r>
          </a:p>
          <a:p>
            <a:pPr eaLnBrk="1" hangingPunct="1">
              <a:lnSpc>
                <a:spcPct val="90000"/>
              </a:lnSpc>
              <a:spcBef>
                <a:spcPct val="0"/>
              </a:spcBef>
              <a:spcAft>
                <a:spcPts val="1200"/>
              </a:spcAft>
              <a:buFont typeface="Wingdings" panose="05000000000000000000" pitchFamily="2" charset="2"/>
              <a:buChar char="§"/>
            </a:pPr>
            <a:r>
              <a:rPr lang="en-US" altLang="en-US" sz="2400">
                <a:cs typeface="Times New Roman" panose="02020603050405020304" pitchFamily="18" charset="0"/>
              </a:rPr>
              <a:t>The entries in a LinkedHashMap can be retrieved in the order in which they were inserted into the map (known as the insertion order), or the order in which they were last accessed, from least recently accessed to most recently (access order). </a:t>
            </a:r>
          </a:p>
          <a:p>
            <a:pPr eaLnBrk="1" hangingPunct="1">
              <a:lnSpc>
                <a:spcPct val="90000"/>
              </a:lnSpc>
              <a:spcBef>
                <a:spcPct val="0"/>
              </a:spcBef>
              <a:spcAft>
                <a:spcPts val="1200"/>
              </a:spcAft>
              <a:buFont typeface="Wingdings" panose="05000000000000000000" pitchFamily="2" charset="2"/>
              <a:buChar char="§"/>
            </a:pPr>
            <a:r>
              <a:rPr lang="en-US" altLang="en-US" sz="2400">
                <a:cs typeface="Times New Roman" panose="02020603050405020304" pitchFamily="18" charset="0"/>
              </a:rPr>
              <a:t>When you create a LinkedHashMap using the no-argument constructor it will use the insertion order. </a:t>
            </a:r>
          </a:p>
          <a:p>
            <a:pPr eaLnBrk="1" hangingPunct="1">
              <a:lnSpc>
                <a:spcPct val="90000"/>
              </a:lnSpc>
              <a:spcBef>
                <a:spcPct val="0"/>
              </a:spcBef>
              <a:spcAft>
                <a:spcPts val="1200"/>
              </a:spcAft>
              <a:buFont typeface="Wingdings" panose="05000000000000000000" pitchFamily="2" charset="2"/>
              <a:buChar char="§"/>
            </a:pPr>
            <a:r>
              <a:rPr lang="en-US" altLang="en-US" sz="2400">
                <a:cs typeface="Times New Roman" panose="02020603050405020304" pitchFamily="18" charset="0"/>
              </a:rPr>
              <a:t>To construct a LinkedHashMap with the access order, use the LinkedHashMap(initialCapacity, loadFactor, true).</a:t>
            </a:r>
            <a:endParaRPr lang="en-US" altLang="en-US" sz="2800">
              <a:latin typeface="Courier"/>
              <a:cs typeface="Times New Roman" panose="02020603050405020304" pitchFamily="18" charset="0"/>
            </a:endParaRPr>
          </a:p>
        </p:txBody>
      </p:sp>
      <p:sp>
        <p:nvSpPr>
          <p:cNvPr id="33796" name="Slide Number Placeholder 4">
            <a:extLst>
              <a:ext uri="{FF2B5EF4-FFF2-40B4-BE49-F238E27FC236}">
                <a16:creationId xmlns:a16="http://schemas.microsoft.com/office/drawing/2014/main" id="{F9CB1175-3C53-4813-916C-D3F1CA718E7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78515AC-9229-429B-85E7-DAED226EB632}" type="slidenum">
              <a:rPr lang="en-US" altLang="en-US" sz="1400" smtClean="0"/>
              <a:pPr>
                <a:spcBef>
                  <a:spcPct val="0"/>
                </a:spcBef>
                <a:buClrTx/>
                <a:buSzTx/>
                <a:buFontTx/>
                <a:buNone/>
              </a:pPr>
              <a:t>30</a:t>
            </a:fld>
            <a:endParaRPr lang="en-US" altLang="en-US" sz="1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1096244-FA14-4775-8A05-DAFD0732448F}"/>
              </a:ext>
            </a:extLst>
          </p:cNvPr>
          <p:cNvSpPr>
            <a:spLocks noGrp="1" noChangeArrowheads="1"/>
          </p:cNvSpPr>
          <p:nvPr>
            <p:ph type="title"/>
          </p:nvPr>
        </p:nvSpPr>
        <p:spPr>
          <a:xfrm>
            <a:off x="1219200" y="19050"/>
            <a:ext cx="7239000" cy="552450"/>
          </a:xfrm>
        </p:spPr>
        <p:txBody>
          <a:bodyPr/>
          <a:lstStyle/>
          <a:p>
            <a:r>
              <a:rPr lang="en-US" altLang="en-US" dirty="0"/>
              <a:t>HashMap Example</a:t>
            </a:r>
          </a:p>
        </p:txBody>
      </p:sp>
      <p:sp>
        <p:nvSpPr>
          <p:cNvPr id="34819" name="Content Placeholder 2">
            <a:extLst>
              <a:ext uri="{FF2B5EF4-FFF2-40B4-BE49-F238E27FC236}">
                <a16:creationId xmlns:a16="http://schemas.microsoft.com/office/drawing/2014/main" id="{05893659-2340-4DF1-B558-EDC996CAF00A}"/>
              </a:ext>
            </a:extLst>
          </p:cNvPr>
          <p:cNvSpPr>
            <a:spLocks noGrp="1"/>
          </p:cNvSpPr>
          <p:nvPr>
            <p:ph idx="1"/>
          </p:nvPr>
        </p:nvSpPr>
        <p:spPr>
          <a:xfrm>
            <a:off x="0" y="685800"/>
            <a:ext cx="4572000" cy="5713413"/>
          </a:xfrm>
          <a:ln>
            <a:solidFill>
              <a:schemeClr val="tx1"/>
            </a:solidFill>
            <a:miter lim="800000"/>
            <a:headEnd/>
            <a:tailEnd/>
          </a:ln>
        </p:spPr>
        <p:txBody>
          <a:bodyPr/>
          <a:lstStyle/>
          <a:p>
            <a:pPr marL="0" indent="0">
              <a:buFont typeface="Monotype Sorts"/>
              <a:buNone/>
            </a:pPr>
            <a:endParaRPr lang="en-US" altLang="en-US" sz="500" b="1" dirty="0">
              <a:latin typeface="Consolas" panose="020B0609020204030204" pitchFamily="49" charset="0"/>
            </a:endParaRPr>
          </a:p>
          <a:p>
            <a:pPr marL="0" indent="0">
              <a:buFont typeface="Monotype Sorts"/>
              <a:buNone/>
            </a:pPr>
            <a:r>
              <a:rPr lang="en-US" altLang="en-US" sz="1200" b="1" dirty="0">
                <a:latin typeface="Consolas" panose="020B0609020204030204" pitchFamily="49" charset="0"/>
              </a:rPr>
              <a:t>import </a:t>
            </a:r>
            <a:r>
              <a:rPr lang="en-US" altLang="en-US" sz="1200" b="1" dirty="0" err="1">
                <a:latin typeface="Consolas" panose="020B0609020204030204" pitchFamily="49" charset="0"/>
              </a:rPr>
              <a:t>java.util.HashMap</a:t>
            </a:r>
            <a:r>
              <a:rPr lang="en-US" altLang="en-US" sz="1200" b="1" dirty="0">
                <a:latin typeface="Consolas" panose="020B0609020204030204" pitchFamily="49" charset="0"/>
              </a:rPr>
              <a:t>;</a:t>
            </a:r>
            <a:endParaRPr lang="en-US" altLang="en-US" sz="1200" dirty="0">
              <a:latin typeface="Consolas" panose="020B0609020204030204" pitchFamily="49" charset="0"/>
            </a:endParaRPr>
          </a:p>
          <a:p>
            <a:pPr marL="0" indent="0">
              <a:buFont typeface="Monotype Sorts"/>
              <a:buNone/>
            </a:pPr>
            <a:endParaRPr lang="en-US" altLang="en-US" sz="1200" dirty="0">
              <a:latin typeface="Consolas" panose="020B0609020204030204" pitchFamily="49" charset="0"/>
            </a:endParaRPr>
          </a:p>
          <a:p>
            <a:pPr marL="0" indent="0">
              <a:buFont typeface="Monotype Sorts"/>
              <a:buNone/>
            </a:pPr>
            <a:r>
              <a:rPr lang="en-US" altLang="en-US" sz="1200" b="1" dirty="0">
                <a:latin typeface="Consolas" panose="020B0609020204030204" pitchFamily="49" charset="0"/>
              </a:rPr>
              <a:t>public static void main(String[] </a:t>
            </a:r>
            <a:r>
              <a:rPr lang="en-US" altLang="en-US" sz="1200" b="1" dirty="0" err="1">
                <a:latin typeface="Consolas" panose="020B0609020204030204" pitchFamily="49" charset="0"/>
              </a:rPr>
              <a:t>args</a:t>
            </a:r>
            <a:r>
              <a:rPr lang="en-US" altLang="en-US" sz="1200" b="1" dirty="0">
                <a:latin typeface="Consolas" panose="020B0609020204030204" pitchFamily="49" charset="0"/>
              </a:rPr>
              <a:t>)</a:t>
            </a:r>
          </a:p>
          <a:p>
            <a:pPr marL="0" indent="0">
              <a:buFont typeface="Monotype Sorts"/>
              <a:buNone/>
            </a:pPr>
            <a:r>
              <a:rPr lang="en-US" altLang="en-US" sz="1200" dirty="0">
                <a:latin typeface="Consolas" panose="020B0609020204030204" pitchFamily="49" charset="0"/>
              </a:rPr>
              <a:t>{</a:t>
            </a:r>
          </a:p>
          <a:p>
            <a:pPr marL="0" indent="0">
              <a:buFont typeface="Monotype Sorts"/>
              <a:buNone/>
            </a:pPr>
            <a:r>
              <a:rPr lang="en-US" altLang="en-US" sz="1200" dirty="0">
                <a:latin typeface="Consolas" panose="020B0609020204030204" pitchFamily="49" charset="0"/>
              </a:rPr>
              <a:t>    </a:t>
            </a:r>
            <a:r>
              <a:rPr lang="en-US" altLang="en-US" sz="1200" i="1" dirty="0">
                <a:latin typeface="Consolas" panose="020B0609020204030204" pitchFamily="49" charset="0"/>
              </a:rPr>
              <a:t>// Create a HashMap object called mortgages with</a:t>
            </a:r>
          </a:p>
          <a:p>
            <a:pPr marL="0" indent="0">
              <a:buFont typeface="Monotype Sorts"/>
              <a:buNone/>
            </a:pPr>
            <a:r>
              <a:rPr lang="en-US" altLang="en-US" sz="1200" i="1" dirty="0">
                <a:latin typeface="Consolas" panose="020B0609020204030204" pitchFamily="49" charset="0"/>
              </a:rPr>
              <a:t>    //     customer name and mortgage amount</a:t>
            </a:r>
          </a:p>
          <a:p>
            <a:pPr marL="0" indent="0">
              <a:buFont typeface="Monotype Sorts"/>
              <a:buNone/>
            </a:pPr>
            <a:r>
              <a:rPr lang="en-US" altLang="en-US" sz="1200" dirty="0">
                <a:latin typeface="Consolas" panose="020B0609020204030204" pitchFamily="49" charset="0"/>
              </a:rPr>
              <a:t>    </a:t>
            </a:r>
            <a:r>
              <a:rPr lang="en-US" altLang="en-US" sz="1200" b="1" dirty="0">
                <a:latin typeface="Consolas" panose="020B0609020204030204" pitchFamily="49" charset="0"/>
              </a:rPr>
              <a:t>HashMap&lt;String, Double&gt; mortgages = </a:t>
            </a:r>
          </a:p>
          <a:p>
            <a:pPr marL="0" indent="0">
              <a:buFont typeface="Monotype Sorts"/>
              <a:buNone/>
            </a:pPr>
            <a:r>
              <a:rPr lang="en-US" altLang="en-US" sz="1200" b="1" dirty="0">
                <a:latin typeface="Consolas" panose="020B0609020204030204" pitchFamily="49" charset="0"/>
              </a:rPr>
              <a:t>           new HashMap&lt;String, Double&gt;();</a:t>
            </a:r>
          </a:p>
          <a:p>
            <a:pPr marL="0" indent="0">
              <a:buFont typeface="Monotype Sorts"/>
              <a:buNone/>
            </a:pPr>
            <a:endParaRPr lang="en-US" altLang="en-US" sz="1200" dirty="0">
              <a:latin typeface="Consolas" panose="020B0609020204030204" pitchFamily="49" charset="0"/>
            </a:endParaRPr>
          </a:p>
          <a:p>
            <a:pPr marL="0" indent="0">
              <a:buFont typeface="Monotype Sorts"/>
              <a:buNone/>
            </a:pPr>
            <a:r>
              <a:rPr lang="en-US" altLang="en-US" sz="1200" dirty="0">
                <a:latin typeface="Consolas" panose="020B0609020204030204" pitchFamily="49" charset="0"/>
              </a:rPr>
              <a:t>    </a:t>
            </a:r>
            <a:r>
              <a:rPr lang="en-US" altLang="en-US" sz="1200" i="1" dirty="0">
                <a:latin typeface="Consolas" panose="020B0609020204030204" pitchFamily="49" charset="0"/>
              </a:rPr>
              <a:t>// Add keys and values (Country, City)</a:t>
            </a:r>
          </a:p>
          <a:p>
            <a:pPr marL="0" indent="0">
              <a:buFont typeface="Monotype Sorts"/>
              <a:buNone/>
            </a:pPr>
            <a:r>
              <a:rPr lang="en-US" altLang="en-US" sz="1200" b="1" dirty="0">
                <a:latin typeface="Consolas" panose="020B0609020204030204" pitchFamily="49" charset="0"/>
              </a:rPr>
              <a:t>    </a:t>
            </a:r>
            <a:r>
              <a:rPr lang="en-US" altLang="en-US" sz="1200" b="1" dirty="0" err="1">
                <a:highlight>
                  <a:srgbClr val="FFFF00"/>
                </a:highlight>
                <a:latin typeface="Consolas" panose="020B0609020204030204" pitchFamily="49" charset="0"/>
              </a:rPr>
              <a:t>mortgages.put</a:t>
            </a:r>
            <a:r>
              <a:rPr lang="en-US" altLang="en-US" sz="1200" b="1" dirty="0">
                <a:highlight>
                  <a:srgbClr val="FFFF00"/>
                </a:highlight>
                <a:latin typeface="Consolas" panose="020B0609020204030204" pitchFamily="49" charset="0"/>
              </a:rPr>
              <a:t>("Bob", 95000.00);</a:t>
            </a:r>
          </a:p>
          <a:p>
            <a:pPr marL="0" indent="0">
              <a:buFont typeface="Monotype Sorts"/>
              <a:buNone/>
            </a:pPr>
            <a:r>
              <a:rPr lang="en-US" altLang="en-US" sz="1200" b="1" dirty="0">
                <a:latin typeface="Consolas" panose="020B0609020204030204" pitchFamily="49" charset="0"/>
              </a:rPr>
              <a:t>    </a:t>
            </a:r>
            <a:r>
              <a:rPr lang="en-US" altLang="en-US" sz="1200" b="1" dirty="0" err="1">
                <a:latin typeface="Consolas" panose="020B0609020204030204" pitchFamily="49" charset="0"/>
              </a:rPr>
              <a:t>mortgages.put</a:t>
            </a:r>
            <a:r>
              <a:rPr lang="en-US" altLang="en-US" sz="1200" b="1" dirty="0">
                <a:latin typeface="Consolas" panose="020B0609020204030204" pitchFamily="49" charset="0"/>
              </a:rPr>
              <a:t>("Jill", 150000.00);</a:t>
            </a:r>
          </a:p>
          <a:p>
            <a:pPr marL="0" indent="0">
              <a:buFont typeface="Monotype Sorts"/>
              <a:buNone/>
            </a:pPr>
            <a:r>
              <a:rPr lang="en-US" altLang="en-US" sz="1200" b="1" dirty="0">
                <a:latin typeface="Consolas" panose="020B0609020204030204" pitchFamily="49" charset="0"/>
              </a:rPr>
              <a:t>    </a:t>
            </a:r>
            <a:r>
              <a:rPr lang="en-US" altLang="en-US" sz="1200" b="1" dirty="0" err="1">
                <a:latin typeface="Consolas" panose="020B0609020204030204" pitchFamily="49" charset="0"/>
              </a:rPr>
              <a:t>mortgages.put</a:t>
            </a:r>
            <a:r>
              <a:rPr lang="en-US" altLang="en-US" sz="1200" b="1" dirty="0">
                <a:latin typeface="Consolas" panose="020B0609020204030204" pitchFamily="49" charset="0"/>
              </a:rPr>
              <a:t>("Andrew", 139000.00);</a:t>
            </a:r>
          </a:p>
          <a:p>
            <a:pPr marL="0" indent="0">
              <a:buFont typeface="Monotype Sorts"/>
              <a:buNone/>
            </a:pPr>
            <a:r>
              <a:rPr lang="en-US" altLang="en-US" sz="1200" b="1" dirty="0">
                <a:latin typeface="Consolas" panose="020B0609020204030204" pitchFamily="49" charset="0"/>
              </a:rPr>
              <a:t>    </a:t>
            </a:r>
            <a:r>
              <a:rPr lang="en-US" altLang="en-US" sz="1200" b="1" dirty="0" err="1">
                <a:latin typeface="Consolas" panose="020B0609020204030204" pitchFamily="49" charset="0"/>
              </a:rPr>
              <a:t>mortgages.put</a:t>
            </a:r>
            <a:r>
              <a:rPr lang="en-US" altLang="en-US" sz="1200" b="1" dirty="0">
                <a:latin typeface="Consolas" panose="020B0609020204030204" pitchFamily="49" charset="0"/>
              </a:rPr>
              <a:t>("Alice", 176000.00);</a:t>
            </a:r>
          </a:p>
          <a:p>
            <a:pPr marL="0" indent="0">
              <a:buFont typeface="Monotype Sorts"/>
              <a:buNone/>
            </a:pPr>
            <a:r>
              <a:rPr lang="en-US" altLang="en-US" sz="1200" b="1" dirty="0">
                <a:latin typeface="Consolas" panose="020B0609020204030204" pitchFamily="49" charset="0"/>
              </a:rPr>
              <a:t>    </a:t>
            </a:r>
            <a:r>
              <a:rPr lang="en-US" altLang="en-US" sz="1200" b="1" dirty="0" err="1">
                <a:latin typeface="Consolas" panose="020B0609020204030204" pitchFamily="49" charset="0"/>
              </a:rPr>
              <a:t>System.out.println</a:t>
            </a:r>
            <a:r>
              <a:rPr lang="en-US" altLang="en-US" sz="1200" b="1" dirty="0">
                <a:latin typeface="Consolas" panose="020B0609020204030204" pitchFamily="49" charset="0"/>
              </a:rPr>
              <a:t>(mortgages);</a:t>
            </a:r>
          </a:p>
          <a:p>
            <a:pPr marL="0" indent="0">
              <a:buFont typeface="Monotype Sorts"/>
              <a:buNone/>
            </a:pPr>
            <a:r>
              <a:rPr lang="en-US" altLang="en-US" sz="1200" dirty="0">
                <a:latin typeface="Consolas" panose="020B0609020204030204" pitchFamily="49" charset="0"/>
              </a:rPr>
              <a:t>    </a:t>
            </a:r>
          </a:p>
          <a:p>
            <a:pPr marL="0" indent="0">
              <a:buFont typeface="Monotype Sorts"/>
              <a:buNone/>
            </a:pPr>
            <a:r>
              <a:rPr lang="en-US" altLang="en-US" sz="1200" dirty="0">
                <a:latin typeface="Consolas" panose="020B0609020204030204" pitchFamily="49" charset="0"/>
              </a:rPr>
              <a:t>    </a:t>
            </a:r>
            <a:r>
              <a:rPr lang="en-US" altLang="en-US" sz="1200" i="1" dirty="0">
                <a:latin typeface="Consolas" panose="020B0609020204030204" pitchFamily="49" charset="0"/>
              </a:rPr>
              <a:t>// get and print Jill's mortgage amount</a:t>
            </a:r>
          </a:p>
          <a:p>
            <a:pPr marL="0" indent="0">
              <a:buFont typeface="Monotype Sorts"/>
              <a:buNone/>
            </a:pPr>
            <a:r>
              <a:rPr lang="en-US" altLang="en-US" sz="1200" dirty="0">
                <a:latin typeface="Consolas" panose="020B0609020204030204" pitchFamily="49" charset="0"/>
              </a:rPr>
              <a:t>    </a:t>
            </a:r>
            <a:r>
              <a:rPr lang="en-US" altLang="en-US" sz="1200" b="1" dirty="0" err="1">
                <a:latin typeface="Consolas" panose="020B0609020204030204" pitchFamily="49" charset="0"/>
              </a:rPr>
              <a:t>System.out.println</a:t>
            </a:r>
            <a:r>
              <a:rPr lang="en-US" altLang="en-US" sz="1200" b="1" dirty="0">
                <a:latin typeface="Consolas" panose="020B0609020204030204" pitchFamily="49" charset="0"/>
              </a:rPr>
              <a:t>("Jill's Mortgage: " + </a:t>
            </a:r>
          </a:p>
          <a:p>
            <a:pPr marL="0" indent="0">
              <a:buFont typeface="Monotype Sorts"/>
              <a:buNone/>
            </a:pPr>
            <a:r>
              <a:rPr lang="en-US" altLang="en-US" sz="1200" b="1" dirty="0">
                <a:latin typeface="Consolas" panose="020B0609020204030204" pitchFamily="49" charset="0"/>
              </a:rPr>
              <a:t>         </a:t>
            </a:r>
            <a:r>
              <a:rPr lang="en-US" altLang="en-US" sz="1200" b="1" dirty="0" err="1">
                <a:highlight>
                  <a:srgbClr val="FFFF00"/>
                </a:highlight>
                <a:latin typeface="Consolas" panose="020B0609020204030204" pitchFamily="49" charset="0"/>
              </a:rPr>
              <a:t>mortgages.get</a:t>
            </a:r>
            <a:r>
              <a:rPr lang="en-US" altLang="en-US" sz="1200" b="1" dirty="0">
                <a:highlight>
                  <a:srgbClr val="FFFF00"/>
                </a:highlight>
                <a:latin typeface="Consolas" panose="020B0609020204030204" pitchFamily="49" charset="0"/>
              </a:rPr>
              <a:t>("Jill"));</a:t>
            </a:r>
          </a:p>
          <a:p>
            <a:pPr marL="0" indent="0">
              <a:buFont typeface="Monotype Sorts"/>
              <a:buNone/>
            </a:pPr>
            <a:r>
              <a:rPr lang="en-US" altLang="en-US" sz="1200" dirty="0">
                <a:latin typeface="Consolas" panose="020B0609020204030204" pitchFamily="49" charset="0"/>
              </a:rPr>
              <a:t>    </a:t>
            </a:r>
          </a:p>
          <a:p>
            <a:pPr marL="0" indent="0">
              <a:buFont typeface="Monotype Sorts"/>
              <a:buNone/>
            </a:pPr>
            <a:r>
              <a:rPr lang="en-US" altLang="en-US" sz="1200" dirty="0">
                <a:latin typeface="Consolas" panose="020B0609020204030204" pitchFamily="49" charset="0"/>
              </a:rPr>
              <a:t>    </a:t>
            </a:r>
            <a:r>
              <a:rPr lang="en-US" altLang="en-US" sz="1200" i="1" dirty="0">
                <a:latin typeface="Consolas" panose="020B0609020204030204" pitchFamily="49" charset="0"/>
              </a:rPr>
              <a:t>// remove Andrew's mortgage from the map</a:t>
            </a:r>
          </a:p>
          <a:p>
            <a:pPr marL="0" indent="0">
              <a:buFont typeface="Monotype Sorts"/>
              <a:buNone/>
            </a:pPr>
            <a:r>
              <a:rPr lang="en-US" altLang="en-US" sz="1200" dirty="0">
                <a:latin typeface="Consolas" panose="020B0609020204030204" pitchFamily="49" charset="0"/>
              </a:rPr>
              <a:t>    </a:t>
            </a:r>
            <a:r>
              <a:rPr lang="en-US" altLang="en-US" sz="1200" b="1" dirty="0" err="1">
                <a:latin typeface="Consolas" panose="020B0609020204030204" pitchFamily="49" charset="0"/>
              </a:rPr>
              <a:t>mortgages.remove</a:t>
            </a:r>
            <a:r>
              <a:rPr lang="en-US" altLang="en-US" sz="1200" b="1" dirty="0">
                <a:latin typeface="Consolas" panose="020B0609020204030204" pitchFamily="49" charset="0"/>
              </a:rPr>
              <a:t>("Andrew");</a:t>
            </a:r>
          </a:p>
          <a:p>
            <a:pPr marL="0" indent="0">
              <a:buFont typeface="Monotype Sorts"/>
              <a:buNone/>
            </a:pPr>
            <a:r>
              <a:rPr lang="en-US" altLang="en-US" sz="1200" b="1" dirty="0">
                <a:latin typeface="Consolas" panose="020B0609020204030204" pitchFamily="49" charset="0"/>
              </a:rPr>
              <a:t>    </a:t>
            </a:r>
            <a:endParaRPr lang="en-US" altLang="en-US" sz="1200" dirty="0">
              <a:latin typeface="Consolas" panose="020B0609020204030204" pitchFamily="49" charset="0"/>
            </a:endParaRPr>
          </a:p>
          <a:p>
            <a:pPr marL="0" indent="0">
              <a:buFont typeface="Monotype Sorts"/>
              <a:buNone/>
            </a:pPr>
            <a:r>
              <a:rPr lang="en-US" altLang="en-US" sz="1200" dirty="0">
                <a:latin typeface="Consolas" panose="020B0609020204030204" pitchFamily="49" charset="0"/>
              </a:rPr>
              <a:t>    </a:t>
            </a:r>
            <a:r>
              <a:rPr lang="en-US" altLang="en-US" sz="1200" i="1" dirty="0">
                <a:latin typeface="Consolas" panose="020B0609020204030204" pitchFamily="49" charset="0"/>
              </a:rPr>
              <a:t>// print the size of the map</a:t>
            </a:r>
          </a:p>
          <a:p>
            <a:pPr marL="0" indent="0">
              <a:buFont typeface="Monotype Sorts"/>
              <a:buNone/>
            </a:pPr>
            <a:r>
              <a:rPr lang="en-US" altLang="en-US" sz="1200" dirty="0">
                <a:latin typeface="Consolas" panose="020B0609020204030204" pitchFamily="49" charset="0"/>
              </a:rPr>
              <a:t>    </a:t>
            </a:r>
            <a:r>
              <a:rPr lang="en-US" altLang="en-US" sz="1200" b="1" dirty="0" err="1">
                <a:latin typeface="Consolas" panose="020B0609020204030204" pitchFamily="49" charset="0"/>
              </a:rPr>
              <a:t>System.out.println</a:t>
            </a:r>
            <a:r>
              <a:rPr lang="en-US" altLang="en-US" sz="1200" b="1" dirty="0">
                <a:latin typeface="Consolas" panose="020B0609020204030204" pitchFamily="49" charset="0"/>
              </a:rPr>
              <a:t>(</a:t>
            </a:r>
            <a:r>
              <a:rPr lang="en-US" altLang="en-US" sz="1200" b="1" dirty="0" err="1">
                <a:latin typeface="Consolas" panose="020B0609020204030204" pitchFamily="49" charset="0"/>
              </a:rPr>
              <a:t>mortgages.size</a:t>
            </a:r>
            <a:r>
              <a:rPr lang="en-US" altLang="en-US" sz="1200" b="1" dirty="0">
                <a:latin typeface="Consolas" panose="020B0609020204030204" pitchFamily="49" charset="0"/>
              </a:rPr>
              <a:t>());</a:t>
            </a:r>
            <a:endParaRPr lang="en-US" altLang="en-US" sz="1200" dirty="0"/>
          </a:p>
        </p:txBody>
      </p:sp>
      <p:sp>
        <p:nvSpPr>
          <p:cNvPr id="34820" name="Slide Number Placeholder 3">
            <a:extLst>
              <a:ext uri="{FF2B5EF4-FFF2-40B4-BE49-F238E27FC236}">
                <a16:creationId xmlns:a16="http://schemas.microsoft.com/office/drawing/2014/main" id="{A79378A7-54A0-462F-9C9B-4A165C50F316}"/>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7C5AA78-4204-454E-B13B-6BB0F3864A4E}" type="slidenum">
              <a:rPr lang="en-US" altLang="en-US" sz="1400" smtClean="0"/>
              <a:pPr>
                <a:spcBef>
                  <a:spcPct val="0"/>
                </a:spcBef>
                <a:buClrTx/>
                <a:buSzTx/>
                <a:buFontTx/>
                <a:buNone/>
              </a:pPr>
              <a:t>31</a:t>
            </a:fld>
            <a:endParaRPr lang="en-US" altLang="en-US" sz="1400"/>
          </a:p>
        </p:txBody>
      </p:sp>
      <p:sp>
        <p:nvSpPr>
          <p:cNvPr id="34821" name="Content Placeholder 2">
            <a:extLst>
              <a:ext uri="{FF2B5EF4-FFF2-40B4-BE49-F238E27FC236}">
                <a16:creationId xmlns:a16="http://schemas.microsoft.com/office/drawing/2014/main" id="{2CCECAC8-6C5A-4399-91F3-64DB00A2879F}"/>
              </a:ext>
            </a:extLst>
          </p:cNvPr>
          <p:cNvSpPr txBox="1">
            <a:spLocks/>
          </p:cNvSpPr>
          <p:nvPr/>
        </p:nvSpPr>
        <p:spPr bwMode="auto">
          <a:xfrm>
            <a:off x="4572000" y="685800"/>
            <a:ext cx="4572000" cy="57134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endParaRPr lang="en-US" altLang="en-US" sz="1200" b="1" dirty="0">
              <a:latin typeface="Consolas" panose="020B0609020204030204" pitchFamily="49" charset="0"/>
            </a:endParaRPr>
          </a:p>
          <a:p>
            <a:pPr>
              <a:buFont typeface="Monotype Sorts"/>
              <a:buNone/>
            </a:pPr>
            <a:r>
              <a:rPr lang="en-US" altLang="en-US" sz="1200" dirty="0">
                <a:latin typeface="Consolas" panose="020B0609020204030204" pitchFamily="49" charset="0"/>
              </a:rPr>
              <a:t>    </a:t>
            </a:r>
            <a:r>
              <a:rPr lang="en-US" altLang="en-US" sz="1200" i="1" dirty="0">
                <a:latin typeface="Consolas" panose="020B0609020204030204" pitchFamily="49" charset="0"/>
              </a:rPr>
              <a:t>// print all the keys by using the </a:t>
            </a:r>
            <a:r>
              <a:rPr lang="en-US" altLang="en-US" sz="1200" i="1" dirty="0" err="1">
                <a:latin typeface="Consolas" panose="020B0609020204030204" pitchFamily="49" charset="0"/>
              </a:rPr>
              <a:t>keySet</a:t>
            </a:r>
            <a:r>
              <a:rPr lang="en-US" altLang="en-US" sz="1200" i="1" dirty="0">
                <a:latin typeface="Consolas" panose="020B0609020204030204" pitchFamily="49" charset="0"/>
              </a:rPr>
              <a:t>() </a:t>
            </a:r>
            <a:br>
              <a:rPr lang="en-US" altLang="en-US" sz="1200" i="1" dirty="0">
                <a:latin typeface="Consolas" panose="020B0609020204030204" pitchFamily="49" charset="0"/>
              </a:rPr>
            </a:br>
            <a:r>
              <a:rPr lang="en-US" altLang="en-US" sz="1200" i="1" dirty="0">
                <a:latin typeface="Consolas" panose="020B0609020204030204" pitchFamily="49" charset="0"/>
              </a:rPr>
              <a:t>          method</a:t>
            </a:r>
          </a:p>
          <a:p>
            <a:pPr>
              <a:buFont typeface="Monotype Sorts"/>
              <a:buNone/>
            </a:pPr>
            <a:r>
              <a:rPr lang="en-US" altLang="en-US" sz="1200" dirty="0">
                <a:latin typeface="Consolas" panose="020B0609020204030204" pitchFamily="49" charset="0"/>
              </a:rPr>
              <a:t>    </a:t>
            </a:r>
            <a:r>
              <a:rPr lang="en-US" altLang="en-US" sz="1200" b="1" dirty="0">
                <a:latin typeface="Consolas" panose="020B0609020204030204" pitchFamily="49" charset="0"/>
              </a:rPr>
              <a:t>for (String k : </a:t>
            </a:r>
            <a:r>
              <a:rPr lang="en-US" altLang="en-US" sz="1200" b="1" dirty="0" err="1">
                <a:highlight>
                  <a:srgbClr val="FFFF00"/>
                </a:highlight>
                <a:latin typeface="Consolas" panose="020B0609020204030204" pitchFamily="49" charset="0"/>
              </a:rPr>
              <a:t>mortgages.keySet</a:t>
            </a:r>
            <a:r>
              <a:rPr lang="en-US" altLang="en-US" sz="1200" b="1" dirty="0">
                <a:highlight>
                  <a:srgbClr val="FFFF00"/>
                </a:highlight>
                <a:latin typeface="Consolas" panose="020B0609020204030204" pitchFamily="49" charset="0"/>
              </a:rPr>
              <a:t>()</a:t>
            </a:r>
            <a:r>
              <a:rPr lang="en-US" altLang="en-US" sz="1200" b="1" dirty="0">
                <a:latin typeface="Consolas" panose="020B0609020204030204" pitchFamily="49" charset="0"/>
              </a:rPr>
              <a:t>) </a:t>
            </a:r>
          </a:p>
          <a:p>
            <a:pPr>
              <a:buFont typeface="Monotype Sorts"/>
              <a:buNone/>
            </a:pPr>
            <a:r>
              <a:rPr lang="en-US" altLang="en-US" sz="1200" b="1" dirty="0">
                <a:latin typeface="Consolas" panose="020B0609020204030204" pitchFamily="49" charset="0"/>
              </a:rPr>
              <a:t>        </a:t>
            </a:r>
            <a:r>
              <a:rPr lang="en-US" altLang="en-US" sz="1200" b="1" dirty="0" err="1">
                <a:latin typeface="Consolas" panose="020B0609020204030204" pitchFamily="49" charset="0"/>
              </a:rPr>
              <a:t>System.out.print</a:t>
            </a:r>
            <a:r>
              <a:rPr lang="en-US" altLang="en-US" sz="1200" b="1" dirty="0">
                <a:latin typeface="Consolas" panose="020B0609020204030204" pitchFamily="49" charset="0"/>
              </a:rPr>
              <a:t>(k + "  "); </a:t>
            </a:r>
          </a:p>
          <a:p>
            <a:pPr>
              <a:buFont typeface="Monotype Sorts"/>
              <a:buNone/>
            </a:pPr>
            <a:r>
              <a:rPr lang="en-US" altLang="en-US" sz="1200" b="1" dirty="0">
                <a:highlight>
                  <a:srgbClr val="FFFF00"/>
                </a:highlight>
                <a:latin typeface="Consolas" panose="020B0609020204030204" pitchFamily="49" charset="0"/>
              </a:rPr>
              <a:t>// -&gt; use .get to get value</a:t>
            </a:r>
          </a:p>
          <a:p>
            <a:pPr>
              <a:buFont typeface="Monotype Sorts"/>
              <a:buNone/>
            </a:pPr>
            <a:r>
              <a:rPr lang="en-US" altLang="en-US" sz="1200" b="1" dirty="0">
                <a:latin typeface="Consolas" panose="020B0609020204030204" pitchFamily="49" charset="0"/>
              </a:rPr>
              <a:t>    </a:t>
            </a:r>
            <a:r>
              <a:rPr lang="en-US" altLang="en-US" sz="1200" b="1" dirty="0" err="1">
                <a:latin typeface="Consolas" panose="020B0609020204030204" pitchFamily="49" charset="0"/>
              </a:rPr>
              <a:t>System.out.println</a:t>
            </a:r>
            <a:r>
              <a:rPr lang="en-US" altLang="en-US" sz="1200" b="1" dirty="0">
                <a:latin typeface="Consolas" panose="020B0609020204030204" pitchFamily="49" charset="0"/>
              </a:rPr>
              <a:t>();</a:t>
            </a:r>
          </a:p>
          <a:p>
            <a:pPr>
              <a:buFont typeface="Monotype Sorts"/>
              <a:buNone/>
            </a:pPr>
            <a:r>
              <a:rPr lang="en-US" altLang="en-US" sz="1200" dirty="0">
                <a:latin typeface="Consolas" panose="020B0609020204030204" pitchFamily="49" charset="0"/>
              </a:rPr>
              <a:t>    </a:t>
            </a:r>
          </a:p>
          <a:p>
            <a:pPr>
              <a:buFont typeface="Monotype Sorts"/>
              <a:buNone/>
            </a:pPr>
            <a:r>
              <a:rPr lang="en-US" altLang="en-US" sz="1200" dirty="0">
                <a:latin typeface="Consolas" panose="020B0609020204030204" pitchFamily="49" charset="0"/>
              </a:rPr>
              <a:t>    </a:t>
            </a:r>
            <a:r>
              <a:rPr lang="en-US" altLang="en-US" sz="1200" i="1" dirty="0">
                <a:latin typeface="Consolas" panose="020B0609020204030204" pitchFamily="49" charset="0"/>
              </a:rPr>
              <a:t>// print all the values by using the values()</a:t>
            </a:r>
            <a:br>
              <a:rPr lang="en-US" altLang="en-US" sz="1200" i="1" dirty="0">
                <a:latin typeface="Consolas" panose="020B0609020204030204" pitchFamily="49" charset="0"/>
              </a:rPr>
            </a:br>
            <a:r>
              <a:rPr lang="en-US" altLang="en-US" sz="1200" i="1" dirty="0">
                <a:latin typeface="Consolas" panose="020B0609020204030204" pitchFamily="49" charset="0"/>
              </a:rPr>
              <a:t>          method</a:t>
            </a:r>
          </a:p>
          <a:p>
            <a:pPr>
              <a:buFont typeface="Monotype Sorts"/>
              <a:buNone/>
            </a:pPr>
            <a:r>
              <a:rPr lang="en-US" altLang="en-US" sz="1200" dirty="0">
                <a:latin typeface="Consolas" panose="020B0609020204030204" pitchFamily="49" charset="0"/>
              </a:rPr>
              <a:t>    </a:t>
            </a:r>
            <a:r>
              <a:rPr lang="en-US" altLang="en-US" sz="1200" b="1" dirty="0">
                <a:latin typeface="Consolas" panose="020B0609020204030204" pitchFamily="49" charset="0"/>
              </a:rPr>
              <a:t>for (Double v : </a:t>
            </a:r>
            <a:r>
              <a:rPr lang="en-US" altLang="en-US" sz="1200" b="1" dirty="0" err="1">
                <a:highlight>
                  <a:srgbClr val="FFFF00"/>
                </a:highlight>
                <a:latin typeface="Consolas" panose="020B0609020204030204" pitchFamily="49" charset="0"/>
              </a:rPr>
              <a:t>mortgages.values</a:t>
            </a:r>
            <a:r>
              <a:rPr lang="en-US" altLang="en-US" sz="1200" b="1" dirty="0">
                <a:highlight>
                  <a:srgbClr val="FFFF00"/>
                </a:highlight>
                <a:latin typeface="Consolas" panose="020B0609020204030204" pitchFamily="49" charset="0"/>
              </a:rPr>
              <a:t>()</a:t>
            </a:r>
            <a:r>
              <a:rPr lang="en-US" altLang="en-US" sz="1200" b="1" dirty="0">
                <a:latin typeface="Consolas" panose="020B0609020204030204" pitchFamily="49" charset="0"/>
              </a:rPr>
              <a:t>) </a:t>
            </a:r>
          </a:p>
          <a:p>
            <a:pPr>
              <a:buFont typeface="Monotype Sorts"/>
              <a:buNone/>
            </a:pPr>
            <a:r>
              <a:rPr lang="en-US" altLang="en-US" sz="1200" b="1" dirty="0">
                <a:latin typeface="Consolas" panose="020B0609020204030204" pitchFamily="49" charset="0"/>
              </a:rPr>
              <a:t>        </a:t>
            </a:r>
            <a:r>
              <a:rPr lang="en-US" altLang="en-US" sz="1200" b="1" dirty="0" err="1">
                <a:latin typeface="Consolas" panose="020B0609020204030204" pitchFamily="49" charset="0"/>
              </a:rPr>
              <a:t>System.out.print</a:t>
            </a:r>
            <a:r>
              <a:rPr lang="en-US" altLang="en-US" sz="1200" b="1" dirty="0">
                <a:latin typeface="Consolas" panose="020B0609020204030204" pitchFamily="49" charset="0"/>
              </a:rPr>
              <a:t>(v + "  ");</a:t>
            </a:r>
          </a:p>
          <a:p>
            <a:pPr>
              <a:buFont typeface="Monotype Sorts"/>
              <a:buNone/>
            </a:pPr>
            <a:r>
              <a:rPr lang="en-US" altLang="en-US" sz="1200" b="1" dirty="0">
                <a:latin typeface="Consolas" panose="020B0609020204030204" pitchFamily="49" charset="0"/>
              </a:rPr>
              <a:t>    </a:t>
            </a:r>
            <a:r>
              <a:rPr lang="en-US" altLang="en-US" sz="1200" b="1" dirty="0" err="1">
                <a:latin typeface="Consolas" panose="020B0609020204030204" pitchFamily="49" charset="0"/>
              </a:rPr>
              <a:t>System.out.println</a:t>
            </a:r>
            <a:r>
              <a:rPr lang="en-US" altLang="en-US" sz="1200" b="1" dirty="0">
                <a:latin typeface="Consolas" panose="020B0609020204030204" pitchFamily="49" charset="0"/>
              </a:rPr>
              <a:t>();</a:t>
            </a:r>
          </a:p>
          <a:p>
            <a:pPr>
              <a:buFont typeface="Monotype Sorts"/>
              <a:buNone/>
            </a:pPr>
            <a:r>
              <a:rPr lang="en-US" altLang="en-US" sz="1200" dirty="0">
                <a:latin typeface="Consolas" panose="020B0609020204030204" pitchFamily="49" charset="0"/>
              </a:rPr>
              <a:t>  </a:t>
            </a:r>
          </a:p>
          <a:p>
            <a:pPr>
              <a:buFont typeface="Monotype Sorts"/>
              <a:buNone/>
            </a:pPr>
            <a:r>
              <a:rPr lang="en-US" altLang="en-US" sz="1200" dirty="0">
                <a:latin typeface="Consolas" panose="020B0609020204030204" pitchFamily="49" charset="0"/>
              </a:rPr>
              <a:t>    </a:t>
            </a:r>
            <a:r>
              <a:rPr lang="en-US" altLang="en-US" sz="1200" i="1" dirty="0">
                <a:latin typeface="Consolas" panose="020B0609020204030204" pitchFamily="49" charset="0"/>
              </a:rPr>
              <a:t>// Print keys and values</a:t>
            </a:r>
          </a:p>
          <a:p>
            <a:pPr>
              <a:buFont typeface="Monotype Sorts"/>
              <a:buNone/>
            </a:pPr>
            <a:r>
              <a:rPr lang="en-US" altLang="en-US" sz="1200" dirty="0">
                <a:latin typeface="Consolas" panose="020B0609020204030204" pitchFamily="49" charset="0"/>
              </a:rPr>
              <a:t>    </a:t>
            </a:r>
            <a:r>
              <a:rPr lang="en-US" altLang="en-US" sz="1200" b="1" dirty="0">
                <a:latin typeface="Consolas" panose="020B0609020204030204" pitchFamily="49" charset="0"/>
              </a:rPr>
              <a:t>for (String </a:t>
            </a:r>
            <a:r>
              <a:rPr lang="en-US" altLang="en-US" sz="1200" b="1" dirty="0" err="1">
                <a:latin typeface="Consolas" panose="020B0609020204030204" pitchFamily="49" charset="0"/>
              </a:rPr>
              <a:t>i</a:t>
            </a:r>
            <a:r>
              <a:rPr lang="en-US" altLang="en-US" sz="1200" b="1" dirty="0">
                <a:latin typeface="Consolas" panose="020B0609020204030204" pitchFamily="49" charset="0"/>
              </a:rPr>
              <a:t> : </a:t>
            </a:r>
            <a:r>
              <a:rPr lang="en-US" altLang="en-US" sz="1200" b="1" dirty="0" err="1">
                <a:latin typeface="Consolas" panose="020B0609020204030204" pitchFamily="49" charset="0"/>
              </a:rPr>
              <a:t>mortgages.keySet</a:t>
            </a:r>
            <a:r>
              <a:rPr lang="en-US" altLang="en-US" sz="1200" b="1" dirty="0">
                <a:latin typeface="Consolas" panose="020B0609020204030204" pitchFamily="49" charset="0"/>
              </a:rPr>
              <a:t>()) </a:t>
            </a:r>
          </a:p>
          <a:p>
            <a:pPr>
              <a:buFont typeface="Monotype Sorts"/>
              <a:buNone/>
            </a:pPr>
            <a:r>
              <a:rPr lang="en-US" altLang="en-US" sz="1200" b="1" dirty="0">
                <a:latin typeface="Consolas" panose="020B0609020204030204" pitchFamily="49" charset="0"/>
              </a:rPr>
              <a:t>        </a:t>
            </a:r>
            <a:r>
              <a:rPr lang="en-US" altLang="en-US" sz="1200" b="1" dirty="0" err="1">
                <a:latin typeface="Consolas" panose="020B0609020204030204" pitchFamily="49" charset="0"/>
              </a:rPr>
              <a:t>System.out.println</a:t>
            </a:r>
            <a:r>
              <a:rPr lang="en-US" altLang="en-US" sz="1200" b="1" dirty="0">
                <a:latin typeface="Consolas" panose="020B0609020204030204" pitchFamily="49" charset="0"/>
              </a:rPr>
              <a:t>("key: " + </a:t>
            </a:r>
            <a:r>
              <a:rPr lang="en-US" altLang="en-US" sz="1200" b="1" dirty="0" err="1">
                <a:latin typeface="Consolas" panose="020B0609020204030204" pitchFamily="49" charset="0"/>
              </a:rPr>
              <a:t>i</a:t>
            </a:r>
            <a:r>
              <a:rPr lang="en-US" altLang="en-US" sz="1200" b="1" dirty="0">
                <a:latin typeface="Consolas" panose="020B0609020204030204" pitchFamily="49" charset="0"/>
              </a:rPr>
              <a:t> + " value: " </a:t>
            </a:r>
          </a:p>
          <a:p>
            <a:pPr>
              <a:buFont typeface="Monotype Sorts"/>
              <a:buNone/>
            </a:pPr>
            <a:r>
              <a:rPr lang="en-US" altLang="en-US" sz="1200" b="1" dirty="0">
                <a:latin typeface="Consolas" panose="020B0609020204030204" pitchFamily="49" charset="0"/>
              </a:rPr>
              <a:t>                + </a:t>
            </a:r>
            <a:r>
              <a:rPr lang="en-US" altLang="en-US" sz="1200" b="1" dirty="0" err="1">
                <a:latin typeface="Consolas" panose="020B0609020204030204" pitchFamily="49" charset="0"/>
              </a:rPr>
              <a:t>mortgages.get</a:t>
            </a:r>
            <a:r>
              <a:rPr lang="en-US" altLang="en-US" sz="1200" b="1" dirty="0">
                <a:latin typeface="Consolas" panose="020B0609020204030204" pitchFamily="49" charset="0"/>
              </a:rPr>
              <a:t>(</a:t>
            </a:r>
            <a:r>
              <a:rPr lang="en-US" altLang="en-US" sz="1200" b="1" dirty="0" err="1">
                <a:latin typeface="Consolas" panose="020B0609020204030204" pitchFamily="49" charset="0"/>
              </a:rPr>
              <a:t>i</a:t>
            </a:r>
            <a:r>
              <a:rPr lang="en-US" altLang="en-US" sz="1200" b="1" dirty="0">
                <a:latin typeface="Consolas" panose="020B0609020204030204" pitchFamily="49" charset="0"/>
              </a:rPr>
              <a:t>));</a:t>
            </a:r>
          </a:p>
          <a:p>
            <a:pPr>
              <a:buFont typeface="Monotype Sorts"/>
              <a:buNone/>
            </a:pPr>
            <a:r>
              <a:rPr lang="en-US" altLang="en-US" sz="1200" b="1" dirty="0">
                <a:latin typeface="Consolas" panose="020B0609020204030204" pitchFamily="49" charset="0"/>
              </a:rPr>
              <a:t>    </a:t>
            </a:r>
            <a:r>
              <a:rPr lang="en-US" altLang="en-US" sz="1200" b="1" dirty="0" err="1">
                <a:latin typeface="Consolas" panose="020B0609020204030204" pitchFamily="49" charset="0"/>
              </a:rPr>
              <a:t>System.out.println</a:t>
            </a:r>
            <a:r>
              <a:rPr lang="en-US" altLang="en-US" sz="1200" b="1" dirty="0">
                <a:latin typeface="Consolas" panose="020B0609020204030204" pitchFamily="49" charset="0"/>
              </a:rPr>
              <a:t>();</a:t>
            </a:r>
          </a:p>
          <a:p>
            <a:pPr>
              <a:buFont typeface="Monotype Sorts"/>
              <a:buNone/>
            </a:pPr>
            <a:r>
              <a:rPr lang="en-US" altLang="en-US" sz="1200" dirty="0">
                <a:latin typeface="Consolas" panose="020B0609020204030204" pitchFamily="49" charset="0"/>
              </a:rPr>
              <a:t>    </a:t>
            </a:r>
          </a:p>
          <a:p>
            <a:pPr>
              <a:buFont typeface="Monotype Sorts"/>
              <a:buNone/>
            </a:pPr>
            <a:r>
              <a:rPr lang="en-US" altLang="en-US" sz="1200" dirty="0">
                <a:latin typeface="Consolas" panose="020B0609020204030204" pitchFamily="49" charset="0"/>
              </a:rPr>
              <a:t>    </a:t>
            </a:r>
            <a:r>
              <a:rPr lang="en-US" altLang="en-US" sz="1200" i="1" dirty="0">
                <a:latin typeface="Consolas" panose="020B0609020204030204" pitchFamily="49" charset="0"/>
              </a:rPr>
              <a:t>// another way to print keys and values </a:t>
            </a:r>
          </a:p>
          <a:p>
            <a:pPr>
              <a:buFont typeface="Monotype Sorts"/>
              <a:buNone/>
            </a:pPr>
            <a:r>
              <a:rPr lang="en-US" altLang="en-US" sz="1200" i="1" dirty="0">
                <a:latin typeface="Consolas" panose="020B0609020204030204" pitchFamily="49" charset="0"/>
              </a:rPr>
              <a:t>    //   (using the built-in </a:t>
            </a:r>
            <a:r>
              <a:rPr lang="en-US" altLang="en-US" sz="1200" i="1" dirty="0" err="1">
                <a:latin typeface="Consolas" panose="020B0609020204030204" pitchFamily="49" charset="0"/>
              </a:rPr>
              <a:t>toString</a:t>
            </a:r>
            <a:r>
              <a:rPr lang="en-US" altLang="en-US" sz="1200" i="1" dirty="0">
                <a:latin typeface="Consolas" panose="020B0609020204030204" pitchFamily="49" charset="0"/>
              </a:rPr>
              <a:t> for the class)</a:t>
            </a:r>
          </a:p>
          <a:p>
            <a:pPr>
              <a:buFont typeface="Monotype Sorts"/>
              <a:buNone/>
            </a:pPr>
            <a:r>
              <a:rPr lang="en-US" altLang="en-US" sz="1200" b="1" dirty="0">
                <a:latin typeface="Consolas" panose="020B0609020204030204" pitchFamily="49" charset="0"/>
              </a:rPr>
              <a:t>    </a:t>
            </a:r>
            <a:r>
              <a:rPr lang="en-US" altLang="en-US" sz="1200" b="1" dirty="0" err="1">
                <a:latin typeface="Consolas" panose="020B0609020204030204" pitchFamily="49" charset="0"/>
              </a:rPr>
              <a:t>System.out.println</a:t>
            </a:r>
            <a:r>
              <a:rPr lang="en-US" altLang="en-US" sz="1200" b="1" dirty="0">
                <a:latin typeface="Consolas" panose="020B0609020204030204" pitchFamily="49" charset="0"/>
              </a:rPr>
              <a:t>(mortgages);</a:t>
            </a:r>
          </a:p>
          <a:p>
            <a:pPr>
              <a:buFont typeface="Monotype Sorts"/>
              <a:buNone/>
            </a:pPr>
            <a:r>
              <a:rPr lang="en-US" altLang="en-US" sz="1200" dirty="0">
                <a:latin typeface="Consolas" panose="020B0609020204030204" pitchFamily="49" charset="0"/>
              </a:rPr>
              <a:t>}</a:t>
            </a:r>
          </a:p>
          <a:p>
            <a:pPr>
              <a:buFont typeface="Monotype Sorts"/>
              <a:buNone/>
            </a:pPr>
            <a:endParaRPr lang="en-US" alt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A863B1CE-E455-4627-97F6-88FF0D347372}"/>
              </a:ext>
            </a:extLst>
          </p:cNvPr>
          <p:cNvSpPr>
            <a:spLocks noGrp="1" noChangeArrowheads="1"/>
          </p:cNvSpPr>
          <p:nvPr>
            <p:ph type="title"/>
          </p:nvPr>
        </p:nvSpPr>
        <p:spPr>
          <a:xfrm>
            <a:off x="533400" y="228600"/>
            <a:ext cx="7924800" cy="1414463"/>
          </a:xfrm>
          <a:noFill/>
        </p:spPr>
        <p:txBody>
          <a:bodyPr/>
          <a:lstStyle/>
          <a:p>
            <a:pPr eaLnBrk="1" hangingPunct="1"/>
            <a:r>
              <a:rPr lang="en-US" altLang="en-US">
                <a:cs typeface="Times New Roman" panose="02020603050405020304" pitchFamily="18" charset="0"/>
              </a:rPr>
              <a:t>Example: Using HashMap, LinkedHashMap, and TreeMap</a:t>
            </a:r>
          </a:p>
        </p:txBody>
      </p:sp>
      <p:sp>
        <p:nvSpPr>
          <p:cNvPr id="35843" name="Rectangle 4">
            <a:extLst>
              <a:ext uri="{FF2B5EF4-FFF2-40B4-BE49-F238E27FC236}">
                <a16:creationId xmlns:a16="http://schemas.microsoft.com/office/drawing/2014/main" id="{7C85B55B-84FE-46D9-9C39-272F895C7662}"/>
              </a:ext>
            </a:extLst>
          </p:cNvPr>
          <p:cNvSpPr>
            <a:spLocks noGrp="1" noChangeArrowheads="1"/>
          </p:cNvSpPr>
          <p:nvPr>
            <p:ph idx="1"/>
          </p:nvPr>
        </p:nvSpPr>
        <p:spPr>
          <a:xfrm>
            <a:off x="457200" y="1981200"/>
            <a:ext cx="8382000" cy="3657600"/>
          </a:xfrm>
        </p:spPr>
        <p:txBody>
          <a:bodyPr/>
          <a:lstStyle/>
          <a:p>
            <a:pPr marL="0" indent="0" eaLnBrk="1" hangingPunct="1">
              <a:lnSpc>
                <a:spcPct val="90000"/>
              </a:lnSpc>
              <a:buFont typeface="Monotype Sorts"/>
              <a:buNone/>
            </a:pPr>
            <a:r>
              <a:rPr lang="en-US" altLang="en-US" sz="3600">
                <a:cs typeface="Times New Roman" panose="02020603050405020304" pitchFamily="18" charset="0"/>
              </a:rPr>
              <a:t>This example creates a hash map that maps people to their ages. The program first creates a hash map with the person’s name as its key and age as its value. The program then creates a tree map from the hash map and displays the mappings in ascending order of the keys.</a:t>
            </a:r>
            <a:r>
              <a:rPr lang="en-US" altLang="en-US" sz="3600">
                <a:latin typeface="Courier"/>
                <a:cs typeface="Times New Roman" panose="02020603050405020304" pitchFamily="18" charset="0"/>
              </a:rPr>
              <a:t> </a:t>
            </a:r>
          </a:p>
        </p:txBody>
      </p:sp>
      <p:sp>
        <p:nvSpPr>
          <p:cNvPr id="35844" name="Slide Number Placeholder 4">
            <a:extLst>
              <a:ext uri="{FF2B5EF4-FFF2-40B4-BE49-F238E27FC236}">
                <a16:creationId xmlns:a16="http://schemas.microsoft.com/office/drawing/2014/main" id="{7C24123A-61B8-452F-B8E7-815274E7099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4E711E8-1930-48F4-B7CB-12D0A6F9ABD3}" type="slidenum">
              <a:rPr lang="en-US" altLang="en-US" sz="1400" smtClean="0"/>
              <a:pPr>
                <a:spcBef>
                  <a:spcPct val="0"/>
                </a:spcBef>
                <a:buClrTx/>
                <a:buSzTx/>
                <a:buFontTx/>
                <a:buNone/>
              </a:pPr>
              <a:t>32</a:t>
            </a:fld>
            <a:endParaRPr lang="en-US" altLang="en-US" sz="1400"/>
          </a:p>
        </p:txBody>
      </p:sp>
      <p:sp>
        <p:nvSpPr>
          <p:cNvPr id="35850" name="Rectangle 8">
            <a:hlinkClick r:id="rId3"/>
            <a:extLst>
              <a:ext uri="{FF2B5EF4-FFF2-40B4-BE49-F238E27FC236}">
                <a16:creationId xmlns:a16="http://schemas.microsoft.com/office/drawing/2014/main" id="{6D6EA381-E433-460F-A6CB-33A69419B449}"/>
              </a:ext>
            </a:extLst>
          </p:cNvPr>
          <p:cNvSpPr>
            <a:spLocks noChangeArrowheads="1"/>
          </p:cNvSpPr>
          <p:nvPr/>
        </p:nvSpPr>
        <p:spPr bwMode="auto">
          <a:xfrm>
            <a:off x="4746625" y="5835650"/>
            <a:ext cx="25003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TestMap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7A13390-4E2A-4567-8D4A-1D2656DB21AB}"/>
              </a:ext>
            </a:extLst>
          </p:cNvPr>
          <p:cNvSpPr>
            <a:spLocks noGrp="1" noChangeArrowheads="1"/>
          </p:cNvSpPr>
          <p:nvPr>
            <p:ph type="title"/>
          </p:nvPr>
        </p:nvSpPr>
        <p:spPr>
          <a:xfrm>
            <a:off x="533400" y="0"/>
            <a:ext cx="7924800" cy="1666875"/>
          </a:xfrm>
          <a:noFill/>
        </p:spPr>
        <p:txBody>
          <a:bodyPr/>
          <a:lstStyle/>
          <a:p>
            <a:pPr eaLnBrk="1" hangingPunct="1"/>
            <a:r>
              <a:rPr lang="en-US" altLang="en-US" dirty="0">
                <a:cs typeface="Times New Roman" panose="02020603050405020304" pitchFamily="18" charset="0"/>
              </a:rPr>
              <a:t>Case Study: Counting the Occurrences of Words in a Text</a:t>
            </a:r>
          </a:p>
        </p:txBody>
      </p:sp>
      <p:sp>
        <p:nvSpPr>
          <p:cNvPr id="36867" name="Rectangle 4">
            <a:extLst>
              <a:ext uri="{FF2B5EF4-FFF2-40B4-BE49-F238E27FC236}">
                <a16:creationId xmlns:a16="http://schemas.microsoft.com/office/drawing/2014/main" id="{D55DD36A-F14A-45F1-A3E4-8DFF3F3C36EC}"/>
              </a:ext>
            </a:extLst>
          </p:cNvPr>
          <p:cNvSpPr>
            <a:spLocks noGrp="1" noChangeArrowheads="1"/>
          </p:cNvSpPr>
          <p:nvPr>
            <p:ph idx="1"/>
          </p:nvPr>
        </p:nvSpPr>
        <p:spPr>
          <a:xfrm>
            <a:off x="0" y="1666875"/>
            <a:ext cx="9144000" cy="4200525"/>
          </a:xfrm>
        </p:spPr>
        <p:txBody>
          <a:bodyPr/>
          <a:lstStyle/>
          <a:p>
            <a:pPr marL="0" indent="0" eaLnBrk="1" hangingPunct="1">
              <a:buFont typeface="Monotype Sorts"/>
              <a:buNone/>
            </a:pPr>
            <a:r>
              <a:rPr lang="en-US" altLang="en-US">
                <a:cs typeface="Times New Roman" panose="02020603050405020304" pitchFamily="18" charset="0"/>
              </a:rPr>
              <a:t>This program counts the occurrences of words in a text and displays the words and their occurrences in ascending order of the words. The program uses a hash map to store a pair consisting of a word and its count. For each word, check whether it is already a key in the map. If not, add the key and value 1 to the map. Otherwise, increase the value for the word (key) by 1 in the map. To sort the map, convert it to a tree map.  </a:t>
            </a:r>
          </a:p>
        </p:txBody>
      </p:sp>
      <p:sp>
        <p:nvSpPr>
          <p:cNvPr id="36868" name="Slide Number Placeholder 4">
            <a:extLst>
              <a:ext uri="{FF2B5EF4-FFF2-40B4-BE49-F238E27FC236}">
                <a16:creationId xmlns:a16="http://schemas.microsoft.com/office/drawing/2014/main" id="{684FAA5A-A2EC-48DD-A696-1B50615C1879}"/>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0C70EAF-A143-4846-8F10-A89F8E215C49}" type="slidenum">
              <a:rPr lang="en-US" altLang="en-US" sz="1400" smtClean="0"/>
              <a:pPr>
                <a:spcBef>
                  <a:spcPct val="0"/>
                </a:spcBef>
                <a:buClrTx/>
                <a:buSzTx/>
                <a:buFontTx/>
                <a:buNone/>
              </a:pPr>
              <a:t>33</a:t>
            </a:fld>
            <a:endParaRPr lang="en-US" altLang="en-US" sz="1400"/>
          </a:p>
        </p:txBody>
      </p:sp>
      <p:sp>
        <p:nvSpPr>
          <p:cNvPr id="36874" name="Rectangle 8">
            <a:hlinkClick r:id="rId2"/>
            <a:extLst>
              <a:ext uri="{FF2B5EF4-FFF2-40B4-BE49-F238E27FC236}">
                <a16:creationId xmlns:a16="http://schemas.microsoft.com/office/drawing/2014/main" id="{36604B00-726B-4FD8-B594-2BC4A162719F}"/>
              </a:ext>
            </a:extLst>
          </p:cNvPr>
          <p:cNvSpPr>
            <a:spLocks noChangeArrowheads="1"/>
          </p:cNvSpPr>
          <p:nvPr/>
        </p:nvSpPr>
        <p:spPr bwMode="auto">
          <a:xfrm>
            <a:off x="4518025" y="5892800"/>
            <a:ext cx="30337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CountOccurrenceOfWords</a:t>
            </a:r>
          </a:p>
        </p:txBody>
      </p:sp>
    </p:spTree>
  </p:cSld>
  <p:clrMapOvr>
    <a:masterClrMapping/>
  </p:clrMapOvr>
</p:sld>
</file>

<file path=ppt/theme/theme1.xml><?xml version="1.0" encoding="utf-8"?>
<a:theme xmlns:a="http://schemas.openxmlformats.org/drawingml/2006/main" name="Internation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20_Lists, Stacks, Queues, and Priority Queues</Template>
  <TotalTime>14987</TotalTime>
  <Words>3956</Words>
  <Application>Microsoft Office PowerPoint</Application>
  <PresentationFormat>On-screen Show (4:3)</PresentationFormat>
  <Paragraphs>396</Paragraphs>
  <Slides>33</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Consolas</vt:lpstr>
      <vt:lpstr>Courier</vt:lpstr>
      <vt:lpstr>Courier New</vt:lpstr>
      <vt:lpstr>Monotype Sorts</vt:lpstr>
      <vt:lpstr>Times New Roman</vt:lpstr>
      <vt:lpstr>Wingdings</vt:lpstr>
      <vt:lpstr>International</vt:lpstr>
      <vt:lpstr>Chapter 21 Sets and Maps</vt:lpstr>
      <vt:lpstr>Objectives</vt:lpstr>
      <vt:lpstr>Motivations</vt:lpstr>
      <vt:lpstr>Review of Java Collection Framework hierarchy</vt:lpstr>
      <vt:lpstr>Collection Interface</vt:lpstr>
      <vt:lpstr>The Set Interface</vt:lpstr>
      <vt:lpstr>The Set Interface</vt:lpstr>
      <vt:lpstr>Set Operations</vt:lpstr>
      <vt:lpstr>The Set Interface Hierarchy</vt:lpstr>
      <vt:lpstr>The AbstractSet Class</vt:lpstr>
      <vt:lpstr>The HashSet Class</vt:lpstr>
      <vt:lpstr>Implementing Sets and Maps</vt:lpstr>
      <vt:lpstr>Hashing</vt:lpstr>
      <vt:lpstr>Example: Using HashSet</vt:lpstr>
      <vt:lpstr>Example: Using LinkedHashSet</vt:lpstr>
      <vt:lpstr>The SortedSet Interface and the TreeSet Class</vt:lpstr>
      <vt:lpstr>The SortedSet Interface and the TreeSet Class, cont.</vt:lpstr>
      <vt:lpstr>Some TreeSet Operations</vt:lpstr>
      <vt:lpstr>Example: Using TreeSet to Sort Elements in a Set</vt:lpstr>
      <vt:lpstr>Example: Using TreeSet to Sort Elements in a Set</vt:lpstr>
      <vt:lpstr>Example: The Using Comparator to Sort Elements in a Set</vt:lpstr>
      <vt:lpstr>Case Study: Counting Keywords</vt:lpstr>
      <vt:lpstr>Case Study: Counting Keywords</vt:lpstr>
      <vt:lpstr>The Map Interface</vt:lpstr>
      <vt:lpstr>Map Interface and Class Hierarchy</vt:lpstr>
      <vt:lpstr>The Map Interface Methods</vt:lpstr>
      <vt:lpstr>Concrete Map Classes</vt:lpstr>
      <vt:lpstr>Entry</vt:lpstr>
      <vt:lpstr>HashMap and TreeMap</vt:lpstr>
      <vt:lpstr>LinkedHashMap</vt:lpstr>
      <vt:lpstr>HashMap Example</vt:lpstr>
      <vt:lpstr>Example: Using HashMap, LinkedHashMap, and TreeMap</vt:lpstr>
      <vt:lpstr>Case Study: Counting the Occurrences of Words in a Text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19 Java Data Structures</dc:title>
  <dc:creator>Y. Daniel Liang</dc:creator>
  <cp:lastModifiedBy>Nguyen, Phuong Tran Lan</cp:lastModifiedBy>
  <cp:revision>237</cp:revision>
  <dcterms:created xsi:type="dcterms:W3CDTF">1995-06-10T17:31:50Z</dcterms:created>
  <dcterms:modified xsi:type="dcterms:W3CDTF">2025-10-02T15:51:11Z</dcterms:modified>
</cp:coreProperties>
</file>