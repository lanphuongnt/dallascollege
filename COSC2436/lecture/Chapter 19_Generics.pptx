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4" r:id="rId1"/>
  </p:sldMasterIdLst>
  <p:notesMasterIdLst>
    <p:notesMasterId r:id="rId34"/>
  </p:notesMasterIdLst>
  <p:sldIdLst>
    <p:sldId id="314" r:id="rId2"/>
    <p:sldId id="361" r:id="rId3"/>
    <p:sldId id="323" r:id="rId4"/>
    <p:sldId id="386" r:id="rId5"/>
    <p:sldId id="404" r:id="rId6"/>
    <p:sldId id="401" r:id="rId7"/>
    <p:sldId id="400" r:id="rId8"/>
    <p:sldId id="402" r:id="rId9"/>
    <p:sldId id="396" r:id="rId10"/>
    <p:sldId id="390" r:id="rId11"/>
    <p:sldId id="340" r:id="rId12"/>
    <p:sldId id="387" r:id="rId13"/>
    <p:sldId id="379" r:id="rId14"/>
    <p:sldId id="380" r:id="rId15"/>
    <p:sldId id="406" r:id="rId16"/>
    <p:sldId id="403" r:id="rId17"/>
    <p:sldId id="407" r:id="rId18"/>
    <p:sldId id="381" r:id="rId19"/>
    <p:sldId id="405" r:id="rId20"/>
    <p:sldId id="382" r:id="rId21"/>
    <p:sldId id="388" r:id="rId22"/>
    <p:sldId id="395" r:id="rId23"/>
    <p:sldId id="389" r:id="rId24"/>
    <p:sldId id="383" r:id="rId25"/>
    <p:sldId id="378" r:id="rId26"/>
    <p:sldId id="356" r:id="rId27"/>
    <p:sldId id="398" r:id="rId28"/>
    <p:sldId id="399" r:id="rId29"/>
    <p:sldId id="397" r:id="rId30"/>
    <p:sldId id="391" r:id="rId31"/>
    <p:sldId id="392" r:id="rId32"/>
    <p:sldId id="393" r:id="rId33"/>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045" autoAdjust="0"/>
    <p:restoredTop sz="94630" autoAdjust="0"/>
  </p:normalViewPr>
  <p:slideViewPr>
    <p:cSldViewPr>
      <p:cViewPr varScale="1">
        <p:scale>
          <a:sx n="42" d="100"/>
          <a:sy n="42" d="100"/>
        </p:scale>
        <p:origin x="642" y="36"/>
      </p:cViewPr>
      <p:guideLst>
        <p:guide orient="horz" pos="864"/>
        <p:guide pos="576"/>
      </p:guideLst>
    </p:cSldViewPr>
  </p:slideViewPr>
  <p:outlineViewPr>
    <p:cViewPr>
      <p:scale>
        <a:sx n="33" d="100"/>
        <a:sy n="33" d="100"/>
      </p:scale>
      <p:origin x="0" y="0"/>
    </p:cViewPr>
  </p:outlineViewPr>
  <p:notesTextViewPr>
    <p:cViewPr>
      <p:scale>
        <a:sx n="100" d="100"/>
        <a:sy n="100" d="100"/>
      </p:scale>
      <p:origin x="0" y="-6"/>
    </p:cViewPr>
  </p:notesTextViewPr>
  <p:sorterViewPr>
    <p:cViewPr>
      <p:scale>
        <a:sx n="66" d="100"/>
        <a:sy n="66" d="100"/>
      </p:scale>
      <p:origin x="0" y="0"/>
    </p:cViewPr>
  </p:sorterViewPr>
  <p:notesViewPr>
    <p:cSldViewPr>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FC0507C-F049-4470-828A-7D4121FF5D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9" name="Rectangle 3">
            <a:extLst>
              <a:ext uri="{FF2B5EF4-FFF2-40B4-BE49-F238E27FC236}">
                <a16:creationId xmlns:a16="http://schemas.microsoft.com/office/drawing/2014/main" id="{3AC0D9A2-DB80-4576-B00A-C0A79A40729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66F12DB-4C24-4FC0-8289-7332FB9A7E5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7" name="Rectangle 3">
            <a:extLst>
              <a:ext uri="{FF2B5EF4-FFF2-40B4-BE49-F238E27FC236}">
                <a16:creationId xmlns:a16="http://schemas.microsoft.com/office/drawing/2014/main" id="{AB2A03F4-4915-48F0-AF57-2205C9CFE51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971D7DB-5E2A-4DB6-A9D2-FE6C86DC0BA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5" name="Rectangle 3">
            <a:extLst>
              <a:ext uri="{FF2B5EF4-FFF2-40B4-BE49-F238E27FC236}">
                <a16:creationId xmlns:a16="http://schemas.microsoft.com/office/drawing/2014/main" id="{5B43062A-FBC5-4120-9D57-FF85C3B3ACB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BEBBB68-EEE1-40F9-9ACD-E1B05AE3D7A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3" name="Rectangle 3">
            <a:extLst>
              <a:ext uri="{FF2B5EF4-FFF2-40B4-BE49-F238E27FC236}">
                <a16:creationId xmlns:a16="http://schemas.microsoft.com/office/drawing/2014/main" id="{50DA005F-8B97-4392-A927-7D521D68E99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BEBBB68-EEE1-40F9-9ACD-E1B05AE3D7A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3" name="Rectangle 3">
            <a:extLst>
              <a:ext uri="{FF2B5EF4-FFF2-40B4-BE49-F238E27FC236}">
                <a16:creationId xmlns:a16="http://schemas.microsoft.com/office/drawing/2014/main" id="{50DA005F-8B97-4392-A927-7D521D68E99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2055753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E502098-A041-427A-B60D-37D187D175C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BC393BB-DE5E-417D-B055-256CAA49447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3474468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E502098-A041-427A-B60D-37D187D175C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BC393BB-DE5E-417D-B055-256CAA49447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4023916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E502098-A041-427A-B60D-37D187D175C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a:extLst>
              <a:ext uri="{FF2B5EF4-FFF2-40B4-BE49-F238E27FC236}">
                <a16:creationId xmlns:a16="http://schemas.microsoft.com/office/drawing/2014/main" id="{2BC393BB-DE5E-417D-B055-256CAA49447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2367253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171A0BD-B73A-4BC9-B7DF-DA0A71C4E15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a:extLst>
              <a:ext uri="{FF2B5EF4-FFF2-40B4-BE49-F238E27FC236}">
                <a16:creationId xmlns:a16="http://schemas.microsoft.com/office/drawing/2014/main" id="{9CF264D0-4CCE-401A-81E7-6DE38CE90FF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0C8201D-5B6C-4582-BEE3-47FEBB6E2B0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7" name="Rectangle 3">
            <a:extLst>
              <a:ext uri="{FF2B5EF4-FFF2-40B4-BE49-F238E27FC236}">
                <a16:creationId xmlns:a16="http://schemas.microsoft.com/office/drawing/2014/main" id="{3F8A8FEA-BC96-4EB0-BEA6-DF13980DAD9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592F219-2871-4E49-B912-C7E7C8EF3EC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a:extLst>
              <a:ext uri="{FF2B5EF4-FFF2-40B4-BE49-F238E27FC236}">
                <a16:creationId xmlns:a16="http://schemas.microsoft.com/office/drawing/2014/main" id="{4C261728-74DE-430E-BACE-FDD35BB2716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DF48BAA-A9E7-4747-BE19-11E556D09CE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3" name="Rectangle 3">
            <a:extLst>
              <a:ext uri="{FF2B5EF4-FFF2-40B4-BE49-F238E27FC236}">
                <a16:creationId xmlns:a16="http://schemas.microsoft.com/office/drawing/2014/main" id="{8A8EE35D-42EB-4BEE-A8C9-557F00D1728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42A0059-8F8A-41BF-97AC-C28791354C5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5F0CBD31-017B-47D4-B96A-EDC99BF928E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A767DA-01E6-4EDA-90C5-BA1B12F4FA7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3A0BFCC2-D5B9-45D4-9ECB-250842FB275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dirty="0" err="1"/>
              <a:t>Không</a:t>
            </a:r>
            <a:r>
              <a:rPr lang="en-US" altLang="en-US" dirty="0"/>
              <a:t> dung </a:t>
            </a:r>
            <a:r>
              <a:rPr lang="en-US" altLang="en-US" dirty="0" err="1"/>
              <a:t>được</a:t>
            </a:r>
            <a:r>
              <a:rPr lang="en-US" altLang="en-US" dirty="0"/>
              <a:t> int , double,… ,</a:t>
            </a:r>
            <a:r>
              <a:rPr lang="en-US" altLang="en-US" dirty="0" err="1"/>
              <a:t>mà</a:t>
            </a:r>
            <a:r>
              <a:rPr lang="en-US" altLang="en-US" dirty="0"/>
              <a:t> </a:t>
            </a:r>
            <a:r>
              <a:rPr lang="en-US" altLang="en-US" dirty="0" err="1"/>
              <a:t>phải</a:t>
            </a:r>
            <a:r>
              <a:rPr lang="en-US" altLang="en-US" dirty="0"/>
              <a:t> dung Integer</a:t>
            </a:r>
            <a:r>
              <a:rPr lang="en-US" altLang="en-US"/>
              <a:t>, Double….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A767DA-01E6-4EDA-90C5-BA1B12F4FA7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3A0BFCC2-D5B9-45D4-9ECB-250842FB275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3966820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A767DA-01E6-4EDA-90C5-BA1B12F4FA7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3A0BFCC2-D5B9-45D4-9ECB-250842FB275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1148284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A767DA-01E6-4EDA-90C5-BA1B12F4FA7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3A0BFCC2-D5B9-45D4-9ECB-250842FB275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4050474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F8E2596-7078-407B-94D6-5BA3F7DF6A2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7" name="Rectangle 3">
            <a:extLst>
              <a:ext uri="{FF2B5EF4-FFF2-40B4-BE49-F238E27FC236}">
                <a16:creationId xmlns:a16="http://schemas.microsoft.com/office/drawing/2014/main" id="{20D8B33B-C349-4D63-A12C-E80FA225EB8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F8E2596-7078-407B-94D6-5BA3F7DF6A2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7" name="Rectangle 3">
            <a:extLst>
              <a:ext uri="{FF2B5EF4-FFF2-40B4-BE49-F238E27FC236}">
                <a16:creationId xmlns:a16="http://schemas.microsoft.com/office/drawing/2014/main" id="{20D8B33B-C349-4D63-A12C-E80FA225EB84}"/>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extLst>
      <p:ext uri="{BB962C8B-B14F-4D97-AF65-F5344CB8AC3E}">
        <p14:creationId xmlns:p14="http://schemas.microsoft.com/office/powerpoint/2010/main" val="897691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D261B76-ED9E-4C11-9D16-8E7DB803F6B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a:extLst>
              <a:ext uri="{FF2B5EF4-FFF2-40B4-BE49-F238E27FC236}">
                <a16:creationId xmlns:a16="http://schemas.microsoft.com/office/drawing/2014/main" id="{003B29C6-B3C8-41B8-BAFD-8B9D42B50B0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4A69E92-6F74-4476-9C51-5CC2C5EA26D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D1306A9D-70F6-49E4-9ABD-760D075A17B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67967DF-675E-4070-9205-A3FC472EDCD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A5A83628-E278-4B8E-806C-A114B65689F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A2B2CD5-8C4A-421A-AF59-9E5304C7884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80E4CC7F-7FD3-446B-9ADE-A62C621EA41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63AD36E-AFE9-405C-96E2-9F814546B37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99AC3A2A-B3DB-4FF7-B4BE-0D4F1B4D716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F7D4E6-C689-47D4-9D98-3ED3207C7D1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E89E573A-6E4F-43BC-A2AD-385B02902B6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B465509-2FA7-4BDA-83EB-5668489A925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9CB875DE-FBCA-435E-9C90-0582D4054DA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DE4CF6B-A7AD-43B5-A502-939AF62994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9E5697C8-7B03-4589-92B2-F93F5BB2CD6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33EAB33-17FE-4559-AD80-1F281B40351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65320CF6-75EE-4D3A-909D-99A4DF51BB8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9901C98-A165-4D23-9171-B489FB80789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9A9AC126-D81A-484F-84AC-55D5E816961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57A05473-114E-49D9-A317-40C4AB700D8F}" type="slidenum">
              <a:rPr lang="en-US" altLang="en-US" smtClean="0"/>
              <a:pPr/>
              <a:t>‹#›</a:t>
            </a:fld>
            <a:endParaRPr lang="en-US" altLang="en-US"/>
          </a:p>
        </p:txBody>
      </p:sp>
    </p:spTree>
    <p:extLst>
      <p:ext uri="{BB962C8B-B14F-4D97-AF65-F5344CB8AC3E}">
        <p14:creationId xmlns:p14="http://schemas.microsoft.com/office/powerpoint/2010/main" val="2593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D98E5CC5-9860-4062-BB5C-DEF15A25C8BF}" type="slidenum">
              <a:rPr lang="en-US" altLang="en-US" smtClean="0"/>
              <a:pPr/>
              <a:t>‹#›</a:t>
            </a:fld>
            <a:endParaRPr lang="en-US" altLang="en-US"/>
          </a:p>
        </p:txBody>
      </p:sp>
    </p:spTree>
    <p:extLst>
      <p:ext uri="{BB962C8B-B14F-4D97-AF65-F5344CB8AC3E}">
        <p14:creationId xmlns:p14="http://schemas.microsoft.com/office/powerpoint/2010/main" val="90264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28CE3AB7-9139-4216-87E2-E2C8BCBD818E}" type="slidenum">
              <a:rPr lang="en-US" altLang="en-US" smtClean="0"/>
              <a:pPr/>
              <a:t>‹#›</a:t>
            </a:fld>
            <a:endParaRPr lang="en-US" altLang="en-US"/>
          </a:p>
        </p:txBody>
      </p:sp>
    </p:spTree>
    <p:extLst>
      <p:ext uri="{BB962C8B-B14F-4D97-AF65-F5344CB8AC3E}">
        <p14:creationId xmlns:p14="http://schemas.microsoft.com/office/powerpoint/2010/main" val="1905561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A02C0A1D-AD64-44CD-A277-6FC90AD14F68}" type="slidenum">
              <a:rPr lang="en-US" altLang="en-US" smtClean="0"/>
              <a:pPr/>
              <a:t>‹#›</a:t>
            </a:fld>
            <a:endParaRPr lang="en-US" altLang="en-US"/>
          </a:p>
        </p:txBody>
      </p:sp>
    </p:spTree>
    <p:extLst>
      <p:ext uri="{BB962C8B-B14F-4D97-AF65-F5344CB8AC3E}">
        <p14:creationId xmlns:p14="http://schemas.microsoft.com/office/powerpoint/2010/main" val="4060321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7AE71785-D87F-4B0F-A553-F4EF9B4FE793}" type="slidenum">
              <a:rPr lang="en-US" altLang="en-US" smtClean="0"/>
              <a:pPr/>
              <a:t>‹#›</a:t>
            </a:fld>
            <a:endParaRPr lang="en-US" altLang="en-US"/>
          </a:p>
        </p:txBody>
      </p:sp>
    </p:spTree>
    <p:extLst>
      <p:ext uri="{BB962C8B-B14F-4D97-AF65-F5344CB8AC3E}">
        <p14:creationId xmlns:p14="http://schemas.microsoft.com/office/powerpoint/2010/main" val="754273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D4F83875-7DDE-4998-84A9-D1CD7C8EB3AD}" type="slidenum">
              <a:rPr lang="en-US" altLang="en-US" smtClean="0"/>
              <a:pPr/>
              <a:t>‹#›</a:t>
            </a:fld>
            <a:endParaRPr lang="en-US" altLang="en-US"/>
          </a:p>
        </p:txBody>
      </p:sp>
    </p:spTree>
    <p:extLst>
      <p:ext uri="{BB962C8B-B14F-4D97-AF65-F5344CB8AC3E}">
        <p14:creationId xmlns:p14="http://schemas.microsoft.com/office/powerpoint/2010/main" val="651986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9430D527-C38D-4961-9A27-CB95C7B68295}" type="slidenum">
              <a:rPr lang="en-US" altLang="en-US" smtClean="0"/>
              <a:pPr/>
              <a:t>‹#›</a:t>
            </a:fld>
            <a:endParaRPr lang="en-US" altLang="en-US"/>
          </a:p>
        </p:txBody>
      </p:sp>
    </p:spTree>
    <p:extLst>
      <p:ext uri="{BB962C8B-B14F-4D97-AF65-F5344CB8AC3E}">
        <p14:creationId xmlns:p14="http://schemas.microsoft.com/office/powerpoint/2010/main" val="557536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D97565CB-63A6-4FCA-A8BC-CF2FDEABA647}" type="slidenum">
              <a:rPr lang="en-US" altLang="en-US" smtClean="0"/>
              <a:pPr/>
              <a:t>‹#›</a:t>
            </a:fld>
            <a:endParaRPr lang="en-US" altLang="en-US"/>
          </a:p>
        </p:txBody>
      </p:sp>
    </p:spTree>
    <p:extLst>
      <p:ext uri="{BB962C8B-B14F-4D97-AF65-F5344CB8AC3E}">
        <p14:creationId xmlns:p14="http://schemas.microsoft.com/office/powerpoint/2010/main" val="96070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35AB4B99-6F68-445C-8C2C-884A801707CB}" type="slidenum">
              <a:rPr lang="en-US" altLang="en-US" smtClean="0"/>
              <a:pPr/>
              <a:t>‹#›</a:t>
            </a:fld>
            <a:endParaRPr lang="en-US" altLang="en-US"/>
          </a:p>
        </p:txBody>
      </p:sp>
    </p:spTree>
    <p:extLst>
      <p:ext uri="{BB962C8B-B14F-4D97-AF65-F5344CB8AC3E}">
        <p14:creationId xmlns:p14="http://schemas.microsoft.com/office/powerpoint/2010/main" val="1948544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5FB6ABFC-9FB4-4F2B-BCA3-FB960A67AA10}" type="slidenum">
              <a:rPr lang="en-US" altLang="en-US" smtClean="0"/>
              <a:pPr/>
              <a:t>‹#›</a:t>
            </a:fld>
            <a:endParaRPr lang="en-US" altLang="en-US"/>
          </a:p>
        </p:txBody>
      </p:sp>
    </p:spTree>
    <p:extLst>
      <p:ext uri="{BB962C8B-B14F-4D97-AF65-F5344CB8AC3E}">
        <p14:creationId xmlns:p14="http://schemas.microsoft.com/office/powerpoint/2010/main" val="2637603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9EEAFEB4-4AA8-485D-9EEC-3D9EC6B3F4E0}" type="slidenum">
              <a:rPr lang="en-US" altLang="en-US" smtClean="0"/>
              <a:pPr/>
              <a:t>‹#›</a:t>
            </a:fld>
            <a:endParaRPr lang="en-US" altLang="en-US"/>
          </a:p>
        </p:txBody>
      </p:sp>
    </p:spTree>
    <p:extLst>
      <p:ext uri="{BB962C8B-B14F-4D97-AF65-F5344CB8AC3E}">
        <p14:creationId xmlns:p14="http://schemas.microsoft.com/office/powerpoint/2010/main" val="4008562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91C1FBCA-C7A5-4B6F-B203-1B53E5DCFE70}" type="slidenum">
              <a:rPr lang="en-US" altLang="en-US" smtClean="0"/>
              <a:pPr/>
              <a:t>‹#›</a:t>
            </a:fld>
            <a:endParaRPr lang="en-US" altLang="en-US"/>
          </a:p>
        </p:txBody>
      </p:sp>
    </p:spTree>
    <p:extLst>
      <p:ext uri="{BB962C8B-B14F-4D97-AF65-F5344CB8AC3E}">
        <p14:creationId xmlns:p14="http://schemas.microsoft.com/office/powerpoint/2010/main" val="317310727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91C1FBCA-C7A5-4B6F-B203-1B53E5DCFE70}"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169761620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liveexample.pearsoncmg.com/html/GenericStack.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liveexample.pearsoncmg.com/html/TestArrayListNew.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liveexample.pearsoncmg.com/html/WildCardNeedDemo.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liveexample.pearsoncmg.com/html/SuperWildCardDemo.html" TargetMode="External"/><Relationship Id="rId4" Type="http://schemas.openxmlformats.org/officeDocument/2006/relationships/hyperlink" Target="https://liveexample.pearsoncmg.com/html/AnyWildCardDemo.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liveexample.pearsoncmg.com/html/GenericMatrix.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iveexample.pearsoncmg.com/html/IntegerMatrix.html" TargetMode="External"/><Relationship Id="rId2" Type="http://schemas.openxmlformats.org/officeDocument/2006/relationships/hyperlink" Target="https://liveexample.pearsoncmg.com/html/TestIntegerMatrix.html" TargetMode="External"/><Relationship Id="rId1" Type="http://schemas.openxmlformats.org/officeDocument/2006/relationships/slideLayout" Target="../slideLayouts/slideLayout2.xml"/><Relationship Id="rId5" Type="http://schemas.openxmlformats.org/officeDocument/2006/relationships/hyperlink" Target="https://liveexample.pearsoncmg.com/html/RationalMatrix.html" TargetMode="External"/><Relationship Id="rId4" Type="http://schemas.openxmlformats.org/officeDocument/2006/relationships/hyperlink" Target="https://liveexample.pearsoncmg.com/html/TestRationalMatri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F0860722-09F0-4BF5-9C3B-42DD66CD1154}"/>
              </a:ext>
            </a:extLst>
          </p:cNvPr>
          <p:cNvSpPr>
            <a:spLocks noGrp="1" noChangeArrowheads="1"/>
          </p:cNvSpPr>
          <p:nvPr>
            <p:ph type="title"/>
          </p:nvPr>
        </p:nvSpPr>
        <p:spPr>
          <a:xfrm>
            <a:off x="685800" y="685800"/>
            <a:ext cx="7772400" cy="1143000"/>
          </a:xfrm>
        </p:spPr>
        <p:txBody>
          <a:bodyPr/>
          <a:lstStyle/>
          <a:p>
            <a:r>
              <a:rPr lang="en-US" altLang="en-US"/>
              <a:t>Chapter 19 Generics</a:t>
            </a:r>
            <a:endParaRPr lang="en-US" altLang="en-US">
              <a:solidFill>
                <a:schemeClr val="tx1"/>
              </a:solidFill>
              <a:latin typeface="Book Antiqua" panose="02040602050305030304" pitchFamily="18" charset="0"/>
            </a:endParaRPr>
          </a:p>
        </p:txBody>
      </p:sp>
      <p:sp>
        <p:nvSpPr>
          <p:cNvPr id="3074" name="Slide Number Placeholder 4">
            <a:extLst>
              <a:ext uri="{FF2B5EF4-FFF2-40B4-BE49-F238E27FC236}">
                <a16:creationId xmlns:a16="http://schemas.microsoft.com/office/drawing/2014/main" id="{2DA466B7-D485-4484-99EC-35527213164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E204D5E-B636-49A2-BF25-1A069B52ED16}"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EE5D2FDF-89F3-4B5B-8833-E074EF196DF8}"/>
              </a:ext>
            </a:extLst>
          </p:cNvPr>
          <p:cNvSpPr>
            <a:spLocks noGrp="1" noChangeArrowheads="1"/>
          </p:cNvSpPr>
          <p:nvPr>
            <p:ph type="title"/>
          </p:nvPr>
        </p:nvSpPr>
        <p:spPr>
          <a:xfrm>
            <a:off x="685800" y="228600"/>
            <a:ext cx="7772400" cy="685800"/>
          </a:xfrm>
        </p:spPr>
        <p:txBody>
          <a:bodyPr/>
          <a:lstStyle/>
          <a:p>
            <a:r>
              <a:rPr lang="en-US" altLang="en-US"/>
              <a:t>Objectives</a:t>
            </a:r>
          </a:p>
        </p:txBody>
      </p:sp>
      <p:sp>
        <p:nvSpPr>
          <p:cNvPr id="5124" name="Rectangle 3">
            <a:extLst>
              <a:ext uri="{FF2B5EF4-FFF2-40B4-BE49-F238E27FC236}">
                <a16:creationId xmlns:a16="http://schemas.microsoft.com/office/drawing/2014/main" id="{DC0E0643-DD7E-446B-93B8-61CBE9E27931}"/>
              </a:ext>
            </a:extLst>
          </p:cNvPr>
          <p:cNvSpPr>
            <a:spLocks noGrp="1" noChangeArrowheads="1"/>
          </p:cNvSpPr>
          <p:nvPr>
            <p:ph idx="1"/>
          </p:nvPr>
        </p:nvSpPr>
        <p:spPr>
          <a:xfrm>
            <a:off x="381000" y="1066800"/>
            <a:ext cx="8458200" cy="5334000"/>
          </a:xfrm>
        </p:spPr>
        <p:txBody>
          <a:bodyPr/>
          <a:lstStyle/>
          <a:p>
            <a:pPr>
              <a:lnSpc>
                <a:spcPct val="90000"/>
              </a:lnSpc>
              <a:buFont typeface="Wingdings" panose="05000000000000000000" pitchFamily="2" charset="2"/>
              <a:buChar char="q"/>
            </a:pPr>
            <a:r>
              <a:rPr lang="en-US" altLang="en-US" sz="2100" dirty="0"/>
              <a:t>To know the benefits of generics (§19.1).</a:t>
            </a:r>
          </a:p>
          <a:p>
            <a:pPr>
              <a:lnSpc>
                <a:spcPct val="90000"/>
              </a:lnSpc>
              <a:buFont typeface="Wingdings" panose="05000000000000000000" pitchFamily="2" charset="2"/>
              <a:buChar char="q"/>
            </a:pPr>
            <a:r>
              <a:rPr lang="en-US" altLang="en-US" sz="2100" dirty="0"/>
              <a:t>To use generic classes and interfaces (§19.2).</a:t>
            </a:r>
          </a:p>
          <a:p>
            <a:pPr>
              <a:lnSpc>
                <a:spcPct val="90000"/>
              </a:lnSpc>
              <a:buFont typeface="Wingdings" panose="05000000000000000000" pitchFamily="2" charset="2"/>
              <a:buChar char="q"/>
            </a:pPr>
            <a:r>
              <a:rPr lang="en-US" altLang="en-US" sz="2100" dirty="0"/>
              <a:t>To declare generic classes and interfaces (§19.3).</a:t>
            </a:r>
          </a:p>
          <a:p>
            <a:pPr>
              <a:lnSpc>
                <a:spcPct val="90000"/>
              </a:lnSpc>
              <a:buFont typeface="Wingdings" panose="05000000000000000000" pitchFamily="2" charset="2"/>
              <a:buChar char="q"/>
            </a:pPr>
            <a:r>
              <a:rPr lang="en-US" altLang="en-US" sz="2100" dirty="0"/>
              <a:t>To understand why generic types can improve reliability and readability (§19.3).</a:t>
            </a:r>
          </a:p>
          <a:p>
            <a:pPr>
              <a:lnSpc>
                <a:spcPct val="90000"/>
              </a:lnSpc>
              <a:buFont typeface="Wingdings" panose="05000000000000000000" pitchFamily="2" charset="2"/>
              <a:buChar char="q"/>
            </a:pPr>
            <a:r>
              <a:rPr lang="en-US" altLang="en-US" sz="2100" dirty="0"/>
              <a:t>To declare and use generic methods and bounded generic types (§19.4).</a:t>
            </a:r>
          </a:p>
          <a:p>
            <a:pPr>
              <a:lnSpc>
                <a:spcPct val="90000"/>
              </a:lnSpc>
              <a:buFont typeface="Wingdings" panose="05000000000000000000" pitchFamily="2" charset="2"/>
              <a:buChar char="q"/>
            </a:pPr>
            <a:r>
              <a:rPr lang="en-US" altLang="en-US" sz="2100" dirty="0"/>
              <a:t>To use raw types for backward compatibility (§19.5).</a:t>
            </a:r>
          </a:p>
          <a:p>
            <a:pPr>
              <a:lnSpc>
                <a:spcPct val="90000"/>
              </a:lnSpc>
              <a:buFont typeface="Wingdings" panose="05000000000000000000" pitchFamily="2" charset="2"/>
              <a:buChar char="q"/>
            </a:pPr>
            <a:r>
              <a:rPr lang="en-US" altLang="en-US" sz="2100" dirty="0"/>
              <a:t>To know wildcard types and understand why they are necessary (§19.6).</a:t>
            </a:r>
          </a:p>
          <a:p>
            <a:pPr>
              <a:lnSpc>
                <a:spcPct val="90000"/>
              </a:lnSpc>
              <a:buFont typeface="Wingdings" panose="05000000000000000000" pitchFamily="2" charset="2"/>
              <a:buChar char="q"/>
            </a:pPr>
            <a:r>
              <a:rPr lang="en-US" altLang="en-US" sz="2100" dirty="0"/>
              <a:t>To convert legacy code using JDK 1.5 generics (§19.7).</a:t>
            </a:r>
          </a:p>
          <a:p>
            <a:pPr>
              <a:lnSpc>
                <a:spcPct val="90000"/>
              </a:lnSpc>
              <a:buFont typeface="Wingdings" panose="05000000000000000000" pitchFamily="2" charset="2"/>
              <a:buChar char="q"/>
            </a:pPr>
            <a:r>
              <a:rPr lang="en-US" altLang="en-US" sz="2100" dirty="0"/>
              <a:t>To understand that generic type information is erased by the compiler and all instances of a generic class share the same runtime class file (§19.8).</a:t>
            </a:r>
          </a:p>
          <a:p>
            <a:pPr>
              <a:lnSpc>
                <a:spcPct val="90000"/>
              </a:lnSpc>
              <a:buFont typeface="Wingdings" panose="05000000000000000000" pitchFamily="2" charset="2"/>
              <a:buChar char="q"/>
            </a:pPr>
            <a:r>
              <a:rPr lang="en-US" altLang="en-US" sz="2100" dirty="0"/>
              <a:t>To know certain restrictions on generic types caused by type erasure (§19.8).</a:t>
            </a:r>
          </a:p>
          <a:p>
            <a:pPr>
              <a:lnSpc>
                <a:spcPct val="90000"/>
              </a:lnSpc>
              <a:buFont typeface="Wingdings" panose="05000000000000000000" pitchFamily="2" charset="2"/>
              <a:buChar char="q"/>
            </a:pPr>
            <a:r>
              <a:rPr lang="en-US" altLang="en-US" sz="2100" dirty="0"/>
              <a:t>To design and implement generic matrix classes (§19.9).</a:t>
            </a:r>
          </a:p>
        </p:txBody>
      </p:sp>
      <p:sp>
        <p:nvSpPr>
          <p:cNvPr id="5122" name="Slide Number Placeholder 4">
            <a:extLst>
              <a:ext uri="{FF2B5EF4-FFF2-40B4-BE49-F238E27FC236}">
                <a16:creationId xmlns:a16="http://schemas.microsoft.com/office/drawing/2014/main" id="{3F9C40AC-608C-45FF-9C1E-9198969B7A2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37F53F0-DC47-472B-8B52-88F774958F53}"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D49A5EBF-AD6C-4E02-AF3D-F5FB4A96EF61}"/>
              </a:ext>
            </a:extLst>
          </p:cNvPr>
          <p:cNvSpPr>
            <a:spLocks noGrp="1" noChangeArrowheads="1"/>
          </p:cNvSpPr>
          <p:nvPr>
            <p:ph type="title"/>
          </p:nvPr>
        </p:nvSpPr>
        <p:spPr>
          <a:xfrm>
            <a:off x="685800" y="304800"/>
            <a:ext cx="7772400" cy="838200"/>
          </a:xfrm>
        </p:spPr>
        <p:txBody>
          <a:bodyPr/>
          <a:lstStyle/>
          <a:p>
            <a:r>
              <a:rPr lang="en-US" altLang="en-US"/>
              <a:t>Why Do You Get a Warning?</a:t>
            </a:r>
          </a:p>
        </p:txBody>
      </p:sp>
      <p:sp>
        <p:nvSpPr>
          <p:cNvPr id="7172" name="Rectangle 3">
            <a:extLst>
              <a:ext uri="{FF2B5EF4-FFF2-40B4-BE49-F238E27FC236}">
                <a16:creationId xmlns:a16="http://schemas.microsoft.com/office/drawing/2014/main" id="{AAA2366D-BA05-41D7-BA57-BD5B36F7B08C}"/>
              </a:ext>
            </a:extLst>
          </p:cNvPr>
          <p:cNvSpPr>
            <a:spLocks noGrp="1" noChangeArrowheads="1"/>
          </p:cNvSpPr>
          <p:nvPr>
            <p:ph idx="1"/>
          </p:nvPr>
        </p:nvSpPr>
        <p:spPr>
          <a:xfrm>
            <a:off x="304800" y="1371600"/>
            <a:ext cx="8458200" cy="2971800"/>
          </a:xfrm>
        </p:spPr>
        <p:txBody>
          <a:bodyPr/>
          <a:lstStyle/>
          <a:p>
            <a:pPr>
              <a:lnSpc>
                <a:spcPct val="90000"/>
              </a:lnSpc>
              <a:buFont typeface="Monotype Sorts"/>
              <a:buNone/>
            </a:pPr>
            <a:r>
              <a:rPr lang="en-US" altLang="en-US" sz="2400" b="1" dirty="0">
                <a:solidFill>
                  <a:schemeClr val="tx2"/>
                </a:solidFill>
                <a:latin typeface="Courier New" panose="02070309020205020404" pitchFamily="49" charset="0"/>
              </a:rPr>
              <a:t>public class </a:t>
            </a:r>
            <a:r>
              <a:rPr lang="en-US" altLang="en-US" sz="2400" b="1" dirty="0" err="1">
                <a:solidFill>
                  <a:schemeClr val="tx2"/>
                </a:solidFill>
                <a:latin typeface="Courier New" panose="02070309020205020404" pitchFamily="49" charset="0"/>
              </a:rPr>
              <a:t>ShowUncheckedWarning</a:t>
            </a:r>
            <a:r>
              <a:rPr lang="en-US" altLang="en-US" sz="2400" b="1" dirty="0">
                <a:solidFill>
                  <a:schemeClr val="tx2"/>
                </a:solidFill>
                <a:latin typeface="Courier New" panose="02070309020205020404" pitchFamily="49" charset="0"/>
              </a:rPr>
              <a:t> {</a:t>
            </a:r>
          </a:p>
          <a:p>
            <a:pPr>
              <a:lnSpc>
                <a:spcPct val="90000"/>
              </a:lnSpc>
              <a:buFont typeface="Monotype Sorts"/>
              <a:buNone/>
            </a:pPr>
            <a:r>
              <a:rPr lang="en-US" altLang="en-US" sz="2400" b="1" dirty="0">
                <a:solidFill>
                  <a:schemeClr val="tx2"/>
                </a:solidFill>
                <a:latin typeface="Courier New" panose="02070309020205020404" pitchFamily="49" charset="0"/>
              </a:rPr>
              <a:t>  public static void main(String[] args) </a:t>
            </a:r>
          </a:p>
          <a:p>
            <a:pPr>
              <a:lnSpc>
                <a:spcPct val="90000"/>
              </a:lnSpc>
              <a:buFont typeface="Monotype Sorts"/>
              <a:buNone/>
            </a:pPr>
            <a:r>
              <a:rPr lang="en-US" altLang="en-US" sz="2400" b="1" dirty="0">
                <a:solidFill>
                  <a:schemeClr val="tx2"/>
                </a:solidFill>
                <a:latin typeface="Courier New" panose="02070309020205020404" pitchFamily="49" charset="0"/>
              </a:rPr>
              <a:t>  {</a:t>
            </a:r>
          </a:p>
          <a:p>
            <a:pPr>
              <a:lnSpc>
                <a:spcPct val="90000"/>
              </a:lnSpc>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 list = new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a:t>
            </a:r>
          </a:p>
          <a:p>
            <a:pPr>
              <a:lnSpc>
                <a:spcPct val="90000"/>
              </a:lnSpc>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("Java Programming");</a:t>
            </a:r>
          </a:p>
          <a:p>
            <a:pPr>
              <a:lnSpc>
                <a:spcPct val="90000"/>
              </a:lnSpc>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(120); // runtime error </a:t>
            </a:r>
            <a:r>
              <a:rPr lang="en-US" altLang="en-US" sz="2400" b="1" dirty="0" err="1">
                <a:solidFill>
                  <a:schemeClr val="tx2"/>
                </a:solidFill>
                <a:latin typeface="Courier New" panose="02070309020205020404" pitchFamily="49" charset="0"/>
              </a:rPr>
              <a:t>bc</a:t>
            </a:r>
            <a:r>
              <a:rPr lang="en-US" altLang="en-US" sz="2400" b="1" dirty="0">
                <a:solidFill>
                  <a:schemeClr val="tx2"/>
                </a:solidFill>
                <a:latin typeface="Courier New" panose="02070309020205020404" pitchFamily="49" charset="0"/>
              </a:rPr>
              <a:t> put different data-types in list.</a:t>
            </a:r>
          </a:p>
          <a:p>
            <a:pPr>
              <a:lnSpc>
                <a:spcPct val="90000"/>
              </a:lnSpc>
              <a:buFont typeface="Monotype Sorts"/>
              <a:buNone/>
            </a:pPr>
            <a:r>
              <a:rPr lang="en-US" altLang="en-US" sz="2400" b="1" dirty="0">
                <a:solidFill>
                  <a:schemeClr val="tx2"/>
                </a:solidFill>
                <a:latin typeface="Courier New" panose="02070309020205020404" pitchFamily="49" charset="0"/>
              </a:rPr>
              <a:t>  }</a:t>
            </a:r>
          </a:p>
          <a:p>
            <a:pPr>
              <a:lnSpc>
                <a:spcPct val="90000"/>
              </a:lnSpc>
              <a:buFont typeface="Monotype Sorts"/>
              <a:buNone/>
            </a:pPr>
            <a:r>
              <a:rPr lang="en-US" altLang="en-US" sz="2400" b="1" dirty="0">
                <a:solidFill>
                  <a:schemeClr val="tx2"/>
                </a:solidFill>
                <a:latin typeface="Courier New" panose="02070309020205020404" pitchFamily="49" charset="0"/>
              </a:rPr>
              <a:t>}</a:t>
            </a:r>
          </a:p>
        </p:txBody>
      </p:sp>
      <p:sp>
        <p:nvSpPr>
          <p:cNvPr id="7170" name="Slide Number Placeholder 4">
            <a:extLst>
              <a:ext uri="{FF2B5EF4-FFF2-40B4-BE49-F238E27FC236}">
                <a16:creationId xmlns:a16="http://schemas.microsoft.com/office/drawing/2014/main" id="{E327C43F-4267-40C2-90B4-445AD5DCAD3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0E072B-C0DE-49AB-B0B5-290CB68D3A59}" type="slidenum">
              <a:rPr lang="en-US" altLang="en-US" sz="1400"/>
              <a:pPr>
                <a:spcBef>
                  <a:spcPct val="0"/>
                </a:spcBef>
                <a:buClrTx/>
                <a:buSzTx/>
                <a:buFontTx/>
                <a:buNone/>
              </a:pPr>
              <a:t>3</a:t>
            </a:fld>
            <a:endParaRPr lang="en-US" altLang="en-US" sz="1400"/>
          </a:p>
        </p:txBody>
      </p:sp>
      <p:sp>
        <p:nvSpPr>
          <p:cNvPr id="7174" name="Rectangle 9">
            <a:extLst>
              <a:ext uri="{FF2B5EF4-FFF2-40B4-BE49-F238E27FC236}">
                <a16:creationId xmlns:a16="http://schemas.microsoft.com/office/drawing/2014/main" id="{4CD1D7F2-18E2-4EBF-B8A9-3E0BD04DC6D4}"/>
              </a:ext>
            </a:extLst>
          </p:cNvPr>
          <p:cNvSpPr>
            <a:spLocks noChangeArrowheads="1"/>
          </p:cNvSpPr>
          <p:nvPr/>
        </p:nvSpPr>
        <p:spPr bwMode="auto">
          <a:xfrm>
            <a:off x="4114800" y="4343400"/>
            <a:ext cx="4114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dirty="0">
                <a:solidFill>
                  <a:srgbClr val="002060"/>
                </a:solidFill>
              </a:rPr>
              <a:t>There would be a compile warning on this line</a:t>
            </a:r>
          </a:p>
        </p:txBody>
      </p:sp>
      <p:sp>
        <p:nvSpPr>
          <p:cNvPr id="7175" name="Line 10">
            <a:extLst>
              <a:ext uri="{FF2B5EF4-FFF2-40B4-BE49-F238E27FC236}">
                <a16:creationId xmlns:a16="http://schemas.microsoft.com/office/drawing/2014/main" id="{4587751A-B627-4D33-ABAC-4A79BE8A52AA}"/>
              </a:ext>
              <a:ext uri="{C183D7F6-B498-43B3-948B-1728B52AA6E4}">
                <adec:decorative xmlns:adec="http://schemas.microsoft.com/office/drawing/2017/decorative" val="1"/>
              </a:ext>
            </a:extLst>
          </p:cNvPr>
          <p:cNvSpPr>
            <a:spLocks noChangeShapeType="1"/>
          </p:cNvSpPr>
          <p:nvPr/>
        </p:nvSpPr>
        <p:spPr bwMode="auto">
          <a:xfrm flipH="1" flipV="1">
            <a:off x="4038600" y="3276600"/>
            <a:ext cx="304800" cy="1143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4">
            <a:extLst>
              <a:ext uri="{FF2B5EF4-FFF2-40B4-BE49-F238E27FC236}">
                <a16:creationId xmlns:a16="http://schemas.microsoft.com/office/drawing/2014/main" id="{99801483-28B0-4F86-9C5E-9326F87E964B}"/>
              </a:ext>
              <a:ext uri="{C183D7F6-B498-43B3-948B-1728B52AA6E4}">
                <adec:decorative xmlns:adec="http://schemas.microsoft.com/office/drawing/2017/decorative" val="1"/>
              </a:ext>
            </a:extLst>
          </p:cNvPr>
          <p:cNvSpPr>
            <a:spLocks noChangeArrowheads="1"/>
          </p:cNvSpPr>
          <p:nvPr/>
        </p:nvSpPr>
        <p:spPr bwMode="auto">
          <a:xfrm>
            <a:off x="914400" y="3162300"/>
            <a:ext cx="5334000" cy="381000"/>
          </a:xfrm>
          <a:prstGeom prst="rect">
            <a:avLst/>
          </a:prstGeom>
          <a:solidFill>
            <a:schemeClr val="accent3">
              <a:lumMod val="65000"/>
              <a:alpha val="43137"/>
            </a:schemeClr>
          </a:solidFill>
          <a:ln>
            <a:noFill/>
          </a:ln>
          <a:effec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19" name="Rectangle 2">
            <a:extLst>
              <a:ext uri="{FF2B5EF4-FFF2-40B4-BE49-F238E27FC236}">
                <a16:creationId xmlns:a16="http://schemas.microsoft.com/office/drawing/2014/main" id="{9BC75FD9-C7A3-4328-A376-A4690080F1E0}"/>
              </a:ext>
            </a:extLst>
          </p:cNvPr>
          <p:cNvSpPr>
            <a:spLocks noGrp="1" noChangeArrowheads="1"/>
          </p:cNvSpPr>
          <p:nvPr>
            <p:ph type="title"/>
          </p:nvPr>
        </p:nvSpPr>
        <p:spPr>
          <a:xfrm>
            <a:off x="685800" y="304800"/>
            <a:ext cx="7772400" cy="838200"/>
          </a:xfrm>
        </p:spPr>
        <p:txBody>
          <a:bodyPr/>
          <a:lstStyle/>
          <a:p>
            <a:r>
              <a:rPr lang="en-US" altLang="en-US"/>
              <a:t>Fix the Warning</a:t>
            </a:r>
          </a:p>
        </p:txBody>
      </p:sp>
      <p:sp>
        <p:nvSpPr>
          <p:cNvPr id="9220" name="Rectangle 3">
            <a:extLst>
              <a:ext uri="{FF2B5EF4-FFF2-40B4-BE49-F238E27FC236}">
                <a16:creationId xmlns:a16="http://schemas.microsoft.com/office/drawing/2014/main" id="{DE9BB7AF-ECA0-46B9-904E-F931C506F97F}"/>
              </a:ext>
            </a:extLst>
          </p:cNvPr>
          <p:cNvSpPr>
            <a:spLocks noGrp="1" noChangeArrowheads="1"/>
          </p:cNvSpPr>
          <p:nvPr>
            <p:ph idx="1"/>
          </p:nvPr>
        </p:nvSpPr>
        <p:spPr>
          <a:xfrm>
            <a:off x="304800" y="1371600"/>
            <a:ext cx="8077200" cy="3124200"/>
          </a:xfrm>
        </p:spPr>
        <p:txBody>
          <a:bodyPr/>
          <a:lstStyle/>
          <a:p>
            <a:pPr>
              <a:buFont typeface="Monotype Sorts"/>
              <a:buNone/>
            </a:pPr>
            <a:r>
              <a:rPr lang="en-US" altLang="en-US" sz="2400" b="1" dirty="0">
                <a:solidFill>
                  <a:schemeClr val="tx2"/>
                </a:solidFill>
                <a:latin typeface="Courier New" panose="02070309020205020404" pitchFamily="49" charset="0"/>
              </a:rPr>
              <a:t>public class </a:t>
            </a:r>
            <a:r>
              <a:rPr lang="en-US" altLang="en-US" sz="2400" b="1" dirty="0" err="1">
                <a:solidFill>
                  <a:schemeClr val="tx2"/>
                </a:solidFill>
                <a:latin typeface="Courier New" panose="02070309020205020404" pitchFamily="49" charset="0"/>
              </a:rPr>
              <a:t>ShowUncheckedWarning</a:t>
            </a:r>
            <a:r>
              <a:rPr lang="en-US" altLang="en-US" sz="2400" b="1" dirty="0">
                <a:solidFill>
                  <a:schemeClr val="tx2"/>
                </a:solidFill>
                <a:latin typeface="Courier New" panose="02070309020205020404" pitchFamily="49" charset="0"/>
              </a:rPr>
              <a:t> {</a:t>
            </a:r>
          </a:p>
          <a:p>
            <a:pPr>
              <a:buFont typeface="Monotype Sorts"/>
              <a:buNone/>
            </a:pPr>
            <a:r>
              <a:rPr lang="en-US" altLang="en-US" sz="2400" b="1" dirty="0">
                <a:solidFill>
                  <a:schemeClr val="tx2"/>
                </a:solidFill>
                <a:latin typeface="Courier New" panose="02070309020205020404" pitchFamily="49" charset="0"/>
              </a:rPr>
              <a:t>  public static void main(String[] args) {</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&lt;String&gt; list = </a:t>
            </a:r>
          </a:p>
          <a:p>
            <a:pPr>
              <a:buFont typeface="Monotype Sorts"/>
              <a:buNone/>
            </a:pPr>
            <a:r>
              <a:rPr lang="en-US" altLang="en-US" sz="2400" b="1" dirty="0">
                <a:solidFill>
                  <a:schemeClr val="tx2"/>
                </a:solidFill>
                <a:latin typeface="Courier New" panose="02070309020205020404" pitchFamily="49" charset="0"/>
              </a:rPr>
              <a:t>      new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&lt;String&gt;();</a:t>
            </a:r>
          </a:p>
          <a:p>
            <a:pPr>
              <a:buFont typeface="Monotype Sorts"/>
              <a:buNone/>
            </a:pPr>
            <a:r>
              <a:rPr lang="en-US" altLang="en-US" sz="2400" b="1" dirty="0">
                <a:solidFill>
                  <a:schemeClr val="tx2"/>
                </a:solidFill>
                <a:latin typeface="Courier New" panose="02070309020205020404" pitchFamily="49" charset="0"/>
              </a:rPr>
              <a:t>    list.add("Java Programming");</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(120);// compile error </a:t>
            </a:r>
            <a:r>
              <a:rPr lang="en-US" altLang="en-US" sz="2400" b="1" dirty="0" err="1">
                <a:solidFill>
                  <a:schemeClr val="tx2"/>
                </a:solidFill>
                <a:latin typeface="Courier New" panose="02070309020205020404" pitchFamily="49" charset="0"/>
              </a:rPr>
              <a:t>bc</a:t>
            </a:r>
            <a:r>
              <a:rPr lang="en-US" altLang="en-US" sz="2400" b="1" dirty="0">
                <a:solidFill>
                  <a:schemeClr val="tx2"/>
                </a:solidFill>
                <a:latin typeface="Courier New" panose="02070309020205020404" pitchFamily="49" charset="0"/>
              </a:rPr>
              <a:t> I declared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&lt;String&gt;</a:t>
            </a:r>
          </a:p>
          <a:p>
            <a:pPr>
              <a:buFont typeface="Monotype Sorts"/>
              <a:buNone/>
            </a:pPr>
            <a:r>
              <a:rPr lang="en-US" altLang="en-US" sz="2400" b="1" dirty="0">
                <a:solidFill>
                  <a:schemeClr val="tx2"/>
                </a:solidFill>
                <a:latin typeface="Courier New" panose="02070309020205020404" pitchFamily="49" charset="0"/>
              </a:rPr>
              <a:t>  }</a:t>
            </a:r>
          </a:p>
          <a:p>
            <a:pPr>
              <a:buFont typeface="Monotype Sorts"/>
              <a:buNone/>
            </a:pPr>
            <a:r>
              <a:rPr lang="en-US" altLang="en-US" sz="2400" b="1" dirty="0">
                <a:solidFill>
                  <a:schemeClr val="tx2"/>
                </a:solidFill>
                <a:latin typeface="Courier New" panose="02070309020205020404" pitchFamily="49" charset="0"/>
              </a:rPr>
              <a:t>}</a:t>
            </a:r>
          </a:p>
        </p:txBody>
      </p:sp>
      <p:sp>
        <p:nvSpPr>
          <p:cNvPr id="9218" name="Slide Number Placeholder 4">
            <a:extLst>
              <a:ext uri="{FF2B5EF4-FFF2-40B4-BE49-F238E27FC236}">
                <a16:creationId xmlns:a16="http://schemas.microsoft.com/office/drawing/2014/main" id="{35660037-7F92-451A-81B4-653EDCD71D2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6CE9D23-8911-4C9C-AECC-462FFE8ED51E}" type="slidenum">
              <a:rPr lang="en-US" altLang="en-US" sz="1400"/>
              <a:pPr>
                <a:spcBef>
                  <a:spcPct val="0"/>
                </a:spcBef>
                <a:buClrTx/>
                <a:buSzTx/>
                <a:buFontTx/>
                <a:buNone/>
              </a:pPr>
              <a:t>4</a:t>
            </a:fld>
            <a:endParaRPr lang="en-US" altLang="en-US" sz="1400"/>
          </a:p>
        </p:txBody>
      </p:sp>
      <p:sp>
        <p:nvSpPr>
          <p:cNvPr id="9223" name="Rectangle 6">
            <a:extLst>
              <a:ext uri="{FF2B5EF4-FFF2-40B4-BE49-F238E27FC236}">
                <a16:creationId xmlns:a16="http://schemas.microsoft.com/office/drawing/2014/main" id="{CCD001C5-8820-4105-B852-117C6EAE49E9}"/>
              </a:ext>
            </a:extLst>
          </p:cNvPr>
          <p:cNvSpPr>
            <a:spLocks noChangeArrowheads="1"/>
          </p:cNvSpPr>
          <p:nvPr/>
        </p:nvSpPr>
        <p:spPr bwMode="auto">
          <a:xfrm>
            <a:off x="3200400" y="4495800"/>
            <a:ext cx="4876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No compile warning on this line.</a:t>
            </a:r>
          </a:p>
        </p:txBody>
      </p:sp>
      <p:sp>
        <p:nvSpPr>
          <p:cNvPr id="9224" name="Line 7">
            <a:extLst>
              <a:ext uri="{FF2B5EF4-FFF2-40B4-BE49-F238E27FC236}">
                <a16:creationId xmlns:a16="http://schemas.microsoft.com/office/drawing/2014/main" id="{E4FF7CBB-C479-4012-A45D-F698476AC5AF}"/>
              </a:ext>
              <a:ext uri="{C183D7F6-B498-43B3-948B-1728B52AA6E4}">
                <adec:decorative xmlns:adec="http://schemas.microsoft.com/office/drawing/2017/decorative" val="1"/>
              </a:ext>
            </a:extLst>
          </p:cNvPr>
          <p:cNvSpPr>
            <a:spLocks noChangeShapeType="1"/>
          </p:cNvSpPr>
          <p:nvPr/>
        </p:nvSpPr>
        <p:spPr bwMode="auto">
          <a:xfrm flipH="1" flipV="1">
            <a:off x="3733800" y="3581400"/>
            <a:ext cx="152400" cy="1066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9BC75FD9-C7A3-4328-A376-A4690080F1E0}"/>
              </a:ext>
            </a:extLst>
          </p:cNvPr>
          <p:cNvSpPr>
            <a:spLocks noGrp="1" noChangeArrowheads="1"/>
          </p:cNvSpPr>
          <p:nvPr>
            <p:ph type="title"/>
          </p:nvPr>
        </p:nvSpPr>
        <p:spPr>
          <a:xfrm>
            <a:off x="685800" y="304800"/>
            <a:ext cx="7772400" cy="838200"/>
          </a:xfrm>
        </p:spPr>
        <p:txBody>
          <a:bodyPr/>
          <a:lstStyle/>
          <a:p>
            <a:r>
              <a:rPr lang="en-US" altLang="en-US" dirty="0"/>
              <a:t>ArrayLists Are Generic Objects</a:t>
            </a:r>
          </a:p>
        </p:txBody>
      </p:sp>
      <p:sp>
        <p:nvSpPr>
          <p:cNvPr id="9220" name="Rectangle 3">
            <a:extLst>
              <a:ext uri="{FF2B5EF4-FFF2-40B4-BE49-F238E27FC236}">
                <a16:creationId xmlns:a16="http://schemas.microsoft.com/office/drawing/2014/main" id="{DE9BB7AF-ECA0-46B9-904E-F931C506F97F}"/>
              </a:ext>
            </a:extLst>
          </p:cNvPr>
          <p:cNvSpPr>
            <a:spLocks noGrp="1" noChangeArrowheads="1"/>
          </p:cNvSpPr>
          <p:nvPr>
            <p:ph idx="1"/>
          </p:nvPr>
        </p:nvSpPr>
        <p:spPr>
          <a:xfrm>
            <a:off x="76200" y="1371600"/>
            <a:ext cx="8915400" cy="3124200"/>
          </a:xfrm>
        </p:spPr>
        <p:txBody>
          <a:bodyPr/>
          <a:lstStyle/>
          <a:p>
            <a:pPr>
              <a:buFont typeface="Monotype Sorts"/>
              <a:buNone/>
            </a:pPr>
            <a:r>
              <a:rPr lang="en-US" altLang="en-US" sz="2400" b="1" dirty="0">
                <a:solidFill>
                  <a:schemeClr val="tx2"/>
                </a:solidFill>
                <a:latin typeface="Courier New" panose="02070309020205020404" pitchFamily="49" charset="0"/>
              </a:rPr>
              <a:t>public class </a:t>
            </a:r>
            <a:r>
              <a:rPr lang="en-US" altLang="en-US" sz="2400" b="1" dirty="0" err="1">
                <a:solidFill>
                  <a:schemeClr val="tx2"/>
                </a:solidFill>
                <a:latin typeface="Courier New" panose="02070309020205020404" pitchFamily="49" charset="0"/>
              </a:rPr>
              <a:t>ArrayListDemo</a:t>
            </a:r>
            <a:r>
              <a:rPr lang="en-US" altLang="en-US" sz="2400" b="1" dirty="0">
                <a:solidFill>
                  <a:schemeClr val="tx2"/>
                </a:solidFill>
                <a:latin typeface="Courier New" panose="02070309020205020404" pitchFamily="49" charset="0"/>
              </a:rPr>
              <a:t> {</a:t>
            </a:r>
          </a:p>
          <a:p>
            <a:pPr>
              <a:buFont typeface="Monotype Sorts"/>
              <a:buNone/>
            </a:pPr>
            <a:r>
              <a:rPr lang="en-US" altLang="en-US" sz="2400" b="1" dirty="0">
                <a:solidFill>
                  <a:schemeClr val="tx2"/>
                </a:solidFill>
                <a:latin typeface="Courier New" panose="02070309020205020404" pitchFamily="49" charset="0"/>
              </a:rPr>
              <a:t>  public static void main(String[] args) </a:t>
            </a:r>
          </a:p>
          <a:p>
            <a:pPr>
              <a:buFont typeface="Monotype Sorts"/>
              <a:buNone/>
            </a:pPr>
            <a:r>
              <a:rPr lang="en-US" altLang="en-US" sz="2400" b="1" dirty="0">
                <a:solidFill>
                  <a:schemeClr val="tx2"/>
                </a:solidFill>
                <a:latin typeface="Courier New" panose="02070309020205020404" pitchFamily="49" charset="0"/>
              </a:rPr>
              <a:t>  {</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highlight>
                  <a:srgbClr val="FFFF00"/>
                </a:highlight>
                <a:latin typeface="Courier New" panose="02070309020205020404" pitchFamily="49" charset="0"/>
              </a:rPr>
              <a:t>&lt;String&gt; </a:t>
            </a:r>
            <a:r>
              <a:rPr lang="en-US" altLang="en-US" sz="2400" b="1" dirty="0">
                <a:solidFill>
                  <a:schemeClr val="tx2"/>
                </a:solidFill>
                <a:latin typeface="Courier New" panose="02070309020205020404" pitchFamily="49" charset="0"/>
              </a:rPr>
              <a:t>list = new </a:t>
            </a:r>
            <a:r>
              <a:rPr lang="en-US" altLang="en-US" sz="2400" b="1" dirty="0" err="1">
                <a:solidFill>
                  <a:schemeClr val="tx2"/>
                </a:solidFill>
                <a:latin typeface="Courier New" panose="02070309020205020404" pitchFamily="49" charset="0"/>
              </a:rPr>
              <a:t>ArrayList</a:t>
            </a:r>
            <a:r>
              <a:rPr lang="en-US" altLang="en-US" sz="2400" b="1" dirty="0">
                <a:solidFill>
                  <a:schemeClr val="tx2"/>
                </a:solidFill>
                <a:latin typeface="Courier New" panose="02070309020205020404" pitchFamily="49" charset="0"/>
              </a:rPr>
              <a:t>&lt;&gt;();</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("Java Programming");</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(“Data Structures”);</a:t>
            </a:r>
          </a:p>
          <a:p>
            <a:pPr>
              <a:buFont typeface="Monotype Sorts"/>
              <a:buNone/>
            </a:pPr>
            <a:r>
              <a:rPr lang="en-US" altLang="en-US" sz="2400" b="1" dirty="0">
                <a:solidFill>
                  <a:schemeClr val="tx2"/>
                </a:solidFill>
                <a:latin typeface="Courier New" panose="02070309020205020404" pitchFamily="49" charset="0"/>
              </a:rPr>
              <a:t>    </a:t>
            </a:r>
            <a:r>
              <a:rPr lang="en-US" altLang="en-US" sz="2400" b="1" dirty="0" err="1">
                <a:solidFill>
                  <a:schemeClr val="tx2"/>
                </a:solidFill>
                <a:latin typeface="Courier New" panose="02070309020205020404" pitchFamily="49" charset="0"/>
              </a:rPr>
              <a:t>list.add</a:t>
            </a:r>
            <a:r>
              <a:rPr lang="en-US" altLang="en-US" sz="2400" b="1" dirty="0">
                <a:solidFill>
                  <a:schemeClr val="tx2"/>
                </a:solidFill>
                <a:latin typeface="Courier New" panose="02070309020205020404" pitchFamily="49" charset="0"/>
              </a:rPr>
              <a:t>(“C++ Programming”);</a:t>
            </a:r>
          </a:p>
          <a:p>
            <a:pPr>
              <a:buFont typeface="Monotype Sorts"/>
              <a:buNone/>
            </a:pPr>
            <a:r>
              <a:rPr lang="en-US" altLang="en-US" sz="2400" b="1" dirty="0">
                <a:solidFill>
                  <a:schemeClr val="tx2"/>
                </a:solidFill>
                <a:latin typeface="Courier New" panose="02070309020205020404" pitchFamily="49" charset="0"/>
              </a:rPr>
              <a:t>  }</a:t>
            </a:r>
          </a:p>
          <a:p>
            <a:pPr>
              <a:buFont typeface="Monotype Sorts"/>
              <a:buNone/>
            </a:pPr>
            <a:r>
              <a:rPr lang="en-US" altLang="en-US" sz="2400" b="1" dirty="0">
                <a:solidFill>
                  <a:schemeClr val="tx2"/>
                </a:solidFill>
                <a:latin typeface="Courier New" panose="02070309020205020404" pitchFamily="49" charset="0"/>
              </a:rPr>
              <a:t>}</a:t>
            </a:r>
          </a:p>
        </p:txBody>
      </p:sp>
      <p:sp>
        <p:nvSpPr>
          <p:cNvPr id="9218" name="Slide Number Placeholder 4">
            <a:extLst>
              <a:ext uri="{FF2B5EF4-FFF2-40B4-BE49-F238E27FC236}">
                <a16:creationId xmlns:a16="http://schemas.microsoft.com/office/drawing/2014/main" id="{35660037-7F92-451A-81B4-653EDCD71D2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6CE9D23-8911-4C9C-AECC-462FFE8ED51E}" type="slidenum">
              <a:rPr lang="en-US" altLang="en-US" sz="1400"/>
              <a:pPr>
                <a:spcBef>
                  <a:spcPct val="0"/>
                </a:spcBef>
                <a:buClrTx/>
                <a:buSzTx/>
                <a:buFontTx/>
                <a:buNone/>
              </a:pPr>
              <a:t>5</a:t>
            </a:fld>
            <a:endParaRPr lang="en-US" altLang="en-US" sz="1400"/>
          </a:p>
        </p:txBody>
      </p:sp>
    </p:spTree>
    <p:extLst>
      <p:ext uri="{BB962C8B-B14F-4D97-AF65-F5344CB8AC3E}">
        <p14:creationId xmlns:p14="http://schemas.microsoft.com/office/powerpoint/2010/main" val="3691546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62E65016-845D-4E41-9ADC-81849239A9F8}"/>
              </a:ext>
            </a:extLst>
          </p:cNvPr>
          <p:cNvSpPr>
            <a:spLocks noGrp="1" noChangeArrowheads="1"/>
          </p:cNvSpPr>
          <p:nvPr>
            <p:ph type="title"/>
          </p:nvPr>
        </p:nvSpPr>
        <p:spPr>
          <a:xfrm>
            <a:off x="685800" y="228600"/>
            <a:ext cx="7772400" cy="685800"/>
          </a:xfrm>
        </p:spPr>
        <p:txBody>
          <a:bodyPr/>
          <a:lstStyle/>
          <a:p>
            <a:r>
              <a:rPr lang="en-US" altLang="en-US" sz="4000"/>
              <a:t>What is Generics? </a:t>
            </a:r>
          </a:p>
        </p:txBody>
      </p:sp>
      <p:sp>
        <p:nvSpPr>
          <p:cNvPr id="11268" name="Rectangle 3">
            <a:extLst>
              <a:ext uri="{FF2B5EF4-FFF2-40B4-BE49-F238E27FC236}">
                <a16:creationId xmlns:a16="http://schemas.microsoft.com/office/drawing/2014/main" id="{C6FDA395-139A-45AF-89A7-6A82CA510F71}"/>
              </a:ext>
            </a:extLst>
          </p:cNvPr>
          <p:cNvSpPr>
            <a:spLocks noGrp="1" noChangeArrowheads="1"/>
          </p:cNvSpPr>
          <p:nvPr>
            <p:ph idx="1"/>
          </p:nvPr>
        </p:nvSpPr>
        <p:spPr>
          <a:xfrm>
            <a:off x="25400" y="914400"/>
            <a:ext cx="8686800" cy="5029200"/>
          </a:xfrm>
        </p:spPr>
        <p:txBody>
          <a:bodyPr/>
          <a:lstStyle/>
          <a:p>
            <a:pPr>
              <a:spcBef>
                <a:spcPts val="1200"/>
              </a:spcBef>
              <a:buFont typeface="Wingdings" panose="05000000000000000000" pitchFamily="2" charset="2"/>
              <a:buChar char="§"/>
            </a:pPr>
            <a:r>
              <a:rPr lang="en-US" altLang="en-US" sz="2800" b="1" dirty="0"/>
              <a:t>Generics</a:t>
            </a:r>
            <a:r>
              <a:rPr lang="en-US" altLang="en-US" sz="2800" dirty="0"/>
              <a:t> in Java means that you are creating a method, class or interface that can be used with several different types of data types, so you don’t have to write a separate one for each data  type.</a:t>
            </a:r>
            <a:br>
              <a:rPr lang="en-US" altLang="en-US" dirty="0"/>
            </a:br>
            <a:r>
              <a:rPr lang="en-US" altLang="en-US" sz="2000" dirty="0"/>
              <a:t>(Instead of saying the words “</a:t>
            </a:r>
            <a:r>
              <a:rPr lang="en-US" altLang="en-US" sz="2000" b="1" dirty="0"/>
              <a:t>method, class or interface” </a:t>
            </a:r>
            <a:r>
              <a:rPr lang="en-US" altLang="en-US" sz="2000" dirty="0"/>
              <a:t>over and over, I’m going to use the word </a:t>
            </a:r>
            <a:r>
              <a:rPr lang="en-US" altLang="en-US" sz="2000" b="1" dirty="0">
                <a:solidFill>
                  <a:srgbClr val="002060"/>
                </a:solidFill>
              </a:rPr>
              <a:t>thing</a:t>
            </a:r>
            <a:r>
              <a:rPr lang="en-US" altLang="en-US" sz="2000" dirty="0"/>
              <a:t> on this slide.)</a:t>
            </a:r>
          </a:p>
          <a:p>
            <a:pPr>
              <a:spcBef>
                <a:spcPts val="1200"/>
              </a:spcBef>
              <a:buFont typeface="Wingdings" panose="05000000000000000000" pitchFamily="2" charset="2"/>
              <a:buChar char="§"/>
            </a:pPr>
            <a:r>
              <a:rPr lang="en-US" altLang="en-US" sz="2800" dirty="0"/>
              <a:t>When you actually use the generic </a:t>
            </a:r>
            <a:r>
              <a:rPr lang="en-US" altLang="en-US" sz="2800" b="1" dirty="0">
                <a:solidFill>
                  <a:srgbClr val="002060"/>
                </a:solidFill>
              </a:rPr>
              <a:t>thing</a:t>
            </a:r>
            <a:r>
              <a:rPr lang="en-US" altLang="en-US" sz="2800" dirty="0"/>
              <a:t> in a program you must specify a concrete type for it right then.</a:t>
            </a:r>
          </a:p>
          <a:p>
            <a:pPr>
              <a:spcBef>
                <a:spcPts val="1200"/>
              </a:spcBef>
              <a:buFont typeface="Wingdings" panose="05000000000000000000" pitchFamily="2" charset="2"/>
              <a:buChar char="§"/>
            </a:pPr>
            <a:r>
              <a:rPr lang="en-US" altLang="en-US" sz="2800" dirty="0"/>
              <a:t>When the program is run, the compiler sets the generic </a:t>
            </a:r>
            <a:r>
              <a:rPr lang="en-US" altLang="en-US" sz="2800" b="1" dirty="0">
                <a:solidFill>
                  <a:srgbClr val="002060"/>
                </a:solidFill>
              </a:rPr>
              <a:t>thing </a:t>
            </a:r>
            <a:r>
              <a:rPr lang="en-US" altLang="en-US" sz="2800" dirty="0"/>
              <a:t>up as a method, class or interface of that particular data type.  </a:t>
            </a:r>
            <a:r>
              <a:rPr lang="en-US" altLang="en-US" sz="2000" dirty="0"/>
              <a:t>(Sorry, I couldn’t stop myself.)</a:t>
            </a:r>
          </a:p>
          <a:p>
            <a:pPr>
              <a:buFont typeface="Wingdings" panose="05000000000000000000" pitchFamily="2" charset="2"/>
              <a:buChar char="§"/>
            </a:pPr>
            <a:endParaRPr lang="en-US" altLang="en-US" dirty="0"/>
          </a:p>
        </p:txBody>
      </p:sp>
      <p:sp>
        <p:nvSpPr>
          <p:cNvPr id="11266" name="Slide Number Placeholder 4">
            <a:extLst>
              <a:ext uri="{FF2B5EF4-FFF2-40B4-BE49-F238E27FC236}">
                <a16:creationId xmlns:a16="http://schemas.microsoft.com/office/drawing/2014/main" id="{0A2CC984-1452-4990-B892-CAD926B7ADF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8929117-07B6-469E-9456-E4C12B09EDEA}" type="slidenum">
              <a:rPr lang="en-US" altLang="en-US" sz="1400"/>
              <a:pPr>
                <a:spcBef>
                  <a:spcPct val="0"/>
                </a:spcBef>
                <a:buClrTx/>
                <a:buSzTx/>
                <a:buFontTx/>
                <a:buNone/>
              </a:pPr>
              <a:t>6</a:t>
            </a:fld>
            <a:endParaRPr lang="en-US" altLang="en-US" sz="1400"/>
          </a:p>
        </p:txBody>
      </p:sp>
    </p:spTree>
    <p:extLst>
      <p:ext uri="{BB962C8B-B14F-4D97-AF65-F5344CB8AC3E}">
        <p14:creationId xmlns:p14="http://schemas.microsoft.com/office/powerpoint/2010/main" val="2971511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62E65016-845D-4E41-9ADC-81849239A9F8}"/>
              </a:ext>
            </a:extLst>
          </p:cNvPr>
          <p:cNvSpPr>
            <a:spLocks noGrp="1" noChangeArrowheads="1"/>
          </p:cNvSpPr>
          <p:nvPr>
            <p:ph type="title"/>
          </p:nvPr>
        </p:nvSpPr>
        <p:spPr>
          <a:xfrm>
            <a:off x="685800" y="228600"/>
            <a:ext cx="7772400" cy="685800"/>
          </a:xfrm>
        </p:spPr>
        <p:txBody>
          <a:bodyPr/>
          <a:lstStyle/>
          <a:p>
            <a:r>
              <a:rPr lang="en-US" altLang="en-US" sz="4000"/>
              <a:t>What is Generics? </a:t>
            </a:r>
          </a:p>
        </p:txBody>
      </p:sp>
      <p:sp>
        <p:nvSpPr>
          <p:cNvPr id="11268" name="Rectangle 3">
            <a:extLst>
              <a:ext uri="{FF2B5EF4-FFF2-40B4-BE49-F238E27FC236}">
                <a16:creationId xmlns:a16="http://schemas.microsoft.com/office/drawing/2014/main" id="{C6FDA395-139A-45AF-89A7-6A82CA510F71}"/>
              </a:ext>
            </a:extLst>
          </p:cNvPr>
          <p:cNvSpPr>
            <a:spLocks noGrp="1" noChangeArrowheads="1"/>
          </p:cNvSpPr>
          <p:nvPr>
            <p:ph idx="1"/>
          </p:nvPr>
        </p:nvSpPr>
        <p:spPr>
          <a:xfrm>
            <a:off x="228600" y="1219200"/>
            <a:ext cx="8686800" cy="5029200"/>
          </a:xfrm>
        </p:spPr>
        <p:txBody>
          <a:bodyPr/>
          <a:lstStyle/>
          <a:p>
            <a:pPr>
              <a:buFont typeface="Wingdings" panose="05000000000000000000" pitchFamily="2" charset="2"/>
              <a:buChar char="§"/>
            </a:pPr>
            <a:r>
              <a:rPr lang="en-US" altLang="en-US" sz="2400" i="1" dirty="0"/>
              <a:t>Generics</a:t>
            </a:r>
            <a:r>
              <a:rPr lang="en-US" altLang="en-US" sz="2400" dirty="0"/>
              <a:t> is the capability to parameterize types. </a:t>
            </a:r>
          </a:p>
          <a:p>
            <a:pPr>
              <a:buFont typeface="Wingdings" panose="05000000000000000000" pitchFamily="2" charset="2"/>
              <a:buChar char="§"/>
            </a:pPr>
            <a:r>
              <a:rPr lang="en-US" altLang="en-US" sz="2400" dirty="0"/>
              <a:t>For example, you may define a generic list class that stores the elements of a generic type. From this generic class, you may create a list object for holding strings and a list object for holding numbers. Here, strings and numbers are concrete types that replace the generic type.</a:t>
            </a:r>
          </a:p>
        </p:txBody>
      </p:sp>
      <p:sp>
        <p:nvSpPr>
          <p:cNvPr id="11266" name="Slide Number Placeholder 4">
            <a:extLst>
              <a:ext uri="{FF2B5EF4-FFF2-40B4-BE49-F238E27FC236}">
                <a16:creationId xmlns:a16="http://schemas.microsoft.com/office/drawing/2014/main" id="{0A2CC984-1452-4990-B892-CAD926B7ADF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8929117-07B6-469E-9456-E4C12B09EDEA}" type="slidenum">
              <a:rPr lang="en-US" altLang="en-US" sz="1400"/>
              <a:pPr>
                <a:spcBef>
                  <a:spcPct val="0"/>
                </a:spcBef>
                <a:buClrTx/>
                <a:buSzTx/>
                <a:buFontTx/>
                <a:buNone/>
              </a:pPr>
              <a:t>7</a:t>
            </a:fld>
            <a:endParaRPr lang="en-US" altLang="en-US" sz="1400"/>
          </a:p>
        </p:txBody>
      </p:sp>
    </p:spTree>
    <p:extLst>
      <p:ext uri="{BB962C8B-B14F-4D97-AF65-F5344CB8AC3E}">
        <p14:creationId xmlns:p14="http://schemas.microsoft.com/office/powerpoint/2010/main" val="1623812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62E65016-845D-4E41-9ADC-81849239A9F8}"/>
              </a:ext>
            </a:extLst>
          </p:cNvPr>
          <p:cNvSpPr>
            <a:spLocks noGrp="1" noChangeArrowheads="1"/>
          </p:cNvSpPr>
          <p:nvPr>
            <p:ph type="title"/>
          </p:nvPr>
        </p:nvSpPr>
        <p:spPr>
          <a:xfrm>
            <a:off x="685800" y="228600"/>
            <a:ext cx="7772400" cy="685800"/>
          </a:xfrm>
        </p:spPr>
        <p:txBody>
          <a:bodyPr/>
          <a:lstStyle/>
          <a:p>
            <a:r>
              <a:rPr lang="en-US" altLang="en-US" sz="4000"/>
              <a:t>What is Generics? </a:t>
            </a:r>
          </a:p>
        </p:txBody>
      </p:sp>
      <p:sp>
        <p:nvSpPr>
          <p:cNvPr id="11268" name="Rectangle 3">
            <a:extLst>
              <a:ext uri="{FF2B5EF4-FFF2-40B4-BE49-F238E27FC236}">
                <a16:creationId xmlns:a16="http://schemas.microsoft.com/office/drawing/2014/main" id="{C6FDA395-139A-45AF-89A7-6A82CA510F71}"/>
              </a:ext>
            </a:extLst>
          </p:cNvPr>
          <p:cNvSpPr>
            <a:spLocks noGrp="1" noChangeArrowheads="1"/>
          </p:cNvSpPr>
          <p:nvPr>
            <p:ph idx="1"/>
          </p:nvPr>
        </p:nvSpPr>
        <p:spPr>
          <a:xfrm>
            <a:off x="228600" y="1219200"/>
            <a:ext cx="8686800" cy="5029200"/>
          </a:xfrm>
        </p:spPr>
        <p:txBody>
          <a:bodyPr/>
          <a:lstStyle/>
          <a:p>
            <a:pPr marL="0" indent="0">
              <a:spcBef>
                <a:spcPts val="1200"/>
              </a:spcBef>
              <a:buNone/>
            </a:pPr>
            <a:r>
              <a:rPr lang="en-US" altLang="en-US" sz="2000" dirty="0"/>
              <a:t>(Instead of saying “method, class or interface” over and over, I’m going to use the word </a:t>
            </a:r>
            <a:r>
              <a:rPr lang="en-US" altLang="en-US" sz="2000" b="1" dirty="0">
                <a:solidFill>
                  <a:srgbClr val="002060"/>
                </a:solidFill>
              </a:rPr>
              <a:t>thing</a:t>
            </a:r>
            <a:r>
              <a:rPr lang="en-US" altLang="en-US" sz="2000" dirty="0"/>
              <a:t> on this slide.)</a:t>
            </a:r>
          </a:p>
          <a:p>
            <a:pPr>
              <a:spcBef>
                <a:spcPts val="1200"/>
              </a:spcBef>
              <a:buFont typeface="Wingdings" panose="05000000000000000000" pitchFamily="2" charset="2"/>
              <a:buChar char="§"/>
            </a:pPr>
            <a:r>
              <a:rPr lang="en-US" altLang="en-US" sz="2800" dirty="0"/>
              <a:t>The data types you use as parameters for generic </a:t>
            </a:r>
            <a:r>
              <a:rPr lang="en-US" altLang="en-US" sz="2800" b="1" dirty="0">
                <a:solidFill>
                  <a:srgbClr val="002060"/>
                </a:solidFill>
              </a:rPr>
              <a:t>things </a:t>
            </a:r>
            <a:r>
              <a:rPr lang="en-US" altLang="en-US" sz="2800" dirty="0"/>
              <a:t>must be reference types (Double, Integer, Character, String, etc.)</a:t>
            </a:r>
          </a:p>
          <a:p>
            <a:pPr>
              <a:spcBef>
                <a:spcPts val="1200"/>
              </a:spcBef>
              <a:buFont typeface="Wingdings" panose="05000000000000000000" pitchFamily="2" charset="2"/>
              <a:buChar char="§"/>
            </a:pPr>
            <a:r>
              <a:rPr lang="en-US" altLang="en-US" sz="2800" dirty="0"/>
              <a:t>They cannot be primitive data types like int, char, double, …</a:t>
            </a:r>
          </a:p>
          <a:p>
            <a:pPr>
              <a:buFont typeface="Wingdings" panose="05000000000000000000" pitchFamily="2" charset="2"/>
              <a:buChar char="§"/>
            </a:pPr>
            <a:endParaRPr lang="en-US" altLang="en-US" dirty="0"/>
          </a:p>
        </p:txBody>
      </p:sp>
      <p:sp>
        <p:nvSpPr>
          <p:cNvPr id="11266" name="Slide Number Placeholder 4">
            <a:extLst>
              <a:ext uri="{FF2B5EF4-FFF2-40B4-BE49-F238E27FC236}">
                <a16:creationId xmlns:a16="http://schemas.microsoft.com/office/drawing/2014/main" id="{0A2CC984-1452-4990-B892-CAD926B7ADF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8929117-07B6-469E-9456-E4C12B09EDEA}" type="slidenum">
              <a:rPr lang="en-US" altLang="en-US" sz="1400"/>
              <a:pPr>
                <a:spcBef>
                  <a:spcPct val="0"/>
                </a:spcBef>
                <a:buClrTx/>
                <a:buSzTx/>
                <a:buFontTx/>
                <a:buNone/>
              </a:pPr>
              <a:t>8</a:t>
            </a:fld>
            <a:endParaRPr lang="en-US" altLang="en-US" sz="1400"/>
          </a:p>
        </p:txBody>
      </p:sp>
    </p:spTree>
    <p:extLst>
      <p:ext uri="{BB962C8B-B14F-4D97-AF65-F5344CB8AC3E}">
        <p14:creationId xmlns:p14="http://schemas.microsoft.com/office/powerpoint/2010/main" val="456356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61DB2842-8479-4DC2-9C09-4C52B3D86C96}"/>
              </a:ext>
            </a:extLst>
          </p:cNvPr>
          <p:cNvSpPr>
            <a:spLocks noGrp="1" noChangeArrowheads="1"/>
          </p:cNvSpPr>
          <p:nvPr>
            <p:ph type="title"/>
          </p:nvPr>
        </p:nvSpPr>
        <p:spPr>
          <a:xfrm>
            <a:off x="685800" y="228600"/>
            <a:ext cx="7772400" cy="685800"/>
          </a:xfrm>
        </p:spPr>
        <p:txBody>
          <a:bodyPr/>
          <a:lstStyle/>
          <a:p>
            <a:r>
              <a:rPr lang="en-US" altLang="en-US" sz="4000" dirty="0"/>
              <a:t>Why Use Generics? </a:t>
            </a:r>
          </a:p>
        </p:txBody>
      </p:sp>
      <p:sp>
        <p:nvSpPr>
          <p:cNvPr id="13316" name="Rectangle 3">
            <a:extLst>
              <a:ext uri="{FF2B5EF4-FFF2-40B4-BE49-F238E27FC236}">
                <a16:creationId xmlns:a16="http://schemas.microsoft.com/office/drawing/2014/main" id="{C438CF1F-19E1-4C70-A178-F70D4A53E2F3}"/>
              </a:ext>
            </a:extLst>
          </p:cNvPr>
          <p:cNvSpPr>
            <a:spLocks noGrp="1" noChangeArrowheads="1"/>
          </p:cNvSpPr>
          <p:nvPr>
            <p:ph idx="1"/>
          </p:nvPr>
        </p:nvSpPr>
        <p:spPr>
          <a:xfrm>
            <a:off x="228600" y="990599"/>
            <a:ext cx="8839200" cy="5408614"/>
          </a:xfrm>
          <a:solidFill>
            <a:schemeClr val="bg1"/>
          </a:solidFill>
        </p:spPr>
        <p:txBody>
          <a:bodyPr/>
          <a:lstStyle/>
          <a:p>
            <a:pPr marL="0" indent="0">
              <a:spcBef>
                <a:spcPts val="1200"/>
              </a:spcBef>
              <a:buNone/>
            </a:pPr>
            <a:r>
              <a:rPr lang="en-US" altLang="en-US" sz="2000" dirty="0"/>
              <a:t>(Instead of saying “method, class or interface” over and over, I’m going to use the word </a:t>
            </a:r>
            <a:r>
              <a:rPr lang="en-US" altLang="en-US" sz="2000" b="1" dirty="0">
                <a:solidFill>
                  <a:srgbClr val="002060"/>
                </a:solidFill>
              </a:rPr>
              <a:t>thing</a:t>
            </a:r>
            <a:r>
              <a:rPr lang="en-US" altLang="en-US" sz="2000" dirty="0"/>
              <a:t> on this slide.)</a:t>
            </a:r>
          </a:p>
          <a:p>
            <a:pPr>
              <a:spcBef>
                <a:spcPts val="1200"/>
              </a:spcBef>
              <a:buFont typeface="Wingdings" panose="05000000000000000000" pitchFamily="2" charset="2"/>
              <a:buChar char="§"/>
            </a:pPr>
            <a:r>
              <a:rPr lang="en-US" altLang="en-US" sz="2400" dirty="0"/>
              <a:t>One benefit of generics is that errors can be detected at compile time rather than at runtime. </a:t>
            </a:r>
          </a:p>
          <a:p>
            <a:pPr>
              <a:spcBef>
                <a:spcPts val="1200"/>
              </a:spcBef>
              <a:buFont typeface="Wingdings" panose="05000000000000000000" pitchFamily="2" charset="2"/>
              <a:buChar char="§"/>
            </a:pPr>
            <a:r>
              <a:rPr lang="en-US" altLang="en-US" sz="2400" dirty="0"/>
              <a:t>A generic </a:t>
            </a:r>
            <a:r>
              <a:rPr lang="en-US" altLang="en-US" sz="2400" b="1" dirty="0">
                <a:solidFill>
                  <a:srgbClr val="002060"/>
                </a:solidFill>
              </a:rPr>
              <a:t>thing </a:t>
            </a:r>
            <a:r>
              <a:rPr lang="en-US" altLang="en-US" sz="2400" dirty="0"/>
              <a:t>lets you specify which types of objects that it can work with. If you attempt to use it with the wrong type, a compile error occurs.</a:t>
            </a:r>
          </a:p>
          <a:p>
            <a:pPr>
              <a:spcBef>
                <a:spcPts val="1200"/>
              </a:spcBef>
              <a:buFont typeface="Wingdings" panose="05000000000000000000" pitchFamily="2" charset="2"/>
              <a:buChar char="§"/>
            </a:pPr>
            <a:r>
              <a:rPr lang="en-US" altLang="en-US" sz="2400" dirty="0"/>
              <a:t>Compile errors are much easier to find and fix than runtime errors.  </a:t>
            </a:r>
            <a:r>
              <a:rPr lang="en-US" altLang="en-US" sz="2000" dirty="0"/>
              <a:t>(Plus, for some systems, a runtime error could be disastrous - like nuclear reactors or airplanes……)</a:t>
            </a:r>
          </a:p>
          <a:p>
            <a:pPr>
              <a:spcBef>
                <a:spcPts val="1200"/>
              </a:spcBef>
              <a:buFont typeface="Wingdings" panose="05000000000000000000" pitchFamily="2" charset="2"/>
              <a:buChar char="§"/>
            </a:pPr>
            <a:r>
              <a:rPr lang="en-US" altLang="en-US" sz="2400" dirty="0"/>
              <a:t>It also means that you don’t have to cast values when you get them out of collection structures like ArrayLists</a:t>
            </a:r>
          </a:p>
        </p:txBody>
      </p:sp>
      <p:sp>
        <p:nvSpPr>
          <p:cNvPr id="13314" name="Slide Number Placeholder 4">
            <a:extLst>
              <a:ext uri="{FF2B5EF4-FFF2-40B4-BE49-F238E27FC236}">
                <a16:creationId xmlns:a16="http://schemas.microsoft.com/office/drawing/2014/main" id="{464D9320-96DC-418A-A81E-1095B33FBAA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38D3E65-B781-467F-9E93-1BCF3D1FA601}" type="slidenum">
              <a:rPr lang="en-US" altLang="en-US" sz="1400"/>
              <a:pPr>
                <a:spcBef>
                  <a:spcPct val="0"/>
                </a:spcBef>
                <a:buClrTx/>
                <a:buSzTx/>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EC88BECE-EB9D-4406-9D87-AAF1CA4A380F}"/>
              </a:ext>
            </a:extLst>
          </p:cNvPr>
          <p:cNvSpPr>
            <a:spLocks noGrp="1" noChangeArrowheads="1"/>
          </p:cNvSpPr>
          <p:nvPr>
            <p:ph type="title"/>
          </p:nvPr>
        </p:nvSpPr>
        <p:spPr>
          <a:xfrm>
            <a:off x="4724400" y="304800"/>
            <a:ext cx="3962400" cy="685800"/>
          </a:xfrm>
        </p:spPr>
        <p:txBody>
          <a:bodyPr/>
          <a:lstStyle/>
          <a:p>
            <a:pPr algn="l"/>
            <a:r>
              <a:rPr lang="en-US" altLang="en-US" sz="3800"/>
              <a:t>Generic Type</a:t>
            </a:r>
          </a:p>
        </p:txBody>
      </p:sp>
      <p:sp>
        <p:nvSpPr>
          <p:cNvPr id="15362" name="Slide Number Placeholder 4">
            <a:extLst>
              <a:ext uri="{FF2B5EF4-FFF2-40B4-BE49-F238E27FC236}">
                <a16:creationId xmlns:a16="http://schemas.microsoft.com/office/drawing/2014/main" id="{40311D50-E6D9-4DC8-A5F3-14111C224BB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524EE9F-5407-4430-BB88-359EF071C43D}" type="slidenum">
              <a:rPr lang="en-US" altLang="en-US" sz="1400"/>
              <a:pPr>
                <a:spcBef>
                  <a:spcPct val="0"/>
                </a:spcBef>
                <a:buClrTx/>
                <a:buSzTx/>
                <a:buFontTx/>
                <a:buNone/>
              </a:pPr>
              <a:t>10</a:t>
            </a:fld>
            <a:endParaRPr lang="en-US" altLang="en-US" sz="1400"/>
          </a:p>
        </p:txBody>
      </p:sp>
      <p:graphicFrame>
        <p:nvGraphicFramePr>
          <p:cNvPr id="15366" name="Object 5">
            <a:extLst>
              <a:ext uri="{FF2B5EF4-FFF2-40B4-BE49-F238E27FC236}">
                <a16:creationId xmlns:a16="http://schemas.microsoft.com/office/drawing/2014/main" id="{FCE88C7D-AD7E-424E-9859-F3F5C7DDF4A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65946275"/>
              </p:ext>
            </p:extLst>
          </p:nvPr>
        </p:nvGraphicFramePr>
        <p:xfrm>
          <a:off x="231775" y="1298575"/>
          <a:ext cx="8680450" cy="1857375"/>
        </p:xfrm>
        <a:graphic>
          <a:graphicData uri="http://schemas.openxmlformats.org/presentationml/2006/ole">
            <mc:AlternateContent xmlns:mc="http://schemas.openxmlformats.org/markup-compatibility/2006">
              <mc:Choice xmlns:v="urn:schemas-microsoft-com:vml" Requires="v">
                <p:oleObj name="Picture" r:id="rId3" imgW="5041900" imgH="1079500" progId="Word.Picture.8">
                  <p:embed/>
                </p:oleObj>
              </mc:Choice>
              <mc:Fallback>
                <p:oleObj name="Picture" r:id="rId3" imgW="5041900" imgH="107950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298575"/>
                        <a:ext cx="86804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7" name="Rectangle 6">
            <a:extLst>
              <a:ext uri="{FF2B5EF4-FFF2-40B4-BE49-F238E27FC236}">
                <a16:creationId xmlns:a16="http://schemas.microsoft.com/office/drawing/2014/main" id="{45C5DB98-519D-441E-B90A-3F478B4846E2}"/>
              </a:ext>
            </a:extLst>
          </p:cNvPr>
          <p:cNvSpPr>
            <a:spLocks noChangeArrowheads="1"/>
          </p:cNvSpPr>
          <p:nvPr/>
        </p:nvSpPr>
        <p:spPr bwMode="auto">
          <a:xfrm>
            <a:off x="4495800" y="3429000"/>
            <a:ext cx="4343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800">
                <a:solidFill>
                  <a:schemeClr val="tx2"/>
                </a:solidFill>
              </a:rPr>
              <a:t>Generic Instantiation</a:t>
            </a:r>
            <a:r>
              <a:rPr lang="en-US" altLang="en-US" sz="4400">
                <a:solidFill>
                  <a:schemeClr val="tx2"/>
                </a:solidFill>
              </a:rPr>
              <a:t> </a:t>
            </a:r>
          </a:p>
        </p:txBody>
      </p:sp>
      <p:sp>
        <p:nvSpPr>
          <p:cNvPr id="238599" name="Text Box 7">
            <a:extLst>
              <a:ext uri="{FF2B5EF4-FFF2-40B4-BE49-F238E27FC236}">
                <a16:creationId xmlns:a16="http://schemas.microsoft.com/office/drawing/2014/main" id="{9212B17F-3D4B-43DC-A50E-7DBACA8D11BC}"/>
              </a:ext>
            </a:extLst>
          </p:cNvPr>
          <p:cNvSpPr txBox="1">
            <a:spLocks noChangeArrowheads="1"/>
          </p:cNvSpPr>
          <p:nvPr/>
        </p:nvSpPr>
        <p:spPr bwMode="auto">
          <a:xfrm>
            <a:off x="1600200" y="37338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Runtime error</a:t>
            </a:r>
          </a:p>
        </p:txBody>
      </p:sp>
      <p:sp>
        <p:nvSpPr>
          <p:cNvPr id="238600" name="Text Box 8">
            <a:extLst>
              <a:ext uri="{FF2B5EF4-FFF2-40B4-BE49-F238E27FC236}">
                <a16:creationId xmlns:a16="http://schemas.microsoft.com/office/drawing/2014/main" id="{622900D5-ACA6-489D-9881-351415924B72}"/>
              </a:ext>
            </a:extLst>
          </p:cNvPr>
          <p:cNvSpPr txBox="1">
            <a:spLocks noChangeArrowheads="1"/>
          </p:cNvSpPr>
          <p:nvPr/>
        </p:nvSpPr>
        <p:spPr bwMode="auto">
          <a:xfrm>
            <a:off x="6705600" y="59436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Compile error</a:t>
            </a:r>
          </a:p>
        </p:txBody>
      </p:sp>
      <p:graphicFrame>
        <p:nvGraphicFramePr>
          <p:cNvPr id="15371" name="Object 10">
            <a:extLst>
              <a:ext uri="{FF2B5EF4-FFF2-40B4-BE49-F238E27FC236}">
                <a16:creationId xmlns:a16="http://schemas.microsoft.com/office/drawing/2014/main" id="{FB421EDB-7D35-4A7C-AE0D-913401A8C95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86971972"/>
              </p:ext>
            </p:extLst>
          </p:nvPr>
        </p:nvGraphicFramePr>
        <p:xfrm>
          <a:off x="144463" y="4419600"/>
          <a:ext cx="8999537" cy="1150938"/>
        </p:xfrm>
        <a:graphic>
          <a:graphicData uri="http://schemas.openxmlformats.org/presentationml/2006/ole">
            <mc:AlternateContent xmlns:mc="http://schemas.openxmlformats.org/markup-compatibility/2006">
              <mc:Choice xmlns:v="urn:schemas-microsoft-com:vml" Requires="v">
                <p:oleObj name="Picture" r:id="rId5" imgW="5171457" imgH="666401" progId="Word.Picture.8">
                  <p:embed/>
                </p:oleObj>
              </mc:Choice>
              <mc:Fallback>
                <p:oleObj name="Picture" r:id="rId5" imgW="5171457" imgH="666401" progId="Word.Picture.8">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463" y="4419600"/>
                        <a:ext cx="899953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8603" name="Line 11">
            <a:extLst>
              <a:ext uri="{FF2B5EF4-FFF2-40B4-BE49-F238E27FC236}">
                <a16:creationId xmlns:a16="http://schemas.microsoft.com/office/drawing/2014/main" id="{634EAC8C-AE07-4324-A8B3-E04901AD217D}"/>
              </a:ext>
              <a:ext uri="{C183D7F6-B498-43B3-948B-1728B52AA6E4}">
                <adec:decorative xmlns:adec="http://schemas.microsoft.com/office/drawing/2017/decorative" val="1"/>
              </a:ext>
            </a:extLst>
          </p:cNvPr>
          <p:cNvSpPr>
            <a:spLocks noChangeShapeType="1"/>
          </p:cNvSpPr>
          <p:nvPr/>
        </p:nvSpPr>
        <p:spPr bwMode="auto">
          <a:xfrm>
            <a:off x="2743200" y="4114800"/>
            <a:ext cx="533400" cy="762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04" name="Line 12">
            <a:extLst>
              <a:ext uri="{FF2B5EF4-FFF2-40B4-BE49-F238E27FC236}">
                <a16:creationId xmlns:a16="http://schemas.microsoft.com/office/drawing/2014/main" id="{57877B60-52EC-43E6-BEA5-40E353B185A7}"/>
              </a:ext>
              <a:ext uri="{C183D7F6-B498-43B3-948B-1728B52AA6E4}">
                <adec:decorative xmlns:adec="http://schemas.microsoft.com/office/drawing/2017/decorative" val="1"/>
              </a:ext>
            </a:extLst>
          </p:cNvPr>
          <p:cNvSpPr>
            <a:spLocks noChangeShapeType="1"/>
          </p:cNvSpPr>
          <p:nvPr/>
        </p:nvSpPr>
        <p:spPr bwMode="auto">
          <a:xfrm flipH="1" flipV="1">
            <a:off x="7848600" y="5029200"/>
            <a:ext cx="0" cy="1066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4" name="Rectangle 13">
            <a:extLst>
              <a:ext uri="{FF2B5EF4-FFF2-40B4-BE49-F238E27FC236}">
                <a16:creationId xmlns:a16="http://schemas.microsoft.com/office/drawing/2014/main" id="{CC972391-9EE0-4B71-827A-0E26DC831D00}"/>
              </a:ext>
            </a:extLst>
          </p:cNvPr>
          <p:cNvSpPr>
            <a:spLocks noChangeArrowheads="1"/>
          </p:cNvSpPr>
          <p:nvPr/>
        </p:nvSpPr>
        <p:spPr bwMode="auto">
          <a:xfrm>
            <a:off x="3581400" y="5791200"/>
            <a:ext cx="2819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400"/>
              <a:t>Improves reliability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8599"/>
                                        </p:tgtEl>
                                        <p:attrNameLst>
                                          <p:attrName>style.visibility</p:attrName>
                                        </p:attrNameLst>
                                      </p:cBhvr>
                                      <p:to>
                                        <p:strVal val="visible"/>
                                      </p:to>
                                    </p:set>
                                    <p:anim calcmode="lin" valueType="num">
                                      <p:cBhvr additive="base">
                                        <p:cTn id="7" dur="500" fill="hold"/>
                                        <p:tgtEl>
                                          <p:spTgt spid="238599"/>
                                        </p:tgtEl>
                                        <p:attrNameLst>
                                          <p:attrName>ppt_x</p:attrName>
                                        </p:attrNameLst>
                                      </p:cBhvr>
                                      <p:tavLst>
                                        <p:tav tm="0">
                                          <p:val>
                                            <p:strVal val="#ppt_x"/>
                                          </p:val>
                                        </p:tav>
                                        <p:tav tm="100000">
                                          <p:val>
                                            <p:strVal val="#ppt_x"/>
                                          </p:val>
                                        </p:tav>
                                      </p:tavLst>
                                    </p:anim>
                                    <p:anim calcmode="lin" valueType="num">
                                      <p:cBhvr additive="base">
                                        <p:cTn id="8" dur="500" fill="hold"/>
                                        <p:tgtEl>
                                          <p:spTgt spid="238599"/>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38603"/>
                                        </p:tgtEl>
                                        <p:attrNameLst>
                                          <p:attrName>style.visibility</p:attrName>
                                        </p:attrNameLst>
                                      </p:cBhvr>
                                      <p:to>
                                        <p:strVal val="visible"/>
                                      </p:to>
                                    </p:set>
                                    <p:anim calcmode="lin" valueType="num">
                                      <p:cBhvr additive="base">
                                        <p:cTn id="12" dur="500" fill="hold"/>
                                        <p:tgtEl>
                                          <p:spTgt spid="238603"/>
                                        </p:tgtEl>
                                        <p:attrNameLst>
                                          <p:attrName>ppt_x</p:attrName>
                                        </p:attrNameLst>
                                      </p:cBhvr>
                                      <p:tavLst>
                                        <p:tav tm="0">
                                          <p:val>
                                            <p:strVal val="#ppt_x"/>
                                          </p:val>
                                        </p:tav>
                                        <p:tav tm="100000">
                                          <p:val>
                                            <p:strVal val="#ppt_x"/>
                                          </p:val>
                                        </p:tav>
                                      </p:tavLst>
                                    </p:anim>
                                    <p:anim calcmode="lin" valueType="num">
                                      <p:cBhvr additive="base">
                                        <p:cTn id="13" dur="500" fill="hold"/>
                                        <p:tgtEl>
                                          <p:spTgt spid="23860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38604"/>
                                        </p:tgtEl>
                                        <p:attrNameLst>
                                          <p:attrName>style.visibility</p:attrName>
                                        </p:attrNameLst>
                                      </p:cBhvr>
                                      <p:to>
                                        <p:strVal val="visible"/>
                                      </p:to>
                                    </p:set>
                                    <p:anim calcmode="lin" valueType="num">
                                      <p:cBhvr additive="base">
                                        <p:cTn id="18" dur="500" fill="hold"/>
                                        <p:tgtEl>
                                          <p:spTgt spid="238604"/>
                                        </p:tgtEl>
                                        <p:attrNameLst>
                                          <p:attrName>ppt_x</p:attrName>
                                        </p:attrNameLst>
                                      </p:cBhvr>
                                      <p:tavLst>
                                        <p:tav tm="0">
                                          <p:val>
                                            <p:strVal val="#ppt_x"/>
                                          </p:val>
                                        </p:tav>
                                        <p:tav tm="100000">
                                          <p:val>
                                            <p:strVal val="#ppt_x"/>
                                          </p:val>
                                        </p:tav>
                                      </p:tavLst>
                                    </p:anim>
                                    <p:anim calcmode="lin" valueType="num">
                                      <p:cBhvr additive="base">
                                        <p:cTn id="19" dur="500" fill="hold"/>
                                        <p:tgtEl>
                                          <p:spTgt spid="238604"/>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38600"/>
                                        </p:tgtEl>
                                        <p:attrNameLst>
                                          <p:attrName>style.visibility</p:attrName>
                                        </p:attrNameLst>
                                      </p:cBhvr>
                                      <p:to>
                                        <p:strVal val="visible"/>
                                      </p:to>
                                    </p:set>
                                    <p:anim calcmode="lin" valueType="num">
                                      <p:cBhvr additive="base">
                                        <p:cTn id="23" dur="500" fill="hold"/>
                                        <p:tgtEl>
                                          <p:spTgt spid="238600"/>
                                        </p:tgtEl>
                                        <p:attrNameLst>
                                          <p:attrName>ppt_x</p:attrName>
                                        </p:attrNameLst>
                                      </p:cBhvr>
                                      <p:tavLst>
                                        <p:tav tm="0">
                                          <p:val>
                                            <p:strVal val="#ppt_x"/>
                                          </p:val>
                                        </p:tav>
                                        <p:tav tm="100000">
                                          <p:val>
                                            <p:strVal val="#ppt_x"/>
                                          </p:val>
                                        </p:tav>
                                      </p:tavLst>
                                    </p:anim>
                                    <p:anim calcmode="lin" valueType="num">
                                      <p:cBhvr additive="base">
                                        <p:cTn id="24" dur="500" fill="hold"/>
                                        <p:tgtEl>
                                          <p:spTgt spid="2386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9" grpId="0" autoUpdateAnimBg="0"/>
      <p:bldP spid="23860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1BE51E09-616C-49DB-B990-47982D598C24}"/>
              </a:ext>
            </a:extLst>
          </p:cNvPr>
          <p:cNvSpPr>
            <a:spLocks noGrp="1" noChangeArrowheads="1"/>
          </p:cNvSpPr>
          <p:nvPr>
            <p:ph type="title"/>
          </p:nvPr>
        </p:nvSpPr>
        <p:spPr>
          <a:xfrm>
            <a:off x="685800" y="152400"/>
            <a:ext cx="7772400" cy="762000"/>
          </a:xfrm>
        </p:spPr>
        <p:txBody>
          <a:bodyPr/>
          <a:lstStyle/>
          <a:p>
            <a:r>
              <a:rPr lang="en-US" altLang="en-US" dirty="0"/>
              <a:t>Generic </a:t>
            </a:r>
            <a:r>
              <a:rPr lang="en-US" altLang="en-US" dirty="0" err="1"/>
              <a:t>ArrayList</a:t>
            </a:r>
            <a:r>
              <a:rPr lang="en-US" altLang="en-US" dirty="0"/>
              <a:t> in JDK 1.5</a:t>
            </a:r>
          </a:p>
        </p:txBody>
      </p:sp>
      <p:sp>
        <p:nvSpPr>
          <p:cNvPr id="17410" name="Slide Number Placeholder 4">
            <a:extLst>
              <a:ext uri="{FF2B5EF4-FFF2-40B4-BE49-F238E27FC236}">
                <a16:creationId xmlns:a16="http://schemas.microsoft.com/office/drawing/2014/main" id="{E58FA33F-290D-4C52-8760-F5F30225928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84EE8F2-6452-47F1-AD40-DC9CF826BAD4}" type="slidenum">
              <a:rPr lang="en-US" altLang="en-US" sz="1400"/>
              <a:pPr>
                <a:spcBef>
                  <a:spcPct val="0"/>
                </a:spcBef>
                <a:buClrTx/>
                <a:buSzTx/>
                <a:buFontTx/>
                <a:buNone/>
              </a:pPr>
              <a:t>11</a:t>
            </a:fld>
            <a:endParaRPr lang="en-US" altLang="en-US" sz="1400"/>
          </a:p>
        </p:txBody>
      </p:sp>
      <p:pic>
        <p:nvPicPr>
          <p:cNvPr id="17415" name="Picture 8">
            <a:extLst>
              <a:ext uri="{FF2B5EF4-FFF2-40B4-BE49-F238E27FC236}">
                <a16:creationId xmlns:a16="http://schemas.microsoft.com/office/drawing/2014/main" id="{4B38C50E-5BBE-404A-B122-B750A250547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143000"/>
            <a:ext cx="8580438"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536195CE-CE69-471A-AEDA-B65786D2B511}"/>
              </a:ext>
            </a:extLst>
          </p:cNvPr>
          <p:cNvSpPr>
            <a:spLocks noGrp="1" noChangeArrowheads="1"/>
          </p:cNvSpPr>
          <p:nvPr>
            <p:ph type="title"/>
          </p:nvPr>
        </p:nvSpPr>
        <p:spPr>
          <a:xfrm>
            <a:off x="685800" y="304800"/>
            <a:ext cx="7772400" cy="838200"/>
          </a:xfrm>
        </p:spPr>
        <p:txBody>
          <a:bodyPr/>
          <a:lstStyle/>
          <a:p>
            <a:r>
              <a:rPr lang="en-US" altLang="en-US"/>
              <a:t>No Casting Needed</a:t>
            </a:r>
          </a:p>
        </p:txBody>
      </p:sp>
      <p:sp>
        <p:nvSpPr>
          <p:cNvPr id="19460" name="Rectangle 3">
            <a:extLst>
              <a:ext uri="{FF2B5EF4-FFF2-40B4-BE49-F238E27FC236}">
                <a16:creationId xmlns:a16="http://schemas.microsoft.com/office/drawing/2014/main" id="{57A8BA24-9F13-4FCA-BDBD-B3A326991F4F}"/>
              </a:ext>
            </a:extLst>
          </p:cNvPr>
          <p:cNvSpPr>
            <a:spLocks noGrp="1" noChangeArrowheads="1"/>
          </p:cNvSpPr>
          <p:nvPr>
            <p:ph idx="1"/>
          </p:nvPr>
        </p:nvSpPr>
        <p:spPr>
          <a:xfrm>
            <a:off x="228600" y="1371600"/>
            <a:ext cx="8382000" cy="3429000"/>
          </a:xfrm>
        </p:spPr>
        <p:txBody>
          <a:bodyPr/>
          <a:lstStyle/>
          <a:p>
            <a:pPr>
              <a:lnSpc>
                <a:spcPct val="150000"/>
              </a:lnSpc>
              <a:buFont typeface="Monotype Sorts"/>
              <a:buNone/>
            </a:pPr>
            <a:r>
              <a:rPr lang="en-US" altLang="en-US" sz="2400" dirty="0" err="1">
                <a:solidFill>
                  <a:schemeClr val="tx2"/>
                </a:solidFill>
              </a:rPr>
              <a:t>ArrayList</a:t>
            </a:r>
            <a:r>
              <a:rPr lang="en-US" altLang="en-US" sz="2400" dirty="0">
                <a:solidFill>
                  <a:schemeClr val="tx2"/>
                </a:solidFill>
              </a:rPr>
              <a:t>&lt;</a:t>
            </a:r>
            <a:r>
              <a:rPr lang="en-US" altLang="en-US" sz="2400" dirty="0">
                <a:solidFill>
                  <a:schemeClr val="tx2"/>
                </a:solidFill>
                <a:highlight>
                  <a:srgbClr val="FFFF00"/>
                </a:highlight>
              </a:rPr>
              <a:t>Double</a:t>
            </a:r>
            <a:r>
              <a:rPr lang="en-US" altLang="en-US" sz="2400" dirty="0">
                <a:solidFill>
                  <a:schemeClr val="tx2"/>
                </a:solidFill>
              </a:rPr>
              <a:t>&gt; list = new </a:t>
            </a:r>
            <a:r>
              <a:rPr lang="en-US" altLang="en-US" sz="2400" dirty="0" err="1">
                <a:solidFill>
                  <a:schemeClr val="tx2"/>
                </a:solidFill>
              </a:rPr>
              <a:t>ArrayList</a:t>
            </a:r>
            <a:r>
              <a:rPr lang="en-US" altLang="en-US" sz="2400" dirty="0">
                <a:solidFill>
                  <a:schemeClr val="tx2"/>
                </a:solidFill>
              </a:rPr>
              <a:t>&lt;&gt;();</a:t>
            </a:r>
          </a:p>
          <a:p>
            <a:pPr>
              <a:lnSpc>
                <a:spcPct val="150000"/>
              </a:lnSpc>
              <a:buFont typeface="Monotype Sorts"/>
              <a:buNone/>
            </a:pPr>
            <a:r>
              <a:rPr lang="en-US" altLang="en-US" sz="2400" dirty="0">
                <a:solidFill>
                  <a:schemeClr val="tx2"/>
                </a:solidFill>
              </a:rPr>
              <a:t>list.add(5.5); // 5.5 is automatically converted to new Double(5.5)</a:t>
            </a:r>
          </a:p>
          <a:p>
            <a:pPr>
              <a:lnSpc>
                <a:spcPct val="150000"/>
              </a:lnSpc>
              <a:buFont typeface="Monotype Sorts"/>
              <a:buNone/>
            </a:pPr>
            <a:r>
              <a:rPr lang="en-US" altLang="en-US" sz="2400" dirty="0">
                <a:solidFill>
                  <a:schemeClr val="tx2"/>
                </a:solidFill>
              </a:rPr>
              <a:t>list.add(3.0); // 3.0 is automatically converted to new Double(3.0)</a:t>
            </a:r>
          </a:p>
          <a:p>
            <a:pPr>
              <a:lnSpc>
                <a:spcPct val="150000"/>
              </a:lnSpc>
              <a:buFont typeface="Monotype Sorts"/>
              <a:buNone/>
            </a:pPr>
            <a:r>
              <a:rPr lang="en-US" altLang="en-US" sz="2400" dirty="0">
                <a:solidFill>
                  <a:schemeClr val="tx2"/>
                </a:solidFill>
              </a:rPr>
              <a:t>Double </a:t>
            </a:r>
            <a:r>
              <a:rPr lang="en-US" altLang="en-US" sz="2400" dirty="0" err="1">
                <a:solidFill>
                  <a:schemeClr val="tx2"/>
                </a:solidFill>
              </a:rPr>
              <a:t>doubleObject</a:t>
            </a:r>
            <a:r>
              <a:rPr lang="en-US" altLang="en-US" sz="2400" dirty="0">
                <a:solidFill>
                  <a:schemeClr val="tx2"/>
                </a:solidFill>
              </a:rPr>
              <a:t> = </a:t>
            </a:r>
            <a:r>
              <a:rPr lang="en-US" altLang="en-US" sz="2400" dirty="0" err="1">
                <a:solidFill>
                  <a:schemeClr val="tx2"/>
                </a:solidFill>
              </a:rPr>
              <a:t>list.get</a:t>
            </a:r>
            <a:r>
              <a:rPr lang="en-US" altLang="en-US" sz="2400" dirty="0">
                <a:solidFill>
                  <a:schemeClr val="tx2"/>
                </a:solidFill>
              </a:rPr>
              <a:t>(0); // No casting is needed</a:t>
            </a:r>
          </a:p>
          <a:p>
            <a:pPr>
              <a:lnSpc>
                <a:spcPct val="150000"/>
              </a:lnSpc>
              <a:buFont typeface="Monotype Sorts"/>
              <a:buNone/>
            </a:pPr>
            <a:r>
              <a:rPr lang="en-US" altLang="en-US" sz="2400" dirty="0">
                <a:solidFill>
                  <a:schemeClr val="tx2"/>
                </a:solidFill>
              </a:rPr>
              <a:t>double d = </a:t>
            </a:r>
            <a:r>
              <a:rPr lang="en-US" altLang="en-US" sz="2400" dirty="0" err="1">
                <a:solidFill>
                  <a:schemeClr val="tx2"/>
                </a:solidFill>
              </a:rPr>
              <a:t>list.get</a:t>
            </a:r>
            <a:r>
              <a:rPr lang="en-US" altLang="en-US" sz="2400" dirty="0">
                <a:solidFill>
                  <a:schemeClr val="tx2"/>
                </a:solidFill>
              </a:rPr>
              <a:t>(1); // Automatically converted to double</a:t>
            </a:r>
          </a:p>
        </p:txBody>
      </p:sp>
      <p:sp>
        <p:nvSpPr>
          <p:cNvPr id="19458" name="Slide Number Placeholder 4">
            <a:extLst>
              <a:ext uri="{FF2B5EF4-FFF2-40B4-BE49-F238E27FC236}">
                <a16:creationId xmlns:a16="http://schemas.microsoft.com/office/drawing/2014/main" id="{1CD6DCA8-A586-4912-926B-2FA78DB069C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DD908FC-AC76-4C14-8CA3-F9B6909DF69B}" type="slidenum">
              <a:rPr lang="en-US" altLang="en-US" sz="1400"/>
              <a:pPr>
                <a:spcBef>
                  <a:spcPct val="0"/>
                </a:spcBef>
                <a:buClrTx/>
                <a:buSzTx/>
                <a:buFontTx/>
                <a:buNone/>
              </a:pPr>
              <a:t>12</a:t>
            </a:fld>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01AC2435-4AB8-4BE8-B36A-16F6B95C92FD}"/>
              </a:ext>
            </a:extLst>
          </p:cNvPr>
          <p:cNvSpPr>
            <a:spLocks noGrp="1" noChangeArrowheads="1"/>
          </p:cNvSpPr>
          <p:nvPr>
            <p:ph type="title"/>
          </p:nvPr>
        </p:nvSpPr>
        <p:spPr>
          <a:xfrm>
            <a:off x="0" y="228600"/>
            <a:ext cx="9144000" cy="685800"/>
          </a:xfrm>
        </p:spPr>
        <p:txBody>
          <a:bodyPr/>
          <a:lstStyle/>
          <a:p>
            <a:r>
              <a:rPr lang="en-US" altLang="en-US" sz="4200"/>
              <a:t>Declaring Generic Classes and Interfaces</a:t>
            </a:r>
            <a:r>
              <a:rPr lang="en-US" altLang="en-US"/>
              <a:t> </a:t>
            </a:r>
          </a:p>
        </p:txBody>
      </p:sp>
      <p:sp>
        <p:nvSpPr>
          <p:cNvPr id="21506" name="Slide Number Placeholder 4">
            <a:extLst>
              <a:ext uri="{FF2B5EF4-FFF2-40B4-BE49-F238E27FC236}">
                <a16:creationId xmlns:a16="http://schemas.microsoft.com/office/drawing/2014/main" id="{21FB73EE-19A6-41C1-AC6B-F7B8B979827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7D3806D-2EB3-4B97-AF97-5FB94E8159FF}" type="slidenum">
              <a:rPr lang="en-US" altLang="en-US" sz="1400"/>
              <a:pPr>
                <a:spcBef>
                  <a:spcPct val="0"/>
                </a:spcBef>
                <a:buClrTx/>
                <a:buSzTx/>
                <a:buFontTx/>
                <a:buNone/>
              </a:pPr>
              <a:t>13</a:t>
            </a:fld>
            <a:endParaRPr lang="en-US" altLang="en-US" sz="1400"/>
          </a:p>
        </p:txBody>
      </p:sp>
      <p:pic>
        <p:nvPicPr>
          <p:cNvPr id="21510" name="Picture 9">
            <a:extLst>
              <a:ext uri="{FF2B5EF4-FFF2-40B4-BE49-F238E27FC236}">
                <a16:creationId xmlns:a16="http://schemas.microsoft.com/office/drawing/2014/main" id="{50C59BCF-6966-4E0D-9152-D1F1AEE035E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676400"/>
            <a:ext cx="873125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1511" name="Rectangle 8">
            <a:hlinkClick r:id="rId4"/>
            <a:extLst>
              <a:ext uri="{FF2B5EF4-FFF2-40B4-BE49-F238E27FC236}">
                <a16:creationId xmlns:a16="http://schemas.microsoft.com/office/drawing/2014/main" id="{C54105D7-6438-4432-A7EF-B4A66BB4B9EA}"/>
              </a:ext>
            </a:extLst>
          </p:cNvPr>
          <p:cNvSpPr>
            <a:spLocks noChangeArrowheads="1"/>
          </p:cNvSpPr>
          <p:nvPr/>
        </p:nvSpPr>
        <p:spPr bwMode="auto">
          <a:xfrm>
            <a:off x="752475" y="5167313"/>
            <a:ext cx="2514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GenericStack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02EC4C91-B9FC-4BA6-AF6A-24977089EC04}"/>
              </a:ext>
            </a:extLst>
          </p:cNvPr>
          <p:cNvSpPr>
            <a:spLocks noGrp="1" noChangeArrowheads="1"/>
          </p:cNvSpPr>
          <p:nvPr>
            <p:ph type="title"/>
          </p:nvPr>
        </p:nvSpPr>
        <p:spPr>
          <a:xfrm>
            <a:off x="685800" y="228600"/>
            <a:ext cx="7772400" cy="685800"/>
          </a:xfrm>
        </p:spPr>
        <p:txBody>
          <a:bodyPr/>
          <a:lstStyle/>
          <a:p>
            <a:r>
              <a:rPr lang="en-US" altLang="en-US" sz="4000" dirty="0"/>
              <a:t>Generic Static Classes</a:t>
            </a:r>
          </a:p>
        </p:txBody>
      </p:sp>
      <p:sp>
        <p:nvSpPr>
          <p:cNvPr id="23554" name="Slide Number Placeholder 4">
            <a:extLst>
              <a:ext uri="{FF2B5EF4-FFF2-40B4-BE49-F238E27FC236}">
                <a16:creationId xmlns:a16="http://schemas.microsoft.com/office/drawing/2014/main" id="{59E09B60-B35D-4D83-A9A8-362AD4D9ADF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4E9107-9FC6-43F9-8324-ABF64D586E99}" type="slidenum">
              <a:rPr lang="en-US" altLang="en-US" sz="1400"/>
              <a:pPr>
                <a:spcBef>
                  <a:spcPct val="0"/>
                </a:spcBef>
                <a:buClrTx/>
                <a:buSzTx/>
                <a:buFontTx/>
                <a:buNone/>
              </a:pPr>
              <a:t>14</a:t>
            </a:fld>
            <a:endParaRPr lang="en-US" altLang="en-US" sz="1400"/>
          </a:p>
        </p:txBody>
      </p:sp>
      <p:sp>
        <p:nvSpPr>
          <p:cNvPr id="23556" name="Rectangle 4">
            <a:extLst>
              <a:ext uri="{FF2B5EF4-FFF2-40B4-BE49-F238E27FC236}">
                <a16:creationId xmlns:a16="http://schemas.microsoft.com/office/drawing/2014/main" id="{F1A1018A-43DB-471A-BD5C-403667BFFC36}"/>
              </a:ext>
            </a:extLst>
          </p:cNvPr>
          <p:cNvSpPr>
            <a:spLocks noChangeArrowheads="1"/>
          </p:cNvSpPr>
          <p:nvPr/>
        </p:nvSpPr>
        <p:spPr bwMode="auto">
          <a:xfrm>
            <a:off x="304800" y="914400"/>
            <a:ext cx="4953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public class SomeThing&lt;E&gt; </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   public E item;</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   public void setThing(E e)</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   {  </a:t>
            </a:r>
            <a:r>
              <a:rPr lang="en-US" altLang="en-US" sz="1600" dirty="0" err="1">
                <a:solidFill>
                  <a:schemeClr val="tx2"/>
                </a:solidFill>
                <a:latin typeface="Courier New" panose="02070309020205020404" pitchFamily="49" charset="0"/>
                <a:cs typeface="Courier New" panose="02070309020205020404" pitchFamily="49" charset="0"/>
              </a:rPr>
              <a:t>this.item</a:t>
            </a:r>
            <a:r>
              <a:rPr lang="en-US" altLang="en-US" sz="1600" dirty="0">
                <a:solidFill>
                  <a:schemeClr val="tx2"/>
                </a:solidFill>
                <a:latin typeface="Courier New" panose="02070309020205020404" pitchFamily="49" charset="0"/>
                <a:cs typeface="Courier New" panose="02070309020205020404" pitchFamily="49" charset="0"/>
              </a:rPr>
              <a:t> = e;  }</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   public E </a:t>
            </a:r>
            <a:r>
              <a:rPr lang="en-US" altLang="en-US" sz="1600" dirty="0" err="1">
                <a:solidFill>
                  <a:schemeClr val="tx2"/>
                </a:solidFill>
                <a:latin typeface="Courier New" panose="02070309020205020404" pitchFamily="49" charset="0"/>
                <a:cs typeface="Courier New" panose="02070309020205020404" pitchFamily="49" charset="0"/>
              </a:rPr>
              <a:t>getThing</a:t>
            </a:r>
            <a:r>
              <a:rPr lang="en-US" altLang="en-US" sz="1600" dirty="0">
                <a:solidFill>
                  <a:schemeClr val="tx2"/>
                </a:solidFill>
                <a:latin typeface="Courier New" panose="02070309020205020404" pitchFamily="49" charset="0"/>
                <a:cs typeface="Courier New" panose="02070309020205020404" pitchFamily="49" charset="0"/>
              </a:rPr>
              <a:t>()</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   {  return item;  } </a:t>
            </a:r>
          </a:p>
          <a:p>
            <a:pPr>
              <a:buFont typeface="Monotype Sorts"/>
              <a:buNone/>
            </a:pPr>
            <a:r>
              <a:rPr lang="en-US" altLang="en-US" sz="1600" dirty="0">
                <a:solidFill>
                  <a:schemeClr val="tx2"/>
                </a:solidFill>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4F3C2958-7B0E-401D-BF95-876E7FA2AE15}"/>
              </a:ext>
            </a:extLst>
          </p:cNvPr>
          <p:cNvSpPr txBox="1"/>
          <p:nvPr/>
        </p:nvSpPr>
        <p:spPr>
          <a:xfrm>
            <a:off x="304800" y="3581400"/>
            <a:ext cx="7162800" cy="2800767"/>
          </a:xfrm>
          <a:prstGeom prst="rect">
            <a:avLst/>
          </a:prstGeom>
          <a:noFill/>
          <a:ln>
            <a:solidFill>
              <a:schemeClr val="tx1"/>
            </a:solidFill>
          </a:ln>
        </p:spPr>
        <p:txBody>
          <a:bodyPr wrap="square">
            <a:spAutoFit/>
          </a:bodyPr>
          <a:lstStyle/>
          <a:p>
            <a:r>
              <a:rPr lang="en-US" sz="1600" dirty="0">
                <a:latin typeface="Courier New" panose="02070309020205020404" pitchFamily="49" charset="0"/>
                <a:cs typeface="Courier New" panose="02070309020205020404" pitchFamily="49" charset="0"/>
              </a:rPr>
              <a:t>public static void main(String[] args) </a:t>
            </a: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SomeThing&lt;String&gt; s1 = new </a:t>
            </a:r>
            <a:r>
              <a:rPr lang="en-US" sz="1600" dirty="0" err="1">
                <a:latin typeface="Courier New" panose="02070309020205020404" pitchFamily="49" charset="0"/>
                <a:cs typeface="Courier New" panose="02070309020205020404" pitchFamily="49" charset="0"/>
              </a:rPr>
              <a:t>SomeThing</a:t>
            </a:r>
            <a:r>
              <a:rPr lang="en-US" sz="1600" dirty="0">
                <a:latin typeface="Courier New" panose="02070309020205020404" pitchFamily="49" charset="0"/>
                <a:cs typeface="Courier New" panose="02070309020205020404" pitchFamily="49" charset="0"/>
              </a:rPr>
              <a:t>&lt;&gt;(); //</a:t>
            </a:r>
          </a:p>
          <a:p>
            <a:r>
              <a:rPr lang="en-US" sz="1600" dirty="0">
                <a:latin typeface="Courier New" panose="02070309020205020404" pitchFamily="49" charset="0"/>
                <a:cs typeface="Courier New" panose="02070309020205020404" pitchFamily="49" charset="0"/>
              </a:rPr>
              <a:t>        SomeThing &lt;Double&gt; d1 = new SomeThing &lt;&gt;();</a:t>
            </a:r>
          </a:p>
          <a:p>
            <a:r>
              <a:rPr lang="en-US" sz="1600" dirty="0">
                <a:latin typeface="Courier New" panose="02070309020205020404" pitchFamily="49" charset="0"/>
                <a:cs typeface="Courier New" panose="02070309020205020404" pitchFamily="49" charset="0"/>
              </a:rPr>
              <a:t>        String name = “Helen Smith”;</a:t>
            </a:r>
          </a:p>
          <a:p>
            <a:r>
              <a:rPr lang="en-US" sz="1600" dirty="0">
                <a:latin typeface="Courier New" panose="02070309020205020404" pitchFamily="49" charset="0"/>
                <a:cs typeface="Courier New" panose="02070309020205020404" pitchFamily="49" charset="0"/>
              </a:rPr>
              <a:t>        Double grade = 85.3;</a:t>
            </a:r>
          </a:p>
          <a:p>
            <a:r>
              <a:rPr lang="en-US" sz="1600" dirty="0">
                <a:latin typeface="Courier New" panose="02070309020205020404" pitchFamily="49" charset="0"/>
                <a:cs typeface="Courier New" panose="02070309020205020404" pitchFamily="49" charset="0"/>
              </a:rPr>
              <a:t>        s1.setThing(name);</a:t>
            </a:r>
          </a:p>
          <a:p>
            <a:r>
              <a:rPr lang="en-US" sz="1600" dirty="0">
                <a:latin typeface="Courier New" panose="02070309020205020404" pitchFamily="49" charset="0"/>
                <a:cs typeface="Courier New" panose="02070309020205020404" pitchFamily="49" charset="0"/>
              </a:rPr>
              <a:t>        d1.setThing(grade);</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System.out.println</a:t>
            </a:r>
            <a:r>
              <a:rPr lang="en-US" sz="1600" dirty="0">
                <a:latin typeface="Courier New" panose="02070309020205020404" pitchFamily="49" charset="0"/>
                <a:cs typeface="Courier New" panose="02070309020205020404" pitchFamily="49" charset="0"/>
              </a:rPr>
              <a:t>(s1.getThing());</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System.out.println</a:t>
            </a:r>
            <a:r>
              <a:rPr lang="en-US" sz="1600" dirty="0">
                <a:latin typeface="Courier New" panose="02070309020205020404" pitchFamily="49" charset="0"/>
                <a:cs typeface="Courier New" panose="02070309020205020404" pitchFamily="49" charset="0"/>
              </a:rPr>
              <a:t>(d1.getThing());</a:t>
            </a:r>
          </a:p>
          <a:p>
            <a:r>
              <a:rPr lang="en-US" sz="1600"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9BA0C5FC-DBFF-4C1E-8628-52BA4249614E}"/>
              </a:ext>
            </a:extLst>
          </p:cNvPr>
          <p:cNvSpPr txBox="1"/>
          <p:nvPr/>
        </p:nvSpPr>
        <p:spPr>
          <a:xfrm>
            <a:off x="4648200" y="914400"/>
            <a:ext cx="4038600" cy="338554"/>
          </a:xfrm>
          <a:prstGeom prst="rect">
            <a:avLst/>
          </a:prstGeom>
          <a:noFill/>
        </p:spPr>
        <p:txBody>
          <a:bodyPr wrap="square" rtlCol="0">
            <a:spAutoFit/>
          </a:bodyPr>
          <a:lstStyle/>
          <a:p>
            <a:r>
              <a:rPr lang="en-US" sz="1600" dirty="0">
                <a:solidFill>
                  <a:srgbClr val="002060"/>
                </a:solidFill>
              </a:rPr>
              <a:t>The type parameter comes after the class name</a:t>
            </a:r>
          </a:p>
        </p:txBody>
      </p:sp>
      <p:cxnSp>
        <p:nvCxnSpPr>
          <p:cNvPr id="5" name="Straight Arrow Connector 4">
            <a:extLst>
              <a:ext uri="{FF2B5EF4-FFF2-40B4-BE49-F238E27FC236}">
                <a16:creationId xmlns:a16="http://schemas.microsoft.com/office/drawing/2014/main" id="{97571B0C-D9CD-4B9B-BAA6-824ED29C1597}"/>
              </a:ext>
              <a:ext uri="{C183D7F6-B498-43B3-948B-1728B52AA6E4}">
                <adec:decorative xmlns:adec="http://schemas.microsoft.com/office/drawing/2017/decorative" val="1"/>
              </a:ext>
            </a:extLst>
          </p:cNvPr>
          <p:cNvCxnSpPr>
            <a:stCxn id="3" idx="1"/>
          </p:cNvCxnSpPr>
          <p:nvPr/>
        </p:nvCxnSpPr>
        <p:spPr bwMode="auto">
          <a:xfrm flipH="1" flipV="1">
            <a:off x="3505200" y="1066801"/>
            <a:ext cx="1143000" cy="16876"/>
          </a:xfrm>
          <a:prstGeom prst="straightConnector1">
            <a:avLst/>
          </a:prstGeom>
          <a:solidFill>
            <a:schemeClr val="accent1"/>
          </a:solidFill>
          <a:ln w="12700" cap="flat" cmpd="sng" algn="ctr">
            <a:solidFill>
              <a:srgbClr val="00206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2F0476A2-19CB-40B1-9A7C-9D098F3FEE27}"/>
              </a:ext>
            </a:extLst>
          </p:cNvPr>
          <p:cNvSpPr txBox="1"/>
          <p:nvPr/>
        </p:nvSpPr>
        <p:spPr>
          <a:xfrm>
            <a:off x="3505200" y="1430923"/>
            <a:ext cx="4038600" cy="338554"/>
          </a:xfrm>
          <a:prstGeom prst="rect">
            <a:avLst/>
          </a:prstGeom>
          <a:noFill/>
        </p:spPr>
        <p:txBody>
          <a:bodyPr wrap="square" rtlCol="0">
            <a:spAutoFit/>
          </a:bodyPr>
          <a:lstStyle/>
          <a:p>
            <a:r>
              <a:rPr lang="en-US" sz="1600" dirty="0">
                <a:solidFill>
                  <a:srgbClr val="002060"/>
                </a:solidFill>
              </a:rPr>
              <a:t>Using that data</a:t>
            </a:r>
          </a:p>
        </p:txBody>
      </p:sp>
      <p:cxnSp>
        <p:nvCxnSpPr>
          <p:cNvPr id="14" name="Straight Arrow Connector 13">
            <a:extLst>
              <a:ext uri="{FF2B5EF4-FFF2-40B4-BE49-F238E27FC236}">
                <a16:creationId xmlns:a16="http://schemas.microsoft.com/office/drawing/2014/main" id="{B5CF8E2B-DCB3-4FA2-ADF6-07B843CDE964}"/>
              </a:ext>
              <a:ext uri="{C183D7F6-B498-43B3-948B-1728B52AA6E4}">
                <adec:decorative xmlns:adec="http://schemas.microsoft.com/office/drawing/2017/decorative" val="1"/>
              </a:ext>
            </a:extLst>
          </p:cNvPr>
          <p:cNvCxnSpPr>
            <a:cxnSpLocks/>
            <a:stCxn id="13" idx="1"/>
          </p:cNvCxnSpPr>
          <p:nvPr/>
        </p:nvCxnSpPr>
        <p:spPr bwMode="auto">
          <a:xfrm flipH="1">
            <a:off x="2514600" y="1600200"/>
            <a:ext cx="990600" cy="76200"/>
          </a:xfrm>
          <a:prstGeom prst="straightConnector1">
            <a:avLst/>
          </a:prstGeom>
          <a:solidFill>
            <a:schemeClr val="accent1"/>
          </a:solidFill>
          <a:ln w="12700" cap="flat" cmpd="sng" algn="ctr">
            <a:solidFill>
              <a:srgbClr val="00206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02EC4C91-B9FC-4BA6-AF6A-24977089EC04}"/>
              </a:ext>
            </a:extLst>
          </p:cNvPr>
          <p:cNvSpPr>
            <a:spLocks noGrp="1" noChangeArrowheads="1"/>
          </p:cNvSpPr>
          <p:nvPr>
            <p:ph type="title"/>
          </p:nvPr>
        </p:nvSpPr>
        <p:spPr>
          <a:xfrm>
            <a:off x="685800" y="228600"/>
            <a:ext cx="7772400" cy="685800"/>
          </a:xfrm>
        </p:spPr>
        <p:txBody>
          <a:bodyPr/>
          <a:lstStyle/>
          <a:p>
            <a:r>
              <a:rPr lang="en-US" altLang="en-US" sz="4000" dirty="0"/>
              <a:t>Generic Static Classes</a:t>
            </a:r>
          </a:p>
        </p:txBody>
      </p:sp>
      <p:sp>
        <p:nvSpPr>
          <p:cNvPr id="23554" name="Slide Number Placeholder 4">
            <a:extLst>
              <a:ext uri="{FF2B5EF4-FFF2-40B4-BE49-F238E27FC236}">
                <a16:creationId xmlns:a16="http://schemas.microsoft.com/office/drawing/2014/main" id="{59E09B60-B35D-4D83-A9A8-362AD4D9ADF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4E9107-9FC6-43F9-8324-ABF64D586E99}" type="slidenum">
              <a:rPr lang="en-US" altLang="en-US" sz="1400"/>
              <a:pPr>
                <a:spcBef>
                  <a:spcPct val="0"/>
                </a:spcBef>
                <a:buClrTx/>
                <a:buSzTx/>
                <a:buFontTx/>
                <a:buNone/>
              </a:pPr>
              <a:t>15</a:t>
            </a:fld>
            <a:endParaRPr lang="en-US" altLang="en-US" sz="1400"/>
          </a:p>
        </p:txBody>
      </p:sp>
      <p:sp>
        <p:nvSpPr>
          <p:cNvPr id="23556" name="Rectangle 4">
            <a:extLst>
              <a:ext uri="{FF2B5EF4-FFF2-40B4-BE49-F238E27FC236}">
                <a16:creationId xmlns:a16="http://schemas.microsoft.com/office/drawing/2014/main" id="{F1A1018A-43DB-471A-BD5C-403667BFFC36}"/>
              </a:ext>
            </a:extLst>
          </p:cNvPr>
          <p:cNvSpPr>
            <a:spLocks noChangeArrowheads="1"/>
          </p:cNvSpPr>
          <p:nvPr/>
        </p:nvSpPr>
        <p:spPr bwMode="auto">
          <a:xfrm>
            <a:off x="304800" y="914400"/>
            <a:ext cx="8458200" cy="3141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dirty="0">
                <a:solidFill>
                  <a:schemeClr val="tx2"/>
                </a:solidFill>
                <a:latin typeface="+mj-lt"/>
                <a:cs typeface="Courier New" panose="02070309020205020404" pitchFamily="49" charset="0"/>
              </a:rPr>
              <a:t>Generic classes can have more than one type sent in as a parameter.</a:t>
            </a:r>
          </a:p>
          <a:p>
            <a:pPr>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i="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public class name  &lt;T1, T2, …, Tn&gt; {……..}</a:t>
            </a:r>
            <a:endParaRPr lang="en-US" sz="1600" i="1" dirty="0">
              <a:solidFill>
                <a:srgbClr val="002060"/>
              </a:solidFill>
              <a:effectLst/>
              <a:latin typeface="Courier New" panose="02070309020205020404" pitchFamily="49" charset="0"/>
              <a:ea typeface="Calibri" panose="020F0502020204030204" pitchFamily="34" charset="0"/>
              <a:cs typeface="Courier New" panose="02070309020205020404" pitchFamily="49" charset="0"/>
            </a:endParaRPr>
          </a:p>
          <a:p>
            <a:pPr lvl="2">
              <a:spcBef>
                <a:spcPts val="0"/>
              </a:spcBef>
              <a:buNone/>
            </a:pPr>
            <a:endParaRPr lang="en-US" altLang="en-US" sz="800" dirty="0">
              <a:solidFill>
                <a:schemeClr val="tx2"/>
              </a:solidFill>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4F3C2958-7B0E-401D-BF95-876E7FA2AE15}"/>
              </a:ext>
            </a:extLst>
          </p:cNvPr>
          <p:cNvSpPr txBox="1"/>
          <p:nvPr/>
        </p:nvSpPr>
        <p:spPr>
          <a:xfrm>
            <a:off x="457200" y="1916599"/>
            <a:ext cx="8153400" cy="4524315"/>
          </a:xfrm>
          <a:prstGeom prst="rect">
            <a:avLst/>
          </a:prstGeom>
          <a:solidFill>
            <a:schemeClr val="bg1"/>
          </a:solidFill>
          <a:ln>
            <a:solidFill>
              <a:schemeClr val="tx1"/>
            </a:solidFill>
          </a:ln>
        </p:spPr>
        <p:txBody>
          <a:bodyPr wrap="square">
            <a:spAutoFit/>
          </a:bodyPr>
          <a:lstStyle/>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public class SomeThing&lt;E, F&gt; </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public E item1;</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public F item2;</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public void setThing(E thing1, F thing2)</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item1 = thing1; </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item2 = thing2; </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   }</a:t>
            </a:r>
          </a:p>
          <a:p>
            <a:pPr lvl="1">
              <a:spcBef>
                <a:spcPts val="0"/>
              </a:spcBef>
            </a:pPr>
            <a:r>
              <a:rPr lang="en-US" altLang="en-US" sz="1600" b="1" dirty="0">
                <a:solidFill>
                  <a:schemeClr val="tx2"/>
                </a:solidFill>
                <a:latin typeface="Courier New" panose="02070309020205020404" pitchFamily="49" charset="0"/>
                <a:cs typeface="Courier New" panose="02070309020205020404" pitchFamily="49" charset="0"/>
              </a:rPr>
              <a:t>}</a:t>
            </a:r>
          </a:p>
          <a:p>
            <a:pPr>
              <a:spcBef>
                <a:spcPts val="0"/>
              </a:spcBef>
            </a:pPr>
            <a:r>
              <a:rPr lang="en-US" sz="1600" dirty="0">
                <a:solidFill>
                  <a:schemeClr val="tx2"/>
                </a:solidFill>
                <a:latin typeface="Courier New" panose="02070309020205020404" pitchFamily="49" charset="0"/>
                <a:cs typeface="Courier New" panose="02070309020205020404" pitchFamily="49" charset="0"/>
              </a:rPr>
              <a:t>______________</a:t>
            </a:r>
            <a:r>
              <a:rPr lang="en-US" sz="1600" u="sng" dirty="0">
                <a:solidFill>
                  <a:schemeClr val="tx2"/>
                </a:solidFill>
                <a:latin typeface="Courier New" panose="02070309020205020404" pitchFamily="49" charset="0"/>
                <a:cs typeface="Courier New" panose="02070309020205020404" pitchFamily="49" charset="0"/>
              </a:rPr>
              <a:t>(Back in the main class)___________________________</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public static void main(String[] args) </a:t>
            </a: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SomeThing&lt;String, Integer&gt; gadget = new SomeThing&lt;&gt;();</a:t>
            </a:r>
          </a:p>
          <a:p>
            <a:r>
              <a:rPr lang="en-US" sz="1600" dirty="0">
                <a:latin typeface="Courier New" panose="02070309020205020404" pitchFamily="49" charset="0"/>
                <a:cs typeface="Courier New" panose="02070309020205020404" pitchFamily="49" charset="0"/>
              </a:rPr>
              <a:t>        String name = “Ordinary”;</a:t>
            </a:r>
          </a:p>
          <a:p>
            <a:r>
              <a:rPr lang="en-US" sz="1600" dirty="0">
                <a:latin typeface="Courier New" panose="02070309020205020404" pitchFamily="49" charset="0"/>
                <a:cs typeface="Courier New" panose="02070309020205020404" pitchFamily="49" charset="0"/>
              </a:rPr>
              <a:t>        Integer num = 1029;</a:t>
            </a:r>
          </a:p>
          <a:p>
            <a:r>
              <a:rPr lang="en-US" sz="1600" dirty="0">
                <a:latin typeface="Courier New" panose="02070309020205020404" pitchFamily="49" charset="0"/>
                <a:cs typeface="Courier New" panose="02070309020205020404" pitchFamily="49" charset="0"/>
              </a:rPr>
              <a:t>        gadget.setThing(name, num);</a:t>
            </a:r>
          </a:p>
          <a:p>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80292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02EC4C91-B9FC-4BA6-AF6A-24977089EC04}"/>
              </a:ext>
            </a:extLst>
          </p:cNvPr>
          <p:cNvSpPr>
            <a:spLocks noGrp="1" noChangeArrowheads="1"/>
          </p:cNvSpPr>
          <p:nvPr>
            <p:ph type="title"/>
          </p:nvPr>
        </p:nvSpPr>
        <p:spPr>
          <a:xfrm>
            <a:off x="685800" y="228600"/>
            <a:ext cx="7772400" cy="685800"/>
          </a:xfrm>
        </p:spPr>
        <p:txBody>
          <a:bodyPr/>
          <a:lstStyle/>
          <a:p>
            <a:r>
              <a:rPr lang="en-US" altLang="en-US" sz="4000"/>
              <a:t>Generic Static Methods</a:t>
            </a:r>
          </a:p>
        </p:txBody>
      </p:sp>
      <p:sp>
        <p:nvSpPr>
          <p:cNvPr id="23554" name="Slide Number Placeholder 4">
            <a:extLst>
              <a:ext uri="{FF2B5EF4-FFF2-40B4-BE49-F238E27FC236}">
                <a16:creationId xmlns:a16="http://schemas.microsoft.com/office/drawing/2014/main" id="{59E09B60-B35D-4D83-A9A8-362AD4D9ADF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4E9107-9FC6-43F9-8324-ABF64D586E99}" type="slidenum">
              <a:rPr lang="en-US" altLang="en-US" sz="1400"/>
              <a:pPr>
                <a:spcBef>
                  <a:spcPct val="0"/>
                </a:spcBef>
                <a:buClrTx/>
                <a:buSzTx/>
                <a:buFontTx/>
                <a:buNone/>
              </a:pPr>
              <a:t>16</a:t>
            </a:fld>
            <a:endParaRPr lang="en-US" altLang="en-US" sz="1400"/>
          </a:p>
        </p:txBody>
      </p:sp>
      <p:sp>
        <p:nvSpPr>
          <p:cNvPr id="23556" name="Rectangle 4">
            <a:extLst>
              <a:ext uri="{FF2B5EF4-FFF2-40B4-BE49-F238E27FC236}">
                <a16:creationId xmlns:a16="http://schemas.microsoft.com/office/drawing/2014/main" id="{F1A1018A-43DB-471A-BD5C-403667BFFC36}"/>
              </a:ext>
            </a:extLst>
          </p:cNvPr>
          <p:cNvSpPr>
            <a:spLocks noChangeArrowheads="1"/>
          </p:cNvSpPr>
          <p:nvPr/>
        </p:nvSpPr>
        <p:spPr bwMode="auto">
          <a:xfrm>
            <a:off x="381000" y="1066800"/>
            <a:ext cx="8763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public static &lt;E&gt; void </a:t>
            </a:r>
            <a:r>
              <a:rPr lang="en-US" altLang="en-US" sz="2400" dirty="0" err="1">
                <a:solidFill>
                  <a:schemeClr val="tx2"/>
                </a:solidFill>
                <a:latin typeface="Courier New" panose="02070309020205020404" pitchFamily="49" charset="0"/>
                <a:cs typeface="Courier New" panose="02070309020205020404" pitchFamily="49" charset="0"/>
              </a:rPr>
              <a:t>printList</a:t>
            </a:r>
            <a:r>
              <a:rPr lang="en-US" altLang="en-US" sz="2400" dirty="0">
                <a:solidFill>
                  <a:schemeClr val="tx2"/>
                </a:solidFill>
                <a:latin typeface="Courier New" panose="02070309020205020404" pitchFamily="49" charset="0"/>
                <a:cs typeface="Courier New" panose="02070309020205020404" pitchFamily="49" charset="0"/>
              </a:rPr>
              <a:t>(E[] list) </a:t>
            </a:r>
          </a:p>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a:t>
            </a:r>
          </a:p>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for (int i = 0; i &lt; list.length; i++) </a:t>
            </a:r>
          </a:p>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System.out.print(list[i] + " ");</a:t>
            </a:r>
          </a:p>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System.out.println();</a:t>
            </a:r>
          </a:p>
          <a:p>
            <a:pPr>
              <a:buFont typeface="Monotype Sorts"/>
              <a:buNone/>
            </a:pPr>
            <a:r>
              <a:rPr lang="en-US" altLang="en-US" sz="2400" dirty="0">
                <a:solidFill>
                  <a:schemeClr val="tx2"/>
                </a:solidFill>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6A89D020-4DDE-4F84-B47D-DA11AF1EA2D3}"/>
              </a:ext>
            </a:extLst>
          </p:cNvPr>
          <p:cNvSpPr txBox="1"/>
          <p:nvPr/>
        </p:nvSpPr>
        <p:spPr>
          <a:xfrm>
            <a:off x="457200" y="3831504"/>
            <a:ext cx="8610600" cy="2616101"/>
          </a:xfrm>
          <a:prstGeom prst="rect">
            <a:avLst/>
          </a:prstGeom>
          <a:solidFill>
            <a:schemeClr val="bg1"/>
          </a:solidFill>
          <a:ln>
            <a:solidFill>
              <a:schemeClr val="accent4"/>
            </a:solidFill>
          </a:ln>
        </p:spPr>
        <p:txBody>
          <a:bodyPr wrap="square" rtlCol="0">
            <a:spAutoFit/>
          </a:bodyPr>
          <a:lstStyle/>
          <a:p>
            <a:r>
              <a:rPr lang="en-US" u="sng" dirty="0"/>
              <a:t>In main method</a:t>
            </a:r>
          </a:p>
          <a:p>
            <a:pPr algn="l"/>
            <a:r>
              <a:rPr lang="en-US" sz="2000" dirty="0">
                <a:solidFill>
                  <a:schemeClr val="tx2"/>
                </a:solidFill>
                <a:latin typeface="Courier New" panose="02070309020205020404" pitchFamily="49" charset="0"/>
                <a:cs typeface="Courier New" panose="02070309020205020404" pitchFamily="49" charset="0"/>
              </a:rPr>
              <a:t>public static void main(String[] args) </a:t>
            </a:r>
          </a:p>
          <a:p>
            <a:pPr algn="l"/>
            <a:r>
              <a:rPr lang="en-US" sz="2000" dirty="0">
                <a:solidFill>
                  <a:schemeClr val="tx2"/>
                </a:solidFill>
                <a:latin typeface="Courier New" panose="02070309020205020404" pitchFamily="49" charset="0"/>
                <a:cs typeface="Courier New" panose="02070309020205020404" pitchFamily="49" charset="0"/>
              </a:rPr>
              <a:t>{</a:t>
            </a:r>
          </a:p>
          <a:p>
            <a:pPr algn="l"/>
            <a:r>
              <a:rPr lang="en-US" sz="2000" dirty="0">
                <a:solidFill>
                  <a:schemeClr val="tx2"/>
                </a:solidFill>
                <a:latin typeface="Courier New" panose="02070309020205020404" pitchFamily="49" charset="0"/>
                <a:cs typeface="Courier New" panose="02070309020205020404" pitchFamily="49" charset="0"/>
              </a:rPr>
              <a:t>  String [] colors = {“red”, “blue”, “green”, “pink”};</a:t>
            </a:r>
          </a:p>
          <a:p>
            <a:pPr algn="l"/>
            <a:r>
              <a:rPr lang="en-US" sz="2000" dirty="0">
                <a:solidFill>
                  <a:schemeClr val="tx2"/>
                </a:solidFill>
                <a:latin typeface="Courier New" panose="02070309020205020404" pitchFamily="49" charset="0"/>
                <a:cs typeface="Courier New" panose="02070309020205020404" pitchFamily="49" charset="0"/>
              </a:rPr>
              <a:t>  Integer [] </a:t>
            </a:r>
            <a:r>
              <a:rPr lang="en-US" sz="2000" dirty="0" err="1">
                <a:solidFill>
                  <a:schemeClr val="tx2"/>
                </a:solidFill>
                <a:latin typeface="Courier New" panose="02070309020205020404" pitchFamily="49" charset="0"/>
                <a:cs typeface="Courier New" panose="02070309020205020404" pitchFamily="49" charset="0"/>
              </a:rPr>
              <a:t>nums</a:t>
            </a:r>
            <a:r>
              <a:rPr lang="en-US" sz="2000" dirty="0">
                <a:solidFill>
                  <a:schemeClr val="tx2"/>
                </a:solidFill>
                <a:latin typeface="Courier New" panose="02070309020205020404" pitchFamily="49" charset="0"/>
                <a:cs typeface="Courier New" panose="02070309020205020404" pitchFamily="49" charset="0"/>
              </a:rPr>
              <a:t> = {25,168, 21, 57, 92, 100};</a:t>
            </a:r>
          </a:p>
          <a:p>
            <a:pPr algn="l"/>
            <a:r>
              <a:rPr lang="en-US" sz="2000" dirty="0">
                <a:solidFill>
                  <a:schemeClr val="tx2"/>
                </a:solidFill>
                <a:latin typeface="Courier New" panose="02070309020205020404" pitchFamily="49" charset="0"/>
                <a:cs typeface="Courier New" panose="02070309020205020404" pitchFamily="49" charset="0"/>
              </a:rPr>
              <a:t>  </a:t>
            </a:r>
            <a:r>
              <a:rPr lang="en-US" sz="2000" dirty="0" err="1">
                <a:solidFill>
                  <a:schemeClr val="tx2"/>
                </a:solidFill>
                <a:latin typeface="Courier New" panose="02070309020205020404" pitchFamily="49" charset="0"/>
                <a:cs typeface="Courier New" panose="02070309020205020404" pitchFamily="49" charset="0"/>
              </a:rPr>
              <a:t>printList</a:t>
            </a:r>
            <a:r>
              <a:rPr lang="en-US" sz="2000" dirty="0">
                <a:solidFill>
                  <a:schemeClr val="tx2"/>
                </a:solidFill>
                <a:latin typeface="Courier New" panose="02070309020205020404" pitchFamily="49" charset="0"/>
                <a:cs typeface="Courier New" panose="02070309020205020404" pitchFamily="49" charset="0"/>
              </a:rPr>
              <a:t>(colors);</a:t>
            </a:r>
          </a:p>
          <a:p>
            <a:pPr algn="l"/>
            <a:r>
              <a:rPr lang="en-US" sz="2000" dirty="0">
                <a:solidFill>
                  <a:schemeClr val="tx2"/>
                </a:solidFill>
                <a:latin typeface="Courier New" panose="02070309020205020404" pitchFamily="49" charset="0"/>
                <a:cs typeface="Courier New" panose="02070309020205020404" pitchFamily="49" charset="0"/>
              </a:rPr>
              <a:t>  </a:t>
            </a:r>
            <a:r>
              <a:rPr lang="en-US" sz="2000" dirty="0" err="1">
                <a:solidFill>
                  <a:schemeClr val="tx2"/>
                </a:solidFill>
                <a:latin typeface="Courier New" panose="02070309020205020404" pitchFamily="49" charset="0"/>
                <a:cs typeface="Courier New" panose="02070309020205020404" pitchFamily="49" charset="0"/>
              </a:rPr>
              <a:t>printList</a:t>
            </a:r>
            <a:r>
              <a:rPr lang="en-US" sz="2000" dirty="0">
                <a:solidFill>
                  <a:schemeClr val="tx2"/>
                </a:solidFill>
                <a:latin typeface="Courier New" panose="02070309020205020404" pitchFamily="49" charset="0"/>
                <a:cs typeface="Courier New" panose="02070309020205020404" pitchFamily="49" charset="0"/>
              </a:rPr>
              <a:t>(</a:t>
            </a:r>
            <a:r>
              <a:rPr lang="en-US" sz="2000" dirty="0" err="1">
                <a:solidFill>
                  <a:schemeClr val="tx2"/>
                </a:solidFill>
                <a:latin typeface="Courier New" panose="02070309020205020404" pitchFamily="49" charset="0"/>
                <a:cs typeface="Courier New" panose="02070309020205020404" pitchFamily="49" charset="0"/>
              </a:rPr>
              <a:t>nums</a:t>
            </a:r>
            <a:r>
              <a:rPr lang="en-US" sz="2000" dirty="0">
                <a:solidFill>
                  <a:schemeClr val="tx2"/>
                </a:solidFill>
                <a:latin typeface="Courier New" panose="02070309020205020404" pitchFamily="49" charset="0"/>
                <a:cs typeface="Courier New" panose="02070309020205020404" pitchFamily="49" charset="0"/>
              </a:rPr>
              <a:t>);</a:t>
            </a:r>
          </a:p>
          <a:p>
            <a:pPr algn="l"/>
            <a:r>
              <a:rPr lang="en-US" sz="2000" dirty="0">
                <a:solidFill>
                  <a:schemeClr val="tx2"/>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6592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02EC4C91-B9FC-4BA6-AF6A-24977089EC04}"/>
              </a:ext>
            </a:extLst>
          </p:cNvPr>
          <p:cNvSpPr>
            <a:spLocks noGrp="1" noChangeArrowheads="1"/>
          </p:cNvSpPr>
          <p:nvPr>
            <p:ph type="title"/>
          </p:nvPr>
        </p:nvSpPr>
        <p:spPr>
          <a:xfrm>
            <a:off x="685800" y="228600"/>
            <a:ext cx="7772400" cy="685800"/>
          </a:xfrm>
        </p:spPr>
        <p:txBody>
          <a:bodyPr/>
          <a:lstStyle/>
          <a:p>
            <a:r>
              <a:rPr lang="en-US" altLang="en-US" sz="4000" dirty="0"/>
              <a:t>Generic Interfaces</a:t>
            </a:r>
          </a:p>
        </p:txBody>
      </p:sp>
      <p:sp>
        <p:nvSpPr>
          <p:cNvPr id="23554" name="Slide Number Placeholder 4">
            <a:extLst>
              <a:ext uri="{FF2B5EF4-FFF2-40B4-BE49-F238E27FC236}">
                <a16:creationId xmlns:a16="http://schemas.microsoft.com/office/drawing/2014/main" id="{59E09B60-B35D-4D83-A9A8-362AD4D9ADF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4E9107-9FC6-43F9-8324-ABF64D586E99}" type="slidenum">
              <a:rPr lang="en-US" altLang="en-US" sz="1400"/>
              <a:pPr>
                <a:spcBef>
                  <a:spcPct val="0"/>
                </a:spcBef>
                <a:buClrTx/>
                <a:buSzTx/>
                <a:buFontTx/>
                <a:buNone/>
              </a:pPr>
              <a:t>17</a:t>
            </a:fld>
            <a:endParaRPr lang="en-US" altLang="en-US" sz="1400"/>
          </a:p>
        </p:txBody>
      </p:sp>
      <p:sp>
        <p:nvSpPr>
          <p:cNvPr id="23556" name="Rectangle 4">
            <a:extLst>
              <a:ext uri="{FF2B5EF4-FFF2-40B4-BE49-F238E27FC236}">
                <a16:creationId xmlns:a16="http://schemas.microsoft.com/office/drawing/2014/main" id="{F1A1018A-43DB-471A-BD5C-403667BFFC36}"/>
              </a:ext>
            </a:extLst>
          </p:cNvPr>
          <p:cNvSpPr>
            <a:spLocks noChangeArrowheads="1"/>
          </p:cNvSpPr>
          <p:nvPr/>
        </p:nvSpPr>
        <p:spPr bwMode="auto">
          <a:xfrm>
            <a:off x="76200" y="1066800"/>
            <a:ext cx="9067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r>
              <a:rPr lang="fr-FR" altLang="en-US" sz="2000" dirty="0">
                <a:solidFill>
                  <a:schemeClr val="tx2"/>
                </a:solidFill>
                <a:latin typeface="Courier New" panose="02070309020205020404" pitchFamily="49" charset="0"/>
                <a:cs typeface="Courier New" panose="02070309020205020404" pitchFamily="49" charset="0"/>
              </a:rPr>
              <a:t>public interface </a:t>
            </a:r>
            <a:r>
              <a:rPr lang="fr-FR" altLang="en-US" sz="2000" dirty="0" err="1">
                <a:solidFill>
                  <a:schemeClr val="tx2"/>
                </a:solidFill>
                <a:latin typeface="Courier New" panose="02070309020205020404" pitchFamily="49" charset="0"/>
                <a:cs typeface="Courier New" panose="02070309020205020404" pitchFamily="49" charset="0"/>
              </a:rPr>
              <a:t>Gen</a:t>
            </a:r>
            <a:r>
              <a:rPr lang="fr-FR" altLang="en-US" sz="2000" dirty="0">
                <a:solidFill>
                  <a:schemeClr val="tx2"/>
                </a:solidFill>
                <a:latin typeface="Courier New" panose="02070309020205020404" pitchFamily="49" charset="0"/>
                <a:cs typeface="Courier New" panose="02070309020205020404" pitchFamily="49" charset="0"/>
              </a:rPr>
              <a:t> &lt;E&gt; </a:t>
            </a:r>
          </a:p>
          <a:p>
            <a:pPr>
              <a:spcBef>
                <a:spcPts val="0"/>
              </a:spcBef>
              <a:buFont typeface="Monotype Sorts"/>
              <a:buNone/>
            </a:pPr>
            <a:r>
              <a:rPr lang="fr-FR"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r>
              <a:rPr lang="fr-FR" altLang="en-US" sz="2000" dirty="0">
                <a:solidFill>
                  <a:schemeClr val="tx2"/>
                </a:solidFill>
                <a:latin typeface="Courier New" panose="02070309020205020404" pitchFamily="49" charset="0"/>
                <a:cs typeface="Courier New" panose="02070309020205020404" pitchFamily="49" charset="0"/>
              </a:rPr>
              <a:t>     public </a:t>
            </a:r>
            <a:r>
              <a:rPr lang="fr-FR" altLang="en-US" sz="2000" dirty="0" err="1">
                <a:solidFill>
                  <a:schemeClr val="tx2"/>
                </a:solidFill>
                <a:latin typeface="Courier New" panose="02070309020205020404" pitchFamily="49" charset="0"/>
                <a:cs typeface="Courier New" panose="02070309020205020404" pitchFamily="49" charset="0"/>
              </a:rPr>
              <a:t>void</a:t>
            </a:r>
            <a:r>
              <a:rPr lang="fr-FR" altLang="en-US" sz="2000" dirty="0">
                <a:solidFill>
                  <a:schemeClr val="tx2"/>
                </a:solidFill>
                <a:latin typeface="Courier New" panose="02070309020205020404" pitchFamily="49" charset="0"/>
                <a:cs typeface="Courier New" panose="02070309020205020404" pitchFamily="49" charset="0"/>
              </a:rPr>
              <a:t> </a:t>
            </a:r>
            <a:r>
              <a:rPr lang="fr-FR" altLang="en-US" sz="2000" dirty="0" err="1">
                <a:solidFill>
                  <a:schemeClr val="tx2"/>
                </a:solidFill>
                <a:latin typeface="Courier New" panose="02070309020205020404" pitchFamily="49" charset="0"/>
                <a:cs typeface="Courier New" panose="02070309020205020404" pitchFamily="49" charset="0"/>
              </a:rPr>
              <a:t>add</a:t>
            </a:r>
            <a:r>
              <a:rPr lang="fr-FR" altLang="en-US" sz="2000" dirty="0">
                <a:solidFill>
                  <a:schemeClr val="tx2"/>
                </a:solidFill>
                <a:latin typeface="Courier New" panose="02070309020205020404" pitchFamily="49" charset="0"/>
                <a:cs typeface="Courier New" panose="02070309020205020404" pitchFamily="49" charset="0"/>
              </a:rPr>
              <a:t>(E </a:t>
            </a:r>
            <a:r>
              <a:rPr lang="fr-FR" altLang="en-US" sz="2000" dirty="0" err="1">
                <a:solidFill>
                  <a:schemeClr val="tx2"/>
                </a:solidFill>
                <a:latin typeface="Courier New" panose="02070309020205020404" pitchFamily="49" charset="0"/>
                <a:cs typeface="Courier New" panose="02070309020205020404" pitchFamily="49" charset="0"/>
              </a:rPr>
              <a:t>e</a:t>
            </a:r>
            <a:r>
              <a:rPr lang="fr-FR"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r>
              <a:rPr lang="fr-FR"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endParaRPr lang="fr-FR" altLang="en-US" sz="2000" dirty="0">
              <a:solidFill>
                <a:schemeClr val="tx2"/>
              </a:solidFill>
              <a:latin typeface="Courier New" panose="02070309020205020404" pitchFamily="49" charset="0"/>
              <a:cs typeface="Courier New" panose="02070309020205020404" pitchFamily="49" charset="0"/>
            </a:endParaRPr>
          </a:p>
          <a:p>
            <a:pPr>
              <a:spcBef>
                <a:spcPts val="0"/>
              </a:spcBef>
              <a:buFont typeface="Monotype Sorts"/>
              <a:buNone/>
            </a:pPr>
            <a:endParaRPr lang="fr-FR" altLang="en-US" sz="2000" dirty="0">
              <a:solidFill>
                <a:schemeClr val="tx2"/>
              </a:solidFill>
              <a:latin typeface="Courier New" panose="02070309020205020404" pitchFamily="49" charset="0"/>
              <a:cs typeface="Courier New" panose="02070309020205020404" pitchFamily="49" charset="0"/>
            </a:endParaRP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public class </a:t>
            </a:r>
            <a:r>
              <a:rPr lang="en-US" altLang="en-US" sz="2000" dirty="0" err="1">
                <a:solidFill>
                  <a:schemeClr val="tx2"/>
                </a:solidFill>
                <a:latin typeface="Courier New" panose="02070309020205020404" pitchFamily="49" charset="0"/>
                <a:cs typeface="Courier New" panose="02070309020205020404" pitchFamily="49" charset="0"/>
              </a:rPr>
              <a:t>GenClass</a:t>
            </a:r>
            <a:r>
              <a:rPr lang="en-US" altLang="en-US" sz="2000" dirty="0">
                <a:solidFill>
                  <a:schemeClr val="tx2"/>
                </a:solidFill>
                <a:latin typeface="Courier New" panose="02070309020205020404" pitchFamily="49" charset="0"/>
                <a:cs typeface="Courier New" panose="02070309020205020404" pitchFamily="49" charset="0"/>
              </a:rPr>
              <a:t> &lt;E&gt; implements </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r>
              <a:rPr lang="en-US" altLang="en-US" sz="2000" dirty="0" err="1">
                <a:solidFill>
                  <a:schemeClr val="tx2"/>
                </a:solidFill>
                <a:latin typeface="Courier New" panose="02070309020205020404" pitchFamily="49" charset="0"/>
                <a:cs typeface="Courier New" panose="02070309020205020404" pitchFamily="49" charset="0"/>
              </a:rPr>
              <a:t>GenInterface</a:t>
            </a:r>
            <a:r>
              <a:rPr lang="en-US" altLang="en-US" sz="2000" dirty="0">
                <a:solidFill>
                  <a:schemeClr val="tx2"/>
                </a:solidFill>
                <a:latin typeface="Courier New" panose="02070309020205020404" pitchFamily="49" charset="0"/>
                <a:cs typeface="Courier New" panose="02070309020205020404" pitchFamily="49" charset="0"/>
              </a:rPr>
              <a:t> &lt;E&gt;</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public E </a:t>
            </a:r>
            <a:r>
              <a:rPr lang="en-US" altLang="en-US" sz="2000" dirty="0" err="1">
                <a:solidFill>
                  <a:schemeClr val="tx2"/>
                </a:solidFill>
                <a:latin typeface="Courier New" panose="02070309020205020404" pitchFamily="49" charset="0"/>
                <a:cs typeface="Courier New" panose="02070309020205020404" pitchFamily="49" charset="0"/>
              </a:rPr>
              <a:t>myList</a:t>
            </a:r>
            <a:r>
              <a:rPr lang="en-US" altLang="en-US" sz="2000" dirty="0">
                <a:solidFill>
                  <a:schemeClr val="tx2"/>
                </a:solidFill>
                <a:latin typeface="Courier New" panose="02070309020205020404" pitchFamily="49" charset="0"/>
                <a:cs typeface="Courier New" panose="02070309020205020404" pitchFamily="49" charset="0"/>
              </a:rPr>
              <a:t>;</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public void add(E e)</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r>
              <a:rPr lang="en-US" altLang="en-US" sz="2000" dirty="0" err="1">
                <a:solidFill>
                  <a:schemeClr val="tx2"/>
                </a:solidFill>
                <a:latin typeface="Courier New" panose="02070309020205020404" pitchFamily="49" charset="0"/>
                <a:cs typeface="Courier New" panose="02070309020205020404" pitchFamily="49" charset="0"/>
              </a:rPr>
              <a:t>myList</a:t>
            </a:r>
            <a:r>
              <a:rPr lang="en-US" altLang="en-US" sz="2000" dirty="0">
                <a:solidFill>
                  <a:schemeClr val="tx2"/>
                </a:solidFill>
                <a:latin typeface="Courier New" panose="02070309020205020404" pitchFamily="49" charset="0"/>
                <a:cs typeface="Courier New" panose="02070309020205020404" pitchFamily="49" charset="0"/>
              </a:rPr>
              <a:t> = e;</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p>
          <a:p>
            <a:pPr>
              <a:spcBef>
                <a:spcPts val="0"/>
              </a:spcBef>
              <a:buFont typeface="Monotype Sorts"/>
              <a:buNone/>
            </a:pPr>
            <a:r>
              <a:rPr lang="en-US" altLang="en-US" sz="2000" dirty="0">
                <a:solidFill>
                  <a:schemeClr val="tx2"/>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349012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1CC7357-9597-4BE2-8FD9-6A04A34B95D4}"/>
              </a:ext>
            </a:extLst>
          </p:cNvPr>
          <p:cNvSpPr>
            <a:spLocks noGrp="1" noChangeArrowheads="1"/>
          </p:cNvSpPr>
          <p:nvPr>
            <p:ph type="title"/>
          </p:nvPr>
        </p:nvSpPr>
        <p:spPr>
          <a:xfrm>
            <a:off x="685800" y="228600"/>
            <a:ext cx="7772400" cy="685800"/>
          </a:xfrm>
        </p:spPr>
        <p:txBody>
          <a:bodyPr/>
          <a:lstStyle/>
          <a:p>
            <a:r>
              <a:rPr lang="en-US" altLang="en-US" sz="4000"/>
              <a:t>Bounded Generic Type</a:t>
            </a:r>
          </a:p>
        </p:txBody>
      </p:sp>
      <p:sp>
        <p:nvSpPr>
          <p:cNvPr id="25602" name="Slide Number Placeholder 4">
            <a:extLst>
              <a:ext uri="{FF2B5EF4-FFF2-40B4-BE49-F238E27FC236}">
                <a16:creationId xmlns:a16="http://schemas.microsoft.com/office/drawing/2014/main" id="{B72580AE-8396-4A62-B7FC-0B3421EC0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378CEC6-A80A-4243-95C1-482924D40A65}" type="slidenum">
              <a:rPr lang="en-US" altLang="en-US" sz="1400"/>
              <a:pPr>
                <a:spcBef>
                  <a:spcPct val="0"/>
                </a:spcBef>
                <a:buClrTx/>
                <a:buSzTx/>
                <a:buFontTx/>
                <a:buNone/>
              </a:pPr>
              <a:t>18</a:t>
            </a:fld>
            <a:endParaRPr lang="en-US" altLang="en-US" sz="1400"/>
          </a:p>
        </p:txBody>
      </p:sp>
      <p:sp>
        <p:nvSpPr>
          <p:cNvPr id="25604" name="Rectangle 4">
            <a:extLst>
              <a:ext uri="{FF2B5EF4-FFF2-40B4-BE49-F238E27FC236}">
                <a16:creationId xmlns:a16="http://schemas.microsoft.com/office/drawing/2014/main" id="{9082D964-E587-4B31-8BA8-8507EFC736CD}"/>
              </a:ext>
            </a:extLst>
          </p:cNvPr>
          <p:cNvSpPr>
            <a:spLocks noChangeArrowheads="1"/>
          </p:cNvSpPr>
          <p:nvPr/>
        </p:nvSpPr>
        <p:spPr bwMode="auto">
          <a:xfrm>
            <a:off x="228600" y="1143000"/>
            <a:ext cx="868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marL="342900" indent="-342900">
              <a:spcBef>
                <a:spcPts val="0"/>
              </a:spcBef>
              <a:spcAft>
                <a:spcPts val="1200"/>
              </a:spcAft>
              <a:buFont typeface="Wingdings" panose="05000000000000000000" pitchFamily="2" charset="2"/>
              <a:buChar char="§"/>
            </a:pPr>
            <a:r>
              <a:rPr lang="en-US" altLang="en-US" sz="2400" dirty="0">
                <a:solidFill>
                  <a:schemeClr val="tx2"/>
                </a:solidFill>
                <a:latin typeface="+mj-lt"/>
                <a:cs typeface="Courier New" panose="02070309020205020404" pitchFamily="49" charset="0"/>
              </a:rPr>
              <a:t>A generic type can be specified as a subtype of another type. </a:t>
            </a:r>
          </a:p>
          <a:p>
            <a:pPr marL="342900" indent="-342900">
              <a:spcBef>
                <a:spcPts val="0"/>
              </a:spcBef>
              <a:spcAft>
                <a:spcPts val="1200"/>
              </a:spcAft>
              <a:buFont typeface="Wingdings" panose="05000000000000000000" pitchFamily="2" charset="2"/>
              <a:buChar char="§"/>
            </a:pPr>
            <a:r>
              <a:rPr lang="en-US" altLang="en-US" sz="2400" dirty="0">
                <a:solidFill>
                  <a:schemeClr val="tx2"/>
                </a:solidFill>
                <a:latin typeface="+mj-lt"/>
                <a:cs typeface="Courier New" panose="02070309020205020404" pitchFamily="49" charset="0"/>
              </a:rPr>
              <a:t>This is known as a </a:t>
            </a:r>
            <a:r>
              <a:rPr lang="en-US" altLang="en-US" sz="2400" b="1" dirty="0">
                <a:solidFill>
                  <a:schemeClr val="tx2"/>
                </a:solidFill>
                <a:latin typeface="+mj-lt"/>
                <a:cs typeface="Courier New" panose="02070309020205020404" pitchFamily="49" charset="0"/>
              </a:rPr>
              <a:t>bounded generic type</a:t>
            </a:r>
            <a:endParaRPr lang="en-US" altLang="en-US" sz="2400" dirty="0">
              <a:solidFill>
                <a:schemeClr val="tx2"/>
              </a:solidFill>
              <a:latin typeface="+mj-lt"/>
              <a:cs typeface="Courier New" panose="02070309020205020404" pitchFamily="49" charset="0"/>
            </a:endParaRPr>
          </a:p>
          <a:p>
            <a:pPr marL="342900" indent="-342900">
              <a:spcBef>
                <a:spcPts val="0"/>
              </a:spcBef>
              <a:spcAft>
                <a:spcPts val="1200"/>
              </a:spcAft>
              <a:buFont typeface="Wingdings" panose="05000000000000000000" pitchFamily="2" charset="2"/>
              <a:buChar char="§"/>
            </a:pPr>
            <a:r>
              <a:rPr lang="en-US" altLang="en-US" sz="2400" dirty="0">
                <a:solidFill>
                  <a:schemeClr val="tx2"/>
                </a:solidFill>
                <a:latin typeface="+mj-lt"/>
                <a:cs typeface="Courier New" panose="02070309020205020404" pitchFamily="49" charset="0"/>
              </a:rPr>
              <a:t>Example: A method designed to work with numbers would only want to work with numeric types like Integer, Double, etc.</a:t>
            </a:r>
          </a:p>
          <a:p>
            <a:pPr marL="342900" indent="-342900">
              <a:spcBef>
                <a:spcPts val="0"/>
              </a:spcBef>
              <a:spcAft>
                <a:spcPts val="1200"/>
              </a:spcAft>
              <a:buFont typeface="Wingdings" panose="05000000000000000000" pitchFamily="2" charset="2"/>
              <a:buChar char="§"/>
            </a:pPr>
            <a:endParaRPr lang="en-US" altLang="en-US" sz="2400" dirty="0">
              <a:solidFill>
                <a:schemeClr val="tx2"/>
              </a:solidFill>
              <a:latin typeface="+mj-lt"/>
              <a:cs typeface="Courier New" panose="02070309020205020404" pitchFamily="49" charset="0"/>
            </a:endParaRPr>
          </a:p>
          <a:p>
            <a:pPr marL="342900" indent="-342900">
              <a:spcBef>
                <a:spcPts val="0"/>
              </a:spcBef>
              <a:spcAft>
                <a:spcPts val="1200"/>
              </a:spcAft>
              <a:buFont typeface="Wingdings" panose="05000000000000000000" pitchFamily="2" charset="2"/>
              <a:buChar char="§"/>
            </a:pPr>
            <a:endParaRPr lang="en-US" altLang="en-US" sz="2200" dirty="0">
              <a:solidFill>
                <a:schemeClr val="tx2"/>
              </a:solidFill>
              <a:latin typeface="+mj-lt"/>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1CC7357-9597-4BE2-8FD9-6A04A34B95D4}"/>
              </a:ext>
            </a:extLst>
          </p:cNvPr>
          <p:cNvSpPr>
            <a:spLocks noGrp="1" noChangeArrowheads="1"/>
          </p:cNvSpPr>
          <p:nvPr>
            <p:ph type="title"/>
          </p:nvPr>
        </p:nvSpPr>
        <p:spPr>
          <a:xfrm>
            <a:off x="685800" y="228600"/>
            <a:ext cx="7772400" cy="685800"/>
          </a:xfrm>
        </p:spPr>
        <p:txBody>
          <a:bodyPr/>
          <a:lstStyle/>
          <a:p>
            <a:r>
              <a:rPr lang="en-US" altLang="en-US" sz="4000"/>
              <a:t>Bounded Generic Type</a:t>
            </a:r>
          </a:p>
        </p:txBody>
      </p:sp>
      <p:sp>
        <p:nvSpPr>
          <p:cNvPr id="25602" name="Slide Number Placeholder 4">
            <a:extLst>
              <a:ext uri="{FF2B5EF4-FFF2-40B4-BE49-F238E27FC236}">
                <a16:creationId xmlns:a16="http://schemas.microsoft.com/office/drawing/2014/main" id="{B72580AE-8396-4A62-B7FC-0B3421EC0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378CEC6-A80A-4243-95C1-482924D40A65}" type="slidenum">
              <a:rPr lang="en-US" altLang="en-US" sz="1400"/>
              <a:pPr>
                <a:spcBef>
                  <a:spcPct val="0"/>
                </a:spcBef>
                <a:buClrTx/>
                <a:buSzTx/>
                <a:buFontTx/>
                <a:buNone/>
              </a:pPr>
              <a:t>19</a:t>
            </a:fld>
            <a:endParaRPr lang="en-US" altLang="en-US" sz="1400"/>
          </a:p>
        </p:txBody>
      </p:sp>
      <p:sp>
        <p:nvSpPr>
          <p:cNvPr id="25604" name="Rectangle 4">
            <a:extLst>
              <a:ext uri="{FF2B5EF4-FFF2-40B4-BE49-F238E27FC236}">
                <a16:creationId xmlns:a16="http://schemas.microsoft.com/office/drawing/2014/main" id="{9082D964-E587-4B31-8BA8-8507EFC736CD}"/>
              </a:ext>
            </a:extLst>
          </p:cNvPr>
          <p:cNvSpPr>
            <a:spLocks noChangeArrowheads="1"/>
          </p:cNvSpPr>
          <p:nvPr/>
        </p:nvSpPr>
        <p:spPr bwMode="auto">
          <a:xfrm>
            <a:off x="228600" y="1143000"/>
            <a:ext cx="868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public static void main(String[] args ) {</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Rectangle </a:t>
            </a:r>
            <a:r>
              <a:rPr lang="en-US" altLang="en-US" sz="2200" dirty="0" err="1">
                <a:solidFill>
                  <a:schemeClr val="tx2"/>
                </a:solidFill>
                <a:latin typeface="Courier New" panose="02070309020205020404" pitchFamily="49" charset="0"/>
                <a:cs typeface="Courier New" panose="02070309020205020404" pitchFamily="49" charset="0"/>
              </a:rPr>
              <a:t>rectangle</a:t>
            </a:r>
            <a:r>
              <a:rPr lang="en-US" altLang="en-US" sz="2200" dirty="0">
                <a:solidFill>
                  <a:schemeClr val="tx2"/>
                </a:solidFill>
                <a:latin typeface="Courier New" panose="02070309020205020404" pitchFamily="49" charset="0"/>
                <a:cs typeface="Courier New" panose="02070309020205020404" pitchFamily="49" charset="0"/>
              </a:rPr>
              <a:t> = new Rectangle(2, 2);</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Circle </a:t>
            </a:r>
            <a:r>
              <a:rPr lang="en-US" altLang="en-US" sz="2200" dirty="0" err="1">
                <a:solidFill>
                  <a:schemeClr val="tx2"/>
                </a:solidFill>
                <a:latin typeface="Courier New" panose="02070309020205020404" pitchFamily="49" charset="0"/>
                <a:cs typeface="Courier New" panose="02070309020205020404" pitchFamily="49" charset="0"/>
              </a:rPr>
              <a:t>circle</a:t>
            </a:r>
            <a:r>
              <a:rPr lang="en-US" altLang="en-US" sz="2200" dirty="0">
                <a:solidFill>
                  <a:schemeClr val="tx2"/>
                </a:solidFill>
                <a:latin typeface="Courier New" panose="02070309020205020404" pitchFamily="49" charset="0"/>
                <a:cs typeface="Courier New" panose="02070309020205020404" pitchFamily="49" charset="0"/>
              </a:rPr>
              <a:t> = new Circle (2);</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a:t>
            </a:r>
            <a:r>
              <a:rPr lang="en-US" altLang="en-US" sz="2200" dirty="0" err="1">
                <a:solidFill>
                  <a:schemeClr val="tx2"/>
                </a:solidFill>
                <a:latin typeface="Courier New" panose="02070309020205020404" pitchFamily="49" charset="0"/>
                <a:cs typeface="Courier New" panose="02070309020205020404" pitchFamily="49" charset="0"/>
              </a:rPr>
              <a:t>System.out.println</a:t>
            </a:r>
            <a:r>
              <a:rPr lang="en-US" altLang="en-US" sz="2200" dirty="0">
                <a:solidFill>
                  <a:schemeClr val="tx2"/>
                </a:solidFill>
                <a:latin typeface="Courier New" panose="02070309020205020404" pitchFamily="49" charset="0"/>
                <a:cs typeface="Courier New" panose="02070309020205020404" pitchFamily="49" charset="0"/>
              </a:rPr>
              <a:t>("Same area? " +</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a:t>
            </a:r>
            <a:r>
              <a:rPr lang="en-US" altLang="en-US" sz="2200" dirty="0" err="1">
                <a:solidFill>
                  <a:schemeClr val="tx2"/>
                </a:solidFill>
                <a:latin typeface="Courier New" panose="02070309020205020404" pitchFamily="49" charset="0"/>
                <a:cs typeface="Courier New" panose="02070309020205020404" pitchFamily="49" charset="0"/>
              </a:rPr>
              <a:t>equalArea</a:t>
            </a:r>
            <a:r>
              <a:rPr lang="en-US" altLang="en-US" sz="2200" dirty="0">
                <a:solidFill>
                  <a:schemeClr val="tx2"/>
                </a:solidFill>
                <a:latin typeface="Courier New" panose="02070309020205020404" pitchFamily="49" charset="0"/>
                <a:cs typeface="Courier New" panose="02070309020205020404" pitchFamily="49" charset="0"/>
              </a:rPr>
              <a:t>(rectangle, circle));</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a:t>
            </a:r>
          </a:p>
          <a:p>
            <a:pPr>
              <a:buFont typeface="Monotype Sorts"/>
              <a:buNone/>
            </a:pPr>
            <a:endParaRPr lang="en-US" altLang="en-US" sz="2200" dirty="0">
              <a:solidFill>
                <a:schemeClr val="tx2"/>
              </a:solidFill>
              <a:latin typeface="Courier New" panose="02070309020205020404" pitchFamily="49" charset="0"/>
              <a:cs typeface="Courier New" panose="02070309020205020404" pitchFamily="49" charset="0"/>
            </a:endParaRP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public static &lt;</a:t>
            </a:r>
            <a:r>
              <a:rPr lang="en-US" altLang="en-US" sz="2200" dirty="0">
                <a:solidFill>
                  <a:srgbClr val="FF0000"/>
                </a:solidFill>
                <a:latin typeface="Courier New" panose="02070309020205020404" pitchFamily="49" charset="0"/>
                <a:cs typeface="Courier New" panose="02070309020205020404" pitchFamily="49" charset="0"/>
              </a:rPr>
              <a:t>E extends </a:t>
            </a:r>
            <a:r>
              <a:rPr lang="en-US" altLang="en-US" sz="2200" dirty="0" err="1">
                <a:solidFill>
                  <a:srgbClr val="FF0000"/>
                </a:solidFill>
                <a:latin typeface="Courier New" panose="02070309020205020404" pitchFamily="49" charset="0"/>
                <a:cs typeface="Courier New" panose="02070309020205020404" pitchFamily="49" charset="0"/>
              </a:rPr>
              <a:t>GeometricObject</a:t>
            </a:r>
            <a:r>
              <a:rPr lang="en-US" altLang="en-US" sz="2200" dirty="0">
                <a:solidFill>
                  <a:schemeClr val="tx2"/>
                </a:solidFill>
                <a:latin typeface="Courier New" panose="02070309020205020404" pitchFamily="49" charset="0"/>
                <a:cs typeface="Courier New" panose="02070309020205020404" pitchFamily="49" charset="0"/>
              </a:rPr>
              <a:t>&gt; </a:t>
            </a:r>
            <a:r>
              <a:rPr lang="en-US" altLang="en-US" sz="2200" dirty="0" err="1">
                <a:solidFill>
                  <a:schemeClr val="tx2"/>
                </a:solidFill>
                <a:latin typeface="Courier New" panose="02070309020205020404" pitchFamily="49" charset="0"/>
                <a:cs typeface="Courier New" panose="02070309020205020404" pitchFamily="49" charset="0"/>
              </a:rPr>
              <a:t>boolean</a:t>
            </a:r>
            <a:r>
              <a:rPr lang="en-US" altLang="en-US" sz="2200" dirty="0">
                <a:solidFill>
                  <a:schemeClr val="tx2"/>
                </a:solidFill>
                <a:latin typeface="Courier New" panose="02070309020205020404" pitchFamily="49" charset="0"/>
                <a:cs typeface="Courier New" panose="02070309020205020404" pitchFamily="49" charset="0"/>
              </a:rPr>
              <a:t>     </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a:t>
            </a:r>
            <a:r>
              <a:rPr lang="en-US" altLang="en-US" sz="2200" dirty="0" err="1">
                <a:solidFill>
                  <a:schemeClr val="tx2"/>
                </a:solidFill>
                <a:latin typeface="Courier New" panose="02070309020205020404" pitchFamily="49" charset="0"/>
                <a:cs typeface="Courier New" panose="02070309020205020404" pitchFamily="49" charset="0"/>
              </a:rPr>
              <a:t>equalArea</a:t>
            </a:r>
            <a:r>
              <a:rPr lang="en-US" altLang="en-US" sz="2200" dirty="0">
                <a:solidFill>
                  <a:schemeClr val="tx2"/>
                </a:solidFill>
                <a:latin typeface="Courier New" panose="02070309020205020404" pitchFamily="49" charset="0"/>
                <a:cs typeface="Courier New" panose="02070309020205020404" pitchFamily="49" charset="0"/>
              </a:rPr>
              <a:t>(E object1, E object2) {</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  return object1.getArea() == object2.getArea();</a:t>
            </a:r>
          </a:p>
          <a:p>
            <a:pPr>
              <a:buFont typeface="Monotype Sorts"/>
              <a:buNone/>
            </a:pPr>
            <a:r>
              <a:rPr lang="en-US" altLang="en-US" sz="2200" dirty="0">
                <a:solidFill>
                  <a:schemeClr val="tx2"/>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228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4B48A85F-2080-4AAE-A90D-60CA3B96A90C}"/>
              </a:ext>
            </a:extLst>
          </p:cNvPr>
          <p:cNvSpPr>
            <a:spLocks noGrp="1" noChangeArrowheads="1"/>
          </p:cNvSpPr>
          <p:nvPr>
            <p:ph type="title"/>
          </p:nvPr>
        </p:nvSpPr>
        <p:spPr>
          <a:xfrm>
            <a:off x="304800" y="228600"/>
            <a:ext cx="8305800" cy="1143000"/>
          </a:xfrm>
        </p:spPr>
        <p:txBody>
          <a:bodyPr/>
          <a:lstStyle/>
          <a:p>
            <a:r>
              <a:rPr lang="en-US" altLang="en-US"/>
              <a:t>Raw Type and Backward Compatibility </a:t>
            </a:r>
          </a:p>
        </p:txBody>
      </p:sp>
      <p:sp>
        <p:nvSpPr>
          <p:cNvPr id="27652" name="Rectangle 9">
            <a:extLst>
              <a:ext uri="{FF2B5EF4-FFF2-40B4-BE49-F238E27FC236}">
                <a16:creationId xmlns:a16="http://schemas.microsoft.com/office/drawing/2014/main" id="{B873696B-B5D2-478E-A24D-F26573D46BFE}"/>
              </a:ext>
            </a:extLst>
          </p:cNvPr>
          <p:cNvSpPr>
            <a:spLocks noGrp="1" noChangeArrowheads="1"/>
          </p:cNvSpPr>
          <p:nvPr>
            <p:ph idx="1"/>
          </p:nvPr>
        </p:nvSpPr>
        <p:spPr>
          <a:xfrm>
            <a:off x="211138" y="1752600"/>
            <a:ext cx="8686800" cy="2895600"/>
          </a:xfrm>
        </p:spPr>
        <p:txBody>
          <a:bodyPr/>
          <a:lstStyle/>
          <a:p>
            <a:pPr>
              <a:lnSpc>
                <a:spcPct val="90000"/>
              </a:lnSpc>
              <a:buFont typeface="Wingdings" panose="05000000000000000000" pitchFamily="2" charset="2"/>
              <a:buChar char="§"/>
            </a:pPr>
            <a:r>
              <a:rPr lang="en-US" altLang="en-US" dirty="0"/>
              <a:t>A </a:t>
            </a:r>
            <a:r>
              <a:rPr lang="en-US" altLang="en-US" b="1" dirty="0"/>
              <a:t>raw type</a:t>
            </a:r>
            <a:r>
              <a:rPr lang="en-US" altLang="en-US" dirty="0"/>
              <a:t> is a generic class without any type arguments.</a:t>
            </a:r>
          </a:p>
          <a:p>
            <a:pPr>
              <a:lnSpc>
                <a:spcPct val="90000"/>
              </a:lnSpc>
              <a:buFont typeface="Wingdings" panose="05000000000000000000" pitchFamily="2" charset="2"/>
              <a:buChar char="§"/>
            </a:pPr>
            <a:r>
              <a:rPr lang="en-US" altLang="en-US" dirty="0"/>
              <a:t>(A basic </a:t>
            </a:r>
            <a:r>
              <a:rPr lang="en-US" altLang="en-US" dirty="0" err="1"/>
              <a:t>nongeneric</a:t>
            </a:r>
            <a:r>
              <a:rPr lang="en-US" altLang="en-US" dirty="0"/>
              <a:t> class/interface is not a raw type.)</a:t>
            </a:r>
          </a:p>
          <a:p>
            <a:pPr>
              <a:lnSpc>
                <a:spcPct val="90000"/>
              </a:lnSpc>
              <a:buFont typeface="Wingdings" panose="05000000000000000000" pitchFamily="2" charset="2"/>
              <a:buChar char="§"/>
            </a:pPr>
            <a:r>
              <a:rPr lang="en-US" altLang="en-US" dirty="0"/>
              <a:t>Raw types show up in legacy code in older versions of Java (prior to Java 5.0)</a:t>
            </a:r>
          </a:p>
          <a:p>
            <a:pPr marL="609600" indent="-609600">
              <a:lnSpc>
                <a:spcPct val="90000"/>
              </a:lnSpc>
              <a:buFont typeface="Monotype Sorts"/>
              <a:buNone/>
            </a:pPr>
            <a:endParaRPr lang="en-US" altLang="en-US" dirty="0"/>
          </a:p>
          <a:p>
            <a:pPr marL="609600" indent="-609600">
              <a:lnSpc>
                <a:spcPct val="90000"/>
              </a:lnSpc>
              <a:buFont typeface="Monotype Sorts"/>
              <a:buNone/>
            </a:pPr>
            <a:r>
              <a:rPr lang="en-US" altLang="en-US" dirty="0"/>
              <a:t>// raw type</a:t>
            </a:r>
          </a:p>
          <a:p>
            <a:pPr marL="609600" indent="-609600">
              <a:lnSpc>
                <a:spcPct val="90000"/>
              </a:lnSpc>
              <a:buFont typeface="Monotype Sorts"/>
              <a:buNone/>
            </a:pPr>
            <a:r>
              <a:rPr lang="en-US" altLang="en-US" dirty="0" err="1"/>
              <a:t>ArrayList</a:t>
            </a:r>
            <a:r>
              <a:rPr lang="en-US" altLang="en-US" dirty="0"/>
              <a:t> list = new </a:t>
            </a:r>
            <a:r>
              <a:rPr lang="en-US" altLang="en-US" dirty="0" err="1"/>
              <a:t>ArrayList</a:t>
            </a:r>
            <a:r>
              <a:rPr lang="en-US" altLang="en-US" dirty="0"/>
              <a:t>();</a:t>
            </a:r>
            <a:r>
              <a:rPr lang="en-US" altLang="en-US" u="sng" dirty="0"/>
              <a:t> </a:t>
            </a:r>
          </a:p>
          <a:p>
            <a:pPr marL="609600" indent="-609600">
              <a:lnSpc>
                <a:spcPct val="90000"/>
              </a:lnSpc>
              <a:buFont typeface="Monotype Sorts"/>
              <a:buNone/>
            </a:pPr>
            <a:endParaRPr lang="en-US" altLang="en-US" u="sng" dirty="0"/>
          </a:p>
        </p:txBody>
      </p:sp>
      <p:sp>
        <p:nvSpPr>
          <p:cNvPr id="27650" name="Slide Number Placeholder 4">
            <a:extLst>
              <a:ext uri="{FF2B5EF4-FFF2-40B4-BE49-F238E27FC236}">
                <a16:creationId xmlns:a16="http://schemas.microsoft.com/office/drawing/2014/main" id="{58D8A9C8-B823-4475-AE06-B094A94615E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5AA29C1-AA4F-4D49-A7B0-F050627DA514}" type="slidenum">
              <a:rPr lang="en-US" altLang="en-US" sz="1400"/>
              <a:pPr>
                <a:spcBef>
                  <a:spcPct val="0"/>
                </a:spcBef>
                <a:buClrTx/>
                <a:buSzTx/>
                <a:buFontTx/>
                <a:buNone/>
              </a:pPr>
              <a:t>20</a:t>
            </a:fld>
            <a:endParaRPr lang="en-US"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CA7B6BC3-484F-4CF3-9ADA-55D97E758EC1}"/>
              </a:ext>
            </a:extLst>
          </p:cNvPr>
          <p:cNvSpPr>
            <a:spLocks noGrp="1" noChangeArrowheads="1"/>
          </p:cNvSpPr>
          <p:nvPr>
            <p:ph type="title"/>
          </p:nvPr>
        </p:nvSpPr>
        <p:spPr>
          <a:xfrm>
            <a:off x="685800" y="228600"/>
            <a:ext cx="7772400" cy="685800"/>
          </a:xfrm>
        </p:spPr>
        <p:txBody>
          <a:bodyPr/>
          <a:lstStyle/>
          <a:p>
            <a:r>
              <a:rPr lang="en-US" altLang="en-US"/>
              <a:t>Raw Type is Unsafe </a:t>
            </a:r>
          </a:p>
        </p:txBody>
      </p:sp>
      <p:sp>
        <p:nvSpPr>
          <p:cNvPr id="29700" name="Rectangle 3">
            <a:extLst>
              <a:ext uri="{FF2B5EF4-FFF2-40B4-BE49-F238E27FC236}">
                <a16:creationId xmlns:a16="http://schemas.microsoft.com/office/drawing/2014/main" id="{B2A542A0-706F-4464-A8B7-55DA5B31B535}"/>
              </a:ext>
            </a:extLst>
          </p:cNvPr>
          <p:cNvSpPr>
            <a:spLocks noGrp="1" noChangeArrowheads="1"/>
          </p:cNvSpPr>
          <p:nvPr>
            <p:ph idx="1"/>
          </p:nvPr>
        </p:nvSpPr>
        <p:spPr>
          <a:xfrm>
            <a:off x="228600" y="5562600"/>
            <a:ext cx="8686800" cy="533400"/>
          </a:xfrm>
        </p:spPr>
        <p:txBody>
          <a:bodyPr/>
          <a:lstStyle/>
          <a:p>
            <a:pPr marL="609600" indent="-609600">
              <a:buFont typeface="Monotype Sorts"/>
              <a:buNone/>
            </a:pPr>
            <a:r>
              <a:rPr lang="en-US" altLang="en-US" sz="2800"/>
              <a:t>Max.max("Welcome", 23); // No compile error </a:t>
            </a:r>
          </a:p>
        </p:txBody>
      </p:sp>
      <p:sp>
        <p:nvSpPr>
          <p:cNvPr id="29698" name="Slide Number Placeholder 4">
            <a:extLst>
              <a:ext uri="{FF2B5EF4-FFF2-40B4-BE49-F238E27FC236}">
                <a16:creationId xmlns:a16="http://schemas.microsoft.com/office/drawing/2014/main" id="{DD21D4F2-0325-4B92-A7D0-33B8FAF9D2B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61F0099-27DD-41E1-BA2C-A057C66518C1}" type="slidenum">
              <a:rPr lang="en-US" altLang="en-US" sz="1400"/>
              <a:pPr>
                <a:spcBef>
                  <a:spcPct val="0"/>
                </a:spcBef>
                <a:buClrTx/>
                <a:buSzTx/>
                <a:buFontTx/>
                <a:buNone/>
              </a:pPr>
              <a:t>21</a:t>
            </a:fld>
            <a:endParaRPr lang="en-US" altLang="en-US" sz="1400"/>
          </a:p>
        </p:txBody>
      </p:sp>
      <p:sp>
        <p:nvSpPr>
          <p:cNvPr id="29701" name="Rectangle 4">
            <a:extLst>
              <a:ext uri="{FF2B5EF4-FFF2-40B4-BE49-F238E27FC236}">
                <a16:creationId xmlns:a16="http://schemas.microsoft.com/office/drawing/2014/main" id="{4A513537-53E6-48F9-AF00-BBED271096E4}"/>
              </a:ext>
            </a:extLst>
          </p:cNvPr>
          <p:cNvSpPr>
            <a:spLocks noChangeArrowheads="1"/>
          </p:cNvSpPr>
          <p:nvPr/>
        </p:nvSpPr>
        <p:spPr bwMode="auto">
          <a:xfrm>
            <a:off x="228600" y="1066800"/>
            <a:ext cx="7620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 Max.java: Find a maximum object</a:t>
            </a:r>
          </a:p>
          <a:p>
            <a:pPr>
              <a:buFont typeface="Monotype Sorts"/>
              <a:buNone/>
            </a:pPr>
            <a:r>
              <a:rPr lang="en-US" altLang="en-US" sz="2000">
                <a:solidFill>
                  <a:schemeClr val="tx2"/>
                </a:solidFill>
              </a:rPr>
              <a:t>public class Max {</a:t>
            </a:r>
          </a:p>
          <a:p>
            <a:pPr>
              <a:buFont typeface="Monotype Sorts"/>
              <a:buNone/>
            </a:pPr>
            <a:r>
              <a:rPr lang="en-US" altLang="en-US" sz="2000">
                <a:solidFill>
                  <a:schemeClr val="tx2"/>
                </a:solidFill>
              </a:rPr>
              <a:t>  /** Return the maximum between two objects */</a:t>
            </a:r>
          </a:p>
          <a:p>
            <a:pPr>
              <a:buFont typeface="Monotype Sorts"/>
              <a:buNone/>
            </a:pPr>
            <a:r>
              <a:rPr lang="en-US" altLang="en-US" sz="2000">
                <a:solidFill>
                  <a:schemeClr val="tx2"/>
                </a:solidFill>
              </a:rPr>
              <a:t>  public static Comparable max(Comparable o1, Comparable o2) {   </a:t>
            </a:r>
          </a:p>
          <a:p>
            <a:pPr>
              <a:buFont typeface="Monotype Sorts"/>
              <a:buNone/>
            </a:pPr>
            <a:r>
              <a:rPr lang="en-US" altLang="en-US" sz="2000">
                <a:solidFill>
                  <a:schemeClr val="tx2"/>
                </a:solidFill>
              </a:rPr>
              <a:t>    if (o1.compareTo(o2) &gt; 0)</a:t>
            </a:r>
          </a:p>
          <a:p>
            <a:pPr>
              <a:buFont typeface="Monotype Sorts"/>
              <a:buNone/>
            </a:pPr>
            <a:r>
              <a:rPr lang="en-US" altLang="en-US" sz="2000">
                <a:solidFill>
                  <a:schemeClr val="tx2"/>
                </a:solidFill>
              </a:rPr>
              <a:t>      return o1;</a:t>
            </a:r>
          </a:p>
          <a:p>
            <a:pPr>
              <a:buFont typeface="Monotype Sorts"/>
              <a:buNone/>
            </a:pPr>
            <a:r>
              <a:rPr lang="en-US" altLang="en-US" sz="2000">
                <a:solidFill>
                  <a:schemeClr val="tx2"/>
                </a:solidFill>
              </a:rPr>
              <a:t>    else</a:t>
            </a:r>
          </a:p>
          <a:p>
            <a:pPr>
              <a:buFont typeface="Monotype Sorts"/>
              <a:buNone/>
            </a:pPr>
            <a:r>
              <a:rPr lang="en-US" altLang="en-US" sz="2000">
                <a:solidFill>
                  <a:schemeClr val="tx2"/>
                </a:solidFill>
              </a:rPr>
              <a:t>      return o2;</a:t>
            </a:r>
          </a:p>
          <a:p>
            <a:pPr>
              <a:buFont typeface="Monotype Sorts"/>
              <a:buNone/>
            </a:pPr>
            <a:r>
              <a:rPr lang="en-US" altLang="en-US" sz="2000">
                <a:solidFill>
                  <a:schemeClr val="tx2"/>
                </a:solidFill>
              </a:rPr>
              <a:t>  }</a:t>
            </a:r>
          </a:p>
          <a:p>
            <a:pPr>
              <a:buFont typeface="Monotype Sorts"/>
              <a:buNone/>
            </a:pPr>
            <a:r>
              <a:rPr lang="en-US" altLang="en-US" sz="2000">
                <a:solidFill>
                  <a:schemeClr val="tx2"/>
                </a:solidFill>
              </a:rPr>
              <a:t>}</a:t>
            </a:r>
          </a:p>
        </p:txBody>
      </p:sp>
      <p:sp>
        <p:nvSpPr>
          <p:cNvPr id="29702" name="Rectangle 5">
            <a:extLst>
              <a:ext uri="{FF2B5EF4-FFF2-40B4-BE49-F238E27FC236}">
                <a16:creationId xmlns:a16="http://schemas.microsoft.com/office/drawing/2014/main" id="{D7C68D77-2640-4D2C-821C-D17786C2F11A}"/>
              </a:ext>
            </a:extLst>
          </p:cNvPr>
          <p:cNvSpPr>
            <a:spLocks noChangeArrowheads="1"/>
          </p:cNvSpPr>
          <p:nvPr/>
        </p:nvSpPr>
        <p:spPr bwMode="auto">
          <a:xfrm>
            <a:off x="228600" y="4876800"/>
            <a:ext cx="8686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Runtime Error: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B66F9506-5124-4718-B417-7D1B9CBA6AEC}"/>
              </a:ext>
            </a:extLst>
          </p:cNvPr>
          <p:cNvSpPr>
            <a:spLocks noGrp="1" noChangeArrowheads="1"/>
          </p:cNvSpPr>
          <p:nvPr>
            <p:ph type="title"/>
          </p:nvPr>
        </p:nvSpPr>
        <p:spPr>
          <a:xfrm>
            <a:off x="685800" y="228600"/>
            <a:ext cx="7772400" cy="685800"/>
          </a:xfrm>
        </p:spPr>
        <p:txBody>
          <a:bodyPr/>
          <a:lstStyle/>
          <a:p>
            <a:r>
              <a:rPr lang="en-US" altLang="en-US" sz="4000"/>
              <a:t>Avoiding Unsafe Raw Types </a:t>
            </a:r>
          </a:p>
        </p:txBody>
      </p:sp>
      <p:sp>
        <p:nvSpPr>
          <p:cNvPr id="31748" name="Rectangle 3">
            <a:extLst>
              <a:ext uri="{FF2B5EF4-FFF2-40B4-BE49-F238E27FC236}">
                <a16:creationId xmlns:a16="http://schemas.microsoft.com/office/drawing/2014/main" id="{33D65CFD-C42A-4D4B-B416-1256DA51FA67}"/>
              </a:ext>
            </a:extLst>
          </p:cNvPr>
          <p:cNvSpPr>
            <a:spLocks noGrp="1" noChangeArrowheads="1"/>
          </p:cNvSpPr>
          <p:nvPr>
            <p:ph idx="1"/>
          </p:nvPr>
        </p:nvSpPr>
        <p:spPr>
          <a:xfrm>
            <a:off x="228600" y="1066800"/>
            <a:ext cx="8686800" cy="3505200"/>
          </a:xfrm>
        </p:spPr>
        <p:txBody>
          <a:bodyPr/>
          <a:lstStyle/>
          <a:p>
            <a:pPr marL="0" indent="0">
              <a:lnSpc>
                <a:spcPct val="80000"/>
              </a:lnSpc>
              <a:buFont typeface="Monotype Sorts"/>
              <a:buNone/>
            </a:pPr>
            <a:r>
              <a:rPr lang="en-US" altLang="en-US" dirty="0"/>
              <a:t>Use </a:t>
            </a:r>
          </a:p>
          <a:p>
            <a:pPr marL="0" indent="0">
              <a:lnSpc>
                <a:spcPct val="80000"/>
              </a:lnSpc>
              <a:buFont typeface="Monotype Sorts"/>
              <a:buNone/>
            </a:pPr>
            <a:endParaRPr lang="en-US" altLang="en-US" dirty="0"/>
          </a:p>
          <a:p>
            <a:pPr marL="0" indent="0">
              <a:lnSpc>
                <a:spcPct val="80000"/>
              </a:lnSpc>
              <a:buFont typeface="Monotype Sorts"/>
              <a:buNone/>
            </a:pPr>
            <a:r>
              <a:rPr lang="en-US" altLang="en-US" dirty="0"/>
              <a:t>new </a:t>
            </a:r>
            <a:r>
              <a:rPr lang="en-US" altLang="en-US" dirty="0" err="1"/>
              <a:t>ArrayList</a:t>
            </a:r>
            <a:r>
              <a:rPr lang="en-US" altLang="en-US" dirty="0"/>
              <a:t>&lt;</a:t>
            </a:r>
            <a:r>
              <a:rPr lang="en-US" altLang="en-US" dirty="0" err="1"/>
              <a:t>ConcreteType</a:t>
            </a:r>
            <a:r>
              <a:rPr lang="en-US" altLang="en-US" dirty="0"/>
              <a:t>&gt;()</a:t>
            </a:r>
          </a:p>
          <a:p>
            <a:pPr marL="0" indent="0">
              <a:lnSpc>
                <a:spcPct val="80000"/>
              </a:lnSpc>
              <a:buFont typeface="Monotype Sorts"/>
              <a:buNone/>
            </a:pPr>
            <a:endParaRPr lang="en-US" altLang="en-US" dirty="0"/>
          </a:p>
          <a:p>
            <a:pPr marL="0" indent="0">
              <a:lnSpc>
                <a:spcPct val="80000"/>
              </a:lnSpc>
              <a:buFont typeface="Monotype Sorts"/>
              <a:buNone/>
            </a:pPr>
            <a:r>
              <a:rPr lang="en-US" altLang="en-US" dirty="0"/>
              <a:t>Instead of </a:t>
            </a:r>
          </a:p>
          <a:p>
            <a:pPr marL="0" indent="0">
              <a:lnSpc>
                <a:spcPct val="80000"/>
              </a:lnSpc>
              <a:buFont typeface="Monotype Sorts"/>
              <a:buNone/>
            </a:pPr>
            <a:endParaRPr lang="en-US" altLang="en-US" dirty="0"/>
          </a:p>
          <a:p>
            <a:pPr marL="0" indent="0">
              <a:lnSpc>
                <a:spcPct val="80000"/>
              </a:lnSpc>
              <a:buFont typeface="Monotype Sorts"/>
              <a:buNone/>
            </a:pPr>
            <a:r>
              <a:rPr lang="en-US" altLang="en-US" dirty="0"/>
              <a:t>new </a:t>
            </a:r>
            <a:r>
              <a:rPr lang="en-US" altLang="en-US" dirty="0" err="1"/>
              <a:t>ArrayList</a:t>
            </a:r>
            <a:r>
              <a:rPr lang="en-US" altLang="en-US" dirty="0"/>
              <a:t>();</a:t>
            </a:r>
          </a:p>
          <a:p>
            <a:pPr marL="0" indent="0">
              <a:lnSpc>
                <a:spcPct val="80000"/>
              </a:lnSpc>
              <a:buFont typeface="Monotype Sorts"/>
              <a:buNone/>
            </a:pPr>
            <a:endParaRPr lang="en-US" altLang="en-US" sz="2800" dirty="0"/>
          </a:p>
        </p:txBody>
      </p:sp>
      <p:sp>
        <p:nvSpPr>
          <p:cNvPr id="31746" name="Slide Number Placeholder 4">
            <a:extLst>
              <a:ext uri="{FF2B5EF4-FFF2-40B4-BE49-F238E27FC236}">
                <a16:creationId xmlns:a16="http://schemas.microsoft.com/office/drawing/2014/main" id="{7467A898-01DB-49EC-8A05-EE2484496EA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62C054D-2956-4C7B-AF9F-47BDF577C348}" type="slidenum">
              <a:rPr lang="en-US" altLang="en-US" sz="1400"/>
              <a:pPr>
                <a:spcBef>
                  <a:spcPct val="0"/>
                </a:spcBef>
                <a:buClrTx/>
                <a:buSzTx/>
                <a:buFontTx/>
                <a:buNone/>
              </a:pPr>
              <a:t>22</a:t>
            </a:fld>
            <a:endParaRPr lang="en-US" altLang="en-US" sz="1400"/>
          </a:p>
        </p:txBody>
      </p:sp>
      <p:sp>
        <p:nvSpPr>
          <p:cNvPr id="31749" name="Rectangle 8">
            <a:hlinkClick r:id="rId3"/>
            <a:extLst>
              <a:ext uri="{FF2B5EF4-FFF2-40B4-BE49-F238E27FC236}">
                <a16:creationId xmlns:a16="http://schemas.microsoft.com/office/drawing/2014/main" id="{1F4554D1-8E57-47B4-87B4-F470D208DFEF}"/>
              </a:ext>
            </a:extLst>
          </p:cNvPr>
          <p:cNvSpPr>
            <a:spLocks noChangeArrowheads="1"/>
          </p:cNvSpPr>
          <p:nvPr/>
        </p:nvSpPr>
        <p:spPr bwMode="auto">
          <a:xfrm>
            <a:off x="3597275" y="5119688"/>
            <a:ext cx="22018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TestArrayListNew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AFE6B4A1-140B-4503-940E-4B6077B46064}"/>
              </a:ext>
            </a:extLst>
          </p:cNvPr>
          <p:cNvSpPr>
            <a:spLocks noGrp="1" noChangeArrowheads="1"/>
          </p:cNvSpPr>
          <p:nvPr>
            <p:ph type="title"/>
          </p:nvPr>
        </p:nvSpPr>
        <p:spPr>
          <a:xfrm>
            <a:off x="685800" y="228600"/>
            <a:ext cx="7772400" cy="685800"/>
          </a:xfrm>
        </p:spPr>
        <p:txBody>
          <a:bodyPr/>
          <a:lstStyle/>
          <a:p>
            <a:r>
              <a:rPr lang="en-US" altLang="en-US"/>
              <a:t>Make it Safe </a:t>
            </a:r>
          </a:p>
        </p:txBody>
      </p:sp>
      <p:sp>
        <p:nvSpPr>
          <p:cNvPr id="33796" name="Rectangle 3">
            <a:extLst>
              <a:ext uri="{FF2B5EF4-FFF2-40B4-BE49-F238E27FC236}">
                <a16:creationId xmlns:a16="http://schemas.microsoft.com/office/drawing/2014/main" id="{42C5D7AD-2B87-4864-A91E-0C0D856DEE17}"/>
              </a:ext>
            </a:extLst>
          </p:cNvPr>
          <p:cNvSpPr>
            <a:spLocks noGrp="1" noChangeArrowheads="1"/>
          </p:cNvSpPr>
          <p:nvPr>
            <p:ph idx="1"/>
          </p:nvPr>
        </p:nvSpPr>
        <p:spPr>
          <a:xfrm>
            <a:off x="228600" y="5562600"/>
            <a:ext cx="8686800" cy="533400"/>
          </a:xfrm>
        </p:spPr>
        <p:txBody>
          <a:bodyPr/>
          <a:lstStyle/>
          <a:p>
            <a:pPr marL="609600" indent="-609600">
              <a:buFont typeface="Monotype Sorts"/>
              <a:buNone/>
            </a:pPr>
            <a:r>
              <a:rPr lang="en-US" altLang="en-US" sz="2800" dirty="0" err="1"/>
              <a:t>Max.max</a:t>
            </a:r>
            <a:r>
              <a:rPr lang="en-US" altLang="en-US" sz="2800" dirty="0"/>
              <a:t>("Welcome", 23); // this gives a compile error </a:t>
            </a:r>
          </a:p>
        </p:txBody>
      </p:sp>
      <p:sp>
        <p:nvSpPr>
          <p:cNvPr id="33794" name="Slide Number Placeholder 4">
            <a:extLst>
              <a:ext uri="{FF2B5EF4-FFF2-40B4-BE49-F238E27FC236}">
                <a16:creationId xmlns:a16="http://schemas.microsoft.com/office/drawing/2014/main" id="{0AB3CB1C-8D7D-4A53-A73A-04E86E50883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105F318-96AB-4465-B7AE-68971B97C3B6}" type="slidenum">
              <a:rPr lang="en-US" altLang="en-US" sz="1400"/>
              <a:pPr>
                <a:spcBef>
                  <a:spcPct val="0"/>
                </a:spcBef>
                <a:buClrTx/>
                <a:buSzTx/>
                <a:buFontTx/>
                <a:buNone/>
              </a:pPr>
              <a:t>23</a:t>
            </a:fld>
            <a:endParaRPr lang="en-US" altLang="en-US" sz="1400"/>
          </a:p>
        </p:txBody>
      </p:sp>
      <p:sp>
        <p:nvSpPr>
          <p:cNvPr id="33797" name="Rectangle 4">
            <a:extLst>
              <a:ext uri="{FF2B5EF4-FFF2-40B4-BE49-F238E27FC236}">
                <a16:creationId xmlns:a16="http://schemas.microsoft.com/office/drawing/2014/main" id="{C2D66F4F-FF4C-4A5C-8672-D63770A3E9FB}"/>
              </a:ext>
            </a:extLst>
          </p:cNvPr>
          <p:cNvSpPr>
            <a:spLocks noChangeArrowheads="1"/>
          </p:cNvSpPr>
          <p:nvPr/>
        </p:nvSpPr>
        <p:spPr bwMode="auto">
          <a:xfrm>
            <a:off x="228600" y="1066800"/>
            <a:ext cx="8382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solidFill>
                  <a:schemeClr val="tx2"/>
                </a:solidFill>
              </a:rPr>
              <a:t>// Max1.java: Find a maximum object</a:t>
            </a:r>
          </a:p>
          <a:p>
            <a:pPr>
              <a:buFont typeface="Monotype Sorts"/>
              <a:buNone/>
            </a:pPr>
            <a:r>
              <a:rPr lang="en-US" altLang="en-US" sz="2400">
                <a:solidFill>
                  <a:schemeClr val="tx2"/>
                </a:solidFill>
              </a:rPr>
              <a:t>public class Max1 {</a:t>
            </a:r>
          </a:p>
          <a:p>
            <a:pPr>
              <a:buFont typeface="Monotype Sorts"/>
              <a:buNone/>
            </a:pPr>
            <a:r>
              <a:rPr lang="en-US" altLang="en-US" sz="2400">
                <a:solidFill>
                  <a:schemeClr val="tx2"/>
                </a:solidFill>
              </a:rPr>
              <a:t>  /** Return the maximum between two objects */</a:t>
            </a:r>
          </a:p>
          <a:p>
            <a:pPr>
              <a:buFont typeface="Monotype Sorts"/>
              <a:buNone/>
            </a:pPr>
            <a:r>
              <a:rPr lang="en-US" altLang="en-US" sz="2400">
                <a:solidFill>
                  <a:schemeClr val="tx2"/>
                </a:solidFill>
              </a:rPr>
              <a:t>  public static &lt;E extends Comparable&lt;E&gt;&gt; E max(E o1, E o2) {   </a:t>
            </a:r>
          </a:p>
          <a:p>
            <a:pPr>
              <a:buFont typeface="Monotype Sorts"/>
              <a:buNone/>
            </a:pPr>
            <a:r>
              <a:rPr lang="en-US" altLang="en-US" sz="2400">
                <a:solidFill>
                  <a:schemeClr val="tx2"/>
                </a:solidFill>
              </a:rPr>
              <a:t>    if (o1.compareTo(o2) &gt; 0)</a:t>
            </a:r>
          </a:p>
          <a:p>
            <a:pPr>
              <a:buFont typeface="Monotype Sorts"/>
              <a:buNone/>
            </a:pPr>
            <a:r>
              <a:rPr lang="en-US" altLang="en-US" sz="2400">
                <a:solidFill>
                  <a:schemeClr val="tx2"/>
                </a:solidFill>
              </a:rPr>
              <a:t>      return o1;</a:t>
            </a:r>
          </a:p>
          <a:p>
            <a:pPr>
              <a:buFont typeface="Monotype Sorts"/>
              <a:buNone/>
            </a:pPr>
            <a:r>
              <a:rPr lang="en-US" altLang="en-US" sz="2400">
                <a:solidFill>
                  <a:schemeClr val="tx2"/>
                </a:solidFill>
              </a:rPr>
              <a:t>    else</a:t>
            </a:r>
          </a:p>
          <a:p>
            <a:pPr>
              <a:buFont typeface="Monotype Sorts"/>
              <a:buNone/>
            </a:pPr>
            <a:r>
              <a:rPr lang="en-US" altLang="en-US" sz="2400">
                <a:solidFill>
                  <a:schemeClr val="tx2"/>
                </a:solidFill>
              </a:rPr>
              <a:t>      return o2;</a:t>
            </a:r>
          </a:p>
          <a:p>
            <a:pPr>
              <a:buFont typeface="Monotype Sorts"/>
              <a:buNone/>
            </a:pPr>
            <a:r>
              <a:rPr lang="en-US" altLang="en-US" sz="2400">
                <a:solidFill>
                  <a:schemeClr val="tx2"/>
                </a:solidFill>
              </a:rPr>
              <a:t>  }</a:t>
            </a:r>
          </a:p>
          <a:p>
            <a:pPr>
              <a:buFont typeface="Monotype Sorts"/>
              <a:buNone/>
            </a:pPr>
            <a:r>
              <a:rPr lang="en-US" altLang="en-US" sz="2400">
                <a:solidFill>
                  <a:schemeClr val="tx2"/>
                </a:solidFill>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F25B832F-F3E0-418F-90B1-AB6C949985F7}"/>
              </a:ext>
            </a:extLst>
          </p:cNvPr>
          <p:cNvSpPr>
            <a:spLocks noGrp="1" noChangeArrowheads="1"/>
          </p:cNvSpPr>
          <p:nvPr>
            <p:ph type="title"/>
          </p:nvPr>
        </p:nvSpPr>
        <p:spPr>
          <a:xfrm>
            <a:off x="685800" y="228600"/>
            <a:ext cx="7772400" cy="685800"/>
          </a:xfrm>
        </p:spPr>
        <p:txBody>
          <a:bodyPr/>
          <a:lstStyle/>
          <a:p>
            <a:r>
              <a:rPr lang="en-US" altLang="en-US"/>
              <a:t>Wildcards </a:t>
            </a:r>
          </a:p>
        </p:txBody>
      </p:sp>
      <p:sp>
        <p:nvSpPr>
          <p:cNvPr id="35844" name="Rectangle 4">
            <a:extLst>
              <a:ext uri="{FF2B5EF4-FFF2-40B4-BE49-F238E27FC236}">
                <a16:creationId xmlns:a16="http://schemas.microsoft.com/office/drawing/2014/main" id="{3F11A8AC-2EB7-4820-913A-6675E9E97FEF}"/>
              </a:ext>
            </a:extLst>
          </p:cNvPr>
          <p:cNvSpPr>
            <a:spLocks noGrp="1" noChangeArrowheads="1"/>
          </p:cNvSpPr>
          <p:nvPr>
            <p:ph idx="1"/>
          </p:nvPr>
        </p:nvSpPr>
        <p:spPr>
          <a:xfrm>
            <a:off x="228600" y="1219200"/>
            <a:ext cx="8686800" cy="685800"/>
          </a:xfrm>
        </p:spPr>
        <p:txBody>
          <a:bodyPr/>
          <a:lstStyle/>
          <a:p>
            <a:pPr marL="609600" indent="-609600">
              <a:buFont typeface="Monotype Sorts"/>
              <a:buNone/>
            </a:pPr>
            <a:r>
              <a:rPr lang="en-US" altLang="en-US"/>
              <a:t>Why wildcards are necessary? See this example.</a:t>
            </a:r>
          </a:p>
        </p:txBody>
      </p:sp>
      <p:sp>
        <p:nvSpPr>
          <p:cNvPr id="35842" name="Slide Number Placeholder 4">
            <a:extLst>
              <a:ext uri="{FF2B5EF4-FFF2-40B4-BE49-F238E27FC236}">
                <a16:creationId xmlns:a16="http://schemas.microsoft.com/office/drawing/2014/main" id="{91CCAE91-3E2A-46E9-BE2C-317E4A7B389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1AB28F-1867-4F2B-8E4D-3BD9564F0A5D}" type="slidenum">
              <a:rPr lang="en-US" altLang="en-US" sz="1400"/>
              <a:pPr>
                <a:spcBef>
                  <a:spcPct val="0"/>
                </a:spcBef>
                <a:buClrTx/>
                <a:buSzTx/>
                <a:buFontTx/>
                <a:buNone/>
              </a:pPr>
              <a:t>24</a:t>
            </a:fld>
            <a:endParaRPr lang="en-US" altLang="en-US" sz="1400"/>
          </a:p>
        </p:txBody>
      </p:sp>
      <p:sp>
        <p:nvSpPr>
          <p:cNvPr id="35845" name="Rectangle 5">
            <a:extLst>
              <a:ext uri="{FF2B5EF4-FFF2-40B4-BE49-F238E27FC236}">
                <a16:creationId xmlns:a16="http://schemas.microsoft.com/office/drawing/2014/main" id="{45F4626B-1BD6-49CE-B32B-24EBA2E633D5}"/>
              </a:ext>
            </a:extLst>
          </p:cNvPr>
          <p:cNvSpPr>
            <a:spLocks noChangeArrowheads="1"/>
          </p:cNvSpPr>
          <p:nvPr/>
        </p:nvSpPr>
        <p:spPr bwMode="auto">
          <a:xfrm>
            <a:off x="228600" y="2819400"/>
            <a:ext cx="86868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a:t>?                              unbounded wildcard </a:t>
            </a:r>
          </a:p>
          <a:p>
            <a:pPr>
              <a:buFont typeface="Monotype Sorts"/>
              <a:buNone/>
            </a:pPr>
            <a:r>
              <a:rPr lang="en-US" altLang="en-US"/>
              <a:t>? extends T             bounded wildcard </a:t>
            </a:r>
          </a:p>
          <a:p>
            <a:pPr>
              <a:buFont typeface="Monotype Sorts"/>
              <a:buNone/>
            </a:pPr>
            <a:r>
              <a:rPr lang="en-US" altLang="en-US"/>
              <a:t>? super T                 lower bound wildcard </a:t>
            </a:r>
          </a:p>
        </p:txBody>
      </p:sp>
      <p:sp>
        <p:nvSpPr>
          <p:cNvPr id="35846" name="Rectangle 12">
            <a:hlinkClick r:id="rId3"/>
            <a:extLst>
              <a:ext uri="{FF2B5EF4-FFF2-40B4-BE49-F238E27FC236}">
                <a16:creationId xmlns:a16="http://schemas.microsoft.com/office/drawing/2014/main" id="{A15E4D0F-1D72-4E0F-B85F-7B18D4F4C0A8}"/>
              </a:ext>
            </a:extLst>
          </p:cNvPr>
          <p:cNvSpPr>
            <a:spLocks noChangeArrowheads="1"/>
          </p:cNvSpPr>
          <p:nvPr/>
        </p:nvSpPr>
        <p:spPr bwMode="auto">
          <a:xfrm>
            <a:off x="762000" y="2057400"/>
            <a:ext cx="2514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WildCardNeedDemo</a:t>
            </a:r>
          </a:p>
        </p:txBody>
      </p:sp>
      <p:sp>
        <p:nvSpPr>
          <p:cNvPr id="35847" name="Rectangle 13">
            <a:hlinkClick r:id="rId4"/>
            <a:extLst>
              <a:ext uri="{FF2B5EF4-FFF2-40B4-BE49-F238E27FC236}">
                <a16:creationId xmlns:a16="http://schemas.microsoft.com/office/drawing/2014/main" id="{5BF8927D-09FE-47CE-B4B6-D38B23A4EBFA}"/>
              </a:ext>
            </a:extLst>
          </p:cNvPr>
          <p:cNvSpPr>
            <a:spLocks noChangeArrowheads="1"/>
          </p:cNvSpPr>
          <p:nvPr/>
        </p:nvSpPr>
        <p:spPr bwMode="auto">
          <a:xfrm>
            <a:off x="752475" y="5167313"/>
            <a:ext cx="2514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AnyWildCardDemo</a:t>
            </a:r>
          </a:p>
        </p:txBody>
      </p:sp>
      <p:sp>
        <p:nvSpPr>
          <p:cNvPr id="35848" name="Rectangle 14">
            <a:hlinkClick r:id="rId5"/>
            <a:extLst>
              <a:ext uri="{FF2B5EF4-FFF2-40B4-BE49-F238E27FC236}">
                <a16:creationId xmlns:a16="http://schemas.microsoft.com/office/drawing/2014/main" id="{E017F089-4ECA-4AAE-B6C8-A4937EEDCBC5}"/>
              </a:ext>
            </a:extLst>
          </p:cNvPr>
          <p:cNvSpPr>
            <a:spLocks noChangeArrowheads="1"/>
          </p:cNvSpPr>
          <p:nvPr/>
        </p:nvSpPr>
        <p:spPr bwMode="auto">
          <a:xfrm>
            <a:off x="4943475" y="5181600"/>
            <a:ext cx="2514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SuperWildCardDemo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DCE7A25D-61E3-45EF-8E0B-9DCAC4C1EA62}"/>
              </a:ext>
            </a:extLst>
          </p:cNvPr>
          <p:cNvSpPr>
            <a:spLocks noGrp="1" noChangeArrowheads="1"/>
          </p:cNvSpPr>
          <p:nvPr>
            <p:ph type="title"/>
          </p:nvPr>
        </p:nvSpPr>
        <p:spPr>
          <a:xfrm>
            <a:off x="685800" y="0"/>
            <a:ext cx="7772400" cy="1428750"/>
          </a:xfrm>
        </p:spPr>
        <p:txBody>
          <a:bodyPr/>
          <a:lstStyle/>
          <a:p>
            <a:r>
              <a:rPr lang="en-US" altLang="en-US" sz="4000"/>
              <a:t>Generic Types and Wildcard Types</a:t>
            </a:r>
            <a:endParaRPr lang="en-US" altLang="en-US" sz="4000">
              <a:solidFill>
                <a:schemeClr val="tx1"/>
              </a:solidFill>
            </a:endParaRPr>
          </a:p>
        </p:txBody>
      </p:sp>
      <p:sp>
        <p:nvSpPr>
          <p:cNvPr id="37890" name="Slide Number Placeholder 4">
            <a:extLst>
              <a:ext uri="{FF2B5EF4-FFF2-40B4-BE49-F238E27FC236}">
                <a16:creationId xmlns:a16="http://schemas.microsoft.com/office/drawing/2014/main" id="{9DDBD2CA-D3F3-4D54-A582-B6B74B77A36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CFC0CE2-D206-4EB7-BB06-EE590E2BA14A}" type="slidenum">
              <a:rPr lang="en-US" altLang="en-US" sz="1400"/>
              <a:pPr>
                <a:spcBef>
                  <a:spcPct val="0"/>
                </a:spcBef>
                <a:buClrTx/>
                <a:buSzTx/>
                <a:buFontTx/>
                <a:buNone/>
              </a:pPr>
              <a:t>25</a:t>
            </a:fld>
            <a:endParaRPr lang="en-US" altLang="en-US" sz="1400"/>
          </a:p>
        </p:txBody>
      </p:sp>
      <p:pic>
        <p:nvPicPr>
          <p:cNvPr id="37894" name="Picture 8">
            <a:extLst>
              <a:ext uri="{FF2B5EF4-FFF2-40B4-BE49-F238E27FC236}">
                <a16:creationId xmlns:a16="http://schemas.microsoft.com/office/drawing/2014/main" id="{065A258F-E3AD-4549-84E7-6D99D48AD02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3" y="2057400"/>
            <a:ext cx="8982075" cy="254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0C42D9BD-E4DB-4512-8368-C03EAB4B0F90}"/>
              </a:ext>
            </a:extLst>
          </p:cNvPr>
          <p:cNvSpPr>
            <a:spLocks noGrp="1" noChangeArrowheads="1"/>
          </p:cNvSpPr>
          <p:nvPr>
            <p:ph type="title"/>
          </p:nvPr>
        </p:nvSpPr>
        <p:spPr>
          <a:xfrm>
            <a:off x="685800" y="228600"/>
            <a:ext cx="7772400" cy="685800"/>
          </a:xfrm>
        </p:spPr>
        <p:txBody>
          <a:bodyPr/>
          <a:lstStyle/>
          <a:p>
            <a:r>
              <a:rPr lang="en-US" altLang="en-US" sz="4000"/>
              <a:t>Erasure and Restrictions on Generics</a:t>
            </a:r>
            <a:r>
              <a:rPr lang="en-US" altLang="en-US"/>
              <a:t> </a:t>
            </a:r>
            <a:r>
              <a:rPr lang="en-US" altLang="en-US" sz="4000"/>
              <a:t> </a:t>
            </a:r>
          </a:p>
        </p:txBody>
      </p:sp>
      <p:sp>
        <p:nvSpPr>
          <p:cNvPr id="39940" name="Rectangle 3">
            <a:extLst>
              <a:ext uri="{FF2B5EF4-FFF2-40B4-BE49-F238E27FC236}">
                <a16:creationId xmlns:a16="http://schemas.microsoft.com/office/drawing/2014/main" id="{4AA6AF6E-97F3-4756-87BD-0FDEDFC301A3}"/>
              </a:ext>
            </a:extLst>
          </p:cNvPr>
          <p:cNvSpPr>
            <a:spLocks noGrp="1" noChangeArrowheads="1"/>
          </p:cNvSpPr>
          <p:nvPr>
            <p:ph idx="1"/>
          </p:nvPr>
        </p:nvSpPr>
        <p:spPr>
          <a:xfrm>
            <a:off x="228600" y="1219200"/>
            <a:ext cx="8686800" cy="5029200"/>
          </a:xfrm>
        </p:spPr>
        <p:txBody>
          <a:bodyPr/>
          <a:lstStyle/>
          <a:p>
            <a:pPr marL="0" indent="0">
              <a:spcBef>
                <a:spcPct val="0"/>
              </a:spcBef>
              <a:buFont typeface="Monotype Sorts"/>
              <a:buNone/>
            </a:pPr>
            <a:r>
              <a:rPr lang="en-US" altLang="en-US"/>
              <a:t>Generics are implemented using an approach called </a:t>
            </a:r>
            <a:r>
              <a:rPr lang="en-US" altLang="en-US" i="1"/>
              <a:t>type erasure</a:t>
            </a:r>
            <a:r>
              <a:rPr lang="en-US" altLang="en-US"/>
              <a:t>. The compiler uses the generic type information to compile the code, but erases it afterwards. So the generic information is not available at runtime. This approach enables the generic code to be backward-compatible with the legacy code that uses raw types.</a:t>
            </a:r>
          </a:p>
        </p:txBody>
      </p:sp>
      <p:sp>
        <p:nvSpPr>
          <p:cNvPr id="39938" name="Slide Number Placeholder 4">
            <a:extLst>
              <a:ext uri="{FF2B5EF4-FFF2-40B4-BE49-F238E27FC236}">
                <a16:creationId xmlns:a16="http://schemas.microsoft.com/office/drawing/2014/main" id="{B0428A8C-D8AC-4A5A-AAFF-2A4A5F27A35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19AE99B-9B9D-4A66-987D-7D2AC6B712A6}" type="slidenum">
              <a:rPr lang="en-US" altLang="en-US" sz="1400"/>
              <a:pPr>
                <a:spcBef>
                  <a:spcPct val="0"/>
                </a:spcBef>
                <a:buClrTx/>
                <a:buSzTx/>
                <a:buFontTx/>
                <a:buNone/>
              </a:pPr>
              <a:t>26</a:t>
            </a:fld>
            <a:endParaRPr lang="en-US" altLang="en-US"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6E2C4482-0BDE-4055-8ECB-DCFA7CEE3E64}"/>
              </a:ext>
            </a:extLst>
          </p:cNvPr>
          <p:cNvSpPr>
            <a:spLocks noGrp="1" noChangeArrowheads="1"/>
          </p:cNvSpPr>
          <p:nvPr>
            <p:ph type="title"/>
          </p:nvPr>
        </p:nvSpPr>
        <p:spPr>
          <a:xfrm>
            <a:off x="685800" y="228600"/>
            <a:ext cx="7772400" cy="685800"/>
          </a:xfrm>
        </p:spPr>
        <p:txBody>
          <a:bodyPr/>
          <a:lstStyle/>
          <a:p>
            <a:r>
              <a:rPr lang="en-US" altLang="en-US" sz="4000"/>
              <a:t>Compile Time Checking</a:t>
            </a:r>
            <a:r>
              <a:rPr lang="en-US" altLang="en-US"/>
              <a:t> </a:t>
            </a:r>
            <a:r>
              <a:rPr lang="en-US" altLang="en-US" sz="4000"/>
              <a:t> </a:t>
            </a:r>
          </a:p>
        </p:txBody>
      </p:sp>
      <p:sp>
        <p:nvSpPr>
          <p:cNvPr id="41988" name="Rectangle 3">
            <a:extLst>
              <a:ext uri="{FF2B5EF4-FFF2-40B4-BE49-F238E27FC236}">
                <a16:creationId xmlns:a16="http://schemas.microsoft.com/office/drawing/2014/main" id="{8E9C565F-5A03-4C74-8D02-3D0594B171AB}"/>
              </a:ext>
            </a:extLst>
          </p:cNvPr>
          <p:cNvSpPr>
            <a:spLocks noGrp="1" noChangeArrowheads="1"/>
          </p:cNvSpPr>
          <p:nvPr>
            <p:ph idx="1"/>
          </p:nvPr>
        </p:nvSpPr>
        <p:spPr>
          <a:xfrm>
            <a:off x="228600" y="1219200"/>
            <a:ext cx="8686800" cy="2667000"/>
          </a:xfrm>
        </p:spPr>
        <p:txBody>
          <a:bodyPr/>
          <a:lstStyle/>
          <a:p>
            <a:pPr marL="0" indent="0">
              <a:spcBef>
                <a:spcPct val="0"/>
              </a:spcBef>
              <a:buFont typeface="Monotype Sorts"/>
              <a:buNone/>
            </a:pPr>
            <a:r>
              <a:rPr lang="en-US" altLang="en-US"/>
              <a:t>For example, the compiler checks whether generics is used correctly for the following code in (a) and translates it into the equivalent code in (b) for runtime use. The code in (b) uses the raw type.</a:t>
            </a:r>
          </a:p>
        </p:txBody>
      </p:sp>
      <p:sp>
        <p:nvSpPr>
          <p:cNvPr id="41986" name="Slide Number Placeholder 4">
            <a:extLst>
              <a:ext uri="{FF2B5EF4-FFF2-40B4-BE49-F238E27FC236}">
                <a16:creationId xmlns:a16="http://schemas.microsoft.com/office/drawing/2014/main" id="{EE8C3D0B-343D-4373-A65C-E2DCA7FD532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81DF922-BAB2-4868-90B2-426E416F6036}" type="slidenum">
              <a:rPr lang="en-US" altLang="en-US" sz="1400"/>
              <a:pPr>
                <a:spcBef>
                  <a:spcPct val="0"/>
                </a:spcBef>
                <a:buClrTx/>
                <a:buSzTx/>
                <a:buFontTx/>
                <a:buNone/>
              </a:pPr>
              <a:t>27</a:t>
            </a:fld>
            <a:endParaRPr lang="en-US" altLang="en-US" sz="1400"/>
          </a:p>
        </p:txBody>
      </p:sp>
      <p:graphicFrame>
        <p:nvGraphicFramePr>
          <p:cNvPr id="41990" name="Object 4">
            <a:extLst>
              <a:ext uri="{FF2B5EF4-FFF2-40B4-BE49-F238E27FC236}">
                <a16:creationId xmlns:a16="http://schemas.microsoft.com/office/drawing/2014/main" id="{B0E06B2D-31AA-4643-BFFC-18CC55CD443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18107319"/>
              </p:ext>
            </p:extLst>
          </p:nvPr>
        </p:nvGraphicFramePr>
        <p:xfrm>
          <a:off x="230188" y="4114800"/>
          <a:ext cx="8834437" cy="1201738"/>
        </p:xfrm>
        <a:graphic>
          <a:graphicData uri="http://schemas.openxmlformats.org/presentationml/2006/ole">
            <mc:AlternateContent xmlns:mc="http://schemas.openxmlformats.org/markup-compatibility/2006">
              <mc:Choice xmlns:v="urn:schemas-microsoft-com:vml" Requires="v">
                <p:oleObj name="Picture" r:id="rId3" imgW="6290889" imgH="853338" progId="Word.Picture.8">
                  <p:embed/>
                </p:oleObj>
              </mc:Choice>
              <mc:Fallback>
                <p:oleObj name="Picture" r:id="rId3" imgW="6290889" imgH="853338"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8" y="4114800"/>
                        <a:ext cx="8834437"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89264884-88F2-42FD-A899-03D43A24CC24}"/>
              </a:ext>
            </a:extLst>
          </p:cNvPr>
          <p:cNvSpPr>
            <a:spLocks noGrp="1" noChangeArrowheads="1"/>
          </p:cNvSpPr>
          <p:nvPr>
            <p:ph type="title"/>
          </p:nvPr>
        </p:nvSpPr>
        <p:spPr>
          <a:xfrm>
            <a:off x="685800" y="228600"/>
            <a:ext cx="7772400" cy="685800"/>
          </a:xfrm>
        </p:spPr>
        <p:txBody>
          <a:bodyPr/>
          <a:lstStyle/>
          <a:p>
            <a:r>
              <a:rPr lang="en-US" altLang="en-US" sz="4000"/>
              <a:t>Important Facts </a:t>
            </a:r>
          </a:p>
        </p:txBody>
      </p:sp>
      <p:sp>
        <p:nvSpPr>
          <p:cNvPr id="44036" name="Rectangle 3">
            <a:extLst>
              <a:ext uri="{FF2B5EF4-FFF2-40B4-BE49-F238E27FC236}">
                <a16:creationId xmlns:a16="http://schemas.microsoft.com/office/drawing/2014/main" id="{236E1C17-C521-40D1-ADB5-2AA147A3FFE0}"/>
              </a:ext>
            </a:extLst>
          </p:cNvPr>
          <p:cNvSpPr>
            <a:spLocks noGrp="1" noChangeArrowheads="1"/>
          </p:cNvSpPr>
          <p:nvPr>
            <p:ph idx="1"/>
          </p:nvPr>
        </p:nvSpPr>
        <p:spPr>
          <a:xfrm>
            <a:off x="228600" y="1066800"/>
            <a:ext cx="8763000" cy="5181600"/>
          </a:xfrm>
          <a:solidFill>
            <a:schemeClr val="bg1"/>
          </a:solidFill>
        </p:spPr>
        <p:txBody>
          <a:bodyPr/>
          <a:lstStyle/>
          <a:p>
            <a:pPr>
              <a:lnSpc>
                <a:spcPct val="90000"/>
              </a:lnSpc>
              <a:buFont typeface="Wingdings" panose="05000000000000000000" pitchFamily="2" charset="2"/>
              <a:buChar char="§"/>
            </a:pPr>
            <a:r>
              <a:rPr lang="en-US" altLang="en-US" sz="2800" dirty="0"/>
              <a:t>A generic class is shared by all its instances regardless of its actual generic type. </a:t>
            </a:r>
          </a:p>
          <a:p>
            <a:pPr>
              <a:lnSpc>
                <a:spcPct val="90000"/>
              </a:lnSpc>
              <a:buFont typeface="Wingdings" panose="05000000000000000000" pitchFamily="2" charset="2"/>
              <a:buChar char="§"/>
            </a:pPr>
            <a:r>
              <a:rPr lang="en-US" altLang="en-US" sz="2800" dirty="0"/>
              <a:t>It only exists in one place – there are not multiple copies of the class stored in memory.</a:t>
            </a:r>
          </a:p>
          <a:p>
            <a:pPr marL="0" indent="0">
              <a:lnSpc>
                <a:spcPct val="90000"/>
              </a:lnSpc>
              <a:buFont typeface="Monotype Sorts"/>
              <a:buNone/>
            </a:pPr>
            <a:endParaRPr lang="en-US" altLang="en-US" sz="3600" dirty="0"/>
          </a:p>
          <a:p>
            <a:pPr lvl="1">
              <a:lnSpc>
                <a:spcPct val="90000"/>
              </a:lnSpc>
              <a:buFontTx/>
              <a:buNone/>
            </a:pPr>
            <a:r>
              <a:rPr lang="en-US" altLang="en-US" sz="2400" dirty="0" err="1">
                <a:solidFill>
                  <a:srgbClr val="002060"/>
                </a:solidFill>
              </a:rPr>
              <a:t>GenericStack</a:t>
            </a:r>
            <a:r>
              <a:rPr lang="en-US" altLang="en-US" sz="2400" dirty="0">
                <a:solidFill>
                  <a:srgbClr val="002060"/>
                </a:solidFill>
              </a:rPr>
              <a:t>&lt;String&gt; stack1 = new </a:t>
            </a:r>
            <a:r>
              <a:rPr lang="en-US" altLang="en-US" sz="2400" dirty="0" err="1">
                <a:solidFill>
                  <a:srgbClr val="002060"/>
                </a:solidFill>
              </a:rPr>
              <a:t>GenericStack</a:t>
            </a:r>
            <a:r>
              <a:rPr lang="en-US" altLang="en-US" sz="2400" dirty="0">
                <a:solidFill>
                  <a:srgbClr val="002060"/>
                </a:solidFill>
              </a:rPr>
              <a:t>&lt;&gt;();</a:t>
            </a:r>
          </a:p>
          <a:p>
            <a:pPr lvl="1">
              <a:lnSpc>
                <a:spcPct val="90000"/>
              </a:lnSpc>
              <a:buFontTx/>
              <a:buNone/>
            </a:pPr>
            <a:r>
              <a:rPr lang="en-US" altLang="en-US" sz="2400" dirty="0" err="1">
                <a:solidFill>
                  <a:srgbClr val="002060"/>
                </a:solidFill>
              </a:rPr>
              <a:t>GenericStack</a:t>
            </a:r>
            <a:r>
              <a:rPr lang="en-US" altLang="en-US" sz="2400" dirty="0">
                <a:solidFill>
                  <a:srgbClr val="002060"/>
                </a:solidFill>
              </a:rPr>
              <a:t>&lt;Integer&gt; stack2 = new </a:t>
            </a:r>
            <a:r>
              <a:rPr lang="en-US" altLang="en-US" sz="2400" dirty="0" err="1">
                <a:solidFill>
                  <a:srgbClr val="002060"/>
                </a:solidFill>
              </a:rPr>
              <a:t>GenericStack</a:t>
            </a:r>
            <a:r>
              <a:rPr lang="en-US" altLang="en-US" sz="2400" dirty="0">
                <a:solidFill>
                  <a:srgbClr val="002060"/>
                </a:solidFill>
              </a:rPr>
              <a:t>&lt;&gt;();</a:t>
            </a:r>
          </a:p>
          <a:p>
            <a:pPr lvl="1">
              <a:lnSpc>
                <a:spcPct val="90000"/>
              </a:lnSpc>
              <a:buFontTx/>
              <a:buNone/>
            </a:pPr>
            <a:endParaRPr lang="en-US" altLang="en-US" sz="2400" dirty="0"/>
          </a:p>
          <a:p>
            <a:pPr>
              <a:lnSpc>
                <a:spcPct val="90000"/>
              </a:lnSpc>
              <a:buFont typeface="Wingdings" panose="05000000000000000000" pitchFamily="2" charset="2"/>
              <a:buChar char="§"/>
            </a:pPr>
            <a:r>
              <a:rPr lang="en-US" altLang="en-US" sz="2800" b="1" dirty="0" err="1"/>
              <a:t>GenericStack</a:t>
            </a:r>
            <a:r>
              <a:rPr lang="en-US" altLang="en-US" sz="2800" b="1" dirty="0"/>
              <a:t>&lt;String&gt; </a:t>
            </a:r>
            <a:r>
              <a:rPr lang="en-US" altLang="en-US" sz="2800" dirty="0"/>
              <a:t>and </a:t>
            </a:r>
            <a:r>
              <a:rPr lang="en-US" altLang="en-US" sz="2800" b="1" dirty="0" err="1"/>
              <a:t>GenericStack</a:t>
            </a:r>
            <a:r>
              <a:rPr lang="en-US" altLang="en-US" sz="2800" b="1" dirty="0"/>
              <a:t>&lt;Integer&gt; </a:t>
            </a:r>
            <a:r>
              <a:rPr lang="en-US" altLang="en-US" sz="2800" dirty="0"/>
              <a:t>above</a:t>
            </a:r>
            <a:r>
              <a:rPr lang="en-US" altLang="en-US" sz="2800" b="1" dirty="0"/>
              <a:t> </a:t>
            </a:r>
            <a:r>
              <a:rPr lang="en-US" altLang="en-US" sz="2800" dirty="0"/>
              <a:t>are two types, but there is only one class </a:t>
            </a:r>
            <a:r>
              <a:rPr lang="en-US" altLang="en-US" sz="2800" dirty="0" err="1"/>
              <a:t>GenericStack</a:t>
            </a:r>
            <a:r>
              <a:rPr lang="en-US" altLang="en-US" sz="2800" dirty="0"/>
              <a:t> loaded into the JVM. </a:t>
            </a:r>
          </a:p>
        </p:txBody>
      </p:sp>
      <p:sp>
        <p:nvSpPr>
          <p:cNvPr id="44034" name="Slide Number Placeholder 4">
            <a:extLst>
              <a:ext uri="{FF2B5EF4-FFF2-40B4-BE49-F238E27FC236}">
                <a16:creationId xmlns:a16="http://schemas.microsoft.com/office/drawing/2014/main" id="{7807AE98-63B0-483A-910B-64CCA31E33F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C78C40-CC63-4ABA-B227-0E4D4AAC491C}" type="slidenum">
              <a:rPr lang="en-US" altLang="en-US" sz="1400"/>
              <a:pPr>
                <a:spcBef>
                  <a:spcPct val="0"/>
                </a:spcBef>
                <a:buClrTx/>
                <a:buSzTx/>
                <a:buFontTx/>
                <a:buNone/>
              </a:pPr>
              <a:t>28</a:t>
            </a:fld>
            <a:endParaRPr lang="en-US" altLang="en-US"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F501BA92-F3CF-442D-B518-736B43E63819}"/>
              </a:ext>
            </a:extLst>
          </p:cNvPr>
          <p:cNvSpPr>
            <a:spLocks noGrp="1" noChangeArrowheads="1"/>
          </p:cNvSpPr>
          <p:nvPr>
            <p:ph type="title"/>
          </p:nvPr>
        </p:nvSpPr>
        <p:spPr>
          <a:xfrm>
            <a:off x="685800" y="228600"/>
            <a:ext cx="7772400" cy="685800"/>
          </a:xfrm>
        </p:spPr>
        <p:txBody>
          <a:bodyPr/>
          <a:lstStyle/>
          <a:p>
            <a:r>
              <a:rPr lang="en-US" altLang="en-US" sz="4000"/>
              <a:t>Restrictions on Generics </a:t>
            </a:r>
          </a:p>
        </p:txBody>
      </p:sp>
      <p:sp>
        <p:nvSpPr>
          <p:cNvPr id="46084" name="Rectangle 3">
            <a:extLst>
              <a:ext uri="{FF2B5EF4-FFF2-40B4-BE49-F238E27FC236}">
                <a16:creationId xmlns:a16="http://schemas.microsoft.com/office/drawing/2014/main" id="{1D733B9B-4403-4C42-8E3F-415C7A184E9F}"/>
              </a:ext>
            </a:extLst>
          </p:cNvPr>
          <p:cNvSpPr>
            <a:spLocks noGrp="1" noChangeArrowheads="1"/>
          </p:cNvSpPr>
          <p:nvPr>
            <p:ph idx="1"/>
          </p:nvPr>
        </p:nvSpPr>
        <p:spPr>
          <a:xfrm>
            <a:off x="228600" y="1447800"/>
            <a:ext cx="8686800" cy="4800600"/>
          </a:xfrm>
        </p:spPr>
        <p:txBody>
          <a:bodyPr/>
          <a:lstStyle/>
          <a:p>
            <a:pPr>
              <a:lnSpc>
                <a:spcPct val="90000"/>
              </a:lnSpc>
              <a:buFont typeface="Wingdings" panose="05000000000000000000" pitchFamily="2" charset="2"/>
              <a:buChar char="§"/>
            </a:pPr>
            <a:r>
              <a:rPr lang="en-US" altLang="en-US" sz="2800" dirty="0"/>
              <a:t>Restriction 1: Cannot Create an Instance of a Generic Type. (ex - </a:t>
            </a:r>
            <a:r>
              <a:rPr lang="en-US" altLang="en-US" sz="2800" b="1" dirty="0">
                <a:solidFill>
                  <a:srgbClr val="002060"/>
                </a:solidFill>
              </a:rPr>
              <a:t>new E()</a:t>
            </a:r>
            <a:r>
              <a:rPr lang="en-US" altLang="en-US" sz="2800" dirty="0"/>
              <a:t>).</a:t>
            </a:r>
          </a:p>
          <a:p>
            <a:pPr>
              <a:lnSpc>
                <a:spcPct val="90000"/>
              </a:lnSpc>
              <a:buFont typeface="Wingdings" panose="05000000000000000000" pitchFamily="2" charset="2"/>
              <a:buChar char="§"/>
            </a:pPr>
            <a:endParaRPr lang="en-US" altLang="en-US" sz="2800" dirty="0"/>
          </a:p>
          <a:p>
            <a:pPr>
              <a:lnSpc>
                <a:spcPct val="90000"/>
              </a:lnSpc>
              <a:buFont typeface="Wingdings" panose="05000000000000000000" pitchFamily="2" charset="2"/>
              <a:buChar char="§"/>
            </a:pPr>
            <a:r>
              <a:rPr lang="en-US" altLang="en-US" sz="2800" dirty="0"/>
              <a:t>Restriction 2: Generic Array Creation is Not Allowed. (ex - </a:t>
            </a:r>
            <a:r>
              <a:rPr lang="en-US" altLang="en-US" sz="2800" b="1" dirty="0">
                <a:solidFill>
                  <a:srgbClr val="002060"/>
                </a:solidFill>
              </a:rPr>
              <a:t>new E[100]</a:t>
            </a:r>
            <a:r>
              <a:rPr lang="en-US" altLang="en-US" sz="2800" dirty="0"/>
              <a:t>).</a:t>
            </a:r>
          </a:p>
          <a:p>
            <a:pPr>
              <a:lnSpc>
                <a:spcPct val="90000"/>
              </a:lnSpc>
              <a:buFont typeface="Wingdings" panose="05000000000000000000" pitchFamily="2" charset="2"/>
              <a:buChar char="§"/>
            </a:pPr>
            <a:endParaRPr lang="en-US" altLang="en-US" sz="2800" dirty="0"/>
          </a:p>
          <a:p>
            <a:pPr>
              <a:lnSpc>
                <a:spcPct val="90000"/>
              </a:lnSpc>
              <a:buFont typeface="Wingdings" panose="05000000000000000000" pitchFamily="2" charset="2"/>
              <a:buChar char="§"/>
            </a:pPr>
            <a:r>
              <a:rPr lang="en-US" altLang="en-US" sz="2800" dirty="0"/>
              <a:t>Restriction 3: A Generic Type Parameter of a Class Is Not Allowed in a Static Context.</a:t>
            </a:r>
          </a:p>
          <a:p>
            <a:pPr>
              <a:lnSpc>
                <a:spcPct val="90000"/>
              </a:lnSpc>
              <a:buFont typeface="Wingdings" panose="05000000000000000000" pitchFamily="2" charset="2"/>
              <a:buChar char="§"/>
            </a:pPr>
            <a:endParaRPr lang="en-US" altLang="en-US" sz="2800" dirty="0"/>
          </a:p>
          <a:p>
            <a:pPr>
              <a:lnSpc>
                <a:spcPct val="90000"/>
              </a:lnSpc>
              <a:buFont typeface="Wingdings" panose="05000000000000000000" pitchFamily="2" charset="2"/>
              <a:buChar char="§"/>
            </a:pPr>
            <a:r>
              <a:rPr lang="en-US" altLang="en-US" sz="2800" dirty="0"/>
              <a:t>Restriction 4: Exception Classes Cannot be Generic.</a:t>
            </a:r>
          </a:p>
        </p:txBody>
      </p:sp>
      <p:sp>
        <p:nvSpPr>
          <p:cNvPr id="46082" name="Slide Number Placeholder 4">
            <a:extLst>
              <a:ext uri="{FF2B5EF4-FFF2-40B4-BE49-F238E27FC236}">
                <a16:creationId xmlns:a16="http://schemas.microsoft.com/office/drawing/2014/main" id="{1FB72E1A-F8EB-4513-A30E-F7E4DB74289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0448962-6A35-4C66-A748-FD036A031F75}" type="slidenum">
              <a:rPr lang="en-US" altLang="en-US" sz="1400"/>
              <a:pPr>
                <a:spcBef>
                  <a:spcPct val="0"/>
                </a:spcBef>
                <a:buClrTx/>
                <a:buSzTx/>
                <a:buFontTx/>
                <a:buNone/>
              </a:pPr>
              <a:t>29</a:t>
            </a:fld>
            <a:endParaRPr lang="en-US" alt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104BE14D-9702-4233-9212-D01629EA359B}"/>
              </a:ext>
            </a:extLst>
          </p:cNvPr>
          <p:cNvSpPr>
            <a:spLocks noGrp="1" noChangeArrowheads="1"/>
          </p:cNvSpPr>
          <p:nvPr>
            <p:ph type="title"/>
          </p:nvPr>
        </p:nvSpPr>
        <p:spPr>
          <a:xfrm>
            <a:off x="304800" y="381000"/>
            <a:ext cx="8686800" cy="1371600"/>
          </a:xfrm>
        </p:spPr>
        <p:txBody>
          <a:bodyPr/>
          <a:lstStyle/>
          <a:p>
            <a:r>
              <a:rPr lang="en-US" altLang="en-US"/>
              <a:t>Designing Generic Matrix Classes</a:t>
            </a:r>
            <a:endParaRPr lang="en-US" altLang="en-US" u="sng">
              <a:solidFill>
                <a:schemeClr val="tx1"/>
              </a:solidFill>
              <a:latin typeface="Book Antiqua" panose="02040602050305030304" pitchFamily="18" charset="0"/>
            </a:endParaRPr>
          </a:p>
        </p:txBody>
      </p:sp>
      <p:sp>
        <p:nvSpPr>
          <p:cNvPr id="48132" name="Rectangle 3">
            <a:extLst>
              <a:ext uri="{FF2B5EF4-FFF2-40B4-BE49-F238E27FC236}">
                <a16:creationId xmlns:a16="http://schemas.microsoft.com/office/drawing/2014/main" id="{71675F50-6400-439A-AE46-74059CC17BD3}"/>
              </a:ext>
            </a:extLst>
          </p:cNvPr>
          <p:cNvSpPr>
            <a:spLocks noGrp="1" noChangeArrowheads="1"/>
          </p:cNvSpPr>
          <p:nvPr>
            <p:ph idx="1"/>
          </p:nvPr>
        </p:nvSpPr>
        <p:spPr>
          <a:xfrm>
            <a:off x="685800" y="1981200"/>
            <a:ext cx="7772400" cy="1828800"/>
          </a:xfrm>
        </p:spPr>
        <p:txBody>
          <a:bodyPr/>
          <a:lstStyle/>
          <a:p>
            <a:pPr marL="0" indent="0">
              <a:buFont typeface="Monotype Sorts"/>
              <a:buNone/>
            </a:pPr>
            <a:r>
              <a:rPr lang="en-US" altLang="en-US" sz="2800"/>
              <a:t>Objective: This example gives a generic class for matrix arithmetic. This class implements matrix addition and multiplication common for all types of matrices.</a:t>
            </a:r>
            <a:endParaRPr lang="en-US" altLang="en-US"/>
          </a:p>
        </p:txBody>
      </p:sp>
      <p:sp>
        <p:nvSpPr>
          <p:cNvPr id="48130" name="Slide Number Placeholder 4">
            <a:extLst>
              <a:ext uri="{FF2B5EF4-FFF2-40B4-BE49-F238E27FC236}">
                <a16:creationId xmlns:a16="http://schemas.microsoft.com/office/drawing/2014/main" id="{4D13F43B-8305-4F10-A55F-68F97B37FC7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70EE2DC-5819-4930-9DF3-4DBE505F874C}" type="slidenum">
              <a:rPr lang="en-US" altLang="en-US" sz="1400"/>
              <a:pPr>
                <a:spcBef>
                  <a:spcPct val="0"/>
                </a:spcBef>
                <a:buClrTx/>
                <a:buSzTx/>
                <a:buFontTx/>
                <a:buNone/>
              </a:pPr>
              <a:t>30</a:t>
            </a:fld>
            <a:endParaRPr lang="en-US" altLang="en-US" sz="1400"/>
          </a:p>
        </p:txBody>
      </p:sp>
      <p:sp>
        <p:nvSpPr>
          <p:cNvPr id="48133" name="Rectangle 7">
            <a:hlinkClick r:id="rId2"/>
            <a:extLst>
              <a:ext uri="{FF2B5EF4-FFF2-40B4-BE49-F238E27FC236}">
                <a16:creationId xmlns:a16="http://schemas.microsoft.com/office/drawing/2014/main" id="{DEB0089C-B599-464B-B406-27D034F3EF9F}"/>
              </a:ext>
            </a:extLst>
          </p:cNvPr>
          <p:cNvSpPr>
            <a:spLocks noChangeArrowheads="1"/>
          </p:cNvSpPr>
          <p:nvPr/>
        </p:nvSpPr>
        <p:spPr bwMode="auto">
          <a:xfrm>
            <a:off x="5105400" y="4921250"/>
            <a:ext cx="22018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GenericMatrix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5">
            <a:extLst>
              <a:ext uri="{FF2B5EF4-FFF2-40B4-BE49-F238E27FC236}">
                <a16:creationId xmlns:a16="http://schemas.microsoft.com/office/drawing/2014/main" id="{F4D73DE4-8938-4163-9F88-B9DA7E520BD2}"/>
              </a:ext>
            </a:extLst>
          </p:cNvPr>
          <p:cNvSpPr>
            <a:spLocks noGrp="1" noChangeArrowheads="1"/>
          </p:cNvSpPr>
          <p:nvPr>
            <p:ph type="title"/>
          </p:nvPr>
        </p:nvSpPr>
        <p:spPr/>
        <p:txBody>
          <a:bodyPr/>
          <a:lstStyle/>
          <a:p>
            <a:r>
              <a:rPr lang="en-US" altLang="en-US"/>
              <a:t>UML Diagram</a:t>
            </a:r>
          </a:p>
        </p:txBody>
      </p:sp>
      <p:sp>
        <p:nvSpPr>
          <p:cNvPr id="49154" name="Slide Number Placeholder 4">
            <a:extLst>
              <a:ext uri="{FF2B5EF4-FFF2-40B4-BE49-F238E27FC236}">
                <a16:creationId xmlns:a16="http://schemas.microsoft.com/office/drawing/2014/main" id="{CA9C0508-F91E-4974-9005-F9EB2418230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0D7471D-FA95-4ACC-B330-4C1F54064C62}" type="slidenum">
              <a:rPr lang="en-US" altLang="en-US" sz="1400"/>
              <a:pPr>
                <a:spcBef>
                  <a:spcPct val="0"/>
                </a:spcBef>
                <a:buClrTx/>
                <a:buSzTx/>
                <a:buFontTx/>
                <a:buNone/>
              </a:pPr>
              <a:t>31</a:t>
            </a:fld>
            <a:endParaRPr lang="en-US" altLang="en-US" sz="1400"/>
          </a:p>
        </p:txBody>
      </p:sp>
      <p:pic>
        <p:nvPicPr>
          <p:cNvPr id="49158" name="Picture 7">
            <a:extLst>
              <a:ext uri="{FF2B5EF4-FFF2-40B4-BE49-F238E27FC236}">
                <a16:creationId xmlns:a16="http://schemas.microsoft.com/office/drawing/2014/main" id="{88039902-6F06-40A0-B94C-14856223FDD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66850"/>
            <a:ext cx="8789988" cy="25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10">
            <a:extLst>
              <a:ext uri="{FF2B5EF4-FFF2-40B4-BE49-F238E27FC236}">
                <a16:creationId xmlns:a16="http://schemas.microsoft.com/office/drawing/2014/main" id="{189CAC17-8273-4816-8BD7-D22136EBC51A}"/>
              </a:ext>
            </a:extLst>
          </p:cNvPr>
          <p:cNvSpPr>
            <a:spLocks noGrp="1" noChangeArrowheads="1"/>
          </p:cNvSpPr>
          <p:nvPr>
            <p:ph type="title"/>
          </p:nvPr>
        </p:nvSpPr>
        <p:spPr/>
        <p:txBody>
          <a:bodyPr/>
          <a:lstStyle/>
          <a:p>
            <a:r>
              <a:rPr lang="en-US" altLang="en-US"/>
              <a:t>Source Code</a:t>
            </a:r>
          </a:p>
        </p:txBody>
      </p:sp>
      <p:sp>
        <p:nvSpPr>
          <p:cNvPr id="50179" name="Rectangle 3">
            <a:extLst>
              <a:ext uri="{FF2B5EF4-FFF2-40B4-BE49-F238E27FC236}">
                <a16:creationId xmlns:a16="http://schemas.microsoft.com/office/drawing/2014/main" id="{389D38DF-FA54-4FB2-8298-4E6996FB9DF0}"/>
              </a:ext>
            </a:extLst>
          </p:cNvPr>
          <p:cNvSpPr>
            <a:spLocks noGrp="1" noChangeArrowheads="1"/>
          </p:cNvSpPr>
          <p:nvPr>
            <p:ph idx="1"/>
          </p:nvPr>
        </p:nvSpPr>
        <p:spPr>
          <a:xfrm>
            <a:off x="685800" y="1981200"/>
            <a:ext cx="7772400" cy="1828800"/>
          </a:xfrm>
        </p:spPr>
        <p:txBody>
          <a:bodyPr/>
          <a:lstStyle/>
          <a:p>
            <a:pPr marL="0" indent="0">
              <a:buFont typeface="Monotype Sorts"/>
              <a:buNone/>
            </a:pPr>
            <a:r>
              <a:rPr lang="en-US" altLang="en-US" sz="2800"/>
              <a:t>Objective: This example gives two programs that utilize the GenericMatrix class for integer matrix arithmetic and rational matrix arithmetic.</a:t>
            </a:r>
          </a:p>
        </p:txBody>
      </p:sp>
      <p:sp>
        <p:nvSpPr>
          <p:cNvPr id="50178" name="Slide Number Placeholder 4">
            <a:extLst>
              <a:ext uri="{FF2B5EF4-FFF2-40B4-BE49-F238E27FC236}">
                <a16:creationId xmlns:a16="http://schemas.microsoft.com/office/drawing/2014/main" id="{F21AF56D-2BD9-4025-9E59-DBA899E8019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2802D81-BEB3-494A-84DC-7E4BF477A9DB}" type="slidenum">
              <a:rPr lang="en-US" altLang="en-US" sz="1400"/>
              <a:pPr>
                <a:spcBef>
                  <a:spcPct val="0"/>
                </a:spcBef>
                <a:buClrTx/>
                <a:buSzTx/>
                <a:buFontTx/>
                <a:buNone/>
              </a:pPr>
              <a:t>32</a:t>
            </a:fld>
            <a:endParaRPr lang="en-US" altLang="en-US" sz="1400"/>
          </a:p>
        </p:txBody>
      </p:sp>
      <p:sp>
        <p:nvSpPr>
          <p:cNvPr id="50181" name="Rectangle 15">
            <a:hlinkClick r:id="rId2"/>
            <a:extLst>
              <a:ext uri="{FF2B5EF4-FFF2-40B4-BE49-F238E27FC236}">
                <a16:creationId xmlns:a16="http://schemas.microsoft.com/office/drawing/2014/main" id="{CBFB46DA-F89E-4BB1-8A33-661240D12FBC}"/>
              </a:ext>
            </a:extLst>
          </p:cNvPr>
          <p:cNvSpPr>
            <a:spLocks noChangeArrowheads="1"/>
          </p:cNvSpPr>
          <p:nvPr/>
        </p:nvSpPr>
        <p:spPr bwMode="auto">
          <a:xfrm>
            <a:off x="4732338" y="4267200"/>
            <a:ext cx="220186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TestIntegerMatrix</a:t>
            </a:r>
          </a:p>
        </p:txBody>
      </p:sp>
      <p:sp>
        <p:nvSpPr>
          <p:cNvPr id="50182" name="Rectangle 16">
            <a:hlinkClick r:id="rId3"/>
            <a:extLst>
              <a:ext uri="{FF2B5EF4-FFF2-40B4-BE49-F238E27FC236}">
                <a16:creationId xmlns:a16="http://schemas.microsoft.com/office/drawing/2014/main" id="{40786E46-239B-4752-9B2C-0E7DC3B9A7AE}"/>
              </a:ext>
            </a:extLst>
          </p:cNvPr>
          <p:cNvSpPr>
            <a:spLocks noChangeArrowheads="1"/>
          </p:cNvSpPr>
          <p:nvPr/>
        </p:nvSpPr>
        <p:spPr bwMode="auto">
          <a:xfrm>
            <a:off x="2381250" y="4268788"/>
            <a:ext cx="22018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IntegerMatrix</a:t>
            </a:r>
          </a:p>
        </p:txBody>
      </p:sp>
      <p:sp>
        <p:nvSpPr>
          <p:cNvPr id="50183" name="Rectangle 18">
            <a:hlinkClick r:id="rId4"/>
            <a:extLst>
              <a:ext uri="{FF2B5EF4-FFF2-40B4-BE49-F238E27FC236}">
                <a16:creationId xmlns:a16="http://schemas.microsoft.com/office/drawing/2014/main" id="{8E6757FE-661D-412B-B129-204F64A48194}"/>
              </a:ext>
            </a:extLst>
          </p:cNvPr>
          <p:cNvSpPr>
            <a:spLocks noChangeArrowheads="1"/>
          </p:cNvSpPr>
          <p:nvPr/>
        </p:nvSpPr>
        <p:spPr bwMode="auto">
          <a:xfrm>
            <a:off x="4740275" y="4816475"/>
            <a:ext cx="22018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TestRationalMatrix</a:t>
            </a:r>
          </a:p>
        </p:txBody>
      </p:sp>
      <p:sp>
        <p:nvSpPr>
          <p:cNvPr id="50184" name="Rectangle 19">
            <a:hlinkClick r:id="rId5"/>
            <a:extLst>
              <a:ext uri="{FF2B5EF4-FFF2-40B4-BE49-F238E27FC236}">
                <a16:creationId xmlns:a16="http://schemas.microsoft.com/office/drawing/2014/main" id="{58F40ED1-7B71-4583-89C3-0DD1A99C1442}"/>
              </a:ext>
            </a:extLst>
          </p:cNvPr>
          <p:cNvSpPr>
            <a:spLocks noChangeArrowheads="1"/>
          </p:cNvSpPr>
          <p:nvPr/>
        </p:nvSpPr>
        <p:spPr bwMode="auto">
          <a:xfrm>
            <a:off x="2389188" y="4816475"/>
            <a:ext cx="220186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RationalMatrix</a:t>
            </a:r>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22 Developing Efficient Algorithms</Template>
  <TotalTime>12335</TotalTime>
  <Words>2024</Words>
  <Application>Microsoft Office PowerPoint</Application>
  <PresentationFormat>On-screen Show (4:3)</PresentationFormat>
  <Paragraphs>277</Paragraphs>
  <Slides>32</Slides>
  <Notes>29</Notes>
  <HiddenSlides>1</HiddenSlides>
  <MMClips>0</MMClips>
  <ScaleCrop>false</ScaleCrop>
  <HeadingPairs>
    <vt:vector size="10"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32</vt:i4>
      </vt:variant>
      <vt:variant>
        <vt:lpstr>Custom Shows</vt:lpstr>
      </vt:variant>
      <vt:variant>
        <vt:i4>1</vt:i4>
      </vt:variant>
    </vt:vector>
  </HeadingPairs>
  <TitlesOfParts>
    <vt:vector size="42" baseType="lpstr">
      <vt:lpstr>Arial</vt:lpstr>
      <vt:lpstr>Book Antiqua</vt:lpstr>
      <vt:lpstr>Calibri</vt:lpstr>
      <vt:lpstr>Courier New</vt:lpstr>
      <vt:lpstr>Monotype Sorts</vt:lpstr>
      <vt:lpstr>Times New Roman</vt:lpstr>
      <vt:lpstr>Wingdings</vt:lpstr>
      <vt:lpstr>International</vt:lpstr>
      <vt:lpstr>Picture</vt:lpstr>
      <vt:lpstr>Chapter 19 Generics</vt:lpstr>
      <vt:lpstr>Objectives</vt:lpstr>
      <vt:lpstr>Why Do You Get a Warning?</vt:lpstr>
      <vt:lpstr>Fix the Warning</vt:lpstr>
      <vt:lpstr>ArrayLists Are Generic Objects</vt:lpstr>
      <vt:lpstr>What is Generics? </vt:lpstr>
      <vt:lpstr>What is Generics? </vt:lpstr>
      <vt:lpstr>What is Generics? </vt:lpstr>
      <vt:lpstr>Why Use Generics? </vt:lpstr>
      <vt:lpstr>Generic Type</vt:lpstr>
      <vt:lpstr>Generic ArrayList in JDK 1.5</vt:lpstr>
      <vt:lpstr>No Casting Needed</vt:lpstr>
      <vt:lpstr>Declaring Generic Classes and Interfaces </vt:lpstr>
      <vt:lpstr>Generic Static Classes</vt:lpstr>
      <vt:lpstr>Generic Static Classes</vt:lpstr>
      <vt:lpstr>Generic Static Methods</vt:lpstr>
      <vt:lpstr>Generic Interfaces</vt:lpstr>
      <vt:lpstr>Bounded Generic Type</vt:lpstr>
      <vt:lpstr>Bounded Generic Type</vt:lpstr>
      <vt:lpstr>Raw Type and Backward Compatibility </vt:lpstr>
      <vt:lpstr>Raw Type is Unsafe </vt:lpstr>
      <vt:lpstr>Avoiding Unsafe Raw Types </vt:lpstr>
      <vt:lpstr>Make it Safe </vt:lpstr>
      <vt:lpstr>Wildcards </vt:lpstr>
      <vt:lpstr>Generic Types and Wildcard Types</vt:lpstr>
      <vt:lpstr>Erasure and Restrictions on Generics  </vt:lpstr>
      <vt:lpstr>Compile Time Checking  </vt:lpstr>
      <vt:lpstr>Important Facts </vt:lpstr>
      <vt:lpstr>Restrictions on Generics </vt:lpstr>
      <vt:lpstr>Designing Generic Matrix Classes</vt:lpstr>
      <vt:lpstr>UML Diagram</vt:lpstr>
      <vt:lpstr>Source Code</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Methods</dc:title>
  <dc:creator>Y. Daniel Liang</dc:creator>
  <cp:lastModifiedBy>Nguyen, Phuong Tran Lan</cp:lastModifiedBy>
  <cp:revision>206</cp:revision>
  <dcterms:created xsi:type="dcterms:W3CDTF">1995-06-10T17:31:50Z</dcterms:created>
  <dcterms:modified xsi:type="dcterms:W3CDTF">2025-09-11T14:41:47Z</dcterms:modified>
</cp:coreProperties>
</file>